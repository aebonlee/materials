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image132.svg" ContentType="image/svg+xml"/>
  <Override PartName="/ppt/media/image30.svg" ContentType="image/svg+xml"/>
  <Override PartName="/ppt/media/image41.svg" ContentType="image/svg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44"/>
  </p:notesMasterIdLst>
  <p:sldIdLst>
    <p:sldId id="301" r:id="rId49"/>
    <p:sldId id="302" r:id="rId50"/>
    <p:sldId id="256" r:id="rId2"/>
    <p:sldId id="257" r:id="rId3"/>
    <p:sldId id="258" r:id="rId4"/>
    <p:sldId id="262" r:id="rId5"/>
    <p:sldId id="263" r:id="rId6"/>
    <p:sldId id="264" r:id="rId7"/>
    <p:sldId id="265" r:id="rId8"/>
    <p:sldId id="266" r:id="rId9"/>
    <p:sldId id="267" r:id="rId10"/>
    <p:sldId id="268" r:id="rId11"/>
    <p:sldId id="269" r:id="rId12"/>
    <p:sldId id="270" r:id="rId13"/>
    <p:sldId id="271" r:id="rId14"/>
    <p:sldId id="272" r:id="rId15"/>
    <p:sldId id="273" r:id="rId16"/>
    <p:sldId id="274" r:id="rId17"/>
    <p:sldId id="275" r:id="rId18"/>
    <p:sldId id="276" r:id="rId19"/>
    <p:sldId id="277" r:id="rId20"/>
    <p:sldId id="278" r:id="rId21"/>
    <p:sldId id="279" r:id="rId22"/>
    <p:sldId id="280" r:id="rId23"/>
    <p:sldId id="281" r:id="rId24"/>
    <p:sldId id="282" r:id="rId25"/>
    <p:sldId id="283" r:id="rId26"/>
    <p:sldId id="284" r:id="rId27"/>
    <p:sldId id="285" r:id="rId28"/>
    <p:sldId id="286" r:id="rId29"/>
    <p:sldId id="300" r:id="rId30"/>
    <p:sldId id="287" r:id="rId31"/>
    <p:sldId id="288" r:id="rId32"/>
    <p:sldId id="289" r:id="rId33"/>
    <p:sldId id="290" r:id="rId34"/>
    <p:sldId id="291" r:id="rId35"/>
    <p:sldId id="292" r:id="rId36"/>
    <p:sldId id="293" r:id="rId37"/>
    <p:sldId id="294" r:id="rId38"/>
    <p:sldId id="295" r:id="rId39"/>
    <p:sldId id="296" r:id="rId40"/>
    <p:sldId id="297" r:id="rId41"/>
    <p:sldId id="298" r:id="rId42"/>
    <p:sldId id="299" r:id="rId43"/>
    <p:sldId id="303" r:id="rId51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34" d="100"/>
          <a:sy n="134" d="100"/>
        </p:scale>
        <p:origin x="285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notesMaster" Target="notesMasters/notesMaster1.xml"/><Relationship Id="rId45" Type="http://schemas.openxmlformats.org/officeDocument/2006/relationships/presProps" Target="presProps.xml"/><Relationship Id="rId46" Type="http://schemas.openxmlformats.org/officeDocument/2006/relationships/viewProps" Target="viewProps.xml"/><Relationship Id="rId47" Type="http://schemas.openxmlformats.org/officeDocument/2006/relationships/theme" Target="theme/theme1.xml"/><Relationship Id="rId48" Type="http://schemas.openxmlformats.org/officeDocument/2006/relationships/tableStyles" Target="tableStyles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72888607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B54836-4F7E-7DDB-0FAB-384FD3FE7B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B7313F1-D21F-0962-3A34-60F6DCF8B39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CFF6BE7-8F4A-A82E-55D0-8115F5714BC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880A4C3-17E4-2E37-6089-545ABC106F4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15013654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Relationship Id="rId4" Type="http://schemas.openxmlformats.org/officeDocument/2006/relationships/image" Target="../media/image2.png"/><Relationship Id="rId5" Type="http://schemas.openxmlformats.org/officeDocument/2006/relationships/image" Target="../media/image3.png"/><Relationship Id="rId6" Type="http://schemas.openxmlformats.org/officeDocument/2006/relationships/hyperlink" Target="mailto:aebon@hs.ac.kr" TargetMode="Externa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png"/><Relationship Id="rId6" Type="http://schemas.openxmlformats.org/officeDocument/2006/relationships/image" Target="../media/image7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8.png"/><Relationship Id="rId4" Type="http://schemas.openxmlformats.org/officeDocument/2006/relationships/image" Target="../media/image9.png"/><Relationship Id="rId5" Type="http://schemas.openxmlformats.org/officeDocument/2006/relationships/image" Target="../media/image10.png"/><Relationship Id="rId6" Type="http://schemas.openxmlformats.org/officeDocument/2006/relationships/image" Target="../media/image1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2.png"/><Relationship Id="rId4" Type="http://schemas.openxmlformats.org/officeDocument/2006/relationships/image" Target="../media/image13.png"/><Relationship Id="rId5" Type="http://schemas.openxmlformats.org/officeDocument/2006/relationships/image" Target="../media/image14.png"/><Relationship Id="rId6" Type="http://schemas.openxmlformats.org/officeDocument/2006/relationships/image" Target="../media/image15.png"/><Relationship Id="rId7" Type="http://schemas.openxmlformats.org/officeDocument/2006/relationships/image" Target="../media/image16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7.png"/><Relationship Id="rId4" Type="http://schemas.openxmlformats.org/officeDocument/2006/relationships/image" Target="../media/image18.png"/><Relationship Id="rId5" Type="http://schemas.openxmlformats.org/officeDocument/2006/relationships/image" Target="../media/image19.png"/><Relationship Id="rId6" Type="http://schemas.openxmlformats.org/officeDocument/2006/relationships/image" Target="../media/image20.png"/><Relationship Id="rId7" Type="http://schemas.openxmlformats.org/officeDocument/2006/relationships/image" Target="../media/image21.png"/><Relationship Id="rId8" Type="http://schemas.openxmlformats.org/officeDocument/2006/relationships/image" Target="../media/image22.png"/><Relationship Id="rId9" Type="http://schemas.openxmlformats.org/officeDocument/2006/relationships/image" Target="../media/image23.png"/><Relationship Id="rId10" Type="http://schemas.openxmlformats.org/officeDocument/2006/relationships/image" Target="../media/image2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25.png"/><Relationship Id="rId4" Type="http://schemas.openxmlformats.org/officeDocument/2006/relationships/image" Target="../media/image26.png"/><Relationship Id="rId5" Type="http://schemas.openxmlformats.org/officeDocument/2006/relationships/image" Target="../media/image27.png"/><Relationship Id="rId6" Type="http://schemas.openxmlformats.org/officeDocument/2006/relationships/image" Target="../media/image28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29.png"/><Relationship Id="rId4" Type="http://schemas.openxmlformats.org/officeDocument/2006/relationships/image" Target="../media/image30.svg"/><Relationship Id="rId5" Type="http://schemas.openxmlformats.org/officeDocument/2006/relationships/image" Target="../media/image31.png"/><Relationship Id="rId6" Type="http://schemas.openxmlformats.org/officeDocument/2006/relationships/image" Target="../media/image32.png"/><Relationship Id="rId7" Type="http://schemas.openxmlformats.org/officeDocument/2006/relationships/image" Target="../media/image25.png"/><Relationship Id="rId8" Type="http://schemas.openxmlformats.org/officeDocument/2006/relationships/image" Target="../media/image33.png"/><Relationship Id="rId9" Type="http://schemas.openxmlformats.org/officeDocument/2006/relationships/image" Target="../media/image3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35.png"/><Relationship Id="rId4" Type="http://schemas.openxmlformats.org/officeDocument/2006/relationships/image" Target="../media/image36.png"/><Relationship Id="rId5" Type="http://schemas.openxmlformats.org/officeDocument/2006/relationships/image" Target="../media/image37.png"/><Relationship Id="rId6" Type="http://schemas.openxmlformats.org/officeDocument/2006/relationships/image" Target="../media/image38.png"/><Relationship Id="rId7" Type="http://schemas.openxmlformats.org/officeDocument/2006/relationships/image" Target="../media/image39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0.png"/><Relationship Id="rId4" Type="http://schemas.openxmlformats.org/officeDocument/2006/relationships/image" Target="../media/image41.svg"/><Relationship Id="rId5" Type="http://schemas.openxmlformats.org/officeDocument/2006/relationships/image" Target="../media/image42.png"/><Relationship Id="rId6" Type="http://schemas.openxmlformats.org/officeDocument/2006/relationships/image" Target="../media/image43.png"/><Relationship Id="rId7" Type="http://schemas.openxmlformats.org/officeDocument/2006/relationships/image" Target="../media/image44.png"/><Relationship Id="rId8" Type="http://schemas.openxmlformats.org/officeDocument/2006/relationships/image" Target="../media/image45.png"/><Relationship Id="rId9" Type="http://schemas.openxmlformats.org/officeDocument/2006/relationships/image" Target="../media/image46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47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8.png"/><Relationship Id="rId4" Type="http://schemas.openxmlformats.org/officeDocument/2006/relationships/image" Target="../media/image49.png"/><Relationship Id="rId5" Type="http://schemas.openxmlformats.org/officeDocument/2006/relationships/image" Target="../media/image50.png"/><Relationship Id="rId6" Type="http://schemas.openxmlformats.org/officeDocument/2006/relationships/image" Target="../media/image5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52.png"/><Relationship Id="rId4" Type="http://schemas.openxmlformats.org/officeDocument/2006/relationships/image" Target="../media/image53.png"/><Relationship Id="rId5" Type="http://schemas.openxmlformats.org/officeDocument/2006/relationships/image" Target="../media/image54.png"/><Relationship Id="rId6" Type="http://schemas.openxmlformats.org/officeDocument/2006/relationships/image" Target="../media/image55.png"/><Relationship Id="rId7" Type="http://schemas.openxmlformats.org/officeDocument/2006/relationships/image" Target="../media/image56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57.png"/><Relationship Id="rId4" Type="http://schemas.openxmlformats.org/officeDocument/2006/relationships/image" Target="../media/image58.png"/><Relationship Id="rId5" Type="http://schemas.openxmlformats.org/officeDocument/2006/relationships/image" Target="../media/image59.png"/><Relationship Id="rId6" Type="http://schemas.openxmlformats.org/officeDocument/2006/relationships/image" Target="../media/image60.png"/><Relationship Id="rId7" Type="http://schemas.openxmlformats.org/officeDocument/2006/relationships/image" Target="../media/image61.png"/><Relationship Id="rId8" Type="http://schemas.openxmlformats.org/officeDocument/2006/relationships/image" Target="../media/image62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63.png"/><Relationship Id="rId4" Type="http://schemas.openxmlformats.org/officeDocument/2006/relationships/image" Target="../media/image64.png"/><Relationship Id="rId5" Type="http://schemas.openxmlformats.org/officeDocument/2006/relationships/image" Target="../media/image65.png"/><Relationship Id="rId6" Type="http://schemas.openxmlformats.org/officeDocument/2006/relationships/image" Target="../media/image66.png"/><Relationship Id="rId7" Type="http://schemas.openxmlformats.org/officeDocument/2006/relationships/image" Target="../media/image67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68.png"/><Relationship Id="rId4" Type="http://schemas.openxmlformats.org/officeDocument/2006/relationships/image" Target="../media/image69.png"/><Relationship Id="rId5" Type="http://schemas.openxmlformats.org/officeDocument/2006/relationships/image" Target="../media/image70.png"/><Relationship Id="rId6" Type="http://schemas.openxmlformats.org/officeDocument/2006/relationships/image" Target="../media/image71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72.png"/><Relationship Id="rId4" Type="http://schemas.openxmlformats.org/officeDocument/2006/relationships/image" Target="../media/image73.png"/><Relationship Id="rId5" Type="http://schemas.openxmlformats.org/officeDocument/2006/relationships/image" Target="../media/image74.png"/><Relationship Id="rId6" Type="http://schemas.openxmlformats.org/officeDocument/2006/relationships/image" Target="../media/image75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76.png"/><Relationship Id="rId4" Type="http://schemas.openxmlformats.org/officeDocument/2006/relationships/image" Target="../media/image77.png"/><Relationship Id="rId5" Type="http://schemas.openxmlformats.org/officeDocument/2006/relationships/image" Target="../media/image78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79.png"/><Relationship Id="rId4" Type="http://schemas.openxmlformats.org/officeDocument/2006/relationships/image" Target="../media/image80.png"/><Relationship Id="rId5" Type="http://schemas.openxmlformats.org/officeDocument/2006/relationships/image" Target="../media/image81.png"/><Relationship Id="rId6" Type="http://schemas.openxmlformats.org/officeDocument/2006/relationships/image" Target="../media/image21.png"/><Relationship Id="rId7" Type="http://schemas.openxmlformats.org/officeDocument/2006/relationships/image" Target="../media/image82.png"/><Relationship Id="rId8" Type="http://schemas.openxmlformats.org/officeDocument/2006/relationships/image" Target="../media/image83.png"/><Relationship Id="rId9" Type="http://schemas.openxmlformats.org/officeDocument/2006/relationships/image" Target="../media/image84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85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86.png"/><Relationship Id="rId4" Type="http://schemas.openxmlformats.org/officeDocument/2006/relationships/image" Target="../media/image87.png"/><Relationship Id="rId5" Type="http://schemas.openxmlformats.org/officeDocument/2006/relationships/image" Target="../media/image88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89.png"/><Relationship Id="rId4" Type="http://schemas.openxmlformats.org/officeDocument/2006/relationships/image" Target="../media/image90.png"/><Relationship Id="rId5" Type="http://schemas.openxmlformats.org/officeDocument/2006/relationships/image" Target="../media/image91.png"/><Relationship Id="rId6" Type="http://schemas.openxmlformats.org/officeDocument/2006/relationships/image" Target="../media/image92.png"/><Relationship Id="rId7" Type="http://schemas.openxmlformats.org/officeDocument/2006/relationships/image" Target="../media/image93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72.png"/><Relationship Id="rId4" Type="http://schemas.openxmlformats.org/officeDocument/2006/relationships/image" Target="../media/image94.png"/><Relationship Id="rId5" Type="http://schemas.openxmlformats.org/officeDocument/2006/relationships/image" Target="../media/image95.png"/><Relationship Id="rId6" Type="http://schemas.openxmlformats.org/officeDocument/2006/relationships/image" Target="../media/image96.png"/><Relationship Id="rId7" Type="http://schemas.openxmlformats.org/officeDocument/2006/relationships/image" Target="../media/image97.png"/><Relationship Id="rId8" Type="http://schemas.openxmlformats.org/officeDocument/2006/relationships/image" Target="../media/image98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Relationship Id="rId3" Type="http://schemas.openxmlformats.org/officeDocument/2006/relationships/image" Target="../media/image72.png"/><Relationship Id="rId4" Type="http://schemas.openxmlformats.org/officeDocument/2006/relationships/image" Target="../media/image99.png"/><Relationship Id="rId5" Type="http://schemas.openxmlformats.org/officeDocument/2006/relationships/image" Target="../media/image100.png"/><Relationship Id="rId6" Type="http://schemas.openxmlformats.org/officeDocument/2006/relationships/image" Target="../media/image101.png"/><Relationship Id="rId7" Type="http://schemas.openxmlformats.org/officeDocument/2006/relationships/image" Target="../media/image102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Relationship Id="rId3" Type="http://schemas.openxmlformats.org/officeDocument/2006/relationships/image" Target="../media/image103.png"/><Relationship Id="rId4" Type="http://schemas.openxmlformats.org/officeDocument/2006/relationships/image" Target="../media/image104.png"/><Relationship Id="rId5" Type="http://schemas.openxmlformats.org/officeDocument/2006/relationships/image" Target="../media/image105.png"/><Relationship Id="rId6" Type="http://schemas.openxmlformats.org/officeDocument/2006/relationships/image" Target="../media/image106.png"/><Relationship Id="rId7" Type="http://schemas.openxmlformats.org/officeDocument/2006/relationships/image" Target="../media/image107.png"/><Relationship Id="rId8" Type="http://schemas.openxmlformats.org/officeDocument/2006/relationships/image" Target="../media/image108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09.png"/><Relationship Id="rId4" Type="http://schemas.openxmlformats.org/officeDocument/2006/relationships/image" Target="../media/image110.png"/><Relationship Id="rId5" Type="http://schemas.openxmlformats.org/officeDocument/2006/relationships/image" Target="../media/image96.png"/><Relationship Id="rId6" Type="http://schemas.openxmlformats.org/officeDocument/2006/relationships/image" Target="../media/image111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12.png"/><Relationship Id="rId4" Type="http://schemas.openxmlformats.org/officeDocument/2006/relationships/image" Target="../media/image113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Relationship Id="rId3" Type="http://schemas.openxmlformats.org/officeDocument/2006/relationships/image" Target="../media/image1.png"/><Relationship Id="rId4" Type="http://schemas.openxmlformats.org/officeDocument/2006/relationships/image" Target="../media/image2.png"/><Relationship Id="rId5" Type="http://schemas.openxmlformats.org/officeDocument/2006/relationships/image" Target="../media/image3.png"/><Relationship Id="rId6" Type="http://schemas.openxmlformats.org/officeDocument/2006/relationships/hyperlink" Target="mailto:aebon@hs.ac.kr" TargetMode="Externa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Relationship Id="rId3" Type="http://schemas.openxmlformats.org/officeDocument/2006/relationships/image" Target="../media/image114.png"/><Relationship Id="rId4" Type="http://schemas.openxmlformats.org/officeDocument/2006/relationships/image" Target="../media/image115.png"/><Relationship Id="rId5" Type="http://schemas.openxmlformats.org/officeDocument/2006/relationships/image" Target="../media/image116.png"/><Relationship Id="rId6" Type="http://schemas.openxmlformats.org/officeDocument/2006/relationships/image" Target="../media/image117.png"/><Relationship Id="rId7" Type="http://schemas.openxmlformats.org/officeDocument/2006/relationships/image" Target="../media/image118.png"/><Relationship Id="rId8" Type="http://schemas.openxmlformats.org/officeDocument/2006/relationships/image" Target="../media/image119.png"/><Relationship Id="rId9" Type="http://schemas.openxmlformats.org/officeDocument/2006/relationships/image" Target="../media/image120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Relationship Id="rId3" Type="http://schemas.openxmlformats.org/officeDocument/2006/relationships/image" Target="../media/image112.png"/><Relationship Id="rId4" Type="http://schemas.openxmlformats.org/officeDocument/2006/relationships/image" Target="../media/image121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Relationship Id="rId3" Type="http://schemas.openxmlformats.org/officeDocument/2006/relationships/image" Target="../media/image63.png"/><Relationship Id="rId4" Type="http://schemas.openxmlformats.org/officeDocument/2006/relationships/image" Target="../media/image122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Relationship Id="rId3" Type="http://schemas.openxmlformats.org/officeDocument/2006/relationships/image" Target="../media/image123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Relationship Id="rId3" Type="http://schemas.openxmlformats.org/officeDocument/2006/relationships/image" Target="../media/image124.png"/><Relationship Id="rId4" Type="http://schemas.openxmlformats.org/officeDocument/2006/relationships/image" Target="../media/image125.png"/><Relationship Id="rId5" Type="http://schemas.openxmlformats.org/officeDocument/2006/relationships/image" Target="../media/image126.png"/><Relationship Id="rId6" Type="http://schemas.openxmlformats.org/officeDocument/2006/relationships/image" Target="../media/image57.png"/><Relationship Id="rId7" Type="http://schemas.openxmlformats.org/officeDocument/2006/relationships/image" Target="../media/image127.png"/><Relationship Id="rId8" Type="http://schemas.openxmlformats.org/officeDocument/2006/relationships/image" Target="../media/image128.png"/><Relationship Id="rId9" Type="http://schemas.openxmlformats.org/officeDocument/2006/relationships/image" Target="../media/image129.png"/><Relationship Id="rId10" Type="http://schemas.openxmlformats.org/officeDocument/2006/relationships/image" Target="../media/image130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Relationship Id="rId3" Type="http://schemas.openxmlformats.org/officeDocument/2006/relationships/image" Target="../media/image131.jpg"/><Relationship Id="rId4" Type="http://schemas.openxmlformats.org/officeDocument/2006/relationships/image" Target="../media/image132.svg"/><Relationship Id="rId5" Type="http://schemas.openxmlformats.org/officeDocument/2006/relationships/image" Target="../media/image133.png"/><Relationship Id="rId6" Type="http://schemas.openxmlformats.org/officeDocument/2006/relationships/image" Target="../media/image134.png"/><Relationship Id="rId7" Type="http://schemas.openxmlformats.org/officeDocument/2006/relationships/image" Target="../media/image135.png"/><Relationship Id="rId8" Type="http://schemas.openxmlformats.org/officeDocument/2006/relationships/image" Target="../media/image136.png"/><Relationship Id="rId9" Type="http://schemas.openxmlformats.org/officeDocument/2006/relationships/image" Target="../media/image130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Relationship Id="rId3" Type="http://schemas.openxmlformats.org/officeDocument/2006/relationships/image" Target="../media/image137.png"/><Relationship Id="rId4" Type="http://schemas.openxmlformats.org/officeDocument/2006/relationships/image" Target="../media/image138.png"/><Relationship Id="rId5" Type="http://schemas.openxmlformats.org/officeDocument/2006/relationships/image" Target="../media/image139.png"/><Relationship Id="rId6" Type="http://schemas.openxmlformats.org/officeDocument/2006/relationships/image" Target="../media/image140.png"/><Relationship Id="rId7" Type="http://schemas.openxmlformats.org/officeDocument/2006/relationships/image" Target="../media/image141.png"/><Relationship Id="rId8" Type="http://schemas.openxmlformats.org/officeDocument/2006/relationships/image" Target="../media/image142.png"/><Relationship Id="rId9" Type="http://schemas.openxmlformats.org/officeDocument/2006/relationships/image" Target="../media/image62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43.png"/><Relationship Id="rId4" Type="http://schemas.openxmlformats.org/officeDocument/2006/relationships/image" Target="../media/image144.png"/><Relationship Id="rId5" Type="http://schemas.openxmlformats.org/officeDocument/2006/relationships/image" Target="../media/image145.png"/><Relationship Id="rId6" Type="http://schemas.openxmlformats.org/officeDocument/2006/relationships/image" Target="../media/image146.png"/><Relationship Id="rId7" Type="http://schemas.openxmlformats.org/officeDocument/2006/relationships/image" Target="../media/image147.png"/><Relationship Id="rId8" Type="http://schemas.openxmlformats.org/officeDocument/2006/relationships/image" Target="../media/image67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48.pn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49.png"/><Relationship Id="rId4" Type="http://schemas.openxmlformats.org/officeDocument/2006/relationships/image" Target="../media/image150.png"/><Relationship Id="rId5" Type="http://schemas.openxmlformats.org/officeDocument/2006/relationships/image" Target="../media/image151.png"/><Relationship Id="rId6" Type="http://schemas.openxmlformats.org/officeDocument/2006/relationships/image" Target="../media/image72.png"/><Relationship Id="rId7" Type="http://schemas.openxmlformats.org/officeDocument/2006/relationships/image" Target="../media/image152.png"/><Relationship Id="rId8" Type="http://schemas.openxmlformats.org/officeDocument/2006/relationships/image" Target="../media/image153.png"/><Relationship Id="rId9" Type="http://schemas.openxmlformats.org/officeDocument/2006/relationships/image" Target="../media/image154.pn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Relationship Id="rId3" Type="http://schemas.openxmlformats.org/officeDocument/2006/relationships/image" Target="../media/image143.png"/><Relationship Id="rId4" Type="http://schemas.openxmlformats.org/officeDocument/2006/relationships/image" Target="../media/image155.png"/><Relationship Id="rId5" Type="http://schemas.openxmlformats.org/officeDocument/2006/relationships/image" Target="../media/image156.png"/><Relationship Id="rId6" Type="http://schemas.openxmlformats.org/officeDocument/2006/relationships/image" Target="../media/image157.png"/><Relationship Id="rId7" Type="http://schemas.openxmlformats.org/officeDocument/2006/relationships/image" Target="../media/image158.png"/><Relationship Id="rId8" Type="http://schemas.openxmlformats.org/officeDocument/2006/relationships/image" Target="../media/image159.png"/><Relationship Id="rId9" Type="http://schemas.openxmlformats.org/officeDocument/2006/relationships/image" Target="../media/image160.pn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Relationship Id="rId3" Type="http://schemas.openxmlformats.org/officeDocument/2006/relationships/image" Target="../media/image161.png"/><Relationship Id="rId4" Type="http://schemas.openxmlformats.org/officeDocument/2006/relationships/image" Target="../media/image162.pn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Relationship Id="rId3" Type="http://schemas.openxmlformats.org/officeDocument/2006/relationships/image" Target="../media/image163.png"/><Relationship Id="rId4" Type="http://schemas.openxmlformats.org/officeDocument/2006/relationships/image" Target="../media/image164.png"/><Relationship Id="rId5" Type="http://schemas.openxmlformats.org/officeDocument/2006/relationships/image" Target="../media/image165.png"/><Relationship Id="rId6" Type="http://schemas.openxmlformats.org/officeDocument/2006/relationships/image" Target="../media/image166.pn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rcRect l="-3" r="-3"/>
          <a:stretch/>
        </p:blipFill>
        <p:spPr>
          <a:xfrm>
            <a:off x="6096305" y="0"/>
            <a:ext cx="6096305" cy="685800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761695" y="1098194"/>
            <a:ext cx="761695" cy="57607"/>
          </a:xfrm>
          <a:prstGeom prst="rect">
            <a:avLst/>
          </a:prstGeom>
          <a:solidFill>
            <a:srgbClr val="38BDF8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4" name="Text 8"/>
          <p:cNvSpPr txBox="1"/>
          <p:nvPr/>
        </p:nvSpPr>
        <p:spPr>
          <a:xfrm>
            <a:off x="761695" y="1459382"/>
            <a:ext cx="8458200" cy="10003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54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대학생을 위한 인용·출처관리</a:t>
            </a:r>
            <a:endParaRPr lang="en-US" sz="5400" dirty="0"/>
          </a:p>
        </p:txBody>
      </p:sp>
      <p:sp>
        <p:nvSpPr>
          <p:cNvPr id="15" name="Text 9"/>
          <p:cNvSpPr txBox="1"/>
          <p:nvPr/>
        </p:nvSpPr>
        <p:spPr>
          <a:xfrm>
            <a:off x="761695" y="2602382"/>
            <a:ext cx="8071912" cy="8193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200" dirty="0">
                <a:solidFill>
                  <a:srgbClr val="D1D5D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표절 예방과 설득력 있는 리포트를 위한 실전 가이드 및 도구 활용법</a:t>
            </a:r>
            <a:endParaRPr lang="en-US" sz="2200" dirty="0"/>
          </a:p>
        </p:txBody>
      </p:sp>
      <p:grpSp>
        <p:nvGrpSpPr>
          <p:cNvPr id="19" name="그룹 18">
            <a:extLst>
              <a:ext uri="{FF2B5EF4-FFF2-40B4-BE49-F238E27FC236}">
                <a16:creationId xmlns:a16="http://schemas.microsoft.com/office/drawing/2014/main" id="{0595F8B5-2BC1-95F9-DB45-D94ACE79D2BA}"/>
              </a:ext>
            </a:extLst>
          </p:cNvPr>
          <p:cNvGrpSpPr/>
          <p:nvPr/>
        </p:nvGrpSpPr>
        <p:grpSpPr>
          <a:xfrm>
            <a:off x="6763359" y="4601302"/>
            <a:ext cx="4762195" cy="1666951"/>
            <a:chOff x="761695" y="4093769"/>
            <a:chExt cx="4762195" cy="1666951"/>
          </a:xfrm>
        </p:grpSpPr>
        <p:sp>
          <p:nvSpPr>
            <p:cNvPr id="6" name="Shape 3"/>
            <p:cNvSpPr/>
            <p:nvPr/>
          </p:nvSpPr>
          <p:spPr>
            <a:xfrm>
              <a:off x="761695" y="4093769"/>
              <a:ext cx="4762195" cy="1666951"/>
            </a:xfrm>
            <a:prstGeom prst="roundRect">
              <a:avLst>
                <a:gd name="adj" fmla="val 3761"/>
              </a:avLst>
            </a:prstGeom>
            <a:solidFill>
              <a:srgbClr val="FFFFFF">
                <a:alpha val="5000"/>
              </a:srgbClr>
            </a:solidFill>
            <a:ln w="12700">
              <a:solidFill>
                <a:srgbClr val="FFFFFF">
                  <a:alpha val="10000"/>
                </a:srgbClr>
              </a:solidFill>
              <a:prstDash val="solid"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9" name="Shape 5"/>
            <p:cNvSpPr/>
            <p:nvPr/>
          </p:nvSpPr>
          <p:spPr>
            <a:xfrm>
              <a:off x="1076249" y="4331513"/>
              <a:ext cx="381305" cy="381305"/>
            </a:xfrm>
            <a:prstGeom prst="ellipse">
              <a:avLst/>
            </a:prstGeom>
            <a:solidFill>
              <a:srgbClr val="38BDF8">
                <a:alpha val="10000"/>
              </a:srgbClr>
            </a:solidFill>
            <a:ln/>
          </p:spPr>
          <p:txBody>
            <a:bodyPr/>
            <a:lstStyle/>
            <a:p>
              <a:endParaRPr lang="ko-KR" altLang="en-US"/>
            </a:p>
          </p:txBody>
        </p:sp>
        <p:pic>
          <p:nvPicPr>
            <p:cNvPr id="10" name="Image 2" descr="preencoded.png"/>
            <p:cNvPicPr>
              <a:picLocks noChangeAspect="1"/>
            </p:cNvPicPr>
            <p:nvPr/>
          </p:nvPicPr>
          <p:blipFill>
            <a:blip r:embed="rId4"/>
            <a:srcRect l="-1064" r="-1064"/>
            <a:stretch/>
          </p:blipFill>
          <p:spPr>
            <a:xfrm>
              <a:off x="1156717" y="4436669"/>
              <a:ext cx="219456" cy="171907"/>
            </a:xfrm>
            <a:prstGeom prst="rect">
              <a:avLst/>
            </a:prstGeom>
          </p:spPr>
        </p:pic>
        <p:sp>
          <p:nvSpPr>
            <p:cNvPr id="11" name="Shape 6"/>
            <p:cNvSpPr/>
            <p:nvPr/>
          </p:nvSpPr>
          <p:spPr>
            <a:xfrm>
              <a:off x="1076249" y="4978908"/>
              <a:ext cx="4134002" cy="9144"/>
            </a:xfrm>
            <a:prstGeom prst="rect">
              <a:avLst/>
            </a:prstGeom>
            <a:solidFill>
              <a:srgbClr val="374151"/>
            </a:solidFill>
            <a:ln/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2" name="Shape 7"/>
            <p:cNvSpPr/>
            <p:nvPr/>
          </p:nvSpPr>
          <p:spPr>
            <a:xfrm>
              <a:off x="1076249" y="5140757"/>
              <a:ext cx="381305" cy="381305"/>
            </a:xfrm>
            <a:prstGeom prst="ellipse">
              <a:avLst/>
            </a:prstGeom>
            <a:solidFill>
              <a:srgbClr val="38BDF8">
                <a:alpha val="10000"/>
              </a:srgbClr>
            </a:solidFill>
            <a:ln/>
          </p:spPr>
          <p:txBody>
            <a:bodyPr/>
            <a:lstStyle/>
            <a:p>
              <a:endParaRPr lang="ko-KR" altLang="en-US"/>
            </a:p>
          </p:txBody>
        </p:sp>
        <p:pic>
          <p:nvPicPr>
            <p:cNvPr id="13" name="Image 3" descr="preencoded.png"/>
            <p:cNvPicPr>
              <a:picLocks noChangeAspect="1"/>
            </p:cNvPicPr>
            <p:nvPr/>
          </p:nvPicPr>
          <p:blipFill>
            <a:blip r:embed="rId5"/>
            <a:srcRect/>
            <a:stretch/>
          </p:blipFill>
          <p:spPr>
            <a:xfrm>
              <a:off x="1181405" y="5245913"/>
              <a:ext cx="171907" cy="171907"/>
            </a:xfrm>
            <a:prstGeom prst="rect">
              <a:avLst/>
            </a:prstGeom>
          </p:spPr>
        </p:pic>
        <p:sp>
          <p:nvSpPr>
            <p:cNvPr id="17" name="Text 11"/>
            <p:cNvSpPr txBox="1"/>
            <p:nvPr/>
          </p:nvSpPr>
          <p:spPr>
            <a:xfrm>
              <a:off x="1609802" y="4340657"/>
              <a:ext cx="3638397" cy="366675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>
                <a:lnSpc>
                  <a:spcPct val="150000"/>
                </a:lnSpc>
              </a:pPr>
              <a:r>
                <a:rPr lang="ko-KR" altLang="en-US" sz="2000" b="1" dirty="0">
                  <a:solidFill>
                    <a:srgbClr val="FFFFFF"/>
                  </a:solidFill>
                  <a:latin typeface="Noto Sans KR" pitchFamily="34" charset="0"/>
                  <a:ea typeface="Noto Sans KR" pitchFamily="34" charset="-122"/>
                </a:rPr>
                <a:t>이 애 본</a:t>
              </a:r>
              <a:br>
                <a:rPr lang="en-US" altLang="ko-KR" sz="1500" b="1" dirty="0">
                  <a:solidFill>
                    <a:srgbClr val="FFFFFF"/>
                  </a:solidFill>
                  <a:latin typeface="Noto Sans KR" pitchFamily="34" charset="0"/>
                  <a:ea typeface="Noto Sans KR" pitchFamily="34" charset="-122"/>
                </a:rPr>
              </a:br>
              <a:r>
                <a:rPr lang="ko-KR" altLang="en-US" sz="1500" b="1" dirty="0">
                  <a:solidFill>
                    <a:srgbClr val="FFFFFF"/>
                  </a:solidFill>
                  <a:latin typeface="Noto Sans KR" pitchFamily="34" charset="0"/>
                  <a:ea typeface="Noto Sans KR" pitchFamily="34" charset="-122"/>
                </a:rPr>
                <a:t>한신대학교 </a:t>
              </a:r>
              <a:r>
                <a:rPr lang="en-US" altLang="ko-KR" sz="1500" b="1" dirty="0">
                  <a:solidFill>
                    <a:srgbClr val="FFFFFF"/>
                  </a:solidFill>
                  <a:latin typeface="Noto Sans KR" pitchFamily="34" charset="0"/>
                  <a:ea typeface="Noto Sans KR" pitchFamily="34" charset="-122"/>
                </a:rPr>
                <a:t>AI.SW</a:t>
              </a:r>
              <a:r>
                <a:rPr lang="ko-KR" altLang="en-US" sz="1500" b="1" dirty="0">
                  <a:solidFill>
                    <a:srgbClr val="FFFFFF"/>
                  </a:solidFill>
                  <a:latin typeface="Noto Sans KR" pitchFamily="34" charset="0"/>
                  <a:ea typeface="Noto Sans KR" pitchFamily="34" charset="-122"/>
                </a:rPr>
                <a:t>대학 </a:t>
              </a:r>
              <a:r>
                <a:rPr lang="en-US" altLang="ko-KR" sz="1500" b="1" dirty="0">
                  <a:solidFill>
                    <a:srgbClr val="FFFFFF"/>
                  </a:solidFill>
                  <a:latin typeface="Noto Sans KR" pitchFamily="34" charset="0"/>
                  <a:ea typeface="Noto Sans KR" pitchFamily="34" charset="-122"/>
                  <a:hlinkClick r:id="rId6"/>
                </a:rPr>
                <a:t>aebon@hs.ac.kr</a:t>
              </a:r>
              <a:r>
                <a:rPr lang="ko-KR" altLang="en-US" sz="1500" b="1" dirty="0">
                  <a:solidFill>
                    <a:srgbClr val="FFFFFF"/>
                  </a:solidFill>
                  <a:latin typeface="Noto Sans KR" pitchFamily="34" charset="0"/>
                  <a:ea typeface="Noto Sans KR" pitchFamily="34" charset="-122"/>
                </a:rPr>
                <a:t> </a:t>
              </a:r>
              <a:endParaRPr lang="en-US" altLang="ko-KR" sz="1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</a:endParaRPr>
            </a:p>
          </p:txBody>
        </p:sp>
        <p:sp>
          <p:nvSpPr>
            <p:cNvPr id="18" name="Text 12"/>
            <p:cNvSpPr txBox="1"/>
            <p:nvPr/>
          </p:nvSpPr>
          <p:spPr>
            <a:xfrm>
              <a:off x="1571854" y="5188306"/>
              <a:ext cx="1781251" cy="277063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500" b="1" dirty="0">
                  <a:solidFill>
                    <a:srgbClr val="FFFFFF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주제: 인용·출처관리</a:t>
              </a:r>
              <a:endParaRPr lang="en-US" sz="1500" dirty="0"/>
            </a:p>
          </p:txBody>
        </p:sp>
      </p:grpSp>
      <p:sp>
        <p:nvSpPr>
          <p:cNvPr id="20" name="Text 9">
            <a:extLst>
              <a:ext uri="{FF2B5EF4-FFF2-40B4-BE49-F238E27FC236}">
                <a16:creationId xmlns:a16="http://schemas.microsoft.com/office/drawing/2014/main" id="{B33AD245-66E1-FAC7-7E2B-B3228AE988C5}"/>
              </a:ext>
            </a:extLst>
          </p:cNvPr>
          <p:cNvSpPr txBox="1"/>
          <p:nvPr/>
        </p:nvSpPr>
        <p:spPr>
          <a:xfrm>
            <a:off x="628676" y="5667156"/>
            <a:ext cx="4417109" cy="48447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ko-KR" altLang="en-US" b="1" dirty="0">
                <a:solidFill>
                  <a:srgbClr val="D1D5D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생성형 </a:t>
            </a:r>
            <a:r>
              <a:rPr lang="en-US" altLang="ko-KR" b="1" dirty="0">
                <a:solidFill>
                  <a:srgbClr val="D1D5D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AI</a:t>
            </a:r>
            <a:r>
              <a:rPr lang="ko-KR" altLang="en-US" b="1" dirty="0">
                <a:solidFill>
                  <a:srgbClr val="D1D5D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와 창의력</a:t>
            </a:r>
            <a:r>
              <a:rPr lang="en-US" altLang="ko-KR" b="1" dirty="0">
                <a:solidFill>
                  <a:srgbClr val="D1D5D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, </a:t>
            </a:r>
            <a:r>
              <a:rPr lang="ko-KR" altLang="en-US" b="1" dirty="0">
                <a:solidFill>
                  <a:srgbClr val="D1D5D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복합문제능력 향상 과정</a:t>
            </a:r>
            <a:endParaRPr lang="en-US" altLang="ko-KR" b="1" dirty="0">
              <a:solidFill>
                <a:srgbClr val="D1D5DB"/>
              </a:solidFill>
              <a:latin typeface="Noto Sans KR" pitchFamily="34" charset="0"/>
              <a:ea typeface="Noto Sans KR" pitchFamily="34" charset="-122"/>
              <a:cs typeface="Noto Sans KR" pitchFamily="34" charset="-120"/>
            </a:endParaRPr>
          </a:p>
          <a:p>
            <a:r>
              <a:rPr lang="ko-KR" altLang="en-US" b="1" dirty="0">
                <a:solidFill>
                  <a:srgbClr val="D1D5D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  <a:r>
              <a:rPr lang="en-US" altLang="ko-KR" b="1" dirty="0">
                <a:solidFill>
                  <a:srgbClr val="D1D5D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- https://padlet.com/aebon/create26</a:t>
            </a:r>
            <a:endParaRPr lang="en-US" b="1" dirty="0"/>
          </a:p>
        </p:txBody>
      </p:sp>
      <p:sp>
        <p:nvSpPr>
          <p:cNvPr id="21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이애본(드림아이티비즈) · useful-ai.dreamitbiz.com · 교육 목적 비영리 이용 · 출처 표기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" name="Shape 2"/>
          <p:cNvSpPr/>
          <p:nvPr/>
        </p:nvSpPr>
        <p:spPr>
          <a:xfrm>
            <a:off x="-1904695" y="-1904695"/>
            <a:ext cx="7619695" cy="7619695"/>
          </a:xfrm>
          <a:prstGeom prst="ellipse">
            <a:avLst/>
          </a:prstGeom>
          <a:solidFill>
            <a:srgbClr val="38BDF8">
              <a:alpha val="2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" name="Shape 3"/>
          <p:cNvSpPr/>
          <p:nvPr/>
        </p:nvSpPr>
        <p:spPr>
          <a:xfrm>
            <a:off x="8382305" y="3047695"/>
            <a:ext cx="4762195" cy="4762195"/>
          </a:xfrm>
          <a:prstGeom prst="ellipse">
            <a:avLst/>
          </a:prstGeom>
          <a:solidFill>
            <a:srgbClr val="38BDF8">
              <a:alpha val="2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6" name="Shape 4"/>
          <p:cNvSpPr/>
          <p:nvPr/>
        </p:nvSpPr>
        <p:spPr>
          <a:xfrm>
            <a:off x="0" y="0"/>
            <a:ext cx="4638751" cy="6858000"/>
          </a:xfrm>
          <a:prstGeom prst="rect">
            <a:avLst/>
          </a:prstGeom>
          <a:solidFill>
            <a:srgbClr val="0F172A">
              <a:alpha val="5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7" name="Shape 5"/>
          <p:cNvSpPr/>
          <p:nvPr/>
        </p:nvSpPr>
        <p:spPr>
          <a:xfrm>
            <a:off x="4629607" y="0"/>
            <a:ext cx="9144" cy="6858000"/>
          </a:xfrm>
          <a:prstGeom prst="rect">
            <a:avLst/>
          </a:prstGeom>
          <a:solidFill>
            <a:srgbClr val="FFFFFF">
              <a:alpha val="1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8" name="Shape 6"/>
          <p:cNvSpPr/>
          <p:nvPr/>
        </p:nvSpPr>
        <p:spPr>
          <a:xfrm>
            <a:off x="571500" y="2314346"/>
            <a:ext cx="571500" cy="57607"/>
          </a:xfrm>
          <a:prstGeom prst="rect">
            <a:avLst/>
          </a:prstGeom>
          <a:solidFill>
            <a:srgbClr val="38BDF8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9" name="Shape 7"/>
          <p:cNvSpPr/>
          <p:nvPr/>
        </p:nvSpPr>
        <p:spPr>
          <a:xfrm>
            <a:off x="571500" y="4352544"/>
            <a:ext cx="19202" cy="190195"/>
          </a:xfrm>
          <a:prstGeom prst="rect">
            <a:avLst/>
          </a:prstGeom>
          <a:solidFill>
            <a:srgbClr val="E5E7E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0" name="Text 8"/>
          <p:cNvSpPr txBox="1"/>
          <p:nvPr/>
        </p:nvSpPr>
        <p:spPr>
          <a:xfrm>
            <a:off x="571500" y="2542946"/>
            <a:ext cx="2695651" cy="8293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4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강의 개요</a:t>
            </a:r>
            <a:endParaRPr lang="en-US" sz="4500" dirty="0"/>
          </a:p>
        </p:txBody>
      </p:sp>
      <p:sp>
        <p:nvSpPr>
          <p:cNvPr id="11" name="Text 9"/>
          <p:cNvSpPr txBox="1"/>
          <p:nvPr/>
        </p:nvSpPr>
        <p:spPr>
          <a:xfrm>
            <a:off x="695401" y="4173524"/>
            <a:ext cx="3495751" cy="5907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dirty="0">
                <a:solidFill>
                  <a:srgbClr val="D1D5D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표절 예방을 위한 인용 </a:t>
            </a:r>
            <a:r>
              <a:rPr lang="en-US" sz="1500" dirty="0" err="1">
                <a:solidFill>
                  <a:srgbClr val="D1D5D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원칙과</a:t>
            </a:r>
            <a:r>
              <a:rPr lang="en-US" sz="1500" dirty="0">
                <a:solidFill>
                  <a:srgbClr val="D1D5D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</a:p>
          <a:p>
            <a:pPr marL="0" indent="0" algn="l">
              <a:buNone/>
            </a:pPr>
            <a:r>
              <a:rPr lang="en-US" sz="1500" dirty="0" err="1">
                <a:solidFill>
                  <a:srgbClr val="D1D5D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최신</a:t>
            </a:r>
            <a:r>
              <a:rPr lang="en-US" sz="1500" dirty="0">
                <a:solidFill>
                  <a:srgbClr val="D1D5D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AI·서지 도구 실습 가이드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5299862" y="1270102"/>
            <a:ext cx="6229807" cy="514807"/>
          </a:xfrm>
          <a:prstGeom prst="roundRect">
            <a:avLst>
              <a:gd name="adj" fmla="val 26314"/>
            </a:avLst>
          </a:prstGeom>
          <a:solidFill>
            <a:srgbClr val="38BDF8">
              <a:alpha val="8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4" name="Shape 12"/>
          <p:cNvSpPr/>
          <p:nvPr/>
        </p:nvSpPr>
        <p:spPr>
          <a:xfrm>
            <a:off x="5299862" y="1270102"/>
            <a:ext cx="38405" cy="514807"/>
          </a:xfrm>
          <a:prstGeom prst="rect">
            <a:avLst/>
          </a:prstGeom>
          <a:solidFill>
            <a:srgbClr val="38BDF8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5" name="Shape 13"/>
          <p:cNvSpPr/>
          <p:nvPr/>
        </p:nvSpPr>
        <p:spPr>
          <a:xfrm>
            <a:off x="5299862" y="1904695"/>
            <a:ext cx="6229807" cy="514807"/>
          </a:xfrm>
          <a:prstGeom prst="roundRect">
            <a:avLst>
              <a:gd name="adj" fmla="val 26314"/>
            </a:avLst>
          </a:prstGeom>
          <a:solidFill>
            <a:srgbClr val="FFFFFF">
              <a:alpha val="3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6" name="Shape 14"/>
          <p:cNvSpPr/>
          <p:nvPr/>
        </p:nvSpPr>
        <p:spPr>
          <a:xfrm>
            <a:off x="5299862" y="1904695"/>
            <a:ext cx="38405" cy="514807"/>
          </a:xfrm>
          <a:prstGeom prst="rect">
            <a:avLst/>
          </a:prstGeom>
          <a:solidFill>
            <a:srgbClr val="000000">
              <a:alpha val="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7" name="Shape 15"/>
          <p:cNvSpPr/>
          <p:nvPr/>
        </p:nvSpPr>
        <p:spPr>
          <a:xfrm>
            <a:off x="5299862" y="2539289"/>
            <a:ext cx="6229807" cy="514807"/>
          </a:xfrm>
          <a:prstGeom prst="roundRect">
            <a:avLst>
              <a:gd name="adj" fmla="val 26314"/>
            </a:avLst>
          </a:prstGeom>
          <a:solidFill>
            <a:srgbClr val="FFFFFF">
              <a:alpha val="3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8" name="Shape 16"/>
          <p:cNvSpPr/>
          <p:nvPr/>
        </p:nvSpPr>
        <p:spPr>
          <a:xfrm>
            <a:off x="5299862" y="2539289"/>
            <a:ext cx="38405" cy="514807"/>
          </a:xfrm>
          <a:prstGeom prst="rect">
            <a:avLst/>
          </a:prstGeom>
          <a:solidFill>
            <a:srgbClr val="000000">
              <a:alpha val="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9" name="Shape 17"/>
          <p:cNvSpPr/>
          <p:nvPr/>
        </p:nvSpPr>
        <p:spPr>
          <a:xfrm>
            <a:off x="5299862" y="3173882"/>
            <a:ext cx="6229807" cy="514807"/>
          </a:xfrm>
          <a:prstGeom prst="roundRect">
            <a:avLst>
              <a:gd name="adj" fmla="val 26314"/>
            </a:avLst>
          </a:prstGeom>
          <a:solidFill>
            <a:srgbClr val="FFFFFF">
              <a:alpha val="3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0" name="Shape 18"/>
          <p:cNvSpPr/>
          <p:nvPr/>
        </p:nvSpPr>
        <p:spPr>
          <a:xfrm>
            <a:off x="5299862" y="3173882"/>
            <a:ext cx="38405" cy="514807"/>
          </a:xfrm>
          <a:prstGeom prst="rect">
            <a:avLst/>
          </a:prstGeom>
          <a:solidFill>
            <a:srgbClr val="000000">
              <a:alpha val="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1" name="Shape 19"/>
          <p:cNvSpPr/>
          <p:nvPr/>
        </p:nvSpPr>
        <p:spPr>
          <a:xfrm>
            <a:off x="5299862" y="3808476"/>
            <a:ext cx="6229807" cy="514807"/>
          </a:xfrm>
          <a:prstGeom prst="roundRect">
            <a:avLst>
              <a:gd name="adj" fmla="val 26314"/>
            </a:avLst>
          </a:prstGeom>
          <a:solidFill>
            <a:srgbClr val="FFFFFF">
              <a:alpha val="3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2" name="Shape 20"/>
          <p:cNvSpPr/>
          <p:nvPr/>
        </p:nvSpPr>
        <p:spPr>
          <a:xfrm>
            <a:off x="5299862" y="3808476"/>
            <a:ext cx="38405" cy="514807"/>
          </a:xfrm>
          <a:prstGeom prst="rect">
            <a:avLst/>
          </a:prstGeom>
          <a:solidFill>
            <a:srgbClr val="000000">
              <a:alpha val="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3" name="Shape 21"/>
          <p:cNvSpPr/>
          <p:nvPr/>
        </p:nvSpPr>
        <p:spPr>
          <a:xfrm>
            <a:off x="5299862" y="4442155"/>
            <a:ext cx="6229807" cy="514807"/>
          </a:xfrm>
          <a:prstGeom prst="roundRect">
            <a:avLst>
              <a:gd name="adj" fmla="val 26314"/>
            </a:avLst>
          </a:prstGeom>
          <a:solidFill>
            <a:srgbClr val="FFFFFF">
              <a:alpha val="3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4" name="Shape 22"/>
          <p:cNvSpPr/>
          <p:nvPr/>
        </p:nvSpPr>
        <p:spPr>
          <a:xfrm>
            <a:off x="5299862" y="4442155"/>
            <a:ext cx="38405" cy="514807"/>
          </a:xfrm>
          <a:prstGeom prst="rect">
            <a:avLst/>
          </a:prstGeom>
          <a:solidFill>
            <a:srgbClr val="000000">
              <a:alpha val="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5" name="Shape 23"/>
          <p:cNvSpPr/>
          <p:nvPr/>
        </p:nvSpPr>
        <p:spPr>
          <a:xfrm>
            <a:off x="5299862" y="5076749"/>
            <a:ext cx="6229807" cy="514807"/>
          </a:xfrm>
          <a:prstGeom prst="roundRect">
            <a:avLst>
              <a:gd name="adj" fmla="val 26314"/>
            </a:avLst>
          </a:prstGeom>
          <a:solidFill>
            <a:srgbClr val="FFFFFF">
              <a:alpha val="3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6" name="Shape 24"/>
          <p:cNvSpPr/>
          <p:nvPr/>
        </p:nvSpPr>
        <p:spPr>
          <a:xfrm>
            <a:off x="5299862" y="5076749"/>
            <a:ext cx="38405" cy="514807"/>
          </a:xfrm>
          <a:prstGeom prst="rect">
            <a:avLst/>
          </a:prstGeom>
          <a:solidFill>
            <a:srgbClr val="000000">
              <a:alpha val="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7" name="Text 25"/>
          <p:cNvSpPr txBox="1"/>
          <p:nvPr/>
        </p:nvSpPr>
        <p:spPr>
          <a:xfrm>
            <a:off x="5413451" y="1371600"/>
            <a:ext cx="427025" cy="3054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600" b="1" dirty="0">
                <a:solidFill>
                  <a:srgbClr val="38BDF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01</a:t>
            </a:r>
            <a:endParaRPr lang="en-US" sz="1600" dirty="0"/>
          </a:p>
        </p:txBody>
      </p:sp>
      <p:sp>
        <p:nvSpPr>
          <p:cNvPr id="28" name="Text 26"/>
          <p:cNvSpPr txBox="1"/>
          <p:nvPr/>
        </p:nvSpPr>
        <p:spPr>
          <a:xfrm>
            <a:off x="6099962" y="1394460"/>
            <a:ext cx="2199132" cy="2478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F1F5F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왜 인용·출처 표기가 중요한가</a:t>
            </a:r>
            <a:endParaRPr lang="en-US" sz="1300" dirty="0"/>
          </a:p>
        </p:txBody>
      </p:sp>
      <p:sp>
        <p:nvSpPr>
          <p:cNvPr id="29" name="Text 27"/>
          <p:cNvSpPr txBox="1"/>
          <p:nvPr/>
        </p:nvSpPr>
        <p:spPr>
          <a:xfrm>
            <a:off x="5413451" y="2005279"/>
            <a:ext cx="427025" cy="3054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600" b="1" dirty="0">
                <a:solidFill>
                  <a:srgbClr val="38BDF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02</a:t>
            </a:r>
            <a:endParaRPr lang="en-US" sz="1600" dirty="0"/>
          </a:p>
        </p:txBody>
      </p:sp>
      <p:sp>
        <p:nvSpPr>
          <p:cNvPr id="30" name="Text 28"/>
          <p:cNvSpPr txBox="1"/>
          <p:nvPr/>
        </p:nvSpPr>
        <p:spPr>
          <a:xfrm>
            <a:off x="6099962" y="2028139"/>
            <a:ext cx="2713025" cy="2478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F1F5F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표절 및 부정행위의 유형과 주요 사례</a:t>
            </a:r>
            <a:endParaRPr lang="en-US" sz="1300" dirty="0"/>
          </a:p>
        </p:txBody>
      </p:sp>
      <p:sp>
        <p:nvSpPr>
          <p:cNvPr id="31" name="Text 29"/>
          <p:cNvSpPr txBox="1"/>
          <p:nvPr/>
        </p:nvSpPr>
        <p:spPr>
          <a:xfrm>
            <a:off x="5413451" y="2639873"/>
            <a:ext cx="427025" cy="3054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600" b="1" dirty="0">
                <a:solidFill>
                  <a:srgbClr val="38BDF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03</a:t>
            </a:r>
            <a:endParaRPr lang="en-US" sz="1600" dirty="0"/>
          </a:p>
        </p:txBody>
      </p:sp>
      <p:sp>
        <p:nvSpPr>
          <p:cNvPr id="32" name="Text 30"/>
          <p:cNvSpPr txBox="1"/>
          <p:nvPr/>
        </p:nvSpPr>
        <p:spPr>
          <a:xfrm>
            <a:off x="6099962" y="2662733"/>
            <a:ext cx="2093976" cy="2478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F1F5F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인용 방식: 간접·직접·재인용</a:t>
            </a:r>
            <a:endParaRPr lang="en-US" sz="1300" dirty="0"/>
          </a:p>
        </p:txBody>
      </p:sp>
      <p:sp>
        <p:nvSpPr>
          <p:cNvPr id="33" name="Text 31"/>
          <p:cNvSpPr txBox="1"/>
          <p:nvPr/>
        </p:nvSpPr>
        <p:spPr>
          <a:xfrm>
            <a:off x="5413451" y="3274466"/>
            <a:ext cx="427025" cy="3054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600" b="1" dirty="0">
                <a:solidFill>
                  <a:srgbClr val="38BDF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04</a:t>
            </a:r>
            <a:endParaRPr lang="en-US" sz="1600" dirty="0"/>
          </a:p>
        </p:txBody>
      </p:sp>
      <p:sp>
        <p:nvSpPr>
          <p:cNvPr id="34" name="Text 32"/>
          <p:cNvSpPr txBox="1"/>
          <p:nvPr/>
        </p:nvSpPr>
        <p:spPr>
          <a:xfrm>
            <a:off x="6099962" y="3297326"/>
            <a:ext cx="3332074" cy="2478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F1F5F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출처 표기 시스템: 내주/번호주/각주/참고문헌</a:t>
            </a:r>
            <a:endParaRPr lang="en-US" sz="1300" dirty="0"/>
          </a:p>
        </p:txBody>
      </p:sp>
      <p:sp>
        <p:nvSpPr>
          <p:cNvPr id="35" name="Text 33"/>
          <p:cNvSpPr txBox="1"/>
          <p:nvPr/>
        </p:nvSpPr>
        <p:spPr>
          <a:xfrm>
            <a:off x="5413451" y="3909060"/>
            <a:ext cx="427025" cy="3054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600" b="1" dirty="0">
                <a:solidFill>
                  <a:srgbClr val="38BDF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05</a:t>
            </a:r>
            <a:endParaRPr lang="en-US" sz="1600" dirty="0"/>
          </a:p>
        </p:txBody>
      </p:sp>
      <p:sp>
        <p:nvSpPr>
          <p:cNvPr id="36" name="Text 34"/>
          <p:cNvSpPr txBox="1"/>
          <p:nvPr/>
        </p:nvSpPr>
        <p:spPr>
          <a:xfrm>
            <a:off x="6099962" y="3931920"/>
            <a:ext cx="2789834" cy="2478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F1F5F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서지관리도구(Zotero) 실습 실습 포함</a:t>
            </a:r>
            <a:endParaRPr lang="en-US" sz="1300" dirty="0"/>
          </a:p>
        </p:txBody>
      </p:sp>
      <p:sp>
        <p:nvSpPr>
          <p:cNvPr id="37" name="Text 35"/>
          <p:cNvSpPr txBox="1"/>
          <p:nvPr/>
        </p:nvSpPr>
        <p:spPr>
          <a:xfrm>
            <a:off x="5413451" y="4543654"/>
            <a:ext cx="427025" cy="3054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600" b="1" dirty="0">
                <a:solidFill>
                  <a:srgbClr val="38BDF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06</a:t>
            </a:r>
            <a:endParaRPr lang="en-US" sz="1600" dirty="0"/>
          </a:p>
        </p:txBody>
      </p:sp>
      <p:sp>
        <p:nvSpPr>
          <p:cNvPr id="38" name="Text 36"/>
          <p:cNvSpPr txBox="1"/>
          <p:nvPr/>
        </p:nvSpPr>
        <p:spPr>
          <a:xfrm>
            <a:off x="6099962" y="4566514"/>
            <a:ext cx="2398471" cy="2478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F1F5F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생성형 AI 활용과 검증 실습 포함</a:t>
            </a:r>
            <a:endParaRPr lang="en-US" sz="1300" dirty="0"/>
          </a:p>
        </p:txBody>
      </p:sp>
      <p:sp>
        <p:nvSpPr>
          <p:cNvPr id="39" name="Text 37"/>
          <p:cNvSpPr txBox="1"/>
          <p:nvPr/>
        </p:nvSpPr>
        <p:spPr>
          <a:xfrm>
            <a:off x="5413451" y="5178247"/>
            <a:ext cx="427025" cy="3054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600" b="1" dirty="0">
                <a:solidFill>
                  <a:srgbClr val="38BDF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07</a:t>
            </a:r>
            <a:endParaRPr lang="en-US" sz="1600" dirty="0"/>
          </a:p>
        </p:txBody>
      </p:sp>
      <p:sp>
        <p:nvSpPr>
          <p:cNvPr id="40" name="Text 38"/>
          <p:cNvSpPr txBox="1"/>
          <p:nvPr/>
        </p:nvSpPr>
        <p:spPr>
          <a:xfrm>
            <a:off x="6099962" y="5201107"/>
            <a:ext cx="2313432" cy="2478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F1F5F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퀴즈 및 최종 점검 (체크리스트)</a:t>
            </a:r>
            <a:endParaRPr lang="en-US" sz="1300" dirty="0"/>
          </a:p>
        </p:txBody>
      </p:sp>
      <p:sp>
        <p:nvSpPr>
          <p:cNvPr id="41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이애본(드림아이티비즈) · useful-ai.dreamitbiz.com · 교육 목적 비영리 이용 · 출처 표기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305" y="59435"/>
            <a:ext cx="12191695" cy="6858000"/>
          </a:xfrm>
          <a:prstGeom prst="rect">
            <a:avLst/>
          </a:prstGeom>
          <a:solidFill>
            <a:srgbClr val="0F172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" name="Shape 2"/>
          <p:cNvSpPr/>
          <p:nvPr/>
        </p:nvSpPr>
        <p:spPr>
          <a:xfrm>
            <a:off x="-1624889" y="-1871269"/>
            <a:ext cx="7619695" cy="7619695"/>
          </a:xfrm>
          <a:prstGeom prst="ellipse">
            <a:avLst/>
          </a:prstGeom>
          <a:solidFill>
            <a:srgbClr val="38BDF8">
              <a:alpha val="3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" name="Shape 3"/>
          <p:cNvSpPr/>
          <p:nvPr/>
        </p:nvSpPr>
        <p:spPr>
          <a:xfrm>
            <a:off x="7429500" y="2095805"/>
            <a:ext cx="5715000" cy="5715000"/>
          </a:xfrm>
          <a:prstGeom prst="ellipse">
            <a:avLst/>
          </a:prstGeom>
          <a:solidFill>
            <a:srgbClr val="38BDF8">
              <a:alpha val="3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6" name="Shape 4"/>
          <p:cNvSpPr/>
          <p:nvPr/>
        </p:nvSpPr>
        <p:spPr>
          <a:xfrm>
            <a:off x="818591" y="1043026"/>
            <a:ext cx="571500" cy="57607"/>
          </a:xfrm>
          <a:prstGeom prst="rect">
            <a:avLst/>
          </a:prstGeom>
          <a:solidFill>
            <a:srgbClr val="38BDF8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7" name="Text 5"/>
          <p:cNvSpPr txBox="1"/>
          <p:nvPr/>
        </p:nvSpPr>
        <p:spPr>
          <a:xfrm>
            <a:off x="838810" y="1189126"/>
            <a:ext cx="1948586" cy="2478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GOALS &amp; OUTCOMES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818591" y="1982215"/>
            <a:ext cx="270571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6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강의 </a:t>
            </a:r>
            <a:r>
              <a:rPr lang="en-US" sz="3600" b="1" dirty="0" err="1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목표</a:t>
            </a:r>
            <a:r>
              <a:rPr lang="en-US" sz="36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및</a:t>
            </a:r>
            <a:endParaRPr lang="en-US" sz="3600" dirty="0"/>
          </a:p>
        </p:txBody>
      </p:sp>
      <p:sp>
        <p:nvSpPr>
          <p:cNvPr id="9" name="Text 7"/>
          <p:cNvSpPr txBox="1"/>
          <p:nvPr/>
        </p:nvSpPr>
        <p:spPr>
          <a:xfrm>
            <a:off x="1027456" y="2762656"/>
            <a:ext cx="2162556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기대 성과</a:t>
            </a:r>
            <a:endParaRPr lang="en-US" sz="3600" dirty="0"/>
          </a:p>
        </p:txBody>
      </p:sp>
      <p:sp>
        <p:nvSpPr>
          <p:cNvPr id="10" name="Text 8"/>
          <p:cNvSpPr txBox="1"/>
          <p:nvPr/>
        </p:nvSpPr>
        <p:spPr>
          <a:xfrm>
            <a:off x="870507" y="3949538"/>
            <a:ext cx="2923338" cy="114291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500" dirty="0">
                <a:solidFill>
                  <a:srgbClr val="D1D5D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본 강의를 통해 </a:t>
            </a:r>
            <a:r>
              <a:rPr lang="en-US" sz="1500" dirty="0" err="1">
                <a:solidFill>
                  <a:srgbClr val="D1D5D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여러분은</a:t>
            </a:r>
            <a:r>
              <a:rPr lang="en-US" sz="1500" dirty="0">
                <a:solidFill>
                  <a:srgbClr val="D1D5D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</a:p>
          <a:p>
            <a:pPr marL="0" indent="0" algn="l">
              <a:lnSpc>
                <a:spcPct val="150000"/>
              </a:lnSpc>
              <a:buNone/>
            </a:pPr>
            <a:r>
              <a:rPr lang="en-US" sz="1500" dirty="0" err="1">
                <a:solidFill>
                  <a:srgbClr val="D1D5D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학술적</a:t>
            </a:r>
            <a:r>
              <a:rPr lang="en-US" sz="1500" dirty="0">
                <a:solidFill>
                  <a:srgbClr val="D1D5D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글쓰기의 기초를 </a:t>
            </a:r>
            <a:r>
              <a:rPr lang="en-US" sz="1500" dirty="0" err="1">
                <a:solidFill>
                  <a:srgbClr val="D1D5D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다지고</a:t>
            </a:r>
            <a:r>
              <a:rPr lang="en-US" sz="1500" dirty="0">
                <a:solidFill>
                  <a:srgbClr val="D1D5D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</a:p>
          <a:p>
            <a:pPr marL="0" indent="0" algn="l">
              <a:lnSpc>
                <a:spcPct val="150000"/>
              </a:lnSpc>
              <a:buNone/>
            </a:pPr>
            <a:r>
              <a:rPr lang="en-US" sz="1500" dirty="0" err="1">
                <a:solidFill>
                  <a:srgbClr val="D1D5D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다음</a:t>
            </a:r>
            <a:r>
              <a:rPr lang="en-US" sz="1500" dirty="0">
                <a:solidFill>
                  <a:srgbClr val="D1D5D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4가지 핵심 </a:t>
            </a:r>
            <a:r>
              <a:rPr lang="en-US" sz="1500" dirty="0" err="1">
                <a:solidFill>
                  <a:srgbClr val="D1D5D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역량을</a:t>
            </a:r>
            <a:r>
              <a:rPr lang="en-US" sz="1500" dirty="0">
                <a:solidFill>
                  <a:srgbClr val="D1D5D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</a:p>
          <a:p>
            <a:pPr marL="0" indent="0" algn="l">
              <a:lnSpc>
                <a:spcPct val="150000"/>
              </a:lnSpc>
              <a:buNone/>
            </a:pPr>
            <a:r>
              <a:rPr lang="en-US" sz="1500" dirty="0" err="1">
                <a:solidFill>
                  <a:srgbClr val="D1D5D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확실하게</a:t>
            </a:r>
            <a:r>
              <a:rPr lang="en-US" sz="1500" dirty="0">
                <a:solidFill>
                  <a:srgbClr val="D1D5D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습득하게 됩니다.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4747565" y="952805"/>
            <a:ext cx="3228746" cy="2361895"/>
          </a:xfrm>
          <a:prstGeom prst="roundRect">
            <a:avLst>
              <a:gd name="adj" fmla="val 3122"/>
            </a:avLst>
          </a:prstGeom>
          <a:solidFill>
            <a:srgbClr val="1E293B"/>
          </a:solidFill>
          <a:ln w="12700">
            <a:solidFill>
              <a:srgbClr val="94A3B8">
                <a:alpha val="1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2" name="Text 10"/>
          <p:cNvSpPr txBox="1"/>
          <p:nvPr/>
        </p:nvSpPr>
        <p:spPr>
          <a:xfrm>
            <a:off x="7178954" y="1086307"/>
            <a:ext cx="905256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6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01</a:t>
            </a:r>
            <a:endParaRPr lang="en-US" sz="3600" dirty="0"/>
          </a:p>
        </p:txBody>
      </p:sp>
      <p:sp>
        <p:nvSpPr>
          <p:cNvPr id="13" name="Shape 11"/>
          <p:cNvSpPr/>
          <p:nvPr/>
        </p:nvSpPr>
        <p:spPr>
          <a:xfrm>
            <a:off x="5061204" y="1266444"/>
            <a:ext cx="533095" cy="256946"/>
          </a:xfrm>
          <a:prstGeom prst="roundRect">
            <a:avLst>
              <a:gd name="adj" fmla="val 210887"/>
            </a:avLst>
          </a:prstGeom>
          <a:solidFill>
            <a:srgbClr val="38BDF8">
              <a:alpha val="1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14" name="Image 0" descr="preencoded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5213909" y="1277417"/>
            <a:ext cx="228600" cy="228600"/>
          </a:xfrm>
          <a:prstGeom prst="rect">
            <a:avLst/>
          </a:prstGeom>
        </p:spPr>
      </p:pic>
      <p:sp>
        <p:nvSpPr>
          <p:cNvPr id="15" name="Text 12"/>
          <p:cNvSpPr txBox="1"/>
          <p:nvPr/>
        </p:nvSpPr>
        <p:spPr>
          <a:xfrm>
            <a:off x="5061204" y="1726387"/>
            <a:ext cx="1562710" cy="3337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표절 예방 역량</a:t>
            </a:r>
            <a:endParaRPr lang="en-US" sz="1800" dirty="0"/>
          </a:p>
        </p:txBody>
      </p:sp>
      <p:sp>
        <p:nvSpPr>
          <p:cNvPr id="16" name="Text 13"/>
          <p:cNvSpPr txBox="1"/>
          <p:nvPr/>
        </p:nvSpPr>
        <p:spPr>
          <a:xfrm>
            <a:off x="5061204" y="2404364"/>
            <a:ext cx="2691079" cy="8101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2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</a:rPr>
              <a:t>표절의 기준을 명확히 이해하고, 자신을 보호하는 안전한 </a:t>
            </a:r>
            <a:r>
              <a:rPr lang="en-US" sz="1200" dirty="0" err="1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</a:rPr>
              <a:t>글쓰기</a:t>
            </a:r>
            <a:r>
              <a:rPr lang="en-US" sz="12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</a:rPr>
              <a:t> </a:t>
            </a:r>
            <a:r>
              <a:rPr lang="en-US" sz="1200" dirty="0" err="1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</a:rPr>
              <a:t>습관을</a:t>
            </a:r>
            <a:r>
              <a:rPr lang="en-US" sz="12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</a:rPr>
              <a:t> </a:t>
            </a:r>
            <a:r>
              <a:rPr lang="ko-KR" altLang="en-US" sz="12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</a:rPr>
              <a:t>기르게 되며</a:t>
            </a:r>
            <a:r>
              <a:rPr lang="en-US" altLang="ko-KR" sz="12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</a:rPr>
              <a:t>, </a:t>
            </a:r>
            <a:r>
              <a:rPr lang="en-US" altLang="ko-KR" sz="1200" dirty="0" err="1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</a:rPr>
              <a:t>연구</a:t>
            </a:r>
            <a:r>
              <a:rPr lang="en-US" altLang="ko-KR" sz="12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</a:rPr>
              <a:t> </a:t>
            </a:r>
            <a:r>
              <a:rPr lang="en-US" altLang="ko-KR" sz="1200" dirty="0" err="1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</a:rPr>
              <a:t>윤리를</a:t>
            </a:r>
            <a:r>
              <a:rPr lang="en-US" altLang="ko-KR" sz="12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</a:rPr>
              <a:t> </a:t>
            </a:r>
            <a:r>
              <a:rPr lang="en-US" altLang="ko-KR" sz="1200" dirty="0" err="1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</a:rPr>
              <a:t>준수하여</a:t>
            </a:r>
            <a:r>
              <a:rPr lang="en-US" altLang="ko-KR" sz="12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</a:rPr>
              <a:t> </a:t>
            </a:r>
            <a:r>
              <a:rPr lang="en-US" altLang="ko-KR" sz="1200" dirty="0" err="1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</a:rPr>
              <a:t>부정</a:t>
            </a:r>
            <a:r>
              <a:rPr lang="en-US" altLang="ko-KR" sz="12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</a:rPr>
              <a:t> </a:t>
            </a:r>
            <a:r>
              <a:rPr lang="en-US" altLang="ko-KR" sz="1200" dirty="0" err="1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</a:rPr>
              <a:t>행위를</a:t>
            </a:r>
            <a:r>
              <a:rPr lang="en-US" altLang="ko-KR" sz="12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</a:rPr>
              <a:t> </a:t>
            </a:r>
            <a:r>
              <a:rPr lang="en-US" altLang="ko-KR" sz="1200" dirty="0" err="1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</a:rPr>
              <a:t>사전에</a:t>
            </a:r>
            <a:r>
              <a:rPr lang="en-US" altLang="ko-KR" sz="12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</a:rPr>
              <a:t> </a:t>
            </a:r>
            <a:r>
              <a:rPr lang="en-US" altLang="ko-KR" sz="1200" dirty="0" err="1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</a:rPr>
              <a:t>방지합니다</a:t>
            </a:r>
            <a:r>
              <a:rPr lang="en-US" altLang="ko-KR" sz="12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</a:rPr>
              <a:t>.</a:t>
            </a:r>
          </a:p>
          <a:p>
            <a:pPr marL="0" indent="0" algn="l">
              <a:buNone/>
            </a:pPr>
            <a:endParaRPr lang="en-US" sz="1300" dirty="0"/>
          </a:p>
        </p:txBody>
      </p:sp>
      <p:sp>
        <p:nvSpPr>
          <p:cNvPr id="17" name="Shape 14"/>
          <p:cNvSpPr/>
          <p:nvPr/>
        </p:nvSpPr>
        <p:spPr>
          <a:xfrm>
            <a:off x="8203082" y="952805"/>
            <a:ext cx="3228746" cy="2361895"/>
          </a:xfrm>
          <a:prstGeom prst="roundRect">
            <a:avLst>
              <a:gd name="adj" fmla="val 3122"/>
            </a:avLst>
          </a:prstGeom>
          <a:solidFill>
            <a:srgbClr val="1E293B"/>
          </a:solidFill>
          <a:ln w="12700">
            <a:solidFill>
              <a:srgbClr val="94A3B8">
                <a:alpha val="1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8" name="Text 15"/>
          <p:cNvSpPr txBox="1"/>
          <p:nvPr/>
        </p:nvSpPr>
        <p:spPr>
          <a:xfrm>
            <a:off x="10635386" y="1086307"/>
            <a:ext cx="905256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6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02</a:t>
            </a:r>
            <a:endParaRPr lang="en-US" sz="3600" dirty="0"/>
          </a:p>
        </p:txBody>
      </p:sp>
      <p:sp>
        <p:nvSpPr>
          <p:cNvPr id="19" name="Shape 16"/>
          <p:cNvSpPr/>
          <p:nvPr/>
        </p:nvSpPr>
        <p:spPr>
          <a:xfrm>
            <a:off x="8516722" y="1266444"/>
            <a:ext cx="533095" cy="256946"/>
          </a:xfrm>
          <a:prstGeom prst="roundRect">
            <a:avLst>
              <a:gd name="adj" fmla="val 210887"/>
            </a:avLst>
          </a:prstGeom>
          <a:solidFill>
            <a:srgbClr val="38BDF8">
              <a:alpha val="1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20" name="Image 1" descr="preencoded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8669426" y="1277417"/>
            <a:ext cx="228600" cy="228600"/>
          </a:xfrm>
          <a:prstGeom prst="rect">
            <a:avLst/>
          </a:prstGeom>
        </p:spPr>
      </p:pic>
      <p:sp>
        <p:nvSpPr>
          <p:cNvPr id="21" name="Text 17"/>
          <p:cNvSpPr txBox="1"/>
          <p:nvPr/>
        </p:nvSpPr>
        <p:spPr>
          <a:xfrm>
            <a:off x="8516722" y="1726387"/>
            <a:ext cx="1562710" cy="3337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인용 방식 체화</a:t>
            </a:r>
            <a:endParaRPr lang="en-US" sz="1800" dirty="0"/>
          </a:p>
        </p:txBody>
      </p:sp>
      <p:sp>
        <p:nvSpPr>
          <p:cNvPr id="22" name="Text 18"/>
          <p:cNvSpPr txBox="1"/>
          <p:nvPr/>
        </p:nvSpPr>
        <p:spPr>
          <a:xfrm>
            <a:off x="8470366" y="2103578"/>
            <a:ext cx="2694178" cy="8101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</a:rPr>
              <a:t>직접·간접 인용의 차이를 구분하고 상황에 맞는 자연스러운 인용문을 </a:t>
            </a:r>
            <a:r>
              <a:rPr lang="en-US" sz="1200" dirty="0" err="1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</a:rPr>
              <a:t>작성합니다</a:t>
            </a:r>
            <a:r>
              <a:rPr lang="en-US" sz="12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</a:rPr>
              <a:t>.</a:t>
            </a:r>
          </a:p>
        </p:txBody>
      </p:sp>
      <p:sp>
        <p:nvSpPr>
          <p:cNvPr id="23" name="Shape 19"/>
          <p:cNvSpPr/>
          <p:nvPr/>
        </p:nvSpPr>
        <p:spPr>
          <a:xfrm>
            <a:off x="4747565" y="3543300"/>
            <a:ext cx="3228746" cy="2361895"/>
          </a:xfrm>
          <a:prstGeom prst="roundRect">
            <a:avLst>
              <a:gd name="adj" fmla="val 3122"/>
            </a:avLst>
          </a:prstGeom>
          <a:solidFill>
            <a:srgbClr val="1E293B"/>
          </a:solidFill>
          <a:ln w="12700">
            <a:solidFill>
              <a:srgbClr val="94A3B8">
                <a:alpha val="1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4" name="Text 20"/>
          <p:cNvSpPr txBox="1"/>
          <p:nvPr/>
        </p:nvSpPr>
        <p:spPr>
          <a:xfrm>
            <a:off x="7178954" y="3676802"/>
            <a:ext cx="905256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6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03</a:t>
            </a:r>
            <a:endParaRPr lang="en-US" sz="3600" dirty="0"/>
          </a:p>
        </p:txBody>
      </p:sp>
      <p:sp>
        <p:nvSpPr>
          <p:cNvPr id="25" name="Shape 21"/>
          <p:cNvSpPr/>
          <p:nvPr/>
        </p:nvSpPr>
        <p:spPr>
          <a:xfrm>
            <a:off x="5061204" y="3857854"/>
            <a:ext cx="533095" cy="256946"/>
          </a:xfrm>
          <a:prstGeom prst="roundRect">
            <a:avLst>
              <a:gd name="adj" fmla="val 210887"/>
            </a:avLst>
          </a:prstGeom>
          <a:solidFill>
            <a:srgbClr val="38BDF8">
              <a:alpha val="1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26" name="Image 2" descr="preencoded.png"/>
          <p:cNvPicPr>
            <a:picLocks noChangeAspect="1"/>
          </p:cNvPicPr>
          <p:nvPr/>
        </p:nvPicPr>
        <p:blipFill>
          <a:blip r:embed="rId5"/>
          <a:srcRect l="-57" r="-57"/>
          <a:stretch/>
        </p:blipFill>
        <p:spPr>
          <a:xfrm>
            <a:off x="5228539" y="3867912"/>
            <a:ext cx="200254" cy="228600"/>
          </a:xfrm>
          <a:prstGeom prst="rect">
            <a:avLst/>
          </a:prstGeom>
        </p:spPr>
      </p:pic>
      <p:sp>
        <p:nvSpPr>
          <p:cNvPr id="27" name="Text 22"/>
          <p:cNvSpPr txBox="1"/>
          <p:nvPr/>
        </p:nvSpPr>
        <p:spPr>
          <a:xfrm>
            <a:off x="5061204" y="4316882"/>
            <a:ext cx="1562710" cy="3337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도구 활용 능력</a:t>
            </a:r>
            <a:endParaRPr lang="en-US" sz="1800" dirty="0"/>
          </a:p>
        </p:txBody>
      </p:sp>
      <p:sp>
        <p:nvSpPr>
          <p:cNvPr id="28" name="Text 23"/>
          <p:cNvSpPr txBox="1"/>
          <p:nvPr/>
        </p:nvSpPr>
        <p:spPr>
          <a:xfrm>
            <a:off x="5056632" y="4938268"/>
            <a:ext cx="2691079" cy="8101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altLang="ko-KR" sz="12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APA, MLA 등 </a:t>
            </a:r>
            <a:r>
              <a:rPr lang="en-US" altLang="ko-KR" sz="1200" dirty="0" err="1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전공별</a:t>
            </a:r>
            <a:r>
              <a:rPr lang="en-US" altLang="ko-KR" sz="12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  <a:r>
              <a:rPr lang="en-US" altLang="ko-KR" sz="1200" dirty="0" err="1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표준</a:t>
            </a:r>
            <a:r>
              <a:rPr lang="en-US" altLang="ko-KR" sz="12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  <a:r>
              <a:rPr lang="en-US" altLang="ko-KR" sz="1200" dirty="0" err="1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출처</a:t>
            </a:r>
            <a:r>
              <a:rPr lang="en-US" altLang="ko-KR" sz="12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  <a:r>
              <a:rPr lang="en-US" altLang="ko-KR" sz="1200" dirty="0" err="1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표기법을</a:t>
            </a:r>
            <a:r>
              <a:rPr lang="en-US" altLang="ko-KR" sz="12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  <a:r>
              <a:rPr lang="en-US" altLang="ko-KR" sz="1200" dirty="0" err="1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숙지하여</a:t>
            </a:r>
            <a:r>
              <a:rPr lang="en-US" altLang="ko-KR" sz="12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  <a:r>
              <a:rPr lang="en-US" altLang="ko-KR" sz="1200" dirty="0" err="1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리포트에</a:t>
            </a:r>
            <a:r>
              <a:rPr lang="en-US" altLang="ko-KR" sz="12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  <a:r>
              <a:rPr lang="en-US" altLang="ko-KR" sz="1200" dirty="0" err="1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올바르게</a:t>
            </a:r>
            <a:r>
              <a:rPr lang="en-US" altLang="ko-KR" sz="12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  <a:r>
              <a:rPr lang="en-US" altLang="ko-KR" sz="1200" dirty="0" err="1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</a:rPr>
              <a:t>적용합니다</a:t>
            </a:r>
            <a:r>
              <a:rPr lang="en-US" altLang="ko-KR" sz="12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</a:rPr>
              <a:t>. </a:t>
            </a:r>
          </a:p>
          <a:p>
            <a:endParaRPr lang="en-US" sz="1200" dirty="0">
              <a:solidFill>
                <a:srgbClr val="94A3B8"/>
              </a:solidFill>
              <a:latin typeface="Noto Sans KR" pitchFamily="34" charset="0"/>
              <a:ea typeface="Noto Sans KR" pitchFamily="34" charset="-122"/>
            </a:endParaRPr>
          </a:p>
          <a:p>
            <a:r>
              <a:rPr lang="en-US" sz="12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</a:rPr>
              <a:t>Zotero 등 서지 관리 도구로 참고문헌 작성을 자동화하여 연구 </a:t>
            </a:r>
            <a:r>
              <a:rPr lang="en-US" sz="1200" dirty="0" err="1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</a:rPr>
              <a:t>효율을</a:t>
            </a:r>
            <a:r>
              <a:rPr lang="en-US" sz="12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</a:rPr>
              <a:t> </a:t>
            </a:r>
            <a:r>
              <a:rPr lang="en-US" sz="1200" dirty="0" err="1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</a:rPr>
              <a:t>극대화합니다</a:t>
            </a:r>
            <a:r>
              <a:rPr lang="en-US" sz="12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</a:rPr>
              <a:t>. </a:t>
            </a:r>
            <a:endParaRPr lang="en-US" altLang="ko-KR" sz="1200" dirty="0">
              <a:solidFill>
                <a:srgbClr val="94A3B8"/>
              </a:solidFill>
              <a:latin typeface="Noto Sans KR" pitchFamily="34" charset="0"/>
              <a:ea typeface="Noto Sans KR" pitchFamily="34" charset="-122"/>
            </a:endParaRPr>
          </a:p>
          <a:p>
            <a:pPr marL="0" indent="0" algn="l">
              <a:buNone/>
            </a:pPr>
            <a:endParaRPr lang="en-US" sz="1200" dirty="0"/>
          </a:p>
        </p:txBody>
      </p:sp>
      <p:sp>
        <p:nvSpPr>
          <p:cNvPr id="29" name="Shape 24"/>
          <p:cNvSpPr/>
          <p:nvPr/>
        </p:nvSpPr>
        <p:spPr>
          <a:xfrm>
            <a:off x="8203082" y="3543300"/>
            <a:ext cx="3228746" cy="2361895"/>
          </a:xfrm>
          <a:prstGeom prst="roundRect">
            <a:avLst>
              <a:gd name="adj" fmla="val 3122"/>
            </a:avLst>
          </a:prstGeom>
          <a:solidFill>
            <a:srgbClr val="1E293B"/>
          </a:solidFill>
          <a:ln w="12700">
            <a:solidFill>
              <a:srgbClr val="94A3B8">
                <a:alpha val="1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0" name="Text 25"/>
          <p:cNvSpPr txBox="1"/>
          <p:nvPr/>
        </p:nvSpPr>
        <p:spPr>
          <a:xfrm>
            <a:off x="10635386" y="3676802"/>
            <a:ext cx="905256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6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04</a:t>
            </a:r>
            <a:endParaRPr lang="en-US" sz="3600" dirty="0"/>
          </a:p>
        </p:txBody>
      </p:sp>
      <p:sp>
        <p:nvSpPr>
          <p:cNvPr id="31" name="Shape 26"/>
          <p:cNvSpPr/>
          <p:nvPr/>
        </p:nvSpPr>
        <p:spPr>
          <a:xfrm>
            <a:off x="8516722" y="3857854"/>
            <a:ext cx="533095" cy="256946"/>
          </a:xfrm>
          <a:prstGeom prst="roundRect">
            <a:avLst>
              <a:gd name="adj" fmla="val 210887"/>
            </a:avLst>
          </a:prstGeom>
          <a:solidFill>
            <a:srgbClr val="38BDF8">
              <a:alpha val="1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32" name="Image 3" descr="preencoded.png"/>
          <p:cNvPicPr>
            <a:picLocks noChangeAspect="1"/>
          </p:cNvPicPr>
          <p:nvPr/>
        </p:nvPicPr>
        <p:blipFill>
          <a:blip r:embed="rId6"/>
          <a:srcRect l="-80" r="-80"/>
          <a:stretch/>
        </p:blipFill>
        <p:spPr>
          <a:xfrm>
            <a:off x="8641080" y="3867912"/>
            <a:ext cx="286207" cy="228600"/>
          </a:xfrm>
          <a:prstGeom prst="rect">
            <a:avLst/>
          </a:prstGeom>
        </p:spPr>
      </p:pic>
      <p:sp>
        <p:nvSpPr>
          <p:cNvPr id="33" name="Text 27"/>
          <p:cNvSpPr txBox="1"/>
          <p:nvPr/>
        </p:nvSpPr>
        <p:spPr>
          <a:xfrm>
            <a:off x="8516722" y="4316882"/>
            <a:ext cx="1371600" cy="3337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AI 검증 윤리</a:t>
            </a:r>
            <a:endParaRPr lang="en-US" sz="1800" dirty="0"/>
          </a:p>
        </p:txBody>
      </p:sp>
      <p:sp>
        <p:nvSpPr>
          <p:cNvPr id="34" name="Text 28"/>
          <p:cNvSpPr txBox="1"/>
          <p:nvPr/>
        </p:nvSpPr>
        <p:spPr>
          <a:xfrm>
            <a:off x="8516722" y="4764938"/>
            <a:ext cx="2691079" cy="8101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9CA3A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생성형 AI의 결과물을 비판적으로 검증하고 윤리적으로 활용하는 안목을 기릅니다.</a:t>
            </a:r>
            <a:endParaRPr lang="en-US" sz="1300" dirty="0"/>
          </a:p>
        </p:txBody>
      </p:sp>
      <p:sp>
        <p:nvSpPr>
          <p:cNvPr id="35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이애본(드림아이티비즈) · useful-ai.dreamitbiz.com · 교육 목적 비영리 이용 · 출처 표기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" name="Shape 2"/>
          <p:cNvSpPr/>
          <p:nvPr/>
        </p:nvSpPr>
        <p:spPr>
          <a:xfrm>
            <a:off x="-1904695" y="-2857500"/>
            <a:ext cx="8572500" cy="8572500"/>
          </a:xfrm>
          <a:prstGeom prst="ellipse">
            <a:avLst/>
          </a:prstGeom>
          <a:solidFill>
            <a:srgbClr val="38BDF8">
              <a:alpha val="2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" name="Shape 3"/>
          <p:cNvSpPr/>
          <p:nvPr/>
        </p:nvSpPr>
        <p:spPr>
          <a:xfrm>
            <a:off x="7905902" y="2572207"/>
            <a:ext cx="5715000" cy="5715000"/>
          </a:xfrm>
          <a:prstGeom prst="ellipse">
            <a:avLst/>
          </a:prstGeom>
          <a:solidFill>
            <a:srgbClr val="38BDF8">
              <a:alpha val="2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6" name="Shape 4"/>
          <p:cNvSpPr/>
          <p:nvPr/>
        </p:nvSpPr>
        <p:spPr>
          <a:xfrm>
            <a:off x="0" y="0"/>
            <a:ext cx="4267505" cy="6858000"/>
          </a:xfrm>
          <a:prstGeom prst="rect">
            <a:avLst/>
          </a:prstGeom>
          <a:solidFill>
            <a:srgbClr val="0F172A">
              <a:alpha val="5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7" name="Shape 5"/>
          <p:cNvSpPr/>
          <p:nvPr/>
        </p:nvSpPr>
        <p:spPr>
          <a:xfrm>
            <a:off x="4258361" y="0"/>
            <a:ext cx="9144" cy="6858000"/>
          </a:xfrm>
          <a:prstGeom prst="rect">
            <a:avLst/>
          </a:prstGeom>
          <a:solidFill>
            <a:srgbClr val="FFFFFF">
              <a:alpha val="1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8" name="Shape 6"/>
          <p:cNvSpPr/>
          <p:nvPr/>
        </p:nvSpPr>
        <p:spPr>
          <a:xfrm>
            <a:off x="656996" y="1050645"/>
            <a:ext cx="571500" cy="57607"/>
          </a:xfrm>
          <a:prstGeom prst="rect">
            <a:avLst/>
          </a:prstGeom>
          <a:solidFill>
            <a:srgbClr val="38BDF8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9" name="Text 7"/>
          <p:cNvSpPr txBox="1"/>
          <p:nvPr/>
        </p:nvSpPr>
        <p:spPr>
          <a:xfrm>
            <a:off x="656996" y="1288389"/>
            <a:ext cx="2829154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6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왜 중요한가?</a:t>
            </a:r>
            <a:endParaRPr lang="en-US" sz="3600" dirty="0"/>
          </a:p>
        </p:txBody>
      </p:sp>
      <p:sp>
        <p:nvSpPr>
          <p:cNvPr id="10" name="Text 8"/>
          <p:cNvSpPr txBox="1"/>
          <p:nvPr/>
        </p:nvSpPr>
        <p:spPr>
          <a:xfrm>
            <a:off x="646938" y="2483967"/>
            <a:ext cx="3219602" cy="5907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500" dirty="0">
                <a:solidFill>
                  <a:srgbClr val="D1D5D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인용과 출처 </a:t>
            </a:r>
            <a:r>
              <a:rPr lang="en-US" sz="1500" dirty="0" err="1">
                <a:solidFill>
                  <a:srgbClr val="D1D5D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표기는</a:t>
            </a:r>
            <a:r>
              <a:rPr lang="en-US" sz="1500" dirty="0">
                <a:solidFill>
                  <a:srgbClr val="D1D5D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</a:p>
          <a:p>
            <a:pPr marL="0" indent="0" algn="l">
              <a:lnSpc>
                <a:spcPct val="150000"/>
              </a:lnSpc>
              <a:buNone/>
            </a:pPr>
            <a:r>
              <a:rPr lang="en-US" sz="1500" dirty="0" err="1">
                <a:solidFill>
                  <a:srgbClr val="D1D5D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단순한</a:t>
            </a:r>
            <a:r>
              <a:rPr lang="en-US" sz="1500" dirty="0">
                <a:solidFill>
                  <a:srgbClr val="D1D5D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형식이 </a:t>
            </a:r>
            <a:r>
              <a:rPr lang="en-US" sz="1500" dirty="0" err="1">
                <a:solidFill>
                  <a:srgbClr val="D1D5D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아닌</a:t>
            </a:r>
            <a:r>
              <a:rPr lang="en-US" sz="1500" dirty="0">
                <a:solidFill>
                  <a:srgbClr val="D1D5D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</a:p>
          <a:p>
            <a:pPr marL="0" indent="0" algn="l">
              <a:lnSpc>
                <a:spcPct val="150000"/>
              </a:lnSpc>
              <a:buNone/>
            </a:pPr>
            <a:r>
              <a:rPr lang="en-US" sz="1500" dirty="0" err="1">
                <a:solidFill>
                  <a:srgbClr val="D1D5D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나를</a:t>
            </a:r>
            <a:r>
              <a:rPr lang="en-US" sz="1500" dirty="0">
                <a:solidFill>
                  <a:srgbClr val="D1D5D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지키고 설득하는 힘입니다.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4934102" y="1375258"/>
            <a:ext cx="3181198" cy="1943100"/>
          </a:xfrm>
          <a:prstGeom prst="roundRect">
            <a:avLst>
              <a:gd name="adj" fmla="val 2768"/>
            </a:avLst>
          </a:prstGeom>
          <a:solidFill>
            <a:srgbClr val="FFFFFF">
              <a:alpha val="3000"/>
            </a:srgbClr>
          </a:solidFill>
          <a:ln w="12700">
            <a:solidFill>
              <a:srgbClr val="FFFFFF">
                <a:alpha val="5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12" name="Image 0" descr="preencoded.png"/>
          <p:cNvPicPr>
            <a:picLocks noChangeAspect="1"/>
          </p:cNvPicPr>
          <p:nvPr/>
        </p:nvPicPr>
        <p:blipFill>
          <a:blip r:embed="rId3"/>
          <a:srcRect l="-295346" r="-295346"/>
          <a:stretch/>
        </p:blipFill>
        <p:spPr>
          <a:xfrm>
            <a:off x="5210251" y="1651406"/>
            <a:ext cx="2628900" cy="304495"/>
          </a:xfrm>
          <a:prstGeom prst="rect">
            <a:avLst/>
          </a:prstGeom>
        </p:spPr>
      </p:pic>
      <p:sp>
        <p:nvSpPr>
          <p:cNvPr id="13" name="Shape 10"/>
          <p:cNvSpPr/>
          <p:nvPr/>
        </p:nvSpPr>
        <p:spPr>
          <a:xfrm>
            <a:off x="8343900" y="1375258"/>
            <a:ext cx="3181198" cy="1943100"/>
          </a:xfrm>
          <a:prstGeom prst="roundRect">
            <a:avLst>
              <a:gd name="adj" fmla="val 2768"/>
            </a:avLst>
          </a:prstGeom>
          <a:solidFill>
            <a:srgbClr val="FFFFFF">
              <a:alpha val="3000"/>
            </a:srgbClr>
          </a:solidFill>
          <a:ln w="12700">
            <a:solidFill>
              <a:srgbClr val="FFFFFF">
                <a:alpha val="5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14" name="Image 1" descr="preencoded.png"/>
          <p:cNvPicPr>
            <a:picLocks noChangeAspect="1"/>
          </p:cNvPicPr>
          <p:nvPr/>
        </p:nvPicPr>
        <p:blipFill>
          <a:blip r:embed="rId4"/>
          <a:srcRect l="-381682" r="-381682"/>
          <a:stretch/>
        </p:blipFill>
        <p:spPr>
          <a:xfrm>
            <a:off x="8620049" y="1651406"/>
            <a:ext cx="2628900" cy="304495"/>
          </a:xfrm>
          <a:prstGeom prst="rect">
            <a:avLst/>
          </a:prstGeom>
        </p:spPr>
      </p:pic>
      <p:sp>
        <p:nvSpPr>
          <p:cNvPr id="15" name="Shape 11"/>
          <p:cNvSpPr/>
          <p:nvPr/>
        </p:nvSpPr>
        <p:spPr>
          <a:xfrm>
            <a:off x="4934102" y="3543300"/>
            <a:ext cx="3181198" cy="1943100"/>
          </a:xfrm>
          <a:prstGeom prst="roundRect">
            <a:avLst>
              <a:gd name="adj" fmla="val 2768"/>
            </a:avLst>
          </a:prstGeom>
          <a:solidFill>
            <a:srgbClr val="FFFFFF">
              <a:alpha val="3000"/>
            </a:srgbClr>
          </a:solidFill>
          <a:ln w="12700">
            <a:solidFill>
              <a:srgbClr val="FFFFFF">
                <a:alpha val="5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16" name="Image 2" descr="preencoded.png"/>
          <p:cNvPicPr>
            <a:picLocks noChangeAspect="1"/>
          </p:cNvPicPr>
          <p:nvPr/>
        </p:nvPicPr>
        <p:blipFill>
          <a:blip r:embed="rId5"/>
          <a:srcRect l="-381682" r="-381682"/>
          <a:stretch/>
        </p:blipFill>
        <p:spPr>
          <a:xfrm>
            <a:off x="5210251" y="3819449"/>
            <a:ext cx="2628900" cy="304495"/>
          </a:xfrm>
          <a:prstGeom prst="rect">
            <a:avLst/>
          </a:prstGeom>
        </p:spPr>
      </p:pic>
      <p:sp>
        <p:nvSpPr>
          <p:cNvPr id="17" name="Shape 12"/>
          <p:cNvSpPr/>
          <p:nvPr/>
        </p:nvSpPr>
        <p:spPr>
          <a:xfrm>
            <a:off x="8343900" y="3543300"/>
            <a:ext cx="3181198" cy="1943100"/>
          </a:xfrm>
          <a:prstGeom prst="roundRect">
            <a:avLst>
              <a:gd name="adj" fmla="val 2768"/>
            </a:avLst>
          </a:prstGeom>
          <a:solidFill>
            <a:srgbClr val="FFFFFF">
              <a:alpha val="3000"/>
            </a:srgbClr>
          </a:solidFill>
          <a:ln w="12700">
            <a:solidFill>
              <a:srgbClr val="FFFFFF">
                <a:alpha val="5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18" name="Image 3" descr="preencoded.png"/>
          <p:cNvPicPr>
            <a:picLocks noChangeAspect="1"/>
          </p:cNvPicPr>
          <p:nvPr/>
        </p:nvPicPr>
        <p:blipFill>
          <a:blip r:embed="rId6"/>
          <a:srcRect l="-381682" r="-381682"/>
          <a:stretch/>
        </p:blipFill>
        <p:spPr>
          <a:xfrm>
            <a:off x="8620049" y="3819449"/>
            <a:ext cx="2628900" cy="304495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5210251" y="2147011"/>
            <a:ext cx="1922983" cy="3054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F1F5F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학업·연구 윤리 준수</a:t>
            </a:r>
            <a:endParaRPr lang="en-US" sz="1600" dirty="0"/>
          </a:p>
        </p:txBody>
      </p:sp>
      <p:sp>
        <p:nvSpPr>
          <p:cNvPr id="20" name="Text 14"/>
          <p:cNvSpPr txBox="1"/>
          <p:nvPr/>
        </p:nvSpPr>
        <p:spPr>
          <a:xfrm>
            <a:off x="5210251" y="2581351"/>
            <a:ext cx="271485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표절 방지와 학문적 정직성을 확보하는 기본 조건입니다.</a:t>
            </a:r>
            <a:endParaRPr lang="en-US" sz="1200" dirty="0"/>
          </a:p>
        </p:txBody>
      </p:sp>
      <p:sp>
        <p:nvSpPr>
          <p:cNvPr id="21" name="Text 15"/>
          <p:cNvSpPr txBox="1"/>
          <p:nvPr/>
        </p:nvSpPr>
        <p:spPr>
          <a:xfrm>
            <a:off x="8620049" y="2147011"/>
            <a:ext cx="2122322" cy="3054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F1F5F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성적·평판 리스크 관리</a:t>
            </a:r>
            <a:endParaRPr lang="en-US" sz="1600" dirty="0"/>
          </a:p>
        </p:txBody>
      </p:sp>
      <p:sp>
        <p:nvSpPr>
          <p:cNvPr id="22" name="Text 16"/>
          <p:cNvSpPr txBox="1"/>
          <p:nvPr/>
        </p:nvSpPr>
        <p:spPr>
          <a:xfrm>
            <a:off x="8620049" y="2581351"/>
            <a:ext cx="261975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학위 취소 및 사회적 평판 하락을 미연에 방지합니다.</a:t>
            </a:r>
            <a:endParaRPr lang="en-US" sz="1200" dirty="0"/>
          </a:p>
        </p:txBody>
      </p:sp>
      <p:sp>
        <p:nvSpPr>
          <p:cNvPr id="23" name="Text 17"/>
          <p:cNvSpPr txBox="1"/>
          <p:nvPr/>
        </p:nvSpPr>
        <p:spPr>
          <a:xfrm>
            <a:off x="5210251" y="4315054"/>
            <a:ext cx="1922983" cy="3054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F1F5F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법·제도적 제재 방지</a:t>
            </a:r>
            <a:endParaRPr lang="en-US" sz="1600" dirty="0"/>
          </a:p>
        </p:txBody>
      </p:sp>
      <p:sp>
        <p:nvSpPr>
          <p:cNvPr id="24" name="Text 18"/>
          <p:cNvSpPr txBox="1"/>
          <p:nvPr/>
        </p:nvSpPr>
        <p:spPr>
          <a:xfrm>
            <a:off x="5210251" y="4749394"/>
            <a:ext cx="261975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저작권 위반 등 복잡한 법적 분쟁을 차단합니다.</a:t>
            </a:r>
            <a:endParaRPr lang="en-US" sz="1200" dirty="0"/>
          </a:p>
        </p:txBody>
      </p:sp>
      <p:sp>
        <p:nvSpPr>
          <p:cNvPr id="25" name="Text 19"/>
          <p:cNvSpPr txBox="1"/>
          <p:nvPr/>
        </p:nvSpPr>
        <p:spPr>
          <a:xfrm>
            <a:off x="8620049" y="4315054"/>
            <a:ext cx="1856232" cy="3054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F1F5F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리포트 설득력 강화</a:t>
            </a:r>
            <a:endParaRPr lang="en-US" sz="1600" dirty="0"/>
          </a:p>
        </p:txBody>
      </p:sp>
      <p:sp>
        <p:nvSpPr>
          <p:cNvPr id="26" name="Text 20"/>
          <p:cNvSpPr txBox="1"/>
          <p:nvPr/>
        </p:nvSpPr>
        <p:spPr>
          <a:xfrm>
            <a:off x="8620049" y="4749394"/>
            <a:ext cx="271485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명확한 근거 제시로 글의 신뢰성을 높입니다.</a:t>
            </a:r>
            <a:endParaRPr lang="en-US" sz="1200" dirty="0"/>
          </a:p>
        </p:txBody>
      </p:sp>
      <p:sp>
        <p:nvSpPr>
          <p:cNvPr id="27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이애본(드림아이티비즈) · useful-ai.dreamitbiz.com · 교육 목적 비영리 이용 · 출처 표기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" name="Shape 2"/>
          <p:cNvSpPr/>
          <p:nvPr/>
        </p:nvSpPr>
        <p:spPr>
          <a:xfrm>
            <a:off x="761695" y="571500"/>
            <a:ext cx="571500" cy="57607"/>
          </a:xfrm>
          <a:prstGeom prst="roundRect">
            <a:avLst>
              <a:gd name="adj" fmla="val 793654"/>
            </a:avLst>
          </a:prstGeom>
          <a:solidFill>
            <a:srgbClr val="38BDF8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" name="Shape 3"/>
          <p:cNvSpPr/>
          <p:nvPr/>
        </p:nvSpPr>
        <p:spPr>
          <a:xfrm>
            <a:off x="761695" y="5640934"/>
            <a:ext cx="10668305" cy="875995"/>
          </a:xfrm>
          <a:prstGeom prst="rect">
            <a:avLst/>
          </a:prstGeom>
          <a:solidFill>
            <a:srgbClr val="38BDF8">
              <a:alpha val="1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6" name="Shape 4"/>
          <p:cNvSpPr/>
          <p:nvPr/>
        </p:nvSpPr>
        <p:spPr>
          <a:xfrm>
            <a:off x="761695" y="5640934"/>
            <a:ext cx="38405" cy="875995"/>
          </a:xfrm>
          <a:prstGeom prst="rect">
            <a:avLst/>
          </a:prstGeom>
          <a:solidFill>
            <a:srgbClr val="38BDF8"/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1086307" y="5936285"/>
            <a:ext cx="286207" cy="286207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761695" y="819302"/>
            <a:ext cx="662026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주요 사례</a:t>
            </a:r>
            <a:endParaRPr lang="en-US" sz="1000" dirty="0"/>
          </a:p>
        </p:txBody>
      </p:sp>
      <p:sp>
        <p:nvSpPr>
          <p:cNvPr id="9" name="Text 6"/>
          <p:cNvSpPr txBox="1"/>
          <p:nvPr/>
        </p:nvSpPr>
        <p:spPr>
          <a:xfrm>
            <a:off x="761695" y="1037844"/>
            <a:ext cx="7592263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6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미디어 헤드라인으로 보는 표절의 대가</a:t>
            </a:r>
            <a:endParaRPr lang="en-US" sz="3600" dirty="0"/>
          </a:p>
        </p:txBody>
      </p:sp>
      <p:sp>
        <p:nvSpPr>
          <p:cNvPr id="10" name="Text 7"/>
          <p:cNvSpPr txBox="1"/>
          <p:nvPr/>
        </p:nvSpPr>
        <p:spPr>
          <a:xfrm>
            <a:off x="761695" y="1800454"/>
            <a:ext cx="7020763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dirty="0">
                <a:solidFill>
                  <a:srgbClr val="D1D5D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인용과 출처 표기 미비는 단순한 실수가 아닌, 치명적인 경력 단절로 이어질 수 있습니다.</a:t>
            </a:r>
            <a:endParaRPr lang="en-US" sz="1500" dirty="0"/>
          </a:p>
        </p:txBody>
      </p:sp>
      <p:sp>
        <p:nvSpPr>
          <p:cNvPr id="11" name="Text 8"/>
          <p:cNvSpPr txBox="1"/>
          <p:nvPr/>
        </p:nvSpPr>
        <p:spPr>
          <a:xfrm>
            <a:off x="1561795" y="5831129"/>
            <a:ext cx="633679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핵심 영향</a:t>
            </a:r>
            <a:endParaRPr lang="en-US" sz="1000" dirty="0"/>
          </a:p>
        </p:txBody>
      </p:sp>
      <p:sp>
        <p:nvSpPr>
          <p:cNvPr id="12" name="Text 9"/>
          <p:cNvSpPr txBox="1"/>
          <p:nvPr/>
        </p:nvSpPr>
        <p:spPr>
          <a:xfrm>
            <a:off x="1561795" y="6069787"/>
            <a:ext cx="5291633" cy="2478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학문적 신뢰 붕괴는 물론, 쌓아온 사회적 경력 전체가 흔들릴 수 있습니다.</a:t>
            </a:r>
            <a:endParaRPr lang="en-US" sz="1300" dirty="0"/>
          </a:p>
        </p:txBody>
      </p:sp>
      <p:sp>
        <p:nvSpPr>
          <p:cNvPr id="13" name="Shape 10"/>
          <p:cNvSpPr/>
          <p:nvPr/>
        </p:nvSpPr>
        <p:spPr>
          <a:xfrm>
            <a:off x="761695" y="2457907"/>
            <a:ext cx="3353105" cy="2809951"/>
          </a:xfrm>
          <a:prstGeom prst="roundRect">
            <a:avLst>
              <a:gd name="adj" fmla="val 1765"/>
            </a:avLst>
          </a:prstGeom>
          <a:solidFill>
            <a:srgbClr val="1E293B">
              <a:alpha val="60000"/>
            </a:srgbClr>
          </a:solidFill>
          <a:ln w="12700">
            <a:solidFill>
              <a:srgbClr val="FFFFFF">
                <a:alpha val="1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4" name="Shape 11"/>
          <p:cNvSpPr/>
          <p:nvPr/>
        </p:nvSpPr>
        <p:spPr>
          <a:xfrm>
            <a:off x="1076249" y="2771546"/>
            <a:ext cx="533095" cy="533095"/>
          </a:xfrm>
          <a:prstGeom prst="roundRect">
            <a:avLst>
              <a:gd name="adj" fmla="val 36756"/>
            </a:avLst>
          </a:prstGeom>
          <a:solidFill>
            <a:srgbClr val="38BDF8">
              <a:alpha val="1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15" name="Image 1" descr="preencoded.png"/>
          <p:cNvPicPr>
            <a:picLocks noChangeAspect="1"/>
          </p:cNvPicPr>
          <p:nvPr/>
        </p:nvPicPr>
        <p:blipFill>
          <a:blip r:embed="rId4"/>
          <a:srcRect l="-133" r="-133"/>
          <a:stretch/>
        </p:blipFill>
        <p:spPr>
          <a:xfrm>
            <a:off x="1257300" y="2924251"/>
            <a:ext cx="171907" cy="228600"/>
          </a:xfrm>
          <a:prstGeom prst="rect">
            <a:avLst/>
          </a:prstGeom>
        </p:spPr>
      </p:pic>
      <p:sp>
        <p:nvSpPr>
          <p:cNvPr id="16" name="Text 12"/>
          <p:cNvSpPr txBox="1"/>
          <p:nvPr/>
        </p:nvSpPr>
        <p:spPr>
          <a:xfrm>
            <a:off x="3340303" y="2771546"/>
            <a:ext cx="564185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38BDF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사례 01</a:t>
            </a:r>
            <a:endParaRPr lang="en-US" sz="1000" dirty="0"/>
          </a:p>
        </p:txBody>
      </p:sp>
      <p:sp>
        <p:nvSpPr>
          <p:cNvPr id="17" name="Text 13"/>
          <p:cNvSpPr txBox="1"/>
          <p:nvPr/>
        </p:nvSpPr>
        <p:spPr>
          <a:xfrm>
            <a:off x="1076249" y="3514954"/>
            <a:ext cx="2895905" cy="9336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유명 방송인 A씨, </a:t>
            </a:r>
          </a:p>
          <a:p>
            <a:pPr marL="0" indent="0" algn="l">
              <a:buNone/>
            </a:pPr>
            <a:r>
              <a:rPr lang="en-US" sz="1800" b="1" dirty="0" err="1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석사</a:t>
            </a:r>
            <a:r>
              <a:rPr lang="en-US" sz="18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논문 표절 </a:t>
            </a:r>
            <a:r>
              <a:rPr lang="en-US" sz="1800" b="1" dirty="0" err="1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의혹으로</a:t>
            </a:r>
            <a:r>
              <a:rPr lang="en-US" sz="18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</a:p>
          <a:p>
            <a:pPr marL="0" indent="0" algn="l">
              <a:buNone/>
            </a:pPr>
            <a:r>
              <a:rPr lang="en-US" sz="1800" b="1" dirty="0" err="1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모든</a:t>
            </a:r>
            <a:r>
              <a:rPr lang="en-US" sz="18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프로그램 하차</a:t>
            </a:r>
            <a:endParaRPr lang="en-US" sz="1800" dirty="0"/>
          </a:p>
        </p:txBody>
      </p:sp>
      <p:sp>
        <p:nvSpPr>
          <p:cNvPr id="18" name="Shape 14"/>
          <p:cNvSpPr/>
          <p:nvPr/>
        </p:nvSpPr>
        <p:spPr>
          <a:xfrm>
            <a:off x="1076249" y="4577486"/>
            <a:ext cx="2723998" cy="9144"/>
          </a:xfrm>
          <a:prstGeom prst="rect">
            <a:avLst/>
          </a:prstGeom>
          <a:solidFill>
            <a:srgbClr val="FFFFFF">
              <a:alpha val="1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19" name="Image 2" descr="preencoded.png"/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1076249" y="4775911"/>
            <a:ext cx="133502" cy="133502"/>
          </a:xfrm>
          <a:prstGeom prst="rect">
            <a:avLst/>
          </a:prstGeom>
        </p:spPr>
      </p:pic>
      <p:sp>
        <p:nvSpPr>
          <p:cNvPr id="20" name="Text 15"/>
          <p:cNvSpPr txBox="1"/>
          <p:nvPr/>
        </p:nvSpPr>
        <p:spPr>
          <a:xfrm>
            <a:off x="1285646" y="4739335"/>
            <a:ext cx="1237183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OO일보 20xx.xx.xx</a:t>
            </a:r>
            <a:endParaRPr lang="en-US" sz="1000" dirty="0"/>
          </a:p>
        </p:txBody>
      </p:sp>
      <p:sp>
        <p:nvSpPr>
          <p:cNvPr id="21" name="Shape 16"/>
          <p:cNvSpPr/>
          <p:nvPr/>
        </p:nvSpPr>
        <p:spPr>
          <a:xfrm>
            <a:off x="4419295" y="2457907"/>
            <a:ext cx="3353105" cy="2809951"/>
          </a:xfrm>
          <a:prstGeom prst="roundRect">
            <a:avLst>
              <a:gd name="adj" fmla="val 1765"/>
            </a:avLst>
          </a:prstGeom>
          <a:solidFill>
            <a:srgbClr val="1E293B">
              <a:alpha val="60000"/>
            </a:srgbClr>
          </a:solidFill>
          <a:ln w="12700">
            <a:solidFill>
              <a:srgbClr val="FFFFFF">
                <a:alpha val="1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2" name="Shape 17"/>
          <p:cNvSpPr/>
          <p:nvPr/>
        </p:nvSpPr>
        <p:spPr>
          <a:xfrm>
            <a:off x="4733849" y="2771546"/>
            <a:ext cx="533095" cy="533095"/>
          </a:xfrm>
          <a:prstGeom prst="roundRect">
            <a:avLst>
              <a:gd name="adj" fmla="val 36756"/>
            </a:avLst>
          </a:prstGeom>
          <a:solidFill>
            <a:srgbClr val="38BDF8">
              <a:alpha val="1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23" name="Image 3" descr="preencoded.png"/>
          <p:cNvPicPr>
            <a:picLocks noChangeAspect="1"/>
          </p:cNvPicPr>
          <p:nvPr/>
        </p:nvPicPr>
        <p:blipFill>
          <a:blip r:embed="rId6"/>
          <a:srcRect l="-80" r="-80"/>
          <a:stretch/>
        </p:blipFill>
        <p:spPr>
          <a:xfrm>
            <a:off x="4858207" y="2924251"/>
            <a:ext cx="286207" cy="228600"/>
          </a:xfrm>
          <a:prstGeom prst="rect">
            <a:avLst/>
          </a:prstGeom>
        </p:spPr>
      </p:pic>
      <p:sp>
        <p:nvSpPr>
          <p:cNvPr id="24" name="Text 18"/>
          <p:cNvSpPr txBox="1"/>
          <p:nvPr/>
        </p:nvSpPr>
        <p:spPr>
          <a:xfrm>
            <a:off x="6997903" y="2771546"/>
            <a:ext cx="564185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38BDF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사례 02</a:t>
            </a:r>
            <a:endParaRPr lang="en-US" sz="1000" dirty="0"/>
          </a:p>
        </p:txBody>
      </p:sp>
      <p:sp>
        <p:nvSpPr>
          <p:cNvPr id="25" name="Text 19"/>
          <p:cNvSpPr txBox="1"/>
          <p:nvPr/>
        </p:nvSpPr>
        <p:spPr>
          <a:xfrm>
            <a:off x="4733849" y="3514954"/>
            <a:ext cx="2809951" cy="9336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'스타 강사' B씨, </a:t>
            </a:r>
          </a:p>
          <a:p>
            <a:pPr marL="0" indent="0" algn="l">
              <a:buNone/>
            </a:pPr>
            <a:r>
              <a:rPr lang="en-US" sz="1800" b="1" dirty="0" err="1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박사</a:t>
            </a:r>
            <a:r>
              <a:rPr lang="en-US" sz="18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학위 논문 표절 </a:t>
            </a:r>
            <a:r>
              <a:rPr lang="en-US" sz="1800" b="1" dirty="0" err="1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판정</a:t>
            </a:r>
            <a:r>
              <a:rPr lang="en-US" sz="18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</a:p>
          <a:p>
            <a:pPr marL="0" indent="0" algn="l">
              <a:buNone/>
            </a:pPr>
            <a:r>
              <a:rPr lang="en-US" sz="1800" b="1" dirty="0" err="1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학위</a:t>
            </a:r>
            <a:r>
              <a:rPr lang="en-US" sz="18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취소 및 해고</a:t>
            </a:r>
            <a:endParaRPr lang="en-US" sz="1800" dirty="0"/>
          </a:p>
        </p:txBody>
      </p:sp>
      <p:sp>
        <p:nvSpPr>
          <p:cNvPr id="26" name="Shape 20"/>
          <p:cNvSpPr/>
          <p:nvPr/>
        </p:nvSpPr>
        <p:spPr>
          <a:xfrm>
            <a:off x="4733849" y="4577486"/>
            <a:ext cx="2723998" cy="9144"/>
          </a:xfrm>
          <a:prstGeom prst="rect">
            <a:avLst/>
          </a:prstGeom>
          <a:solidFill>
            <a:srgbClr val="FFFFFF">
              <a:alpha val="1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27" name="Image 4" descr="preencoded.png"/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4733849" y="4775911"/>
            <a:ext cx="133502" cy="133502"/>
          </a:xfrm>
          <a:prstGeom prst="rect">
            <a:avLst/>
          </a:prstGeom>
        </p:spPr>
      </p:pic>
      <p:sp>
        <p:nvSpPr>
          <p:cNvPr id="28" name="Text 21"/>
          <p:cNvSpPr txBox="1"/>
          <p:nvPr/>
        </p:nvSpPr>
        <p:spPr>
          <a:xfrm>
            <a:off x="4943246" y="4739335"/>
            <a:ext cx="1313078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△△신문 20xx.xx.xx</a:t>
            </a:r>
            <a:endParaRPr lang="en-US" sz="1000" dirty="0"/>
          </a:p>
        </p:txBody>
      </p:sp>
      <p:sp>
        <p:nvSpPr>
          <p:cNvPr id="29" name="Shape 22"/>
          <p:cNvSpPr/>
          <p:nvPr/>
        </p:nvSpPr>
        <p:spPr>
          <a:xfrm>
            <a:off x="8076895" y="2457907"/>
            <a:ext cx="3353105" cy="2809951"/>
          </a:xfrm>
          <a:prstGeom prst="roundRect">
            <a:avLst>
              <a:gd name="adj" fmla="val 1765"/>
            </a:avLst>
          </a:prstGeom>
          <a:solidFill>
            <a:srgbClr val="1E293B">
              <a:alpha val="60000"/>
            </a:srgbClr>
          </a:solidFill>
          <a:ln w="12700">
            <a:solidFill>
              <a:srgbClr val="FFFFFF">
                <a:alpha val="1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0" name="Shape 23"/>
          <p:cNvSpPr/>
          <p:nvPr/>
        </p:nvSpPr>
        <p:spPr>
          <a:xfrm>
            <a:off x="8391449" y="2771546"/>
            <a:ext cx="533095" cy="533095"/>
          </a:xfrm>
          <a:prstGeom prst="roundRect">
            <a:avLst>
              <a:gd name="adj" fmla="val 36756"/>
            </a:avLst>
          </a:prstGeom>
          <a:solidFill>
            <a:srgbClr val="38BDF8">
              <a:alpha val="1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31" name="Image 5" descr="preencoded.png"/>
          <p:cNvPicPr>
            <a:picLocks noChangeAspect="1"/>
          </p:cNvPicPr>
          <p:nvPr/>
        </p:nvPicPr>
        <p:blipFill>
          <a:blip r:embed="rId7"/>
          <a:srcRect/>
          <a:stretch/>
        </p:blipFill>
        <p:spPr>
          <a:xfrm>
            <a:off x="8544154" y="2924251"/>
            <a:ext cx="228600" cy="228600"/>
          </a:xfrm>
          <a:prstGeom prst="rect">
            <a:avLst/>
          </a:prstGeom>
        </p:spPr>
      </p:pic>
      <p:sp>
        <p:nvSpPr>
          <p:cNvPr id="32" name="Text 24"/>
          <p:cNvSpPr txBox="1"/>
          <p:nvPr/>
        </p:nvSpPr>
        <p:spPr>
          <a:xfrm>
            <a:off x="10655503" y="2771546"/>
            <a:ext cx="564185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38BDF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사례 03</a:t>
            </a:r>
            <a:endParaRPr lang="en-US" sz="1000" dirty="0"/>
          </a:p>
        </p:txBody>
      </p:sp>
      <p:sp>
        <p:nvSpPr>
          <p:cNvPr id="33" name="Text 25"/>
          <p:cNvSpPr txBox="1"/>
          <p:nvPr/>
        </p:nvSpPr>
        <p:spPr>
          <a:xfrm>
            <a:off x="8391449" y="3514954"/>
            <a:ext cx="2762402" cy="9336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장관 후보자 C씨, </a:t>
            </a:r>
          </a:p>
          <a:p>
            <a:pPr marL="0" indent="0" algn="l">
              <a:buNone/>
            </a:pPr>
            <a:r>
              <a:rPr lang="en-US" sz="1800" b="1" dirty="0" err="1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과거</a:t>
            </a:r>
            <a:r>
              <a:rPr lang="en-US" sz="18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논문 자기표절 </a:t>
            </a:r>
            <a:r>
              <a:rPr lang="en-US" sz="1800" b="1" dirty="0" err="1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논란</a:t>
            </a:r>
            <a:r>
              <a:rPr lang="en-US" sz="18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</a:p>
          <a:p>
            <a:pPr marL="0" indent="0" algn="l">
              <a:buNone/>
            </a:pPr>
            <a:r>
              <a:rPr lang="en-US" sz="1800" b="1" dirty="0" err="1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지명</a:t>
            </a:r>
            <a:r>
              <a:rPr lang="en-US" sz="18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철회 검토</a:t>
            </a:r>
            <a:endParaRPr lang="en-US" sz="1800" dirty="0"/>
          </a:p>
        </p:txBody>
      </p:sp>
      <p:sp>
        <p:nvSpPr>
          <p:cNvPr id="34" name="Shape 26"/>
          <p:cNvSpPr/>
          <p:nvPr/>
        </p:nvSpPr>
        <p:spPr>
          <a:xfrm>
            <a:off x="8391449" y="4577486"/>
            <a:ext cx="2723998" cy="9144"/>
          </a:xfrm>
          <a:prstGeom prst="rect">
            <a:avLst/>
          </a:prstGeom>
          <a:solidFill>
            <a:srgbClr val="FFFFFF">
              <a:alpha val="1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35" name="Image 6" descr="preencoded.png"/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8391449" y="4775911"/>
            <a:ext cx="133502" cy="133502"/>
          </a:xfrm>
          <a:prstGeom prst="rect">
            <a:avLst/>
          </a:prstGeom>
        </p:spPr>
      </p:pic>
      <p:sp>
        <p:nvSpPr>
          <p:cNvPr id="36" name="Text 27"/>
          <p:cNvSpPr txBox="1"/>
          <p:nvPr/>
        </p:nvSpPr>
        <p:spPr>
          <a:xfrm>
            <a:off x="8600846" y="4739335"/>
            <a:ext cx="1313078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□□뉴스 20xx.xx.xx</a:t>
            </a:r>
            <a:endParaRPr lang="en-US" sz="1000" dirty="0"/>
          </a:p>
        </p:txBody>
      </p:sp>
      <p:sp>
        <p:nvSpPr>
          <p:cNvPr id="37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이애본(드림아이티비즈) · useful-ai.dreamitbiz.com · 교육 목적 비영리 이용 · 출처 표기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" name="Shape 2"/>
          <p:cNvSpPr/>
          <p:nvPr/>
        </p:nvSpPr>
        <p:spPr>
          <a:xfrm>
            <a:off x="8382305" y="0"/>
            <a:ext cx="3810305" cy="3810305"/>
          </a:xfrm>
          <a:prstGeom prst="ellipse">
            <a:avLst/>
          </a:prstGeom>
          <a:solidFill>
            <a:srgbClr val="38BDF8">
              <a:alpha val="3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" name="Shape 3"/>
          <p:cNvSpPr/>
          <p:nvPr/>
        </p:nvSpPr>
        <p:spPr>
          <a:xfrm>
            <a:off x="761695" y="476402"/>
            <a:ext cx="571500" cy="57607"/>
          </a:xfrm>
          <a:prstGeom prst="roundRect">
            <a:avLst>
              <a:gd name="adj" fmla="val 793654"/>
            </a:avLst>
          </a:prstGeom>
          <a:solidFill>
            <a:srgbClr val="38BDF8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6" name="Text 4"/>
          <p:cNvSpPr txBox="1"/>
          <p:nvPr/>
        </p:nvSpPr>
        <p:spPr>
          <a:xfrm>
            <a:off x="761695" y="724205"/>
            <a:ext cx="672084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정의·유형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761695" y="952805"/>
            <a:ext cx="4743907" cy="4956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7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학문 부정행위 유형 한눈에 보기</a:t>
            </a:r>
            <a:endParaRPr lang="en-US" sz="2700" dirty="0"/>
          </a:p>
        </p:txBody>
      </p:sp>
      <p:sp>
        <p:nvSpPr>
          <p:cNvPr id="8" name="Text 6"/>
          <p:cNvSpPr txBox="1"/>
          <p:nvPr/>
        </p:nvSpPr>
        <p:spPr>
          <a:xfrm>
            <a:off x="761695" y="1543507"/>
            <a:ext cx="5968289" cy="2478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9CA3A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연구 윤리를 위반하는 대표적인 행위들을 핵심 정의와 구체적 사례로 구분했습니다.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761695" y="1912401"/>
            <a:ext cx="5143500" cy="4533595"/>
          </a:xfrm>
          <a:prstGeom prst="roundRect">
            <a:avLst>
              <a:gd name="adj" fmla="val 678"/>
            </a:avLst>
          </a:prstGeom>
          <a:solidFill>
            <a:srgbClr val="1E293B">
              <a:alpha val="50000"/>
            </a:srgbClr>
          </a:solidFill>
          <a:ln w="50800">
            <a:solidFill>
              <a:srgbClr val="38BDF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0" name="Shape 8"/>
          <p:cNvSpPr/>
          <p:nvPr/>
        </p:nvSpPr>
        <p:spPr>
          <a:xfrm>
            <a:off x="1152144" y="2284562"/>
            <a:ext cx="4362602" cy="362102"/>
          </a:xfrm>
          <a:prstGeom prst="roundRect">
            <a:avLst>
              <a:gd name="adj" fmla="val 252526"/>
            </a:avLst>
          </a:prstGeom>
          <a:solidFill>
            <a:srgbClr val="38BDF8">
              <a:alpha val="15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11" name="Image 0" descr="preencoded.png"/>
          <p:cNvPicPr>
            <a:picLocks noChangeAspect="1"/>
          </p:cNvPicPr>
          <p:nvPr/>
        </p:nvPicPr>
        <p:blipFill>
          <a:blip r:embed="rId3"/>
          <a:srcRect l="-3882" r="-3882"/>
          <a:stretch/>
        </p:blipFill>
        <p:spPr>
          <a:xfrm>
            <a:off x="1304849" y="2397033"/>
            <a:ext cx="161849" cy="133502"/>
          </a:xfrm>
          <a:prstGeom prst="rect">
            <a:avLst/>
          </a:prstGeom>
        </p:spPr>
      </p:pic>
      <p:sp>
        <p:nvSpPr>
          <p:cNvPr id="12" name="Text 9"/>
          <p:cNvSpPr txBox="1"/>
          <p:nvPr/>
        </p:nvSpPr>
        <p:spPr>
          <a:xfrm>
            <a:off x="1543507" y="2360457"/>
            <a:ext cx="115123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38BDF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핵심 유형 &amp; 정의</a:t>
            </a:r>
            <a:endParaRPr lang="en-US" sz="1000" dirty="0"/>
          </a:p>
        </p:txBody>
      </p:sp>
      <p:sp>
        <p:nvSpPr>
          <p:cNvPr id="13" name="Shape 10"/>
          <p:cNvSpPr/>
          <p:nvPr/>
        </p:nvSpPr>
        <p:spPr>
          <a:xfrm>
            <a:off x="1152144" y="3871046"/>
            <a:ext cx="4362602" cy="9144"/>
          </a:xfrm>
          <a:prstGeom prst="rect">
            <a:avLst/>
          </a:prstGeom>
          <a:solidFill>
            <a:srgbClr val="FFFFFF">
              <a:alpha val="5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4" name="Shape 11"/>
          <p:cNvSpPr/>
          <p:nvPr/>
        </p:nvSpPr>
        <p:spPr>
          <a:xfrm>
            <a:off x="1152144" y="2870692"/>
            <a:ext cx="381305" cy="381305"/>
          </a:xfrm>
          <a:prstGeom prst="roundRect">
            <a:avLst>
              <a:gd name="adj" fmla="val 47962"/>
            </a:avLst>
          </a:prstGeom>
          <a:solidFill>
            <a:srgbClr val="38BDF8">
              <a:alpha val="1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15" name="Image 1" descr="preencoded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1252728" y="2971276"/>
            <a:ext cx="181051" cy="181051"/>
          </a:xfrm>
          <a:prstGeom prst="rect">
            <a:avLst/>
          </a:prstGeom>
        </p:spPr>
      </p:pic>
      <p:sp>
        <p:nvSpPr>
          <p:cNvPr id="16" name="Text 12"/>
          <p:cNvSpPr txBox="1"/>
          <p:nvPr/>
        </p:nvSpPr>
        <p:spPr>
          <a:xfrm>
            <a:off x="1723644" y="2870692"/>
            <a:ext cx="1689811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위조 (Fabrication)</a:t>
            </a:r>
            <a:endParaRPr lang="en-US" sz="1400" dirty="0"/>
          </a:p>
        </p:txBody>
      </p:sp>
      <p:sp>
        <p:nvSpPr>
          <p:cNvPr id="17" name="Text 13"/>
          <p:cNvSpPr txBox="1"/>
          <p:nvPr/>
        </p:nvSpPr>
        <p:spPr>
          <a:xfrm>
            <a:off x="1723644" y="3202619"/>
            <a:ext cx="3899916" cy="4288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존재하지 않는 데이터나 결과를 허위로 만들어 기록·보고하는 행위입니다.</a:t>
            </a:r>
            <a:endParaRPr lang="en-US" sz="1100" dirty="0"/>
          </a:p>
        </p:txBody>
      </p:sp>
      <p:sp>
        <p:nvSpPr>
          <p:cNvPr id="18" name="Shape 14"/>
          <p:cNvSpPr/>
          <p:nvPr/>
        </p:nvSpPr>
        <p:spPr>
          <a:xfrm>
            <a:off x="1152144" y="5103657"/>
            <a:ext cx="4362602" cy="9144"/>
          </a:xfrm>
          <a:prstGeom prst="rect">
            <a:avLst/>
          </a:prstGeom>
          <a:solidFill>
            <a:srgbClr val="FFFFFF">
              <a:alpha val="5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9" name="Shape 15"/>
          <p:cNvSpPr/>
          <p:nvPr/>
        </p:nvSpPr>
        <p:spPr>
          <a:xfrm>
            <a:off x="1152144" y="4103303"/>
            <a:ext cx="381305" cy="381305"/>
          </a:xfrm>
          <a:prstGeom prst="roundRect">
            <a:avLst>
              <a:gd name="adj" fmla="val 47962"/>
            </a:avLst>
          </a:prstGeom>
          <a:solidFill>
            <a:srgbClr val="38BDF8">
              <a:alpha val="1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20" name="Image 2" descr="preencoded.png"/>
          <p:cNvPicPr>
            <a:picLocks noChangeAspect="1"/>
          </p:cNvPicPr>
          <p:nvPr/>
        </p:nvPicPr>
        <p:blipFill>
          <a:blip r:embed="rId5"/>
          <a:srcRect l="-1403" r="-1403"/>
          <a:stretch/>
        </p:blipFill>
        <p:spPr>
          <a:xfrm>
            <a:off x="1238098" y="4202973"/>
            <a:ext cx="209398" cy="181051"/>
          </a:xfrm>
          <a:prstGeom prst="rect">
            <a:avLst/>
          </a:prstGeom>
        </p:spPr>
      </p:pic>
      <p:sp>
        <p:nvSpPr>
          <p:cNvPr id="21" name="Text 16"/>
          <p:cNvSpPr txBox="1"/>
          <p:nvPr/>
        </p:nvSpPr>
        <p:spPr>
          <a:xfrm>
            <a:off x="1723644" y="4103303"/>
            <a:ext cx="1766621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변조 (Falsification)</a:t>
            </a:r>
            <a:endParaRPr lang="en-US" sz="1400" dirty="0"/>
          </a:p>
        </p:txBody>
      </p:sp>
      <p:sp>
        <p:nvSpPr>
          <p:cNvPr id="22" name="Text 17"/>
          <p:cNvSpPr txBox="1"/>
          <p:nvPr/>
        </p:nvSpPr>
        <p:spPr>
          <a:xfrm>
            <a:off x="1723644" y="4435231"/>
            <a:ext cx="3899916" cy="4288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연구 재료·장비·과정을 인위적으로 조작하거나 데이터를 임의 변형·삭제해 왜곡합니다.</a:t>
            </a:r>
            <a:endParaRPr lang="en-US" sz="1100" dirty="0"/>
          </a:p>
        </p:txBody>
      </p:sp>
      <p:sp>
        <p:nvSpPr>
          <p:cNvPr id="23" name="Shape 18"/>
          <p:cNvSpPr/>
          <p:nvPr/>
        </p:nvSpPr>
        <p:spPr>
          <a:xfrm>
            <a:off x="1152144" y="5335915"/>
            <a:ext cx="381305" cy="381305"/>
          </a:xfrm>
          <a:prstGeom prst="roundRect">
            <a:avLst>
              <a:gd name="adj" fmla="val 47962"/>
            </a:avLst>
          </a:prstGeom>
          <a:solidFill>
            <a:srgbClr val="38BDF8">
              <a:alpha val="1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24" name="Image 3" descr="preencoded.png"/>
          <p:cNvPicPr>
            <a:picLocks noChangeAspect="1"/>
          </p:cNvPicPr>
          <p:nvPr/>
        </p:nvPicPr>
        <p:blipFill>
          <a:blip r:embed="rId6"/>
          <a:srcRect l="-7143" r="-7143"/>
          <a:stretch/>
        </p:blipFill>
        <p:spPr>
          <a:xfrm>
            <a:off x="1252728" y="5435584"/>
            <a:ext cx="181051" cy="181051"/>
          </a:xfrm>
          <a:prstGeom prst="rect">
            <a:avLst/>
          </a:prstGeom>
        </p:spPr>
      </p:pic>
      <p:sp>
        <p:nvSpPr>
          <p:cNvPr id="25" name="Text 19"/>
          <p:cNvSpPr txBox="1"/>
          <p:nvPr/>
        </p:nvSpPr>
        <p:spPr>
          <a:xfrm>
            <a:off x="1723644" y="5335915"/>
            <a:ext cx="1633118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표절 (Plagiarism)</a:t>
            </a:r>
            <a:endParaRPr lang="en-US" sz="1400" dirty="0"/>
          </a:p>
        </p:txBody>
      </p:sp>
      <p:sp>
        <p:nvSpPr>
          <p:cNvPr id="26" name="Text 20"/>
          <p:cNvSpPr txBox="1"/>
          <p:nvPr/>
        </p:nvSpPr>
        <p:spPr>
          <a:xfrm>
            <a:off x="1723644" y="5666927"/>
            <a:ext cx="3843223" cy="4288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타인의 아이디어, 연구 내용 등을 정당한 승인이나 인용 없이 도용하는 것입니다.</a:t>
            </a:r>
            <a:endParaRPr lang="en-US" sz="1100" dirty="0"/>
          </a:p>
        </p:txBody>
      </p:sp>
      <p:sp>
        <p:nvSpPr>
          <p:cNvPr id="27" name="Shape 21"/>
          <p:cNvSpPr/>
          <p:nvPr/>
        </p:nvSpPr>
        <p:spPr>
          <a:xfrm>
            <a:off x="6286500" y="1912401"/>
            <a:ext cx="5143500" cy="4533595"/>
          </a:xfrm>
          <a:prstGeom prst="roundRect">
            <a:avLst>
              <a:gd name="adj" fmla="val 678"/>
            </a:avLst>
          </a:prstGeom>
          <a:solidFill>
            <a:srgbClr val="1E293B">
              <a:alpha val="30000"/>
            </a:srgbClr>
          </a:solidFill>
          <a:ln w="50800">
            <a:solidFill>
              <a:srgbClr val="F43F5E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8" name="Shape 22"/>
          <p:cNvSpPr/>
          <p:nvPr/>
        </p:nvSpPr>
        <p:spPr>
          <a:xfrm>
            <a:off x="6676949" y="2284562"/>
            <a:ext cx="4362602" cy="362102"/>
          </a:xfrm>
          <a:prstGeom prst="roundRect">
            <a:avLst>
              <a:gd name="adj" fmla="val 252526"/>
            </a:avLst>
          </a:prstGeom>
          <a:solidFill>
            <a:srgbClr val="F43F5E">
              <a:alpha val="15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29" name="Image 4" descr="preencoded.png"/>
          <p:cNvPicPr>
            <a:picLocks noChangeAspect="1"/>
          </p:cNvPicPr>
          <p:nvPr/>
        </p:nvPicPr>
        <p:blipFill>
          <a:blip r:embed="rId7"/>
          <a:srcRect l="-3425" r="-3425"/>
          <a:stretch/>
        </p:blipFill>
        <p:spPr>
          <a:xfrm>
            <a:off x="6829654" y="2397033"/>
            <a:ext cx="142646" cy="133502"/>
          </a:xfrm>
          <a:prstGeom prst="rect">
            <a:avLst/>
          </a:prstGeom>
        </p:spPr>
      </p:pic>
      <p:sp>
        <p:nvSpPr>
          <p:cNvPr id="30" name="Text 23"/>
          <p:cNvSpPr txBox="1"/>
          <p:nvPr/>
        </p:nvSpPr>
        <p:spPr>
          <a:xfrm>
            <a:off x="7048195" y="2360457"/>
            <a:ext cx="998525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F43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주요 위반 사례</a:t>
            </a:r>
            <a:endParaRPr lang="en-US" sz="1000" dirty="0"/>
          </a:p>
        </p:txBody>
      </p:sp>
      <p:sp>
        <p:nvSpPr>
          <p:cNvPr id="31" name="Shape 24"/>
          <p:cNvSpPr/>
          <p:nvPr/>
        </p:nvSpPr>
        <p:spPr>
          <a:xfrm>
            <a:off x="6676949" y="3871046"/>
            <a:ext cx="4362602" cy="9144"/>
          </a:xfrm>
          <a:prstGeom prst="rect">
            <a:avLst/>
          </a:prstGeom>
          <a:solidFill>
            <a:srgbClr val="FFFFFF">
              <a:alpha val="5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2" name="Shape 25"/>
          <p:cNvSpPr/>
          <p:nvPr/>
        </p:nvSpPr>
        <p:spPr>
          <a:xfrm>
            <a:off x="6676949" y="2870692"/>
            <a:ext cx="381305" cy="381305"/>
          </a:xfrm>
          <a:prstGeom prst="roundRect">
            <a:avLst>
              <a:gd name="adj" fmla="val 47962"/>
            </a:avLst>
          </a:prstGeom>
          <a:solidFill>
            <a:srgbClr val="F43F5E">
              <a:alpha val="1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33" name="Image 5" descr="preencoded.png"/>
          <p:cNvPicPr>
            <a:picLocks noChangeAspect="1"/>
          </p:cNvPicPr>
          <p:nvPr/>
        </p:nvPicPr>
        <p:blipFill>
          <a:blip r:embed="rId8"/>
          <a:srcRect/>
          <a:stretch/>
        </p:blipFill>
        <p:spPr>
          <a:xfrm>
            <a:off x="6776618" y="2971276"/>
            <a:ext cx="181051" cy="181051"/>
          </a:xfrm>
          <a:prstGeom prst="rect">
            <a:avLst/>
          </a:prstGeom>
        </p:spPr>
      </p:pic>
      <p:sp>
        <p:nvSpPr>
          <p:cNvPr id="34" name="Text 26"/>
          <p:cNvSpPr txBox="1"/>
          <p:nvPr/>
        </p:nvSpPr>
        <p:spPr>
          <a:xfrm>
            <a:off x="7248449" y="2870692"/>
            <a:ext cx="1204265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부당 중복게재</a:t>
            </a:r>
            <a:endParaRPr lang="en-US" sz="1400" dirty="0"/>
          </a:p>
        </p:txBody>
      </p:sp>
      <p:sp>
        <p:nvSpPr>
          <p:cNvPr id="35" name="Text 27"/>
          <p:cNvSpPr txBox="1"/>
          <p:nvPr/>
        </p:nvSpPr>
        <p:spPr>
          <a:xfrm>
            <a:off x="7248449" y="3202619"/>
            <a:ext cx="3899916" cy="4288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이전 연구결과와 유사한 저작물을 출처 없이 게재해 부당한 이익을 취하는 경우입니다.</a:t>
            </a:r>
            <a:endParaRPr lang="en-US" sz="1100" dirty="0"/>
          </a:p>
        </p:txBody>
      </p:sp>
      <p:sp>
        <p:nvSpPr>
          <p:cNvPr id="36" name="Shape 28"/>
          <p:cNvSpPr/>
          <p:nvPr/>
        </p:nvSpPr>
        <p:spPr>
          <a:xfrm>
            <a:off x="6676949" y="5103657"/>
            <a:ext cx="4362602" cy="9144"/>
          </a:xfrm>
          <a:prstGeom prst="rect">
            <a:avLst/>
          </a:prstGeom>
          <a:solidFill>
            <a:srgbClr val="FFFFFF">
              <a:alpha val="5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7" name="Shape 29"/>
          <p:cNvSpPr/>
          <p:nvPr/>
        </p:nvSpPr>
        <p:spPr>
          <a:xfrm>
            <a:off x="6676949" y="4103303"/>
            <a:ext cx="381305" cy="381305"/>
          </a:xfrm>
          <a:prstGeom prst="roundRect">
            <a:avLst>
              <a:gd name="adj" fmla="val 47962"/>
            </a:avLst>
          </a:prstGeom>
          <a:solidFill>
            <a:srgbClr val="F43F5E">
              <a:alpha val="1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38" name="Image 6" descr="preencoded.png"/>
          <p:cNvPicPr>
            <a:picLocks noChangeAspect="1"/>
          </p:cNvPicPr>
          <p:nvPr/>
        </p:nvPicPr>
        <p:blipFill>
          <a:blip r:embed="rId9"/>
          <a:srcRect l="-1403" r="-1403"/>
          <a:stretch/>
        </p:blipFill>
        <p:spPr>
          <a:xfrm>
            <a:off x="6762902" y="4202973"/>
            <a:ext cx="209398" cy="181051"/>
          </a:xfrm>
          <a:prstGeom prst="rect">
            <a:avLst/>
          </a:prstGeom>
        </p:spPr>
      </p:pic>
      <p:sp>
        <p:nvSpPr>
          <p:cNvPr id="39" name="Text 30"/>
          <p:cNvSpPr txBox="1"/>
          <p:nvPr/>
        </p:nvSpPr>
        <p:spPr>
          <a:xfrm>
            <a:off x="7248449" y="4103303"/>
            <a:ext cx="1442923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과제물 구매/대리</a:t>
            </a:r>
            <a:endParaRPr lang="en-US" sz="1400" dirty="0"/>
          </a:p>
        </p:txBody>
      </p:sp>
      <p:sp>
        <p:nvSpPr>
          <p:cNvPr id="40" name="Text 31"/>
          <p:cNvSpPr txBox="1"/>
          <p:nvPr/>
        </p:nvSpPr>
        <p:spPr>
          <a:xfrm>
            <a:off x="7248449" y="4435231"/>
            <a:ext cx="3861511" cy="4288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타인의 과제물을 구매·양도받거나 대필하여 자신의 과제물로 제출하는 행위입니다.</a:t>
            </a:r>
            <a:endParaRPr lang="en-US" sz="1100" dirty="0"/>
          </a:p>
        </p:txBody>
      </p:sp>
      <p:sp>
        <p:nvSpPr>
          <p:cNvPr id="41" name="Shape 32"/>
          <p:cNvSpPr/>
          <p:nvPr/>
        </p:nvSpPr>
        <p:spPr>
          <a:xfrm>
            <a:off x="6676949" y="5335915"/>
            <a:ext cx="381305" cy="381305"/>
          </a:xfrm>
          <a:prstGeom prst="roundRect">
            <a:avLst>
              <a:gd name="adj" fmla="val 47962"/>
            </a:avLst>
          </a:prstGeom>
          <a:solidFill>
            <a:srgbClr val="F43F5E">
              <a:alpha val="1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42" name="Image 7" descr="preencoded.png"/>
          <p:cNvPicPr>
            <a:picLocks noChangeAspect="1"/>
          </p:cNvPicPr>
          <p:nvPr/>
        </p:nvPicPr>
        <p:blipFill>
          <a:blip r:embed="rId10"/>
          <a:srcRect l="-505" r="-505"/>
          <a:stretch/>
        </p:blipFill>
        <p:spPr>
          <a:xfrm>
            <a:off x="6752844" y="5435584"/>
            <a:ext cx="228600" cy="181051"/>
          </a:xfrm>
          <a:prstGeom prst="rect">
            <a:avLst/>
          </a:prstGeom>
        </p:spPr>
      </p:pic>
      <p:sp>
        <p:nvSpPr>
          <p:cNvPr id="43" name="Text 33"/>
          <p:cNvSpPr txBox="1"/>
          <p:nvPr/>
        </p:nvSpPr>
        <p:spPr>
          <a:xfrm>
            <a:off x="7248449" y="5335915"/>
            <a:ext cx="1261872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AI 부적절 활용</a:t>
            </a:r>
            <a:endParaRPr lang="en-US" sz="1400" dirty="0"/>
          </a:p>
        </p:txBody>
      </p:sp>
      <p:sp>
        <p:nvSpPr>
          <p:cNvPr id="44" name="Text 34"/>
          <p:cNvSpPr txBox="1"/>
          <p:nvPr/>
        </p:nvSpPr>
        <p:spPr>
          <a:xfrm>
            <a:off x="7248449" y="5666927"/>
            <a:ext cx="3804818" cy="4288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생성형 AI의 결과물을 검증이나 출처 표기, 재구성 없이 그대로 복사해 제출합니다.</a:t>
            </a:r>
            <a:endParaRPr lang="en-US" sz="1100" dirty="0"/>
          </a:p>
        </p:txBody>
      </p:sp>
      <p:sp>
        <p:nvSpPr>
          <p:cNvPr id="45" name="Shape 35"/>
          <p:cNvSpPr/>
          <p:nvPr/>
        </p:nvSpPr>
        <p:spPr>
          <a:xfrm>
            <a:off x="5810098" y="3039856"/>
            <a:ext cx="571500" cy="571500"/>
          </a:xfrm>
          <a:prstGeom prst="ellipse">
            <a:avLst/>
          </a:prstGeom>
          <a:solidFill>
            <a:srgbClr val="0F172A"/>
          </a:solidFill>
          <a:ln w="25400">
            <a:solidFill>
              <a:srgbClr val="FFFFFF">
                <a:alpha val="10000"/>
              </a:srgbClr>
            </a:solidFill>
            <a:prstDash val="solid"/>
          </a:ln>
          <a:effectLst>
            <a:outerShdw blurRad="12700" dist="12700" dir="16200000" algn="bl" rotWithShape="0">
              <a:srgbClr val="0F172A">
                <a:alpha val="10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46" name="Text 36"/>
          <p:cNvSpPr txBox="1"/>
          <p:nvPr/>
        </p:nvSpPr>
        <p:spPr>
          <a:xfrm>
            <a:off x="5980176" y="3188903"/>
            <a:ext cx="375818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VS</a:t>
            </a:r>
            <a:endParaRPr lang="en-US" sz="1400" dirty="0"/>
          </a:p>
        </p:txBody>
      </p:sp>
      <p:sp>
        <p:nvSpPr>
          <p:cNvPr id="47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이애본(드림아이티비즈) · useful-ai.dreamitbiz.com · 교육 목적 비영리 이용 · 출처 표기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" name="Shap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>
              <a:alpha val="1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grpSp>
        <p:nvGrpSpPr>
          <p:cNvPr id="48" name="그룹 47">
            <a:extLst>
              <a:ext uri="{FF2B5EF4-FFF2-40B4-BE49-F238E27FC236}">
                <a16:creationId xmlns:a16="http://schemas.microsoft.com/office/drawing/2014/main" id="{755A7608-70B4-5D08-BB9A-D63E60A526C0}"/>
              </a:ext>
            </a:extLst>
          </p:cNvPr>
          <p:cNvGrpSpPr/>
          <p:nvPr/>
        </p:nvGrpSpPr>
        <p:grpSpPr>
          <a:xfrm>
            <a:off x="781354" y="242773"/>
            <a:ext cx="10668305" cy="6335878"/>
            <a:chOff x="761695" y="571500"/>
            <a:chExt cx="10668305" cy="6335878"/>
          </a:xfrm>
        </p:grpSpPr>
        <p:sp>
          <p:nvSpPr>
            <p:cNvPr id="5" name="Shape 3"/>
            <p:cNvSpPr/>
            <p:nvPr/>
          </p:nvSpPr>
          <p:spPr>
            <a:xfrm>
              <a:off x="761695" y="571500"/>
              <a:ext cx="571500" cy="57607"/>
            </a:xfrm>
            <a:prstGeom prst="roundRect">
              <a:avLst>
                <a:gd name="adj" fmla="val 793654"/>
              </a:avLst>
            </a:prstGeom>
            <a:solidFill>
              <a:srgbClr val="F43F5E"/>
            </a:solidFill>
            <a:ln/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6" name="Shape 4"/>
            <p:cNvSpPr/>
            <p:nvPr/>
          </p:nvSpPr>
          <p:spPr>
            <a:xfrm>
              <a:off x="761695" y="6221578"/>
              <a:ext cx="10668305" cy="685800"/>
            </a:xfrm>
            <a:prstGeom prst="roundRect">
              <a:avLst>
                <a:gd name="adj" fmla="val 22222"/>
              </a:avLst>
            </a:prstGeom>
            <a:solidFill>
              <a:srgbClr val="38BDF8">
                <a:alpha val="10000"/>
              </a:srgbClr>
            </a:solidFill>
            <a:ln/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7" name="Shape 5"/>
            <p:cNvSpPr/>
            <p:nvPr/>
          </p:nvSpPr>
          <p:spPr>
            <a:xfrm>
              <a:off x="2285086" y="6411773"/>
              <a:ext cx="304495" cy="304495"/>
            </a:xfrm>
            <a:prstGeom prst="ellipse">
              <a:avLst/>
            </a:prstGeom>
            <a:solidFill>
              <a:srgbClr val="0EA5E9"/>
            </a:solidFill>
            <a:ln/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8" name="Text 6"/>
            <p:cNvSpPr txBox="1"/>
            <p:nvPr/>
          </p:nvSpPr>
          <p:spPr>
            <a:xfrm>
              <a:off x="2396642" y="6462065"/>
              <a:ext cx="189281" cy="21031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000" b="1" dirty="0">
                  <a:solidFill>
                    <a:srgbClr val="FFFFFF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1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5337353" y="6411773"/>
              <a:ext cx="304495" cy="304495"/>
            </a:xfrm>
            <a:prstGeom prst="ellipse">
              <a:avLst/>
            </a:prstGeom>
            <a:solidFill>
              <a:srgbClr val="0EA5E9"/>
            </a:solidFill>
            <a:ln/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0" name="Text 8"/>
            <p:cNvSpPr txBox="1"/>
            <p:nvPr/>
          </p:nvSpPr>
          <p:spPr>
            <a:xfrm>
              <a:off x="5449824" y="6462065"/>
              <a:ext cx="189281" cy="21031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000" b="1" dirty="0">
                  <a:solidFill>
                    <a:srgbClr val="FFFFFF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2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8530438" y="6411773"/>
              <a:ext cx="304495" cy="304495"/>
            </a:xfrm>
            <a:prstGeom prst="ellipse">
              <a:avLst/>
            </a:prstGeom>
            <a:solidFill>
              <a:srgbClr val="0EA5E9"/>
            </a:solidFill>
            <a:ln/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2" name="Text 10"/>
            <p:cNvSpPr txBox="1"/>
            <p:nvPr/>
          </p:nvSpPr>
          <p:spPr>
            <a:xfrm>
              <a:off x="8641994" y="6462065"/>
              <a:ext cx="189281" cy="21031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000" b="1" dirty="0">
                  <a:solidFill>
                    <a:srgbClr val="FFFFFF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3</a:t>
              </a:r>
              <a:endParaRPr lang="en-US" sz="1000" dirty="0"/>
            </a:p>
          </p:txBody>
        </p:sp>
        <p:sp>
          <p:nvSpPr>
            <p:cNvPr id="13" name="Text 11"/>
            <p:cNvSpPr txBox="1"/>
            <p:nvPr/>
          </p:nvSpPr>
          <p:spPr>
            <a:xfrm>
              <a:off x="761695" y="819302"/>
              <a:ext cx="491033" cy="19111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000" b="1" dirty="0">
                  <a:solidFill>
                    <a:srgbClr val="FFFFFF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사례 1</a:t>
              </a:r>
              <a:endParaRPr lang="en-US" sz="1000" dirty="0"/>
            </a:p>
          </p:txBody>
        </p:sp>
        <p:sp>
          <p:nvSpPr>
            <p:cNvPr id="14" name="Text 12"/>
            <p:cNvSpPr txBox="1"/>
            <p:nvPr/>
          </p:nvSpPr>
          <p:spPr>
            <a:xfrm>
              <a:off x="761695" y="1047902"/>
              <a:ext cx="5382158" cy="495605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2700" b="1" dirty="0">
                  <a:solidFill>
                    <a:srgbClr val="FFFFFF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타인의 문장을 그대로 가져오는 행위</a:t>
              </a:r>
              <a:endParaRPr lang="en-US" sz="2700" dirty="0"/>
            </a:p>
          </p:txBody>
        </p:sp>
        <p:sp>
          <p:nvSpPr>
            <p:cNvPr id="15" name="Text 13"/>
            <p:cNvSpPr txBox="1"/>
            <p:nvPr/>
          </p:nvSpPr>
          <p:spPr>
            <a:xfrm>
              <a:off x="761695" y="1619402"/>
              <a:ext cx="5353812" cy="277063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500" dirty="0">
                  <a:solidFill>
                    <a:srgbClr val="D1D5DB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출처를 표기하더라도, 인용 부호 없이 원문을 복사하면 표절입니다.</a:t>
              </a:r>
              <a:endParaRPr lang="en-US" sz="1500" dirty="0"/>
            </a:p>
          </p:txBody>
        </p:sp>
        <p:sp>
          <p:nvSpPr>
            <p:cNvPr id="16" name="Text 14"/>
            <p:cNvSpPr txBox="1"/>
            <p:nvPr/>
          </p:nvSpPr>
          <p:spPr>
            <a:xfrm>
              <a:off x="1047902" y="6450178"/>
              <a:ext cx="581558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200" b="1" dirty="0">
                  <a:solidFill>
                    <a:srgbClr val="FFFFFF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예방 팁</a:t>
              </a:r>
              <a:endParaRPr lang="en-US" sz="1200" dirty="0"/>
            </a:p>
          </p:txBody>
        </p:sp>
        <p:sp>
          <p:nvSpPr>
            <p:cNvPr id="17" name="Text 15"/>
            <p:cNvSpPr txBox="1"/>
            <p:nvPr/>
          </p:nvSpPr>
          <p:spPr>
            <a:xfrm>
              <a:off x="2703881" y="6450178"/>
              <a:ext cx="1505102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200" dirty="0">
                  <a:solidFill>
                    <a:srgbClr val="E0F2FE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원문 안 보고 요약하기</a:t>
              </a:r>
              <a:endParaRPr lang="en-US" sz="1200" dirty="0"/>
            </a:p>
          </p:txBody>
        </p:sp>
        <p:sp>
          <p:nvSpPr>
            <p:cNvPr id="18" name="Text 16"/>
            <p:cNvSpPr txBox="1"/>
            <p:nvPr/>
          </p:nvSpPr>
          <p:spPr>
            <a:xfrm>
              <a:off x="5757062" y="6450178"/>
              <a:ext cx="1648663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200" dirty="0">
                  <a:solidFill>
                    <a:srgbClr val="E0F2FE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나만의 문장 구조로 변경</a:t>
              </a:r>
              <a:endParaRPr lang="en-US" sz="1200" dirty="0"/>
            </a:p>
          </p:txBody>
        </p:sp>
        <p:sp>
          <p:nvSpPr>
            <p:cNvPr id="19" name="Text 17"/>
            <p:cNvSpPr txBox="1"/>
            <p:nvPr/>
          </p:nvSpPr>
          <p:spPr>
            <a:xfrm>
              <a:off x="8949233" y="6450178"/>
              <a:ext cx="1696212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200" dirty="0">
                  <a:solidFill>
                    <a:srgbClr val="E0F2FE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필수 단어 외 유의어 교체</a:t>
              </a:r>
              <a:endParaRPr lang="en-US" sz="1200" dirty="0"/>
            </a:p>
          </p:txBody>
        </p:sp>
        <p:sp>
          <p:nvSpPr>
            <p:cNvPr id="20" name="Shape 18"/>
            <p:cNvSpPr/>
            <p:nvPr/>
          </p:nvSpPr>
          <p:spPr>
            <a:xfrm>
              <a:off x="761695" y="2180844"/>
              <a:ext cx="5143500" cy="3762756"/>
            </a:xfrm>
            <a:prstGeom prst="roundRect">
              <a:avLst>
                <a:gd name="adj" fmla="val 984"/>
              </a:avLst>
            </a:prstGeom>
            <a:solidFill>
              <a:srgbClr val="1E293B">
                <a:alpha val="60000"/>
              </a:srgbClr>
            </a:solidFill>
            <a:ln w="12700">
              <a:solidFill>
                <a:srgbClr val="FFFFFF">
                  <a:alpha val="10000"/>
                </a:srgbClr>
              </a:solidFill>
              <a:prstDash val="solid"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1" name="Shape 19"/>
            <p:cNvSpPr/>
            <p:nvPr/>
          </p:nvSpPr>
          <p:spPr>
            <a:xfrm>
              <a:off x="1104595" y="2495398"/>
              <a:ext cx="714146" cy="267005"/>
            </a:xfrm>
            <a:prstGeom prst="roundRect">
              <a:avLst>
                <a:gd name="adj" fmla="val 244618"/>
              </a:avLst>
            </a:prstGeom>
            <a:solidFill>
              <a:srgbClr val="F43F5E"/>
            </a:solidFill>
            <a:ln/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2" name="Text 20"/>
            <p:cNvSpPr txBox="1"/>
            <p:nvPr/>
          </p:nvSpPr>
          <p:spPr>
            <a:xfrm>
              <a:off x="1218895" y="2533802"/>
              <a:ext cx="577901" cy="181051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900" b="1" dirty="0">
                  <a:solidFill>
                    <a:srgbClr val="FFFFFF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잘못된 예</a:t>
              </a:r>
              <a:endParaRPr lang="en-US" sz="90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5134356" y="2495398"/>
              <a:ext cx="457200" cy="457200"/>
            </a:xfrm>
            <a:prstGeom prst="roundRect">
              <a:avLst>
                <a:gd name="adj" fmla="val 50000"/>
              </a:avLst>
            </a:prstGeom>
            <a:solidFill>
              <a:srgbClr val="F43F5E">
                <a:alpha val="10000"/>
              </a:srgbClr>
            </a:solidFill>
            <a:ln/>
          </p:spPr>
          <p:txBody>
            <a:bodyPr/>
            <a:lstStyle/>
            <a:p>
              <a:endParaRPr lang="ko-KR" altLang="en-US"/>
            </a:p>
          </p:txBody>
        </p:sp>
        <p:pic>
          <p:nvPicPr>
            <p:cNvPr id="24" name="Image 0" descr="preencoded.png"/>
            <p:cNvPicPr>
              <a:picLocks noChangeAspect="1"/>
            </p:cNvPicPr>
            <p:nvPr/>
          </p:nvPicPr>
          <p:blipFill>
            <a:blip r:embed="rId3"/>
            <a:srcRect l="-133" r="-133"/>
            <a:stretch/>
          </p:blipFill>
          <p:spPr>
            <a:xfrm>
              <a:off x="5277002" y="2609698"/>
              <a:ext cx="171907" cy="228600"/>
            </a:xfrm>
            <a:prstGeom prst="rect">
              <a:avLst/>
            </a:prstGeom>
          </p:spPr>
        </p:pic>
        <p:sp>
          <p:nvSpPr>
            <p:cNvPr id="25" name="Text 22"/>
            <p:cNvSpPr txBox="1"/>
            <p:nvPr/>
          </p:nvSpPr>
          <p:spPr>
            <a:xfrm>
              <a:off x="1104595" y="3133649"/>
              <a:ext cx="1476756" cy="277063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500" b="1" dirty="0">
                  <a:solidFill>
                    <a:srgbClr val="FFFFFF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원문 그대로 복사</a:t>
              </a:r>
              <a:endParaRPr lang="en-US" sz="1500" dirty="0"/>
            </a:p>
          </p:txBody>
        </p:sp>
        <p:sp>
          <p:nvSpPr>
            <p:cNvPr id="26" name="Shape 23"/>
            <p:cNvSpPr/>
            <p:nvPr/>
          </p:nvSpPr>
          <p:spPr>
            <a:xfrm>
              <a:off x="1104595" y="3562502"/>
              <a:ext cx="4486046" cy="1143000"/>
            </a:xfrm>
            <a:prstGeom prst="roundRect">
              <a:avLst>
                <a:gd name="adj" fmla="val 5333"/>
              </a:avLst>
            </a:prstGeom>
            <a:solidFill>
              <a:srgbClr val="0F172A">
                <a:alpha val="50000"/>
              </a:srgbClr>
            </a:solidFill>
            <a:ln/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7" name="Text 24"/>
            <p:cNvSpPr txBox="1"/>
            <p:nvPr/>
          </p:nvSpPr>
          <p:spPr>
            <a:xfrm>
              <a:off x="1295705" y="3752698"/>
              <a:ext cx="2852928" cy="19111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000" dirty="0">
                  <a:solidFill>
                    <a:srgbClr val="9CA3AF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원문: "MZ세대는 가성비보다 가심비를 중시한다."</a:t>
              </a:r>
              <a:endParaRPr lang="en-US" sz="1000" dirty="0"/>
            </a:p>
          </p:txBody>
        </p:sp>
        <p:sp>
          <p:nvSpPr>
            <p:cNvPr id="28" name="Text 25"/>
            <p:cNvSpPr txBox="1"/>
            <p:nvPr/>
          </p:nvSpPr>
          <p:spPr>
            <a:xfrm>
              <a:off x="1295705" y="4019702"/>
              <a:ext cx="4134002" cy="47640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200" dirty="0">
                  <a:solidFill>
                    <a:srgbClr val="E2E8F0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MZ세대는 가성비보다 가심비를 중시한다. 따라서 기업은 브랜드 가치를 높여야 한다 (김철수, 2023).</a:t>
              </a:r>
              <a:endParaRPr lang="en-US" sz="1200" dirty="0"/>
            </a:p>
          </p:txBody>
        </p:sp>
        <p:sp>
          <p:nvSpPr>
            <p:cNvPr id="29" name="Shape 26"/>
            <p:cNvSpPr/>
            <p:nvPr/>
          </p:nvSpPr>
          <p:spPr>
            <a:xfrm>
              <a:off x="1104595" y="4849978"/>
              <a:ext cx="4486046" cy="9144"/>
            </a:xfrm>
            <a:prstGeom prst="rect">
              <a:avLst/>
            </a:prstGeom>
            <a:solidFill>
              <a:srgbClr val="FFFFFF">
                <a:alpha val="10000"/>
              </a:srgbClr>
            </a:solidFill>
            <a:ln/>
          </p:spPr>
          <p:txBody>
            <a:bodyPr/>
            <a:lstStyle/>
            <a:p>
              <a:endParaRPr lang="ko-KR" altLang="en-US"/>
            </a:p>
          </p:txBody>
        </p:sp>
        <p:pic>
          <p:nvPicPr>
            <p:cNvPr id="30" name="Image 1" descr="preencoded.png"/>
            <p:cNvPicPr>
              <a:picLocks noChangeAspect="1"/>
            </p:cNvPicPr>
            <p:nvPr/>
          </p:nvPicPr>
          <p:blipFill>
            <a:blip r:embed="rId4"/>
            <a:srcRect t="-25200" b="-25200"/>
            <a:stretch/>
          </p:blipFill>
          <p:spPr>
            <a:xfrm>
              <a:off x="1104595" y="5087722"/>
              <a:ext cx="114300" cy="171907"/>
            </a:xfrm>
            <a:prstGeom prst="rect">
              <a:avLst/>
            </a:prstGeom>
          </p:spPr>
        </p:pic>
        <p:sp>
          <p:nvSpPr>
            <p:cNvPr id="31" name="Text 27"/>
            <p:cNvSpPr txBox="1"/>
            <p:nvPr/>
          </p:nvSpPr>
          <p:spPr>
            <a:xfrm>
              <a:off x="1314907" y="5050231"/>
              <a:ext cx="1322222" cy="20025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000" dirty="0">
                  <a:solidFill>
                    <a:srgbClr val="94A3B8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원문과 똑같이 작성함</a:t>
              </a:r>
              <a:endParaRPr lang="en-US" sz="1000" dirty="0"/>
            </a:p>
          </p:txBody>
        </p:sp>
        <p:pic>
          <p:nvPicPr>
            <p:cNvPr id="32" name="Image 2" descr="preencoded.png"/>
            <p:cNvPicPr>
              <a:picLocks noChangeAspect="1"/>
            </p:cNvPicPr>
            <p:nvPr/>
          </p:nvPicPr>
          <p:blipFill>
            <a:blip r:embed="rId4"/>
            <a:srcRect t="-25200" b="-25200"/>
            <a:stretch/>
          </p:blipFill>
          <p:spPr>
            <a:xfrm>
              <a:off x="1104595" y="5373929"/>
              <a:ext cx="114300" cy="171907"/>
            </a:xfrm>
            <a:prstGeom prst="rect">
              <a:avLst/>
            </a:prstGeom>
          </p:spPr>
        </p:pic>
        <p:sp>
          <p:nvSpPr>
            <p:cNvPr id="33" name="Text 28"/>
            <p:cNvSpPr txBox="1"/>
            <p:nvPr/>
          </p:nvSpPr>
          <p:spPr>
            <a:xfrm>
              <a:off x="1314907" y="5335524"/>
              <a:ext cx="2065630" cy="20025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000" dirty="0">
                  <a:solidFill>
                    <a:srgbClr val="94A3B8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따옴표가 없어 자신의 문장인 척 함</a:t>
              </a:r>
              <a:endParaRPr lang="en-US" sz="1000" dirty="0"/>
            </a:p>
          </p:txBody>
        </p:sp>
        <p:sp>
          <p:nvSpPr>
            <p:cNvPr id="34" name="Shape 29"/>
            <p:cNvSpPr/>
            <p:nvPr/>
          </p:nvSpPr>
          <p:spPr>
            <a:xfrm>
              <a:off x="6286500" y="2180844"/>
              <a:ext cx="5143500" cy="3762756"/>
            </a:xfrm>
            <a:prstGeom prst="roundRect">
              <a:avLst>
                <a:gd name="adj" fmla="val 984"/>
              </a:avLst>
            </a:prstGeom>
            <a:solidFill>
              <a:srgbClr val="1E293B">
                <a:alpha val="60000"/>
              </a:srgbClr>
            </a:solidFill>
            <a:ln w="12700">
              <a:solidFill>
                <a:srgbClr val="FFFFFF">
                  <a:alpha val="10000"/>
                </a:srgbClr>
              </a:solidFill>
              <a:prstDash val="solid"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35" name="Shape 30"/>
            <p:cNvSpPr/>
            <p:nvPr/>
          </p:nvSpPr>
          <p:spPr>
            <a:xfrm>
              <a:off x="6629400" y="2495398"/>
              <a:ext cx="714146" cy="267005"/>
            </a:xfrm>
            <a:prstGeom prst="roundRect">
              <a:avLst>
                <a:gd name="adj" fmla="val 244618"/>
              </a:avLst>
            </a:prstGeom>
            <a:solidFill>
              <a:srgbClr val="10B981"/>
            </a:solidFill>
            <a:ln/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36" name="Text 31"/>
            <p:cNvSpPr txBox="1"/>
            <p:nvPr/>
          </p:nvSpPr>
          <p:spPr>
            <a:xfrm>
              <a:off x="6743700" y="2533802"/>
              <a:ext cx="577901" cy="181051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900" b="1" dirty="0">
                  <a:solidFill>
                    <a:srgbClr val="FFFFFF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올바른 예</a:t>
              </a:r>
              <a:endParaRPr lang="en-US" sz="900" dirty="0"/>
            </a:p>
          </p:txBody>
        </p:sp>
        <p:sp>
          <p:nvSpPr>
            <p:cNvPr id="37" name="Shape 32"/>
            <p:cNvSpPr/>
            <p:nvPr/>
          </p:nvSpPr>
          <p:spPr>
            <a:xfrm>
              <a:off x="10658246" y="2495398"/>
              <a:ext cx="457200" cy="457200"/>
            </a:xfrm>
            <a:prstGeom prst="roundRect">
              <a:avLst>
                <a:gd name="adj" fmla="val 50000"/>
              </a:avLst>
            </a:prstGeom>
            <a:solidFill>
              <a:srgbClr val="10B981">
                <a:alpha val="10000"/>
              </a:srgbClr>
            </a:solidFill>
            <a:ln/>
          </p:spPr>
          <p:txBody>
            <a:bodyPr/>
            <a:lstStyle/>
            <a:p>
              <a:endParaRPr lang="ko-KR" altLang="en-US"/>
            </a:p>
          </p:txBody>
        </p:sp>
        <p:pic>
          <p:nvPicPr>
            <p:cNvPr id="38" name="Image 3" descr="preencoded.png"/>
            <p:cNvPicPr>
              <a:picLocks noChangeAspect="1"/>
            </p:cNvPicPr>
            <p:nvPr/>
          </p:nvPicPr>
          <p:blipFill>
            <a:blip r:embed="rId5"/>
            <a:srcRect l="-57" r="-57"/>
            <a:stretch/>
          </p:blipFill>
          <p:spPr>
            <a:xfrm>
              <a:off x="10787177" y="2609698"/>
              <a:ext cx="200254" cy="228600"/>
            </a:xfrm>
            <a:prstGeom prst="rect">
              <a:avLst/>
            </a:prstGeom>
          </p:spPr>
        </p:pic>
        <p:sp>
          <p:nvSpPr>
            <p:cNvPr id="39" name="Text 33"/>
            <p:cNvSpPr txBox="1"/>
            <p:nvPr/>
          </p:nvSpPr>
          <p:spPr>
            <a:xfrm>
              <a:off x="6629400" y="3133649"/>
              <a:ext cx="1657807" cy="277063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500" b="1" dirty="0">
                  <a:solidFill>
                    <a:srgbClr val="FFFFFF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간접 인용으로 수정</a:t>
              </a:r>
              <a:endParaRPr lang="en-US" sz="1500" dirty="0"/>
            </a:p>
          </p:txBody>
        </p:sp>
        <p:sp>
          <p:nvSpPr>
            <p:cNvPr id="40" name="Shape 34"/>
            <p:cNvSpPr/>
            <p:nvPr/>
          </p:nvSpPr>
          <p:spPr>
            <a:xfrm>
              <a:off x="6629400" y="3562502"/>
              <a:ext cx="4486046" cy="1143000"/>
            </a:xfrm>
            <a:prstGeom prst="roundRect">
              <a:avLst>
                <a:gd name="adj" fmla="val 5333"/>
              </a:avLst>
            </a:prstGeom>
            <a:solidFill>
              <a:srgbClr val="0F172A">
                <a:alpha val="50000"/>
              </a:srgbClr>
            </a:solidFill>
            <a:ln/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41" name="Text 35"/>
            <p:cNvSpPr txBox="1"/>
            <p:nvPr/>
          </p:nvSpPr>
          <p:spPr>
            <a:xfrm>
              <a:off x="6819595" y="3752698"/>
              <a:ext cx="1157630" cy="19111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000" dirty="0">
                  <a:solidFill>
                    <a:srgbClr val="9CA3AF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자신의 말로 재구성</a:t>
              </a:r>
              <a:endParaRPr lang="en-US" sz="1000" dirty="0"/>
            </a:p>
          </p:txBody>
        </p:sp>
        <p:sp>
          <p:nvSpPr>
            <p:cNvPr id="42" name="Text 36"/>
            <p:cNvSpPr txBox="1"/>
            <p:nvPr/>
          </p:nvSpPr>
          <p:spPr>
            <a:xfrm>
              <a:off x="6819595" y="4019702"/>
              <a:ext cx="4200754" cy="47640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200" dirty="0">
                  <a:solidFill>
                    <a:srgbClr val="E2E8F0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김철수(2023)에 따르면, MZ세대는 가격 대비 심리적 만족감을 더 중요한 소비 기준으로 삼는다. 이에 따라 기업은...</a:t>
              </a:r>
              <a:endParaRPr lang="en-US" sz="1200" dirty="0"/>
            </a:p>
          </p:txBody>
        </p:sp>
        <p:sp>
          <p:nvSpPr>
            <p:cNvPr id="43" name="Shape 37"/>
            <p:cNvSpPr/>
            <p:nvPr/>
          </p:nvSpPr>
          <p:spPr>
            <a:xfrm>
              <a:off x="6629400" y="4849978"/>
              <a:ext cx="4486046" cy="9144"/>
            </a:xfrm>
            <a:prstGeom prst="rect">
              <a:avLst/>
            </a:prstGeom>
            <a:solidFill>
              <a:srgbClr val="FFFFFF">
                <a:alpha val="10000"/>
              </a:srgbClr>
            </a:solidFill>
            <a:ln/>
          </p:spPr>
          <p:txBody>
            <a:bodyPr/>
            <a:lstStyle/>
            <a:p>
              <a:endParaRPr lang="ko-KR" altLang="en-US"/>
            </a:p>
          </p:txBody>
        </p:sp>
        <p:pic>
          <p:nvPicPr>
            <p:cNvPr id="44" name="Image 4" descr="preencoded.png"/>
            <p:cNvPicPr>
              <a:picLocks noChangeAspect="1"/>
            </p:cNvPicPr>
            <p:nvPr/>
          </p:nvPicPr>
          <p:blipFill>
            <a:blip r:embed="rId6"/>
            <a:srcRect t="-25200" b="-25200"/>
            <a:stretch/>
          </p:blipFill>
          <p:spPr>
            <a:xfrm>
              <a:off x="6629400" y="5087722"/>
              <a:ext cx="114300" cy="171907"/>
            </a:xfrm>
            <a:prstGeom prst="rect">
              <a:avLst/>
            </a:prstGeom>
          </p:spPr>
        </p:pic>
        <p:sp>
          <p:nvSpPr>
            <p:cNvPr id="45" name="Text 38"/>
            <p:cNvSpPr txBox="1"/>
            <p:nvPr/>
          </p:nvSpPr>
          <p:spPr>
            <a:xfrm>
              <a:off x="6838798" y="5050231"/>
              <a:ext cx="2313432" cy="20025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000" dirty="0">
                  <a:solidFill>
                    <a:srgbClr val="94A3B8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핵심 의미 유지하되 나만의 언어로 기술</a:t>
              </a:r>
              <a:endParaRPr lang="en-US" sz="1000" dirty="0"/>
            </a:p>
          </p:txBody>
        </p:sp>
        <p:pic>
          <p:nvPicPr>
            <p:cNvPr id="46" name="Image 5" descr="preencoded.png"/>
            <p:cNvPicPr>
              <a:picLocks noChangeAspect="1"/>
            </p:cNvPicPr>
            <p:nvPr/>
          </p:nvPicPr>
          <p:blipFill>
            <a:blip r:embed="rId6"/>
            <a:srcRect t="-25200" b="-25200"/>
            <a:stretch/>
          </p:blipFill>
          <p:spPr>
            <a:xfrm>
              <a:off x="6629400" y="5373929"/>
              <a:ext cx="114300" cy="171907"/>
            </a:xfrm>
            <a:prstGeom prst="rect">
              <a:avLst/>
            </a:prstGeom>
          </p:spPr>
        </p:pic>
        <p:sp>
          <p:nvSpPr>
            <p:cNvPr id="47" name="Text 39"/>
            <p:cNvSpPr txBox="1"/>
            <p:nvPr/>
          </p:nvSpPr>
          <p:spPr>
            <a:xfrm>
              <a:off x="6838798" y="5335524"/>
              <a:ext cx="2113178" cy="20025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000" dirty="0">
                  <a:solidFill>
                    <a:srgbClr val="94A3B8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저자명을 언급하여 자연스럽게 연결</a:t>
              </a:r>
              <a:endParaRPr lang="en-US" sz="1000" dirty="0"/>
            </a:p>
          </p:txBody>
        </p:sp>
      </p:grpSp>
      <p:sp>
        <p:nvSpPr>
          <p:cNvPr id="49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이애본(드림아이티비즈) · useful-ai.dreamitbiz.com · 교육 목적 비영리 이용 · 출처 표기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 t="21874" b="21874"/>
          <a:stretch/>
        </p:blipFill>
        <p:spPr>
          <a:xfrm>
            <a:off x="-3893" y="0"/>
            <a:ext cx="12191695" cy="685800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761695" y="315631"/>
            <a:ext cx="571500" cy="57607"/>
          </a:xfrm>
          <a:prstGeom prst="roundRect">
            <a:avLst>
              <a:gd name="adj" fmla="val 793654"/>
            </a:avLst>
          </a:prstGeom>
          <a:solidFill>
            <a:srgbClr val="F43F5E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6" name="Shape 3"/>
          <p:cNvSpPr/>
          <p:nvPr/>
        </p:nvSpPr>
        <p:spPr>
          <a:xfrm>
            <a:off x="761695" y="5683155"/>
            <a:ext cx="10668305" cy="981151"/>
          </a:xfrm>
          <a:prstGeom prst="roundRect">
            <a:avLst>
              <a:gd name="adj" fmla="val 10858"/>
            </a:avLst>
          </a:prstGeom>
          <a:solidFill>
            <a:srgbClr val="0F172A">
              <a:alpha val="60000"/>
            </a:srgbClr>
          </a:solidFill>
          <a:ln w="12700">
            <a:solidFill>
              <a:srgbClr val="FFFFFF">
                <a:alpha val="1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" name="Shape 4"/>
          <p:cNvSpPr/>
          <p:nvPr/>
        </p:nvSpPr>
        <p:spPr>
          <a:xfrm>
            <a:off x="3505810" y="5944674"/>
            <a:ext cx="9144" cy="457200"/>
          </a:xfrm>
          <a:prstGeom prst="rect">
            <a:avLst/>
          </a:prstGeom>
          <a:solidFill>
            <a:srgbClr val="4B5563"/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8" name="Image 1" descr="preencoded.png"/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1190549" y="6058974"/>
            <a:ext cx="228600" cy="228600"/>
          </a:xfrm>
          <a:prstGeom prst="rect">
            <a:avLst/>
          </a:prstGeom>
        </p:spPr>
      </p:pic>
      <p:pic>
        <p:nvPicPr>
          <p:cNvPr id="9" name="Image 2" descr="preencoded.png"/>
          <p:cNvPicPr>
            <a:picLocks noChangeAspect="1"/>
          </p:cNvPicPr>
          <p:nvPr/>
        </p:nvPicPr>
        <p:blipFill>
          <a:blip r:embed="rId6"/>
          <a:srcRect/>
          <a:stretch/>
        </p:blipFill>
        <p:spPr>
          <a:xfrm>
            <a:off x="3813962" y="6087320"/>
            <a:ext cx="171907" cy="171907"/>
          </a:xfrm>
          <a:prstGeom prst="rect">
            <a:avLst/>
          </a:prstGeom>
        </p:spPr>
      </p:pic>
      <p:pic>
        <p:nvPicPr>
          <p:cNvPr id="10" name="Image 3" descr="preencoded.png"/>
          <p:cNvPicPr>
            <a:picLocks noChangeAspect="1"/>
          </p:cNvPicPr>
          <p:nvPr/>
        </p:nvPicPr>
        <p:blipFill>
          <a:blip r:embed="rId6"/>
          <a:srcRect/>
          <a:stretch/>
        </p:blipFill>
        <p:spPr>
          <a:xfrm>
            <a:off x="7616952" y="6087320"/>
            <a:ext cx="171907" cy="171907"/>
          </a:xfrm>
          <a:prstGeom prst="rect">
            <a:avLst/>
          </a:prstGeom>
        </p:spPr>
      </p:pic>
      <p:sp>
        <p:nvSpPr>
          <p:cNvPr id="11" name="Text 5"/>
          <p:cNvSpPr txBox="1"/>
          <p:nvPr/>
        </p:nvSpPr>
        <p:spPr>
          <a:xfrm>
            <a:off x="761695" y="563433"/>
            <a:ext cx="576986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사례 02</a:t>
            </a:r>
            <a:endParaRPr lang="en-US" sz="1000" dirty="0"/>
          </a:p>
        </p:txBody>
      </p:sp>
      <p:sp>
        <p:nvSpPr>
          <p:cNvPr id="12" name="Text 6"/>
          <p:cNvSpPr txBox="1"/>
          <p:nvPr/>
        </p:nvSpPr>
        <p:spPr>
          <a:xfrm>
            <a:off x="761695" y="781975"/>
            <a:ext cx="807781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6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재기술(바꿔쓰기) 했지만 출처가 없다면?</a:t>
            </a:r>
            <a:endParaRPr lang="en-US" sz="3600" dirty="0"/>
          </a:p>
        </p:txBody>
      </p:sp>
      <p:sp>
        <p:nvSpPr>
          <p:cNvPr id="13" name="Text 7"/>
          <p:cNvSpPr txBox="1"/>
          <p:nvPr/>
        </p:nvSpPr>
        <p:spPr>
          <a:xfrm>
            <a:off x="761695" y="1418755"/>
            <a:ext cx="77916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dirty="0">
                <a:solidFill>
                  <a:srgbClr val="D1D5D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원문의 단어를 바꾸고 문장 구조를 재구성했더라도, 아이디어의 출처를 밝히지 않으면 표절입니다.</a:t>
            </a:r>
            <a:endParaRPr lang="en-US" sz="1500" dirty="0"/>
          </a:p>
        </p:txBody>
      </p:sp>
      <p:sp>
        <p:nvSpPr>
          <p:cNvPr id="14" name="Text 8"/>
          <p:cNvSpPr txBox="1"/>
          <p:nvPr/>
        </p:nvSpPr>
        <p:spPr>
          <a:xfrm>
            <a:off x="1686154" y="5934615"/>
            <a:ext cx="866851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CHECK POINT</a:t>
            </a:r>
            <a:endParaRPr lang="en-US" sz="900" dirty="0"/>
          </a:p>
        </p:txBody>
      </p:sp>
      <p:sp>
        <p:nvSpPr>
          <p:cNvPr id="15" name="Text 9"/>
          <p:cNvSpPr txBox="1"/>
          <p:nvPr/>
        </p:nvSpPr>
        <p:spPr>
          <a:xfrm>
            <a:off x="1686154" y="6125725"/>
            <a:ext cx="1657807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바꿔쓰기 핵심 원칙</a:t>
            </a:r>
            <a:endParaRPr lang="en-US" sz="1500" dirty="0"/>
          </a:p>
        </p:txBody>
      </p:sp>
      <p:sp>
        <p:nvSpPr>
          <p:cNvPr id="16" name="Text 10"/>
          <p:cNvSpPr txBox="1"/>
          <p:nvPr/>
        </p:nvSpPr>
        <p:spPr>
          <a:xfrm>
            <a:off x="4099255" y="6047087"/>
            <a:ext cx="3345790" cy="2386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단순 단어 교체가 아닌 나만의 문장으로 재구성</a:t>
            </a:r>
            <a:endParaRPr lang="en-US" sz="1300" dirty="0"/>
          </a:p>
        </p:txBody>
      </p:sp>
      <p:sp>
        <p:nvSpPr>
          <p:cNvPr id="17" name="Text 11"/>
          <p:cNvSpPr txBox="1"/>
          <p:nvPr/>
        </p:nvSpPr>
        <p:spPr>
          <a:xfrm>
            <a:off x="7903159" y="5921814"/>
            <a:ext cx="3164738" cy="4956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아이디어를 </a:t>
            </a:r>
            <a:r>
              <a:rPr lang="en-US" sz="1300" dirty="0" err="1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빌려왔다면</a:t>
            </a:r>
            <a:r>
              <a:rPr lang="en-US" sz="13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</a:p>
          <a:p>
            <a:pPr marL="0" indent="0" algn="l">
              <a:lnSpc>
                <a:spcPct val="150000"/>
              </a:lnSpc>
              <a:buNone/>
            </a:pPr>
            <a:r>
              <a:rPr lang="en-US" sz="1300" dirty="0" err="1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반드시</a:t>
            </a:r>
            <a:r>
              <a:rPr lang="en-US" sz="13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출처(내주/각주) 표기</a:t>
            </a:r>
            <a:endParaRPr lang="en-US" sz="1300" dirty="0"/>
          </a:p>
        </p:txBody>
      </p:sp>
      <p:sp>
        <p:nvSpPr>
          <p:cNvPr id="18" name="Shape 12"/>
          <p:cNvSpPr/>
          <p:nvPr/>
        </p:nvSpPr>
        <p:spPr>
          <a:xfrm>
            <a:off x="761695" y="1913084"/>
            <a:ext cx="5143500" cy="3581705"/>
          </a:xfrm>
          <a:prstGeom prst="roundRect">
            <a:avLst>
              <a:gd name="adj" fmla="val 1086"/>
            </a:avLst>
          </a:prstGeom>
          <a:solidFill>
            <a:srgbClr val="1E293B">
              <a:alpha val="60000"/>
            </a:srgbClr>
          </a:solidFill>
          <a:ln w="50800">
            <a:solidFill>
              <a:srgbClr val="F43F5E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9" name="Shape 13"/>
          <p:cNvSpPr/>
          <p:nvPr/>
        </p:nvSpPr>
        <p:spPr>
          <a:xfrm>
            <a:off x="1076249" y="2255984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F43F5E">
              <a:alpha val="15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20" name="Image 4" descr="preencoded.png"/>
          <p:cNvPicPr>
            <a:picLocks noChangeAspect="1"/>
          </p:cNvPicPr>
          <p:nvPr/>
        </p:nvPicPr>
        <p:blipFill>
          <a:blip r:embed="rId7"/>
          <a:srcRect l="-133" r="-133"/>
          <a:stretch/>
        </p:blipFill>
        <p:spPr>
          <a:xfrm>
            <a:off x="1218895" y="2370284"/>
            <a:ext cx="171907" cy="228600"/>
          </a:xfrm>
          <a:prstGeom prst="rect">
            <a:avLst/>
          </a:prstGeom>
        </p:spPr>
      </p:pic>
      <p:sp>
        <p:nvSpPr>
          <p:cNvPr id="21" name="Text 14"/>
          <p:cNvSpPr txBox="1"/>
          <p:nvPr/>
        </p:nvSpPr>
        <p:spPr>
          <a:xfrm>
            <a:off x="5013655" y="2255984"/>
            <a:ext cx="683971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F43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문제 상황</a:t>
            </a:r>
            <a:endParaRPr lang="en-US" sz="1000" dirty="0"/>
          </a:p>
        </p:txBody>
      </p:sp>
      <p:sp>
        <p:nvSpPr>
          <p:cNvPr id="22" name="Shape 15"/>
          <p:cNvSpPr/>
          <p:nvPr/>
        </p:nvSpPr>
        <p:spPr>
          <a:xfrm>
            <a:off x="1076249" y="2980189"/>
            <a:ext cx="4515307" cy="1371600"/>
          </a:xfrm>
          <a:prstGeom prst="roundRect">
            <a:avLst>
              <a:gd name="adj" fmla="val 3704"/>
            </a:avLst>
          </a:prstGeom>
          <a:solidFill>
            <a:srgbClr val="000000">
              <a:alpha val="2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3" name="Text 16"/>
          <p:cNvSpPr txBox="1"/>
          <p:nvPr/>
        </p:nvSpPr>
        <p:spPr>
          <a:xfrm>
            <a:off x="1304849" y="3217933"/>
            <a:ext cx="4144061" cy="886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5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"우리 사회는 점점 고령화되고 </a:t>
            </a:r>
            <a:r>
              <a:rPr lang="en-US" sz="1500" dirty="0" err="1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있으며</a:t>
            </a:r>
            <a:r>
              <a:rPr lang="en-US" sz="15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</a:p>
          <a:p>
            <a:pPr marL="0" indent="0" algn="l">
              <a:lnSpc>
                <a:spcPct val="150000"/>
              </a:lnSpc>
              <a:buNone/>
            </a:pPr>
            <a:r>
              <a:rPr lang="en-US" sz="1500" dirty="0" err="1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그에</a:t>
            </a:r>
            <a:r>
              <a:rPr lang="en-US" sz="15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따라 정부의 돌봄 제도나 </a:t>
            </a:r>
            <a:r>
              <a:rPr lang="en-US" sz="1500" dirty="0" err="1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요양시설</a:t>
            </a:r>
            <a:r>
              <a:rPr lang="en-US" sz="15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</a:p>
          <a:p>
            <a:pPr marL="0" indent="0" algn="l">
              <a:lnSpc>
                <a:spcPct val="150000"/>
              </a:lnSpc>
              <a:buNone/>
            </a:pPr>
            <a:r>
              <a:rPr lang="en-US" sz="1500" dirty="0" err="1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수요가</a:t>
            </a:r>
            <a:r>
              <a:rPr lang="en-US" sz="15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빠르게 증가하고 있다."</a:t>
            </a:r>
            <a:endParaRPr lang="en-US" sz="1500" dirty="0"/>
          </a:p>
        </p:txBody>
      </p:sp>
      <p:sp>
        <p:nvSpPr>
          <p:cNvPr id="24" name="Shape 17"/>
          <p:cNvSpPr/>
          <p:nvPr/>
        </p:nvSpPr>
        <p:spPr>
          <a:xfrm>
            <a:off x="1076249" y="4541984"/>
            <a:ext cx="790956" cy="371246"/>
          </a:xfrm>
          <a:prstGeom prst="roundRect">
            <a:avLst>
              <a:gd name="adj" fmla="val 246306"/>
            </a:avLst>
          </a:prstGeom>
          <a:solidFill>
            <a:srgbClr val="F43F5E"/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25" name="Image 5" descr="preencoded.png"/>
          <p:cNvPicPr>
            <a:picLocks noChangeAspect="1"/>
          </p:cNvPicPr>
          <p:nvPr/>
        </p:nvPicPr>
        <p:blipFill>
          <a:blip r:embed="rId8"/>
          <a:srcRect/>
          <a:stretch/>
        </p:blipFill>
        <p:spPr>
          <a:xfrm>
            <a:off x="1228954" y="4655370"/>
            <a:ext cx="142646" cy="142646"/>
          </a:xfrm>
          <a:prstGeom prst="rect">
            <a:avLst/>
          </a:prstGeom>
        </p:spPr>
      </p:pic>
      <p:sp>
        <p:nvSpPr>
          <p:cNvPr id="26" name="Text 18"/>
          <p:cNvSpPr txBox="1"/>
          <p:nvPr/>
        </p:nvSpPr>
        <p:spPr>
          <a:xfrm>
            <a:off x="1447495" y="4618794"/>
            <a:ext cx="37581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표절</a:t>
            </a:r>
            <a:endParaRPr lang="en-US" sz="1100" dirty="0"/>
          </a:p>
        </p:txBody>
      </p:sp>
      <p:sp>
        <p:nvSpPr>
          <p:cNvPr id="27" name="Text 19"/>
          <p:cNvSpPr txBox="1"/>
          <p:nvPr/>
        </p:nvSpPr>
        <p:spPr>
          <a:xfrm>
            <a:off x="1114654" y="4988211"/>
            <a:ext cx="2843784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* 타인의 아이디어를 자신의 생각인 것처럼 기술함</a:t>
            </a:r>
            <a:endParaRPr lang="en-US" sz="1000" dirty="0"/>
          </a:p>
        </p:txBody>
      </p:sp>
      <p:sp>
        <p:nvSpPr>
          <p:cNvPr id="28" name="Shape 20"/>
          <p:cNvSpPr/>
          <p:nvPr/>
        </p:nvSpPr>
        <p:spPr>
          <a:xfrm>
            <a:off x="6286500" y="1913084"/>
            <a:ext cx="5143500" cy="3581705"/>
          </a:xfrm>
          <a:prstGeom prst="roundRect">
            <a:avLst>
              <a:gd name="adj" fmla="val 1086"/>
            </a:avLst>
          </a:prstGeom>
          <a:solidFill>
            <a:srgbClr val="1E293B">
              <a:alpha val="60000"/>
            </a:srgbClr>
          </a:solidFill>
          <a:ln w="50800">
            <a:solidFill>
              <a:srgbClr val="0EA5E9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9" name="Shape 21"/>
          <p:cNvSpPr/>
          <p:nvPr/>
        </p:nvSpPr>
        <p:spPr>
          <a:xfrm>
            <a:off x="6601054" y="2255984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0EA5E9">
              <a:alpha val="15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30" name="Image 6" descr="preencoded.png"/>
          <p:cNvPicPr>
            <a:picLocks noChangeAspect="1"/>
          </p:cNvPicPr>
          <p:nvPr/>
        </p:nvPicPr>
        <p:blipFill>
          <a:blip r:embed="rId9"/>
          <a:srcRect l="-57" r="-57"/>
          <a:stretch/>
        </p:blipFill>
        <p:spPr>
          <a:xfrm>
            <a:off x="6729070" y="2370284"/>
            <a:ext cx="200254" cy="228600"/>
          </a:xfrm>
          <a:prstGeom prst="rect">
            <a:avLst/>
          </a:prstGeom>
        </p:spPr>
      </p:pic>
      <p:sp>
        <p:nvSpPr>
          <p:cNvPr id="31" name="Text 22"/>
          <p:cNvSpPr txBox="1"/>
          <p:nvPr/>
        </p:nvSpPr>
        <p:spPr>
          <a:xfrm>
            <a:off x="10171786" y="2255984"/>
            <a:ext cx="1056132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38BDF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해결: 내주 추가</a:t>
            </a:r>
            <a:endParaRPr lang="en-US" sz="1000" dirty="0"/>
          </a:p>
        </p:txBody>
      </p:sp>
      <p:sp>
        <p:nvSpPr>
          <p:cNvPr id="32" name="Shape 23"/>
          <p:cNvSpPr/>
          <p:nvPr/>
        </p:nvSpPr>
        <p:spPr>
          <a:xfrm>
            <a:off x="6601054" y="2980189"/>
            <a:ext cx="4515307" cy="1371600"/>
          </a:xfrm>
          <a:prstGeom prst="roundRect">
            <a:avLst>
              <a:gd name="adj" fmla="val 3704"/>
            </a:avLst>
          </a:prstGeom>
          <a:solidFill>
            <a:srgbClr val="000000">
              <a:alpha val="2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3" name="Text 24"/>
          <p:cNvSpPr txBox="1"/>
          <p:nvPr/>
        </p:nvSpPr>
        <p:spPr>
          <a:xfrm>
            <a:off x="6829654" y="3217933"/>
            <a:ext cx="4144061" cy="886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5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"우리 사회는 점점 고령화되고 </a:t>
            </a:r>
            <a:r>
              <a:rPr lang="en-US" sz="1500" dirty="0" err="1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있으며</a:t>
            </a:r>
            <a:r>
              <a:rPr lang="en-US" sz="15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</a:p>
          <a:p>
            <a:pPr marL="0" indent="0" algn="l">
              <a:lnSpc>
                <a:spcPct val="150000"/>
              </a:lnSpc>
              <a:buNone/>
            </a:pPr>
            <a:r>
              <a:rPr lang="en-US" sz="1500" dirty="0" err="1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그에</a:t>
            </a:r>
            <a:r>
              <a:rPr lang="en-US" sz="15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따라 정부의 돌봄 제도나 요양시설 </a:t>
            </a:r>
            <a:r>
              <a:rPr lang="en-US" sz="1500" dirty="0" err="1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수요가</a:t>
            </a:r>
            <a:r>
              <a:rPr lang="en-US" sz="15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</a:p>
          <a:p>
            <a:pPr marL="0" indent="0" algn="l">
              <a:lnSpc>
                <a:spcPct val="150000"/>
              </a:lnSpc>
              <a:buNone/>
            </a:pPr>
            <a:r>
              <a:rPr lang="en-US" sz="1500" dirty="0" err="1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빠르게</a:t>
            </a:r>
            <a:r>
              <a:rPr lang="en-US" sz="15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증가하고 있다 (김철수, 2024)."</a:t>
            </a:r>
            <a:endParaRPr lang="en-US" sz="1500" dirty="0"/>
          </a:p>
        </p:txBody>
      </p:sp>
      <p:sp>
        <p:nvSpPr>
          <p:cNvPr id="34" name="Shape 25"/>
          <p:cNvSpPr/>
          <p:nvPr/>
        </p:nvSpPr>
        <p:spPr>
          <a:xfrm>
            <a:off x="6601054" y="4541984"/>
            <a:ext cx="1095451" cy="371246"/>
          </a:xfrm>
          <a:prstGeom prst="roundRect">
            <a:avLst>
              <a:gd name="adj" fmla="val 246306"/>
            </a:avLst>
          </a:prstGeom>
          <a:solidFill>
            <a:srgbClr val="0EA5E9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5" name="Text 26"/>
          <p:cNvSpPr txBox="1"/>
          <p:nvPr/>
        </p:nvSpPr>
        <p:spPr>
          <a:xfrm>
            <a:off x="6829654" y="4618794"/>
            <a:ext cx="822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적절한 인용</a:t>
            </a:r>
            <a:endParaRPr lang="en-US" sz="1100" dirty="0"/>
          </a:p>
        </p:txBody>
      </p:sp>
      <p:sp>
        <p:nvSpPr>
          <p:cNvPr id="36" name="Text 27"/>
          <p:cNvSpPr txBox="1"/>
          <p:nvPr/>
        </p:nvSpPr>
        <p:spPr>
          <a:xfrm>
            <a:off x="6638544" y="4988211"/>
            <a:ext cx="3538728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* 문장 끝에 출처(저자, 연도)를 명확히 표기하여 인용임을 밝힘</a:t>
            </a:r>
            <a:endParaRPr lang="en-US" sz="1000" dirty="0"/>
          </a:p>
        </p:txBody>
      </p:sp>
      <p:sp>
        <p:nvSpPr>
          <p:cNvPr id="37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이애본(드림아이티비즈) · useful-ai.dreamitbiz.com · 교육 목적 비영리 이용 · 출처 표기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" name="Shap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>
              <a:alpha val="8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" name="Shape 3"/>
          <p:cNvSpPr/>
          <p:nvPr/>
        </p:nvSpPr>
        <p:spPr>
          <a:xfrm>
            <a:off x="761695" y="476402"/>
            <a:ext cx="571500" cy="57607"/>
          </a:xfrm>
          <a:prstGeom prst="roundRect">
            <a:avLst>
              <a:gd name="adj" fmla="val 793654"/>
            </a:avLst>
          </a:prstGeom>
          <a:solidFill>
            <a:srgbClr val="38BDF8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6" name="Text 4"/>
          <p:cNvSpPr txBox="1"/>
          <p:nvPr/>
        </p:nvSpPr>
        <p:spPr>
          <a:xfrm>
            <a:off x="761695" y="724205"/>
            <a:ext cx="491033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사례 3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761695" y="952805"/>
            <a:ext cx="5781751" cy="4956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7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직접 인용의 함정: 따옴표만 붙이면 끝?</a:t>
            </a:r>
            <a:endParaRPr lang="en-US" sz="2700" dirty="0"/>
          </a:p>
        </p:txBody>
      </p:sp>
      <p:sp>
        <p:nvSpPr>
          <p:cNvPr id="8" name="Text 6"/>
          <p:cNvSpPr txBox="1"/>
          <p:nvPr/>
        </p:nvSpPr>
        <p:spPr>
          <a:xfrm>
            <a:off x="761695" y="1524305"/>
            <a:ext cx="72868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dirty="0">
                <a:solidFill>
                  <a:srgbClr val="D1D5D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형식적 인용 표시는 했지만, 맥락과 해석이 누락되면 '짜집기 표절' 오해를 받을 수 있습니다.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761695" y="2085746"/>
            <a:ext cx="3381451" cy="4295851"/>
          </a:xfrm>
          <a:prstGeom prst="roundRect">
            <a:avLst>
              <a:gd name="adj" fmla="val 1219"/>
            </a:avLst>
          </a:prstGeom>
          <a:solidFill>
            <a:srgbClr val="1E293B">
              <a:alpha val="60000"/>
            </a:srgbClr>
          </a:solidFill>
          <a:ln w="12700">
            <a:solidFill>
              <a:srgbClr val="FFFFFF">
                <a:alpha val="1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10" name="Image 0" descr="preencoded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1171346" y="2495398"/>
            <a:ext cx="190195" cy="190195"/>
          </a:xfrm>
          <a:prstGeom prst="rect">
            <a:avLst/>
          </a:prstGeom>
        </p:spPr>
      </p:pic>
      <p:sp>
        <p:nvSpPr>
          <p:cNvPr id="11" name="Text 8"/>
          <p:cNvSpPr txBox="1"/>
          <p:nvPr/>
        </p:nvSpPr>
        <p:spPr>
          <a:xfrm>
            <a:off x="1638605" y="2447849"/>
            <a:ext cx="905256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문제 상황</a:t>
            </a:r>
            <a:endParaRPr lang="en-US" sz="1500" dirty="0"/>
          </a:p>
        </p:txBody>
      </p:sp>
      <p:sp>
        <p:nvSpPr>
          <p:cNvPr id="12" name="Text 9"/>
          <p:cNvSpPr txBox="1"/>
          <p:nvPr/>
        </p:nvSpPr>
        <p:spPr>
          <a:xfrm>
            <a:off x="1037844" y="3010205"/>
            <a:ext cx="218175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"출처 달았는데 왜 표절인가요?"</a:t>
            </a:r>
            <a:endParaRPr lang="en-US" sz="1200" dirty="0"/>
          </a:p>
        </p:txBody>
      </p:sp>
      <p:sp>
        <p:nvSpPr>
          <p:cNvPr id="13" name="Text 10"/>
          <p:cNvSpPr txBox="1"/>
          <p:nvPr/>
        </p:nvSpPr>
        <p:spPr>
          <a:xfrm>
            <a:off x="1037844" y="3406140"/>
            <a:ext cx="2943454" cy="12097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참고 문헌의 문장을 그대로 가져와 따옴표(" ") 처리를 하고 출처도 명기했습니다. 하지만 리포트 전체가 남의 문장들의 나열로만 채워져 있고, 본인의 생각은 보이지 않는 경우입니다.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1037844" y="4767682"/>
            <a:ext cx="2829154" cy="733349"/>
          </a:xfrm>
          <a:prstGeom prst="roundRect">
            <a:avLst>
              <a:gd name="adj" fmla="val 12955"/>
            </a:avLst>
          </a:prstGeom>
          <a:solidFill>
            <a:srgbClr val="000000">
              <a:alpha val="3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5" name="Shape 12"/>
          <p:cNvSpPr/>
          <p:nvPr/>
        </p:nvSpPr>
        <p:spPr>
          <a:xfrm>
            <a:off x="1037844" y="4767682"/>
            <a:ext cx="28346" cy="733349"/>
          </a:xfrm>
          <a:prstGeom prst="rect">
            <a:avLst/>
          </a:prstGeom>
          <a:solidFill>
            <a:srgbClr val="64748B"/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16" name="Image 1" descr="preencoded.png"/>
          <p:cNvPicPr>
            <a:picLocks noChangeAspect="1"/>
          </p:cNvPicPr>
          <p:nvPr/>
        </p:nvPicPr>
        <p:blipFill>
          <a:blip r:embed="rId4"/>
          <a:srcRect l="-2512" r="-2512"/>
          <a:stretch/>
        </p:blipFill>
        <p:spPr>
          <a:xfrm>
            <a:off x="1209751" y="4966106"/>
            <a:ext cx="105156" cy="133502"/>
          </a:xfrm>
          <a:prstGeom prst="rect">
            <a:avLst/>
          </a:prstGeom>
        </p:spPr>
      </p:pic>
      <p:sp>
        <p:nvSpPr>
          <p:cNvPr id="17" name="Text 13"/>
          <p:cNvSpPr txBox="1"/>
          <p:nvPr/>
        </p:nvSpPr>
        <p:spPr>
          <a:xfrm>
            <a:off x="1390802" y="4920386"/>
            <a:ext cx="1360627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자신의 논지 전개 없이</a:t>
            </a:r>
            <a:endParaRPr lang="en-US" sz="1000" dirty="0"/>
          </a:p>
        </p:txBody>
      </p:sp>
      <p:sp>
        <p:nvSpPr>
          <p:cNvPr id="18" name="Text 14"/>
          <p:cNvSpPr txBox="1"/>
          <p:nvPr/>
        </p:nvSpPr>
        <p:spPr>
          <a:xfrm>
            <a:off x="1209751" y="5139842"/>
            <a:ext cx="1989734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타인의 문장에만 의존하는 글쓰기</a:t>
            </a:r>
            <a:endParaRPr lang="en-US" sz="1000" dirty="0"/>
          </a:p>
        </p:txBody>
      </p:sp>
      <p:sp>
        <p:nvSpPr>
          <p:cNvPr id="19" name="Shape 15"/>
          <p:cNvSpPr/>
          <p:nvPr/>
        </p:nvSpPr>
        <p:spPr>
          <a:xfrm>
            <a:off x="4406494" y="2085746"/>
            <a:ext cx="3381451" cy="4295851"/>
          </a:xfrm>
          <a:prstGeom prst="roundRect">
            <a:avLst>
              <a:gd name="adj" fmla="val 1219"/>
            </a:avLst>
          </a:prstGeom>
          <a:solidFill>
            <a:srgbClr val="1E293B">
              <a:alpha val="60000"/>
            </a:srgbClr>
          </a:solidFill>
          <a:ln w="12700">
            <a:solidFill>
              <a:srgbClr val="FFFFFF">
                <a:alpha val="1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0" name="Shape 16"/>
          <p:cNvSpPr/>
          <p:nvPr/>
        </p:nvSpPr>
        <p:spPr>
          <a:xfrm>
            <a:off x="4682642" y="2361895"/>
            <a:ext cx="457200" cy="457200"/>
          </a:xfrm>
          <a:prstGeom prst="ellipse">
            <a:avLst/>
          </a:prstGeom>
          <a:solidFill>
            <a:srgbClr val="3B82F6">
              <a:alpha val="2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21" name="Image 2" descr="preencoded.png"/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4816145" y="2495398"/>
            <a:ext cx="190195" cy="190195"/>
          </a:xfrm>
          <a:prstGeom prst="rect">
            <a:avLst/>
          </a:prstGeom>
        </p:spPr>
      </p:pic>
      <p:sp>
        <p:nvSpPr>
          <p:cNvPr id="22" name="Text 17"/>
          <p:cNvSpPr txBox="1"/>
          <p:nvPr/>
        </p:nvSpPr>
        <p:spPr>
          <a:xfrm>
            <a:off x="5283403" y="2447849"/>
            <a:ext cx="1172261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왜 위험한가?</a:t>
            </a:r>
            <a:endParaRPr lang="en-US" sz="1500" dirty="0"/>
          </a:p>
        </p:txBody>
      </p:sp>
      <p:sp>
        <p:nvSpPr>
          <p:cNvPr id="23" name="Text 18"/>
          <p:cNvSpPr txBox="1"/>
          <p:nvPr/>
        </p:nvSpPr>
        <p:spPr>
          <a:xfrm>
            <a:off x="4682642" y="3010205"/>
            <a:ext cx="257220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학문적 게으름으로 간주될 수 있습니다.</a:t>
            </a:r>
            <a:endParaRPr lang="en-US" sz="1200" dirty="0"/>
          </a:p>
        </p:txBody>
      </p:sp>
      <p:sp>
        <p:nvSpPr>
          <p:cNvPr id="24" name="Text 19"/>
          <p:cNvSpPr txBox="1"/>
          <p:nvPr/>
        </p:nvSpPr>
        <p:spPr>
          <a:xfrm>
            <a:off x="4873752" y="3406140"/>
            <a:ext cx="2714854" cy="4764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D1D5D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과도한 직접 인용은 저자의 이해도를 의심하게 만듭니다.</a:t>
            </a:r>
            <a:endParaRPr lang="en-US" sz="1200" dirty="0"/>
          </a:p>
        </p:txBody>
      </p:sp>
      <p:sp>
        <p:nvSpPr>
          <p:cNvPr id="25" name="Text 20"/>
          <p:cNvSpPr txBox="1"/>
          <p:nvPr/>
        </p:nvSpPr>
        <p:spPr>
          <a:xfrm>
            <a:off x="4873752" y="3969410"/>
            <a:ext cx="2743200" cy="4764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D1D5D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글의 흐름(Flow)이 끊기고, 가독성이 떨어집니다.</a:t>
            </a:r>
            <a:endParaRPr lang="en-US" sz="1200" dirty="0"/>
          </a:p>
        </p:txBody>
      </p:sp>
      <p:sp>
        <p:nvSpPr>
          <p:cNvPr id="26" name="Text 21"/>
          <p:cNvSpPr txBox="1"/>
          <p:nvPr/>
        </p:nvSpPr>
        <p:spPr>
          <a:xfrm>
            <a:off x="4873752" y="4533595"/>
            <a:ext cx="2734056" cy="4764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D1D5D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'짜집기(Patchwriting)' 수준의 낮은 평가를 받게 됩니다.</a:t>
            </a:r>
            <a:endParaRPr lang="en-US" sz="1200" dirty="0"/>
          </a:p>
        </p:txBody>
      </p:sp>
      <p:sp>
        <p:nvSpPr>
          <p:cNvPr id="27" name="Shape 22"/>
          <p:cNvSpPr/>
          <p:nvPr/>
        </p:nvSpPr>
        <p:spPr>
          <a:xfrm>
            <a:off x="8052206" y="2085746"/>
            <a:ext cx="3381451" cy="4295851"/>
          </a:xfrm>
          <a:prstGeom prst="roundRect">
            <a:avLst>
              <a:gd name="adj" fmla="val 1219"/>
            </a:avLst>
          </a:prstGeom>
          <a:solidFill>
            <a:srgbClr val="06B6D4">
              <a:alpha val="10000"/>
            </a:srgbClr>
          </a:solidFill>
          <a:ln w="12700">
            <a:solidFill>
              <a:srgbClr val="06B6D4">
                <a:alpha val="3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28" name="Image 3" descr="preencoded.png"/>
          <p:cNvPicPr>
            <a:picLocks noChangeAspect="1"/>
          </p:cNvPicPr>
          <p:nvPr/>
        </p:nvPicPr>
        <p:blipFill>
          <a:blip r:embed="rId6"/>
          <a:srcRect/>
          <a:stretch/>
        </p:blipFill>
        <p:spPr>
          <a:xfrm>
            <a:off x="8484718" y="2495398"/>
            <a:ext cx="142646" cy="190195"/>
          </a:xfrm>
          <a:prstGeom prst="rect">
            <a:avLst/>
          </a:prstGeom>
        </p:spPr>
      </p:pic>
      <p:sp>
        <p:nvSpPr>
          <p:cNvPr id="29" name="Text 23"/>
          <p:cNvSpPr txBox="1"/>
          <p:nvPr/>
        </p:nvSpPr>
        <p:spPr>
          <a:xfrm>
            <a:off x="8928202" y="2447849"/>
            <a:ext cx="1077163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개선 레시피</a:t>
            </a:r>
            <a:endParaRPr lang="en-US" sz="1500" dirty="0"/>
          </a:p>
        </p:txBody>
      </p:sp>
      <p:sp>
        <p:nvSpPr>
          <p:cNvPr id="30" name="Text 24"/>
          <p:cNvSpPr txBox="1"/>
          <p:nvPr/>
        </p:nvSpPr>
        <p:spPr>
          <a:xfrm>
            <a:off x="8328355" y="3010205"/>
            <a:ext cx="174376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직접 인용 '샌드위치' 기법</a:t>
            </a:r>
            <a:endParaRPr lang="en-US" sz="1200" dirty="0"/>
          </a:p>
        </p:txBody>
      </p:sp>
      <p:sp>
        <p:nvSpPr>
          <p:cNvPr id="31" name="Shape 25"/>
          <p:cNvSpPr/>
          <p:nvPr/>
        </p:nvSpPr>
        <p:spPr>
          <a:xfrm>
            <a:off x="8328355" y="3406140"/>
            <a:ext cx="2829154" cy="428854"/>
          </a:xfrm>
          <a:prstGeom prst="roundRect">
            <a:avLst>
              <a:gd name="adj" fmla="val 37906"/>
            </a:avLst>
          </a:prstGeom>
          <a:solidFill>
            <a:srgbClr val="FFFFFF">
              <a:alpha val="5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2" name="Shape 26"/>
          <p:cNvSpPr/>
          <p:nvPr/>
        </p:nvSpPr>
        <p:spPr>
          <a:xfrm>
            <a:off x="8471002" y="3503066"/>
            <a:ext cx="228600" cy="228600"/>
          </a:xfrm>
          <a:prstGeom prst="ellipse">
            <a:avLst/>
          </a:prstGeom>
          <a:solidFill>
            <a:srgbClr val="06B6D4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3" name="Text 27"/>
          <p:cNvSpPr txBox="1"/>
          <p:nvPr/>
        </p:nvSpPr>
        <p:spPr>
          <a:xfrm>
            <a:off x="8547811" y="3519526"/>
            <a:ext cx="168250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</a:t>
            </a:r>
            <a:endParaRPr lang="en-US" sz="900" dirty="0"/>
          </a:p>
        </p:txBody>
      </p:sp>
      <p:sp>
        <p:nvSpPr>
          <p:cNvPr id="34" name="Text 28"/>
          <p:cNvSpPr txBox="1"/>
          <p:nvPr/>
        </p:nvSpPr>
        <p:spPr>
          <a:xfrm>
            <a:off x="8813902" y="3511296"/>
            <a:ext cx="1100023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도입 (맥락 설명)</a:t>
            </a:r>
            <a:endParaRPr lang="en-US" sz="1100" dirty="0"/>
          </a:p>
        </p:txBody>
      </p:sp>
      <p:pic>
        <p:nvPicPr>
          <p:cNvPr id="35" name="Image 4" descr="preencoded.png"/>
          <p:cNvPicPr>
            <a:picLocks noChangeAspect="1"/>
          </p:cNvPicPr>
          <p:nvPr/>
        </p:nvPicPr>
        <p:blipFill>
          <a:blip r:embed="rId7">
            <a:alphaModFix amt="70000"/>
          </a:blip>
          <a:srcRect/>
          <a:stretch/>
        </p:blipFill>
        <p:spPr>
          <a:xfrm>
            <a:off x="9678924" y="3900830"/>
            <a:ext cx="123444" cy="123444"/>
          </a:xfrm>
          <a:prstGeom prst="rect">
            <a:avLst/>
          </a:prstGeom>
        </p:spPr>
      </p:pic>
      <p:sp>
        <p:nvSpPr>
          <p:cNvPr id="36" name="Shape 29"/>
          <p:cNvSpPr/>
          <p:nvPr/>
        </p:nvSpPr>
        <p:spPr>
          <a:xfrm>
            <a:off x="8328355" y="4099255"/>
            <a:ext cx="2829154" cy="448056"/>
          </a:xfrm>
          <a:prstGeom prst="roundRect">
            <a:avLst>
              <a:gd name="adj" fmla="val 34737"/>
            </a:avLst>
          </a:prstGeom>
          <a:solidFill>
            <a:srgbClr val="FFFFFF">
              <a:alpha val="5000"/>
            </a:srgbClr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7" name="Shape 30"/>
          <p:cNvSpPr/>
          <p:nvPr/>
        </p:nvSpPr>
        <p:spPr>
          <a:xfrm>
            <a:off x="8480146" y="4205326"/>
            <a:ext cx="228600" cy="228600"/>
          </a:xfrm>
          <a:prstGeom prst="ellipse">
            <a:avLst/>
          </a:prstGeom>
          <a:solidFill>
            <a:srgbClr val="06B6D4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8" name="Text 31"/>
          <p:cNvSpPr txBox="1"/>
          <p:nvPr/>
        </p:nvSpPr>
        <p:spPr>
          <a:xfrm>
            <a:off x="8557870" y="4222699"/>
            <a:ext cx="168250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</a:t>
            </a:r>
            <a:endParaRPr lang="en-US" sz="900" dirty="0"/>
          </a:p>
        </p:txBody>
      </p:sp>
      <p:sp>
        <p:nvSpPr>
          <p:cNvPr id="39" name="Text 32"/>
          <p:cNvSpPr txBox="1"/>
          <p:nvPr/>
        </p:nvSpPr>
        <p:spPr>
          <a:xfrm>
            <a:off x="8823046" y="4213555"/>
            <a:ext cx="1100023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인용 (원문 제시)</a:t>
            </a:r>
            <a:endParaRPr lang="en-US" sz="1100" dirty="0"/>
          </a:p>
        </p:txBody>
      </p:sp>
      <p:pic>
        <p:nvPicPr>
          <p:cNvPr id="40" name="Image 5" descr="preencoded.png"/>
          <p:cNvPicPr>
            <a:picLocks noChangeAspect="1"/>
          </p:cNvPicPr>
          <p:nvPr/>
        </p:nvPicPr>
        <p:blipFill>
          <a:blip r:embed="rId7">
            <a:alphaModFix amt="70000"/>
          </a:blip>
          <a:srcRect/>
          <a:stretch/>
        </p:blipFill>
        <p:spPr>
          <a:xfrm>
            <a:off x="9678924" y="4613148"/>
            <a:ext cx="123444" cy="123444"/>
          </a:xfrm>
          <a:prstGeom prst="rect">
            <a:avLst/>
          </a:prstGeom>
        </p:spPr>
      </p:pic>
      <p:sp>
        <p:nvSpPr>
          <p:cNvPr id="41" name="Shape 33"/>
          <p:cNvSpPr/>
          <p:nvPr/>
        </p:nvSpPr>
        <p:spPr>
          <a:xfrm>
            <a:off x="8328355" y="4811573"/>
            <a:ext cx="2829154" cy="428854"/>
          </a:xfrm>
          <a:prstGeom prst="roundRect">
            <a:avLst>
              <a:gd name="adj" fmla="val 37906"/>
            </a:avLst>
          </a:prstGeom>
          <a:solidFill>
            <a:srgbClr val="FFFFFF">
              <a:alpha val="5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2" name="Shape 34"/>
          <p:cNvSpPr/>
          <p:nvPr/>
        </p:nvSpPr>
        <p:spPr>
          <a:xfrm>
            <a:off x="8471002" y="4908499"/>
            <a:ext cx="228600" cy="228600"/>
          </a:xfrm>
          <a:prstGeom prst="ellipse">
            <a:avLst/>
          </a:prstGeom>
          <a:solidFill>
            <a:srgbClr val="06B6D4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3" name="Text 35"/>
          <p:cNvSpPr txBox="1"/>
          <p:nvPr/>
        </p:nvSpPr>
        <p:spPr>
          <a:xfrm>
            <a:off x="8547811" y="4924958"/>
            <a:ext cx="168250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3</a:t>
            </a:r>
            <a:endParaRPr lang="en-US" sz="900" dirty="0"/>
          </a:p>
        </p:txBody>
      </p:sp>
      <p:sp>
        <p:nvSpPr>
          <p:cNvPr id="44" name="Text 36"/>
          <p:cNvSpPr txBox="1"/>
          <p:nvPr/>
        </p:nvSpPr>
        <p:spPr>
          <a:xfrm>
            <a:off x="8813902" y="4916729"/>
            <a:ext cx="1100023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논평 (나의 해석)</a:t>
            </a:r>
            <a:endParaRPr lang="en-US" sz="1100" dirty="0"/>
          </a:p>
        </p:txBody>
      </p:sp>
      <p:sp>
        <p:nvSpPr>
          <p:cNvPr id="45" name="Text 37"/>
          <p:cNvSpPr txBox="1"/>
          <p:nvPr/>
        </p:nvSpPr>
        <p:spPr>
          <a:xfrm>
            <a:off x="8328355" y="5385816"/>
            <a:ext cx="2900477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인용문 전후에 반드시 나의 언어로 설명을 덧붙이세요.</a:t>
            </a:r>
            <a:endParaRPr lang="en-US" sz="1000" dirty="0"/>
          </a:p>
        </p:txBody>
      </p:sp>
      <p:sp>
        <p:nvSpPr>
          <p:cNvPr id="46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이애본(드림아이티비즈) · useful-ai.dreamitbiz.com · 교육 목적 비영리 이용 · 출처 표기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 t="21874" b="21874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grpSp>
        <p:nvGrpSpPr>
          <p:cNvPr id="41" name="그룹 40">
            <a:extLst>
              <a:ext uri="{FF2B5EF4-FFF2-40B4-BE49-F238E27FC236}">
                <a16:creationId xmlns:a16="http://schemas.microsoft.com/office/drawing/2014/main" id="{A19CA985-1689-9542-4CAA-EF82CD92B921}"/>
              </a:ext>
            </a:extLst>
          </p:cNvPr>
          <p:cNvGrpSpPr/>
          <p:nvPr/>
        </p:nvGrpSpPr>
        <p:grpSpPr>
          <a:xfrm>
            <a:off x="800099" y="371246"/>
            <a:ext cx="10668305" cy="6050200"/>
            <a:chOff x="761694" y="571500"/>
            <a:chExt cx="10668305" cy="6050200"/>
          </a:xfrm>
        </p:grpSpPr>
        <p:sp>
          <p:nvSpPr>
            <p:cNvPr id="5" name="Shape 2"/>
            <p:cNvSpPr/>
            <p:nvPr/>
          </p:nvSpPr>
          <p:spPr>
            <a:xfrm>
              <a:off x="761695" y="571500"/>
              <a:ext cx="571500" cy="57607"/>
            </a:xfrm>
            <a:prstGeom prst="roundRect">
              <a:avLst>
                <a:gd name="adj" fmla="val 793654"/>
              </a:avLst>
            </a:prstGeom>
            <a:solidFill>
              <a:srgbClr val="38BDF8"/>
            </a:solidFill>
            <a:ln/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6" name="Shape 3"/>
            <p:cNvSpPr/>
            <p:nvPr/>
          </p:nvSpPr>
          <p:spPr>
            <a:xfrm>
              <a:off x="761694" y="5745705"/>
              <a:ext cx="10668305" cy="875995"/>
            </a:xfrm>
            <a:prstGeom prst="rect">
              <a:avLst/>
            </a:prstGeom>
            <a:solidFill>
              <a:srgbClr val="38BDF8">
                <a:alpha val="10000"/>
              </a:srgbClr>
            </a:solidFill>
            <a:ln/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7" name="Shape 4"/>
            <p:cNvSpPr/>
            <p:nvPr/>
          </p:nvSpPr>
          <p:spPr>
            <a:xfrm>
              <a:off x="761694" y="5745705"/>
              <a:ext cx="38405" cy="875995"/>
            </a:xfrm>
            <a:prstGeom prst="rect">
              <a:avLst/>
            </a:prstGeom>
            <a:solidFill>
              <a:srgbClr val="38BDF8"/>
            </a:solidFill>
            <a:ln/>
          </p:spPr>
          <p:txBody>
            <a:bodyPr/>
            <a:lstStyle/>
            <a:p>
              <a:endParaRPr lang="ko-KR" altLang="en-US"/>
            </a:p>
          </p:txBody>
        </p:sp>
        <p:pic>
          <p:nvPicPr>
            <p:cNvPr id="8" name="Image 1" descr="preencoded.png"/>
            <p:cNvPicPr>
              <a:picLocks noChangeAspect="1"/>
            </p:cNvPicPr>
            <p:nvPr/>
          </p:nvPicPr>
          <p:blipFill>
            <a:blip r:embed="rId5"/>
            <a:srcRect/>
            <a:stretch/>
          </p:blipFill>
          <p:spPr>
            <a:xfrm>
              <a:off x="1086306" y="6040142"/>
              <a:ext cx="286207" cy="286207"/>
            </a:xfrm>
            <a:prstGeom prst="rect">
              <a:avLst/>
            </a:prstGeom>
          </p:spPr>
        </p:pic>
        <p:sp>
          <p:nvSpPr>
            <p:cNvPr id="9" name="Text 5"/>
            <p:cNvSpPr txBox="1"/>
            <p:nvPr/>
          </p:nvSpPr>
          <p:spPr>
            <a:xfrm>
              <a:off x="761695" y="819302"/>
              <a:ext cx="1100938" cy="19111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000" b="1" dirty="0">
                  <a:solidFill>
                    <a:srgbClr val="FFFFFF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사례 4: 자기표절</a:t>
              </a:r>
              <a:endParaRPr lang="en-US" sz="1000" dirty="0"/>
            </a:p>
          </p:txBody>
        </p:sp>
        <p:sp>
          <p:nvSpPr>
            <p:cNvPr id="10" name="Text 6"/>
            <p:cNvSpPr txBox="1"/>
            <p:nvPr/>
          </p:nvSpPr>
          <p:spPr>
            <a:xfrm>
              <a:off x="761695" y="1037844"/>
              <a:ext cx="6153912" cy="66751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3600" b="1" dirty="0">
                  <a:solidFill>
                    <a:srgbClr val="FFFFFF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내가 쓴 글도 출처가 필요할까?</a:t>
              </a:r>
              <a:endParaRPr lang="en-US" sz="3600" dirty="0"/>
            </a:p>
          </p:txBody>
        </p:sp>
        <p:sp>
          <p:nvSpPr>
            <p:cNvPr id="11" name="Text 7"/>
            <p:cNvSpPr txBox="1"/>
            <p:nvPr/>
          </p:nvSpPr>
          <p:spPr>
            <a:xfrm>
              <a:off x="761695" y="1800454"/>
              <a:ext cx="6286500" cy="277063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500" dirty="0">
                  <a:solidFill>
                    <a:srgbClr val="D1D5DB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과거에 작성한 자신의 과제나 논문을 재사용할 때도 엄격한 규칙이 적용됩니다.</a:t>
              </a:r>
              <a:endParaRPr lang="en-US" sz="1500" dirty="0"/>
            </a:p>
          </p:txBody>
        </p:sp>
        <p:sp>
          <p:nvSpPr>
            <p:cNvPr id="12" name="Text 8"/>
            <p:cNvSpPr txBox="1"/>
            <p:nvPr/>
          </p:nvSpPr>
          <p:spPr>
            <a:xfrm>
              <a:off x="1561794" y="5935900"/>
              <a:ext cx="1014984" cy="19111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000" b="1" dirty="0">
                  <a:solidFill>
                    <a:srgbClr val="FFFFFF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CHECK POINT</a:t>
              </a:r>
              <a:endParaRPr lang="en-US" sz="1000" dirty="0"/>
            </a:p>
          </p:txBody>
        </p:sp>
        <p:sp>
          <p:nvSpPr>
            <p:cNvPr id="13" name="Text 9"/>
            <p:cNvSpPr txBox="1"/>
            <p:nvPr/>
          </p:nvSpPr>
          <p:spPr>
            <a:xfrm>
              <a:off x="1561794" y="6173644"/>
              <a:ext cx="7234733" cy="24780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300" dirty="0">
                  <a:solidFill>
                    <a:srgbClr val="FFFFFF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같은 과제물을 다른 수업에 제출하는 것은 원칙적으로 금지됩니다. 반드시 과목별 규정을 확인하세요.</a:t>
              </a:r>
              <a:endParaRPr lang="en-US" sz="1300" dirty="0"/>
            </a:p>
          </p:txBody>
        </p:sp>
        <p:grpSp>
          <p:nvGrpSpPr>
            <p:cNvPr id="40" name="그룹 39">
              <a:extLst>
                <a:ext uri="{FF2B5EF4-FFF2-40B4-BE49-F238E27FC236}">
                  <a16:creationId xmlns:a16="http://schemas.microsoft.com/office/drawing/2014/main" id="{DEB81544-4A3C-EE6E-76E7-60CE846BA40B}"/>
                </a:ext>
              </a:extLst>
            </p:cNvPr>
            <p:cNvGrpSpPr/>
            <p:nvPr/>
          </p:nvGrpSpPr>
          <p:grpSpPr>
            <a:xfrm>
              <a:off x="761694" y="2172615"/>
              <a:ext cx="10668305" cy="3429721"/>
              <a:chOff x="761695" y="2608975"/>
              <a:chExt cx="10668305" cy="3429721"/>
            </a:xfrm>
          </p:grpSpPr>
          <p:sp>
            <p:nvSpPr>
              <p:cNvPr id="14" name="Shape 10"/>
              <p:cNvSpPr/>
              <p:nvPr/>
            </p:nvSpPr>
            <p:spPr>
              <a:xfrm>
                <a:off x="761695" y="2608975"/>
                <a:ext cx="5143500" cy="3429721"/>
              </a:xfrm>
              <a:prstGeom prst="roundRect">
                <a:avLst>
                  <a:gd name="adj" fmla="val 1031"/>
                </a:avLst>
              </a:prstGeom>
              <a:solidFill>
                <a:srgbClr val="1E293B">
                  <a:alpha val="60000"/>
                </a:srgbClr>
              </a:solidFill>
              <a:ln w="12700">
                <a:solidFill>
                  <a:srgbClr val="FFFFFF">
                    <a:alpha val="10000"/>
                  </a:srgbClr>
                </a:solidFill>
                <a:prstDash val="solid"/>
              </a:ln>
            </p:spPr>
            <p:txBody>
              <a:bodyPr/>
              <a:lstStyle/>
              <a:p>
                <a:endParaRPr lang="ko-KR" altLang="en-US"/>
              </a:p>
            </p:txBody>
          </p:sp>
          <p:sp>
            <p:nvSpPr>
              <p:cNvPr id="15" name="Shape 11"/>
              <p:cNvSpPr/>
              <p:nvPr/>
            </p:nvSpPr>
            <p:spPr>
              <a:xfrm>
                <a:off x="1200607" y="2752344"/>
                <a:ext cx="609905" cy="609905"/>
              </a:xfrm>
              <a:prstGeom prst="roundRect">
                <a:avLst>
                  <a:gd name="adj" fmla="val 37481"/>
                </a:avLst>
              </a:prstGeom>
              <a:solidFill>
                <a:srgbClr val="F43F5E">
                  <a:alpha val="10000"/>
                </a:srgbClr>
              </a:solidFill>
              <a:ln/>
            </p:spPr>
            <p:txBody>
              <a:bodyPr/>
              <a:lstStyle/>
              <a:p>
                <a:endParaRPr lang="ko-KR" altLang="en-US"/>
              </a:p>
            </p:txBody>
          </p:sp>
          <p:pic>
            <p:nvPicPr>
              <p:cNvPr id="16" name="Image 2" descr="preencoded.png"/>
              <p:cNvPicPr>
                <a:picLocks noChangeAspect="1"/>
              </p:cNvPicPr>
              <p:nvPr/>
            </p:nvPicPr>
            <p:blipFill>
              <a:blip r:embed="rId6"/>
              <a:srcRect/>
              <a:stretch/>
            </p:blipFill>
            <p:spPr>
              <a:xfrm>
                <a:off x="1371600" y="2924251"/>
                <a:ext cx="267005" cy="267005"/>
              </a:xfrm>
              <a:prstGeom prst="rect">
                <a:avLst/>
              </a:prstGeom>
            </p:spPr>
          </p:pic>
          <p:sp>
            <p:nvSpPr>
              <p:cNvPr id="17" name="Text 12"/>
              <p:cNvSpPr txBox="1"/>
              <p:nvPr/>
            </p:nvSpPr>
            <p:spPr>
              <a:xfrm>
                <a:off x="5248656" y="2752344"/>
                <a:ext cx="370332" cy="200254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/>
              <a:lstStyle/>
              <a:p>
                <a:pPr marL="0" indent="0" algn="l">
                  <a:buNone/>
                </a:pPr>
                <a:r>
                  <a:rPr lang="en-US" sz="1000" b="1" dirty="0">
                    <a:solidFill>
                      <a:srgbClr val="F43F5E"/>
                    </a:solidFill>
                    <a:latin typeface="Noto Sans KR" pitchFamily="34" charset="0"/>
                    <a:ea typeface="Noto Sans KR" pitchFamily="34" charset="-122"/>
                    <a:cs typeface="Noto Sans KR" pitchFamily="34" charset="-120"/>
                  </a:rPr>
                  <a:t>금지</a:t>
                </a:r>
                <a:endParaRPr lang="en-US" sz="1000" dirty="0"/>
              </a:p>
            </p:txBody>
          </p:sp>
          <p:sp>
            <p:nvSpPr>
              <p:cNvPr id="18" name="Text 13"/>
              <p:cNvSpPr txBox="1"/>
              <p:nvPr/>
            </p:nvSpPr>
            <p:spPr>
              <a:xfrm>
                <a:off x="1200607" y="3571646"/>
                <a:ext cx="1548994" cy="391363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/>
              <a:lstStyle/>
              <a:p>
                <a:pPr marL="0" indent="0" algn="l">
                  <a:buNone/>
                </a:pPr>
                <a:r>
                  <a:rPr lang="en-US" sz="2100" b="1" dirty="0">
                    <a:solidFill>
                      <a:srgbClr val="FFFFFF"/>
                    </a:solidFill>
                    <a:latin typeface="Noto Sans KR" pitchFamily="34" charset="0"/>
                    <a:ea typeface="Noto Sans KR" pitchFamily="34" charset="-122"/>
                    <a:cs typeface="Noto Sans KR" pitchFamily="34" charset="-120"/>
                  </a:rPr>
                  <a:t>이전 과제물</a:t>
                </a:r>
                <a:endParaRPr lang="en-US" sz="2100" dirty="0"/>
              </a:p>
            </p:txBody>
          </p:sp>
          <p:sp>
            <p:nvSpPr>
              <p:cNvPr id="19" name="Text 14"/>
              <p:cNvSpPr txBox="1"/>
              <p:nvPr/>
            </p:nvSpPr>
            <p:spPr>
              <a:xfrm>
                <a:off x="1200607" y="3928262"/>
                <a:ext cx="1805940" cy="391363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/>
              <a:lstStyle/>
              <a:p>
                <a:pPr marL="0" indent="0" algn="l">
                  <a:buNone/>
                </a:pPr>
                <a:r>
                  <a:rPr lang="en-US" sz="2100" b="1" dirty="0">
                    <a:solidFill>
                      <a:srgbClr val="FFFFFF"/>
                    </a:solidFill>
                    <a:latin typeface="Noto Sans KR" pitchFamily="34" charset="0"/>
                    <a:ea typeface="Noto Sans KR" pitchFamily="34" charset="-122"/>
                    <a:cs typeface="Noto Sans KR" pitchFamily="34" charset="-120"/>
                  </a:rPr>
                  <a:t>그대로 재제출</a:t>
                </a:r>
                <a:endParaRPr lang="en-US" sz="2100" dirty="0"/>
              </a:p>
            </p:txBody>
          </p:sp>
          <p:sp>
            <p:nvSpPr>
              <p:cNvPr id="20" name="Text 15"/>
              <p:cNvSpPr txBox="1"/>
              <p:nvPr/>
            </p:nvSpPr>
            <p:spPr>
              <a:xfrm>
                <a:off x="1200607" y="4504334"/>
                <a:ext cx="3136392" cy="238658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/>
              <a:lstStyle/>
              <a:p>
                <a:pPr marL="0" indent="0" algn="l">
                  <a:buNone/>
                </a:pPr>
                <a:r>
                  <a:rPr lang="en-US" sz="1300" dirty="0">
                    <a:solidFill>
                      <a:srgbClr val="CBD5E1"/>
                    </a:solidFill>
                    <a:latin typeface="Noto Sans KR" pitchFamily="34" charset="0"/>
                    <a:ea typeface="Noto Sans KR" pitchFamily="34" charset="-122"/>
                    <a:cs typeface="Noto Sans KR" pitchFamily="34" charset="-120"/>
                  </a:rPr>
                  <a:t>"비슷한 주제니 지난 학기 과제를 그대로..."</a:t>
                </a:r>
                <a:endParaRPr lang="en-US" sz="1300" dirty="0"/>
              </a:p>
            </p:txBody>
          </p:sp>
          <p:pic>
            <p:nvPicPr>
              <p:cNvPr id="21" name="Image 3" descr="preencoded.png"/>
              <p:cNvPicPr>
                <a:picLocks noChangeAspect="1"/>
              </p:cNvPicPr>
              <p:nvPr/>
            </p:nvPicPr>
            <p:blipFill>
              <a:blip r:embed="rId7"/>
              <a:srcRect l="-2512" r="-2512"/>
              <a:stretch/>
            </p:blipFill>
            <p:spPr>
              <a:xfrm>
                <a:off x="1200607" y="4953305"/>
                <a:ext cx="105156" cy="133502"/>
              </a:xfrm>
              <a:prstGeom prst="rect">
                <a:avLst/>
              </a:prstGeom>
            </p:spPr>
          </p:pic>
          <p:sp>
            <p:nvSpPr>
              <p:cNvPr id="22" name="Text 16"/>
              <p:cNvSpPr txBox="1"/>
              <p:nvPr/>
            </p:nvSpPr>
            <p:spPr>
              <a:xfrm>
                <a:off x="1380744" y="4914900"/>
                <a:ext cx="1938528" cy="191110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/>
              <a:lstStyle/>
              <a:p>
                <a:pPr marL="0" indent="0" algn="l">
                  <a:buNone/>
                </a:pPr>
                <a:r>
                  <a:rPr lang="en-US" sz="1000" dirty="0">
                    <a:solidFill>
                      <a:srgbClr val="9CA3AF"/>
                    </a:solidFill>
                    <a:latin typeface="Noto Sans KR" pitchFamily="34" charset="0"/>
                    <a:ea typeface="Noto Sans KR" pitchFamily="34" charset="-122"/>
                    <a:cs typeface="Noto Sans KR" pitchFamily="34" charset="-120"/>
                  </a:rPr>
                  <a:t>이전 과제물 중복 제출(이중 제출)</a:t>
                </a:r>
                <a:endParaRPr lang="en-US" sz="1000" dirty="0"/>
              </a:p>
            </p:txBody>
          </p:sp>
          <p:pic>
            <p:nvPicPr>
              <p:cNvPr id="23" name="Image 4" descr="preencoded.png"/>
              <p:cNvPicPr>
                <a:picLocks noChangeAspect="1"/>
              </p:cNvPicPr>
              <p:nvPr/>
            </p:nvPicPr>
            <p:blipFill>
              <a:blip r:embed="rId7"/>
              <a:srcRect l="-2512" r="-2512"/>
              <a:stretch/>
            </p:blipFill>
            <p:spPr>
              <a:xfrm>
                <a:off x="1200607" y="5220310"/>
                <a:ext cx="105156" cy="133502"/>
              </a:xfrm>
              <a:prstGeom prst="rect">
                <a:avLst/>
              </a:prstGeom>
            </p:spPr>
          </p:pic>
          <p:sp>
            <p:nvSpPr>
              <p:cNvPr id="24" name="Text 17"/>
              <p:cNvSpPr txBox="1"/>
              <p:nvPr/>
            </p:nvSpPr>
            <p:spPr>
              <a:xfrm>
                <a:off x="1380744" y="5181905"/>
                <a:ext cx="1481328" cy="191110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/>
              <a:lstStyle/>
              <a:p>
                <a:pPr marL="0" indent="0" algn="l">
                  <a:buNone/>
                </a:pPr>
                <a:r>
                  <a:rPr lang="en-US" sz="1000" dirty="0">
                    <a:solidFill>
                      <a:srgbClr val="9CA3AF"/>
                    </a:solidFill>
                    <a:latin typeface="Noto Sans KR" pitchFamily="34" charset="0"/>
                    <a:ea typeface="Noto Sans KR" pitchFamily="34" charset="-122"/>
                    <a:cs typeface="Noto Sans KR" pitchFamily="34" charset="-120"/>
                  </a:rPr>
                  <a:t>출처 없이 자기 문장 복사</a:t>
                </a:r>
                <a:endParaRPr lang="en-US" sz="1000" dirty="0"/>
              </a:p>
            </p:txBody>
          </p:sp>
          <p:pic>
            <p:nvPicPr>
              <p:cNvPr id="25" name="Image 5" descr="preencoded.png"/>
              <p:cNvPicPr>
                <a:picLocks noChangeAspect="1"/>
              </p:cNvPicPr>
              <p:nvPr/>
            </p:nvPicPr>
            <p:blipFill>
              <a:blip r:embed="rId7"/>
              <a:srcRect l="-2512" r="-2512"/>
              <a:stretch/>
            </p:blipFill>
            <p:spPr>
              <a:xfrm>
                <a:off x="1200607" y="5486400"/>
                <a:ext cx="105156" cy="133502"/>
              </a:xfrm>
              <a:prstGeom prst="rect">
                <a:avLst/>
              </a:prstGeom>
            </p:spPr>
          </p:pic>
          <p:sp>
            <p:nvSpPr>
              <p:cNvPr id="26" name="Text 18"/>
              <p:cNvSpPr txBox="1"/>
              <p:nvPr/>
            </p:nvSpPr>
            <p:spPr>
              <a:xfrm>
                <a:off x="1380744" y="5448910"/>
                <a:ext cx="1643177" cy="191110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/>
              <a:lstStyle/>
              <a:p>
                <a:pPr marL="0" indent="0" algn="l">
                  <a:buNone/>
                </a:pPr>
                <a:r>
                  <a:rPr lang="en-US" sz="1000" dirty="0">
                    <a:solidFill>
                      <a:srgbClr val="9CA3AF"/>
                    </a:solidFill>
                    <a:latin typeface="Noto Sans KR" pitchFamily="34" charset="0"/>
                    <a:ea typeface="Noto Sans KR" pitchFamily="34" charset="-122"/>
                    <a:cs typeface="Noto Sans KR" pitchFamily="34" charset="-120"/>
                  </a:rPr>
                  <a:t>성적 취소 및 학칙 위반 징계</a:t>
                </a:r>
                <a:endParaRPr lang="en-US" sz="1000" dirty="0"/>
              </a:p>
            </p:txBody>
          </p:sp>
          <p:sp>
            <p:nvSpPr>
              <p:cNvPr id="27" name="Shape 19"/>
              <p:cNvSpPr/>
              <p:nvPr/>
            </p:nvSpPr>
            <p:spPr>
              <a:xfrm>
                <a:off x="6286500" y="2608975"/>
                <a:ext cx="5143500" cy="3429721"/>
              </a:xfrm>
              <a:prstGeom prst="roundRect">
                <a:avLst>
                  <a:gd name="adj" fmla="val 1031"/>
                </a:avLst>
              </a:prstGeom>
              <a:solidFill>
                <a:srgbClr val="1E293B">
                  <a:alpha val="60000"/>
                </a:srgbClr>
              </a:solidFill>
              <a:ln w="12700">
                <a:solidFill>
                  <a:srgbClr val="FFFFFF">
                    <a:alpha val="10000"/>
                  </a:srgbClr>
                </a:solidFill>
                <a:prstDash val="solid"/>
              </a:ln>
            </p:spPr>
            <p:txBody>
              <a:bodyPr/>
              <a:lstStyle/>
              <a:p>
                <a:endParaRPr lang="ko-KR" altLang="en-US"/>
              </a:p>
            </p:txBody>
          </p:sp>
          <p:sp>
            <p:nvSpPr>
              <p:cNvPr id="28" name="Shape 20"/>
              <p:cNvSpPr/>
              <p:nvPr/>
            </p:nvSpPr>
            <p:spPr>
              <a:xfrm>
                <a:off x="6724498" y="2752344"/>
                <a:ext cx="609905" cy="609905"/>
              </a:xfrm>
              <a:prstGeom prst="roundRect">
                <a:avLst>
                  <a:gd name="adj" fmla="val 37481"/>
                </a:avLst>
              </a:prstGeom>
              <a:solidFill>
                <a:srgbClr val="22C55E">
                  <a:alpha val="10000"/>
                </a:srgbClr>
              </a:solidFill>
              <a:ln/>
            </p:spPr>
            <p:txBody>
              <a:bodyPr/>
              <a:lstStyle/>
              <a:p>
                <a:endParaRPr lang="ko-KR" altLang="en-US"/>
              </a:p>
            </p:txBody>
          </p:sp>
          <p:pic>
            <p:nvPicPr>
              <p:cNvPr id="29" name="Image 6" descr="preencoded.png"/>
              <p:cNvPicPr>
                <a:picLocks noChangeAspect="1"/>
              </p:cNvPicPr>
              <p:nvPr/>
            </p:nvPicPr>
            <p:blipFill>
              <a:blip r:embed="rId8"/>
              <a:srcRect l="-881" r="-881"/>
              <a:stretch/>
            </p:blipFill>
            <p:spPr>
              <a:xfrm>
                <a:off x="6910121" y="2924251"/>
                <a:ext cx="237744" cy="267005"/>
              </a:xfrm>
              <a:prstGeom prst="rect">
                <a:avLst/>
              </a:prstGeom>
            </p:spPr>
          </p:pic>
          <p:sp>
            <p:nvSpPr>
              <p:cNvPr id="30" name="Text 21"/>
              <p:cNvSpPr txBox="1"/>
              <p:nvPr/>
            </p:nvSpPr>
            <p:spPr>
              <a:xfrm>
                <a:off x="10773461" y="2752344"/>
                <a:ext cx="370332" cy="200254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/>
              <a:lstStyle/>
              <a:p>
                <a:pPr marL="0" indent="0" algn="l">
                  <a:buNone/>
                </a:pPr>
                <a:r>
                  <a:rPr lang="en-US" sz="1000" b="1" dirty="0">
                    <a:solidFill>
                      <a:srgbClr val="22C55E"/>
                    </a:solidFill>
                    <a:latin typeface="Noto Sans KR" pitchFamily="34" charset="0"/>
                    <a:ea typeface="Noto Sans KR" pitchFamily="34" charset="-122"/>
                    <a:cs typeface="Noto Sans KR" pitchFamily="34" charset="-120"/>
                  </a:rPr>
                  <a:t>허용</a:t>
                </a:r>
                <a:endParaRPr lang="en-US" sz="1000" dirty="0"/>
              </a:p>
            </p:txBody>
          </p:sp>
          <p:sp>
            <p:nvSpPr>
              <p:cNvPr id="31" name="Text 22"/>
              <p:cNvSpPr txBox="1"/>
              <p:nvPr/>
            </p:nvSpPr>
            <p:spPr>
              <a:xfrm>
                <a:off x="6724498" y="3571646"/>
                <a:ext cx="1625803" cy="391363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/>
              <a:lstStyle/>
              <a:p>
                <a:pPr marL="0" indent="0" algn="l">
                  <a:buNone/>
                </a:pPr>
                <a:r>
                  <a:rPr lang="en-US" sz="2100" b="1" dirty="0">
                    <a:solidFill>
                      <a:srgbClr val="FFFFFF"/>
                    </a:solidFill>
                    <a:latin typeface="Noto Sans KR" pitchFamily="34" charset="0"/>
                    <a:ea typeface="Noto Sans KR" pitchFamily="34" charset="-122"/>
                    <a:cs typeface="Noto Sans KR" pitchFamily="34" charset="-120"/>
                  </a:rPr>
                  <a:t>출처 명시 후</a:t>
                </a:r>
                <a:endParaRPr lang="en-US" sz="2100" dirty="0"/>
              </a:p>
            </p:txBody>
          </p:sp>
          <p:sp>
            <p:nvSpPr>
              <p:cNvPr id="32" name="Text 23"/>
              <p:cNvSpPr txBox="1"/>
              <p:nvPr/>
            </p:nvSpPr>
            <p:spPr>
              <a:xfrm>
                <a:off x="6724498" y="3928262"/>
                <a:ext cx="1805940" cy="391363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/>
              <a:lstStyle/>
              <a:p>
                <a:pPr marL="0" indent="0" algn="l">
                  <a:buNone/>
                </a:pPr>
                <a:r>
                  <a:rPr lang="en-US" sz="2100" b="1" dirty="0">
                    <a:solidFill>
                      <a:srgbClr val="FFFFFF"/>
                    </a:solidFill>
                    <a:latin typeface="Noto Sans KR" pitchFamily="34" charset="0"/>
                    <a:ea typeface="Noto Sans KR" pitchFamily="34" charset="-122"/>
                    <a:cs typeface="Noto Sans KR" pitchFamily="34" charset="-120"/>
                  </a:rPr>
                  <a:t>발전적 재사용</a:t>
                </a:r>
                <a:endParaRPr lang="en-US" sz="2100" dirty="0"/>
              </a:p>
            </p:txBody>
          </p:sp>
          <p:sp>
            <p:nvSpPr>
              <p:cNvPr id="33" name="Text 24"/>
              <p:cNvSpPr txBox="1"/>
              <p:nvPr/>
            </p:nvSpPr>
            <p:spPr>
              <a:xfrm>
                <a:off x="6724498" y="4504334"/>
                <a:ext cx="2974543" cy="238658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/>
              <a:lstStyle/>
              <a:p>
                <a:pPr marL="0" indent="0" algn="l">
                  <a:buNone/>
                </a:pPr>
                <a:r>
                  <a:rPr lang="en-US" sz="1300" dirty="0">
                    <a:solidFill>
                      <a:srgbClr val="CBD5E1"/>
                    </a:solidFill>
                    <a:latin typeface="Noto Sans KR" pitchFamily="34" charset="0"/>
                    <a:ea typeface="Noto Sans KR" pitchFamily="34" charset="-122"/>
                    <a:cs typeface="Noto Sans KR" pitchFamily="34" charset="-120"/>
                  </a:rPr>
                  <a:t>"지난 연구를 바탕으로 새 관점을 추가..."</a:t>
                </a:r>
                <a:endParaRPr lang="en-US" sz="1300" dirty="0"/>
              </a:p>
            </p:txBody>
          </p:sp>
          <p:pic>
            <p:nvPicPr>
              <p:cNvPr id="34" name="Image 7" descr="preencoded.png"/>
              <p:cNvPicPr>
                <a:picLocks noChangeAspect="1"/>
              </p:cNvPicPr>
              <p:nvPr/>
            </p:nvPicPr>
            <p:blipFill>
              <a:blip r:embed="rId9"/>
              <a:srcRect t="-1100" b="-1100"/>
              <a:stretch/>
            </p:blipFill>
            <p:spPr>
              <a:xfrm>
                <a:off x="6724498" y="4953305"/>
                <a:ext cx="114300" cy="133502"/>
              </a:xfrm>
              <a:prstGeom prst="rect">
                <a:avLst/>
              </a:prstGeom>
            </p:spPr>
          </p:pic>
          <p:sp>
            <p:nvSpPr>
              <p:cNvPr id="35" name="Text 25"/>
              <p:cNvSpPr txBox="1"/>
              <p:nvPr/>
            </p:nvSpPr>
            <p:spPr>
              <a:xfrm>
                <a:off x="6915607" y="4914900"/>
                <a:ext cx="2015338" cy="191110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/>
              <a:lstStyle/>
              <a:p>
                <a:pPr marL="0" indent="0" algn="l">
                  <a:buNone/>
                </a:pPr>
                <a:r>
                  <a:rPr lang="en-US" sz="1000" dirty="0">
                    <a:solidFill>
                      <a:srgbClr val="9CA3AF"/>
                    </a:solidFill>
                    <a:latin typeface="Noto Sans KR" pitchFamily="34" charset="0"/>
                    <a:ea typeface="Noto Sans KR" pitchFamily="34" charset="-122"/>
                    <a:cs typeface="Noto Sans KR" pitchFamily="34" charset="-120"/>
                  </a:rPr>
                  <a:t>"20xx년 과제를 수정·보완함" 명시</a:t>
                </a:r>
                <a:endParaRPr lang="en-US" sz="1000" dirty="0"/>
              </a:p>
            </p:txBody>
          </p:sp>
          <p:pic>
            <p:nvPicPr>
              <p:cNvPr id="36" name="Image 8" descr="preencoded.png"/>
              <p:cNvPicPr>
                <a:picLocks noChangeAspect="1"/>
              </p:cNvPicPr>
              <p:nvPr/>
            </p:nvPicPr>
            <p:blipFill>
              <a:blip r:embed="rId9"/>
              <a:srcRect t="-1100" b="-1100"/>
              <a:stretch/>
            </p:blipFill>
            <p:spPr>
              <a:xfrm>
                <a:off x="6724498" y="5220310"/>
                <a:ext cx="114300" cy="133502"/>
              </a:xfrm>
              <a:prstGeom prst="rect">
                <a:avLst/>
              </a:prstGeom>
            </p:spPr>
          </p:pic>
          <p:sp>
            <p:nvSpPr>
              <p:cNvPr id="37" name="Text 26"/>
              <p:cNvSpPr txBox="1"/>
              <p:nvPr/>
            </p:nvSpPr>
            <p:spPr>
              <a:xfrm>
                <a:off x="6915607" y="5181905"/>
                <a:ext cx="1690726" cy="191110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/>
              <a:lstStyle/>
              <a:p>
                <a:pPr marL="0" indent="0" algn="l">
                  <a:buNone/>
                </a:pPr>
                <a:r>
                  <a:rPr lang="en-US" sz="1000" dirty="0">
                    <a:solidFill>
                      <a:srgbClr val="9CA3AF"/>
                    </a:solidFill>
                    <a:latin typeface="Noto Sans KR" pitchFamily="34" charset="0"/>
                    <a:ea typeface="Noto Sans KR" pitchFamily="34" charset="-122"/>
                    <a:cs typeface="Noto Sans KR" pitchFamily="34" charset="-120"/>
                  </a:rPr>
                  <a:t>이전 저작물도 참고문헌 포함</a:t>
                </a:r>
                <a:endParaRPr lang="en-US" sz="1000" dirty="0"/>
              </a:p>
            </p:txBody>
          </p:sp>
          <p:pic>
            <p:nvPicPr>
              <p:cNvPr id="38" name="Image 9" descr="preencoded.png"/>
              <p:cNvPicPr>
                <a:picLocks noChangeAspect="1"/>
              </p:cNvPicPr>
              <p:nvPr/>
            </p:nvPicPr>
            <p:blipFill>
              <a:blip r:embed="rId9"/>
              <a:srcRect t="-1100" b="-1100"/>
              <a:stretch/>
            </p:blipFill>
            <p:spPr>
              <a:xfrm>
                <a:off x="6724498" y="5486400"/>
                <a:ext cx="114300" cy="133502"/>
              </a:xfrm>
              <a:prstGeom prst="rect">
                <a:avLst/>
              </a:prstGeom>
            </p:spPr>
          </p:pic>
          <p:sp>
            <p:nvSpPr>
              <p:cNvPr id="39" name="Text 27"/>
              <p:cNvSpPr txBox="1"/>
              <p:nvPr/>
            </p:nvSpPr>
            <p:spPr>
              <a:xfrm>
                <a:off x="6915607" y="5448910"/>
                <a:ext cx="1443838" cy="191110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/>
              <a:lstStyle/>
              <a:p>
                <a:pPr marL="0" indent="0" algn="l">
                  <a:buNone/>
                </a:pPr>
                <a:r>
                  <a:rPr lang="en-US" sz="1000" dirty="0">
                    <a:solidFill>
                      <a:srgbClr val="9CA3AF"/>
                    </a:solidFill>
                    <a:latin typeface="Noto Sans KR" pitchFamily="34" charset="0"/>
                    <a:ea typeface="Noto Sans KR" pitchFamily="34" charset="-122"/>
                    <a:cs typeface="Noto Sans KR" pitchFamily="34" charset="-120"/>
                  </a:rPr>
                  <a:t>교수님께 사전 허락 필수</a:t>
                </a:r>
                <a:endParaRPr lang="en-US" sz="1000" dirty="0"/>
              </a:p>
            </p:txBody>
          </p:sp>
        </p:grpSp>
      </p:grpSp>
      <p:sp>
        <p:nvSpPr>
          <p:cNvPr id="42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이애본(드림아이티비즈) · useful-ai.dreamitbiz.com · 교육 목적 비영리 이용 · 출처 표기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rcRect t="-1" b="-1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10153498" y="2952598"/>
            <a:ext cx="5372100" cy="55156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</a:t>
            </a:r>
            <a:endParaRPr lang="en-US" sz="30000" dirty="0"/>
          </a:p>
        </p:txBody>
      </p:sp>
      <p:sp>
        <p:nvSpPr>
          <p:cNvPr id="6" name="Shape 3"/>
          <p:cNvSpPr/>
          <p:nvPr/>
        </p:nvSpPr>
        <p:spPr>
          <a:xfrm>
            <a:off x="8324698" y="1028700"/>
            <a:ext cx="1429207" cy="1429207"/>
          </a:xfrm>
          <a:prstGeom prst="ellipse">
            <a:avLst/>
          </a:prstGeom>
          <a:noFill/>
          <a:ln w="12700">
            <a:solidFill>
              <a:srgbClr val="38BDF8">
                <a:alpha val="2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" name="Shape 4"/>
          <p:cNvSpPr/>
          <p:nvPr/>
        </p:nvSpPr>
        <p:spPr>
          <a:xfrm>
            <a:off x="1218895" y="4724705"/>
            <a:ext cx="761695" cy="761695"/>
          </a:xfrm>
          <a:prstGeom prst="rect">
            <a:avLst/>
          </a:prstGeom>
          <a:noFill/>
          <a:ln w="12700">
            <a:solidFill>
              <a:srgbClr val="38BDF8">
                <a:alpha val="2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" name="Shape 5"/>
          <p:cNvSpPr/>
          <p:nvPr/>
        </p:nvSpPr>
        <p:spPr>
          <a:xfrm>
            <a:off x="952805" y="1988820"/>
            <a:ext cx="933602" cy="428854"/>
          </a:xfrm>
          <a:prstGeom prst="roundRect">
            <a:avLst>
              <a:gd name="adj" fmla="val 18953"/>
            </a:avLst>
          </a:prstGeom>
          <a:solidFill>
            <a:srgbClr val="38BDF8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9" name="Shape 6"/>
          <p:cNvSpPr/>
          <p:nvPr/>
        </p:nvSpPr>
        <p:spPr>
          <a:xfrm>
            <a:off x="2030882" y="2192731"/>
            <a:ext cx="952805" cy="19202"/>
          </a:xfrm>
          <a:prstGeom prst="rect">
            <a:avLst/>
          </a:prstGeom>
          <a:solidFill>
            <a:srgbClr val="38BDF8">
              <a:alpha val="5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0" name="Shape 7"/>
          <p:cNvSpPr/>
          <p:nvPr/>
        </p:nvSpPr>
        <p:spPr>
          <a:xfrm>
            <a:off x="952805" y="3954780"/>
            <a:ext cx="38405" cy="914400"/>
          </a:xfrm>
          <a:prstGeom prst="rect">
            <a:avLst/>
          </a:prstGeom>
          <a:solidFill>
            <a:srgbClr val="334155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1" name="Text 8"/>
          <p:cNvSpPr txBox="1"/>
          <p:nvPr/>
        </p:nvSpPr>
        <p:spPr>
          <a:xfrm>
            <a:off x="1143000" y="2064715"/>
            <a:ext cx="690372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0F172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파트 A</a:t>
            </a:r>
            <a:endParaRPr lang="en-US" sz="1400" dirty="0"/>
          </a:p>
        </p:txBody>
      </p:sp>
      <p:sp>
        <p:nvSpPr>
          <p:cNvPr id="12" name="Text 9"/>
          <p:cNvSpPr txBox="1"/>
          <p:nvPr/>
        </p:nvSpPr>
        <p:spPr>
          <a:xfrm>
            <a:off x="952805" y="2558491"/>
            <a:ext cx="6106363" cy="13240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인용 방식 이해</a:t>
            </a:r>
            <a:endParaRPr lang="en-US" sz="7200" dirty="0"/>
          </a:p>
        </p:txBody>
      </p:sp>
      <p:sp>
        <p:nvSpPr>
          <p:cNvPr id="13" name="Text 10"/>
          <p:cNvSpPr txBox="1"/>
          <p:nvPr/>
        </p:nvSpPr>
        <p:spPr>
          <a:xfrm>
            <a:off x="1218895" y="3963924"/>
            <a:ext cx="7411212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4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간접 인용 · 직접 인용 · 재인용의 개념과 올바른 선택 기준을 학습합니다.</a:t>
            </a:r>
            <a:endParaRPr lang="en-US" sz="2400" dirty="0"/>
          </a:p>
        </p:txBody>
      </p:sp>
      <p:sp>
        <p:nvSpPr>
          <p:cNvPr id="14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이애본(드림아이티비즈) · useful-ai.dreamitbiz.com · 교육 목적 비영리 이용 · 출처 표기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" name="Shape 2"/>
          <p:cNvSpPr/>
          <p:nvPr/>
        </p:nvSpPr>
        <p:spPr>
          <a:xfrm>
            <a:off x="-1904695" y="-1904695"/>
            <a:ext cx="7619695" cy="7619695"/>
          </a:xfrm>
          <a:prstGeom prst="ellipse">
            <a:avLst/>
          </a:prstGeom>
          <a:solidFill>
            <a:srgbClr val="38BDF8">
              <a:alpha val="2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" name="Shape 3"/>
          <p:cNvSpPr/>
          <p:nvPr/>
        </p:nvSpPr>
        <p:spPr>
          <a:xfrm>
            <a:off x="8382305" y="3047695"/>
            <a:ext cx="4762195" cy="4762195"/>
          </a:xfrm>
          <a:prstGeom prst="ellipse">
            <a:avLst/>
          </a:prstGeom>
          <a:solidFill>
            <a:srgbClr val="38BDF8">
              <a:alpha val="2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6" name="Shape 4"/>
          <p:cNvSpPr/>
          <p:nvPr/>
        </p:nvSpPr>
        <p:spPr>
          <a:xfrm>
            <a:off x="0" y="0"/>
            <a:ext cx="4638751" cy="6858000"/>
          </a:xfrm>
          <a:prstGeom prst="rect">
            <a:avLst/>
          </a:prstGeom>
          <a:solidFill>
            <a:srgbClr val="0F172A">
              <a:alpha val="5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7" name="Shape 5"/>
          <p:cNvSpPr/>
          <p:nvPr/>
        </p:nvSpPr>
        <p:spPr>
          <a:xfrm>
            <a:off x="4629607" y="0"/>
            <a:ext cx="9144" cy="6858000"/>
          </a:xfrm>
          <a:prstGeom prst="rect">
            <a:avLst/>
          </a:prstGeom>
          <a:solidFill>
            <a:srgbClr val="FFFFFF">
              <a:alpha val="1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8" name="Shape 6"/>
          <p:cNvSpPr/>
          <p:nvPr/>
        </p:nvSpPr>
        <p:spPr>
          <a:xfrm>
            <a:off x="571500" y="2109521"/>
            <a:ext cx="571500" cy="57607"/>
          </a:xfrm>
          <a:prstGeom prst="rect">
            <a:avLst/>
          </a:prstGeom>
          <a:solidFill>
            <a:srgbClr val="38BDF8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9" name="Text 7"/>
          <p:cNvSpPr txBox="1"/>
          <p:nvPr/>
        </p:nvSpPr>
        <p:spPr>
          <a:xfrm>
            <a:off x="571500" y="2338121"/>
            <a:ext cx="2695651" cy="8293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4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간접 인용</a:t>
            </a:r>
            <a:endParaRPr lang="en-US" sz="4500" dirty="0"/>
          </a:p>
        </p:txBody>
      </p:sp>
      <p:sp>
        <p:nvSpPr>
          <p:cNvPr id="10" name="Text 8"/>
          <p:cNvSpPr txBox="1"/>
          <p:nvPr/>
        </p:nvSpPr>
        <p:spPr>
          <a:xfrm>
            <a:off x="571500" y="3053182"/>
            <a:ext cx="3724351" cy="8293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4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(요약·재기술)</a:t>
            </a:r>
            <a:endParaRPr lang="en-US" sz="4500" dirty="0"/>
          </a:p>
        </p:txBody>
      </p:sp>
      <p:sp>
        <p:nvSpPr>
          <p:cNvPr id="11" name="Text 9"/>
          <p:cNvSpPr txBox="1"/>
          <p:nvPr/>
        </p:nvSpPr>
        <p:spPr>
          <a:xfrm>
            <a:off x="571500" y="4138574"/>
            <a:ext cx="3572561" cy="5907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500" dirty="0">
                <a:solidFill>
                  <a:srgbClr val="9CA3A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나의 언어로 </a:t>
            </a:r>
            <a:r>
              <a:rPr lang="en-US" sz="1500" dirty="0" err="1">
                <a:solidFill>
                  <a:srgbClr val="9CA3A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재해석하여</a:t>
            </a:r>
            <a:r>
              <a:rPr lang="en-US" sz="1500" dirty="0">
                <a:solidFill>
                  <a:srgbClr val="9CA3A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  <a:r>
              <a:rPr lang="en-US" sz="1500" dirty="0" err="1">
                <a:solidFill>
                  <a:srgbClr val="9CA3A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논문의</a:t>
            </a:r>
            <a:r>
              <a:rPr lang="en-US" sz="1500" dirty="0">
                <a:solidFill>
                  <a:srgbClr val="9CA3A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  <a:r>
              <a:rPr lang="en-US" sz="1500" dirty="0" err="1">
                <a:solidFill>
                  <a:srgbClr val="9CA3A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흐름을</a:t>
            </a:r>
            <a:r>
              <a:rPr lang="en-US" sz="1500" dirty="0">
                <a:solidFill>
                  <a:srgbClr val="9CA3A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</a:p>
          <a:p>
            <a:pPr marL="0" indent="0" algn="l">
              <a:lnSpc>
                <a:spcPct val="150000"/>
              </a:lnSpc>
              <a:buNone/>
            </a:pPr>
            <a:r>
              <a:rPr lang="en-US" sz="1500" dirty="0" err="1">
                <a:solidFill>
                  <a:srgbClr val="9CA3A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주도하는</a:t>
            </a:r>
            <a:r>
              <a:rPr lang="en-US" sz="1500" dirty="0">
                <a:solidFill>
                  <a:srgbClr val="9CA3A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  <a:r>
              <a:rPr lang="en-US" sz="1500" dirty="0" err="1">
                <a:solidFill>
                  <a:srgbClr val="9CA3A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가장</a:t>
            </a:r>
            <a:r>
              <a:rPr lang="en-US" sz="1500" dirty="0">
                <a:solidFill>
                  <a:srgbClr val="9CA3A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권장되는 인용 방식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5204765" y="884225"/>
            <a:ext cx="6420002" cy="1162202"/>
          </a:xfrm>
          <a:prstGeom prst="roundRect">
            <a:avLst>
              <a:gd name="adj" fmla="val 5159"/>
            </a:avLst>
          </a:prstGeom>
          <a:solidFill>
            <a:srgbClr val="38BDF8">
              <a:alpha val="8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3" name="Shape 11"/>
          <p:cNvSpPr/>
          <p:nvPr/>
        </p:nvSpPr>
        <p:spPr>
          <a:xfrm>
            <a:off x="5204765" y="884225"/>
            <a:ext cx="38405" cy="1162202"/>
          </a:xfrm>
          <a:prstGeom prst="rect">
            <a:avLst/>
          </a:prstGeom>
          <a:solidFill>
            <a:srgbClr val="7DD3FC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4" name="Shape 12"/>
          <p:cNvSpPr/>
          <p:nvPr/>
        </p:nvSpPr>
        <p:spPr>
          <a:xfrm>
            <a:off x="5470855" y="1074420"/>
            <a:ext cx="267005" cy="267005"/>
          </a:xfrm>
          <a:prstGeom prst="ellipse">
            <a:avLst/>
          </a:prstGeom>
          <a:solidFill>
            <a:srgbClr val="38BDF8">
              <a:alpha val="2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15" name="Image 0" descr="preencoded.png"/>
          <p:cNvPicPr>
            <a:picLocks noChangeAspect="1"/>
          </p:cNvPicPr>
          <p:nvPr/>
        </p:nvPicPr>
        <p:blipFill>
          <a:blip r:embed="rId3"/>
          <a:srcRect l="-837" r="-837"/>
          <a:stretch/>
        </p:blipFill>
        <p:spPr>
          <a:xfrm>
            <a:off x="5528462" y="1141171"/>
            <a:ext cx="152705" cy="133502"/>
          </a:xfrm>
          <a:prstGeom prst="rect">
            <a:avLst/>
          </a:prstGeom>
        </p:spPr>
      </p:pic>
      <p:sp>
        <p:nvSpPr>
          <p:cNvPr id="16" name="Shape 13"/>
          <p:cNvSpPr/>
          <p:nvPr/>
        </p:nvSpPr>
        <p:spPr>
          <a:xfrm>
            <a:off x="5204765" y="2194560"/>
            <a:ext cx="6420002" cy="1162202"/>
          </a:xfrm>
          <a:prstGeom prst="roundRect">
            <a:avLst>
              <a:gd name="adj" fmla="val 5159"/>
            </a:avLst>
          </a:prstGeom>
          <a:solidFill>
            <a:srgbClr val="FFFFFF">
              <a:alpha val="3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7" name="Shape 14"/>
          <p:cNvSpPr/>
          <p:nvPr/>
        </p:nvSpPr>
        <p:spPr>
          <a:xfrm>
            <a:off x="5204765" y="2194560"/>
            <a:ext cx="38405" cy="1162202"/>
          </a:xfrm>
          <a:prstGeom prst="rect">
            <a:avLst/>
          </a:prstGeom>
          <a:solidFill>
            <a:srgbClr val="38BDF8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8" name="Shape 15"/>
          <p:cNvSpPr/>
          <p:nvPr/>
        </p:nvSpPr>
        <p:spPr>
          <a:xfrm>
            <a:off x="5470855" y="2384755"/>
            <a:ext cx="267005" cy="267005"/>
          </a:xfrm>
          <a:prstGeom prst="ellipse">
            <a:avLst/>
          </a:prstGeom>
          <a:solidFill>
            <a:srgbClr val="38BDF8">
              <a:alpha val="2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19" name="Image 1" descr="preencoded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5537606" y="2451506"/>
            <a:ext cx="133502" cy="133502"/>
          </a:xfrm>
          <a:prstGeom prst="rect">
            <a:avLst/>
          </a:prstGeom>
        </p:spPr>
      </p:pic>
      <p:sp>
        <p:nvSpPr>
          <p:cNvPr id="20" name="Shape 16"/>
          <p:cNvSpPr/>
          <p:nvPr/>
        </p:nvSpPr>
        <p:spPr>
          <a:xfrm>
            <a:off x="5204765" y="3504895"/>
            <a:ext cx="6420002" cy="1162202"/>
          </a:xfrm>
          <a:prstGeom prst="roundRect">
            <a:avLst>
              <a:gd name="adj" fmla="val 5159"/>
            </a:avLst>
          </a:prstGeom>
          <a:solidFill>
            <a:srgbClr val="FFFFFF">
              <a:alpha val="3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1" name="Shape 17"/>
          <p:cNvSpPr/>
          <p:nvPr/>
        </p:nvSpPr>
        <p:spPr>
          <a:xfrm>
            <a:off x="5204765" y="3504895"/>
            <a:ext cx="38405" cy="1162202"/>
          </a:xfrm>
          <a:prstGeom prst="rect">
            <a:avLst/>
          </a:prstGeom>
          <a:solidFill>
            <a:srgbClr val="0EA5E9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2" name="Shape 18"/>
          <p:cNvSpPr/>
          <p:nvPr/>
        </p:nvSpPr>
        <p:spPr>
          <a:xfrm>
            <a:off x="5470855" y="3696005"/>
            <a:ext cx="267005" cy="267005"/>
          </a:xfrm>
          <a:prstGeom prst="ellipse">
            <a:avLst/>
          </a:prstGeom>
          <a:solidFill>
            <a:srgbClr val="38BDF8">
              <a:alpha val="2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23" name="Image 2" descr="preencoded.png"/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5537606" y="3762756"/>
            <a:ext cx="133502" cy="133502"/>
          </a:xfrm>
          <a:prstGeom prst="rect">
            <a:avLst/>
          </a:prstGeom>
        </p:spPr>
      </p:pic>
      <p:sp>
        <p:nvSpPr>
          <p:cNvPr id="24" name="Shape 19"/>
          <p:cNvSpPr/>
          <p:nvPr/>
        </p:nvSpPr>
        <p:spPr>
          <a:xfrm>
            <a:off x="5204765" y="4816145"/>
            <a:ext cx="6420002" cy="1162202"/>
          </a:xfrm>
          <a:prstGeom prst="roundRect">
            <a:avLst>
              <a:gd name="adj" fmla="val 5159"/>
            </a:avLst>
          </a:prstGeom>
          <a:solidFill>
            <a:srgbClr val="FFFFFF">
              <a:alpha val="3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5" name="Shape 20"/>
          <p:cNvSpPr/>
          <p:nvPr/>
        </p:nvSpPr>
        <p:spPr>
          <a:xfrm>
            <a:off x="5204765" y="4816145"/>
            <a:ext cx="38405" cy="1162202"/>
          </a:xfrm>
          <a:prstGeom prst="rect">
            <a:avLst/>
          </a:prstGeom>
          <a:solidFill>
            <a:srgbClr val="0284C7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6" name="Shape 21"/>
          <p:cNvSpPr/>
          <p:nvPr/>
        </p:nvSpPr>
        <p:spPr>
          <a:xfrm>
            <a:off x="5470855" y="5006340"/>
            <a:ext cx="267005" cy="267005"/>
          </a:xfrm>
          <a:prstGeom prst="ellipse">
            <a:avLst/>
          </a:prstGeom>
          <a:solidFill>
            <a:srgbClr val="38BDF8">
              <a:alpha val="2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27" name="Image 3" descr="preencoded.png"/>
          <p:cNvPicPr>
            <a:picLocks noChangeAspect="1"/>
          </p:cNvPicPr>
          <p:nvPr/>
        </p:nvPicPr>
        <p:blipFill>
          <a:blip r:embed="rId6"/>
          <a:srcRect/>
          <a:stretch/>
        </p:blipFill>
        <p:spPr>
          <a:xfrm>
            <a:off x="5537606" y="5073091"/>
            <a:ext cx="133502" cy="133502"/>
          </a:xfrm>
          <a:prstGeom prst="rect">
            <a:avLst/>
          </a:prstGeom>
        </p:spPr>
      </p:pic>
      <p:sp>
        <p:nvSpPr>
          <p:cNvPr id="28" name="Text 22"/>
          <p:cNvSpPr txBox="1"/>
          <p:nvPr/>
        </p:nvSpPr>
        <p:spPr>
          <a:xfrm>
            <a:off x="5871362" y="1076249"/>
            <a:ext cx="1580083" cy="2478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0F9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개념: 재구성과 서술</a:t>
            </a:r>
            <a:endParaRPr lang="en-US" sz="1300" dirty="0"/>
          </a:p>
        </p:txBody>
      </p:sp>
      <p:sp>
        <p:nvSpPr>
          <p:cNvPr id="29" name="Text 23"/>
          <p:cNvSpPr txBox="1"/>
          <p:nvPr/>
        </p:nvSpPr>
        <p:spPr>
          <a:xfrm>
            <a:off x="5871362" y="1417320"/>
            <a:ext cx="5519318" cy="4288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2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원문의 핵심 아이디어를 훼손하지 않으면서, </a:t>
            </a:r>
          </a:p>
          <a:p>
            <a:pPr marL="0" indent="0" algn="l">
              <a:lnSpc>
                <a:spcPct val="150000"/>
              </a:lnSpc>
              <a:buNone/>
            </a:pPr>
            <a:r>
              <a:rPr lang="en-US" sz="1200" dirty="0" err="1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나의</a:t>
            </a:r>
            <a:r>
              <a:rPr lang="en-US" sz="12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어휘와 문장 구조를 사용하여 새롭게 서술하는 방식입니다.</a:t>
            </a:r>
            <a:endParaRPr lang="en-US" sz="1200" dirty="0"/>
          </a:p>
        </p:txBody>
      </p:sp>
      <p:sp>
        <p:nvSpPr>
          <p:cNvPr id="30" name="Text 24"/>
          <p:cNvSpPr txBox="1"/>
          <p:nvPr/>
        </p:nvSpPr>
        <p:spPr>
          <a:xfrm>
            <a:off x="5871362" y="2386584"/>
            <a:ext cx="1417320" cy="2478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0F9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목적: 논거의 통합</a:t>
            </a:r>
            <a:endParaRPr lang="en-US" sz="1300" dirty="0"/>
          </a:p>
        </p:txBody>
      </p:sp>
      <p:sp>
        <p:nvSpPr>
          <p:cNvPr id="31" name="Text 25"/>
          <p:cNvSpPr txBox="1"/>
          <p:nvPr/>
        </p:nvSpPr>
        <p:spPr>
          <a:xfrm>
            <a:off x="5871362" y="2727655"/>
            <a:ext cx="5566867" cy="4288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2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단순히 타인의 글을 가져오는 것이 아니라, </a:t>
            </a:r>
          </a:p>
          <a:p>
            <a:pPr marL="0" indent="0" algn="l">
              <a:lnSpc>
                <a:spcPct val="150000"/>
              </a:lnSpc>
              <a:buNone/>
            </a:pPr>
            <a:r>
              <a:rPr lang="en-US" sz="12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내 리포트의 논리적 흐름에 맞춰 자연스러운 근거로 활용합니다.</a:t>
            </a:r>
            <a:endParaRPr lang="en-US" sz="1200" dirty="0"/>
          </a:p>
        </p:txBody>
      </p:sp>
      <p:sp>
        <p:nvSpPr>
          <p:cNvPr id="32" name="Text 26"/>
          <p:cNvSpPr txBox="1"/>
          <p:nvPr/>
        </p:nvSpPr>
        <p:spPr>
          <a:xfrm>
            <a:off x="5871362" y="3697834"/>
            <a:ext cx="1627632" cy="2478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0F9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방법: 보지 않고 쓰기</a:t>
            </a:r>
            <a:endParaRPr lang="en-US" sz="1300" dirty="0"/>
          </a:p>
        </p:txBody>
      </p:sp>
      <p:sp>
        <p:nvSpPr>
          <p:cNvPr id="33" name="Text 27"/>
          <p:cNvSpPr txBox="1"/>
          <p:nvPr/>
        </p:nvSpPr>
        <p:spPr>
          <a:xfrm>
            <a:off x="5871362" y="4038905"/>
            <a:ext cx="5566867" cy="4288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2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원문을 충분히 읽고 이해한 뒤, </a:t>
            </a:r>
          </a:p>
          <a:p>
            <a:pPr marL="0" indent="0" algn="l">
              <a:lnSpc>
                <a:spcPct val="150000"/>
              </a:lnSpc>
              <a:buNone/>
            </a:pPr>
            <a:r>
              <a:rPr lang="en-US" sz="1200" dirty="0" err="1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원문을</a:t>
            </a:r>
            <a:r>
              <a:rPr lang="en-US" sz="12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덮고 기억을 되살려 나만의 표현으로 핵심을 요약합니다.</a:t>
            </a:r>
            <a:endParaRPr lang="en-US" sz="1200" dirty="0"/>
          </a:p>
        </p:txBody>
      </p:sp>
      <p:sp>
        <p:nvSpPr>
          <p:cNvPr id="34" name="Text 28"/>
          <p:cNvSpPr txBox="1"/>
          <p:nvPr/>
        </p:nvSpPr>
        <p:spPr>
          <a:xfrm>
            <a:off x="5871362" y="5008169"/>
            <a:ext cx="1255471" cy="2478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0F9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이점: 표절 예방</a:t>
            </a:r>
            <a:endParaRPr lang="en-US" sz="1300" dirty="0"/>
          </a:p>
        </p:txBody>
      </p:sp>
      <p:sp>
        <p:nvSpPr>
          <p:cNvPr id="35" name="Text 29"/>
          <p:cNvSpPr txBox="1"/>
          <p:nvPr/>
        </p:nvSpPr>
        <p:spPr>
          <a:xfrm>
            <a:off x="5871362" y="5349240"/>
            <a:ext cx="5605272" cy="4288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2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인용 부호의 남발을 막아 글의 가독성을 높이고, </a:t>
            </a:r>
          </a:p>
          <a:p>
            <a:pPr marL="0" indent="0" algn="l">
              <a:lnSpc>
                <a:spcPct val="150000"/>
              </a:lnSpc>
              <a:buNone/>
            </a:pPr>
            <a:r>
              <a:rPr lang="en-US" sz="1200" dirty="0" err="1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유사도</a:t>
            </a:r>
            <a:r>
              <a:rPr lang="en-US" sz="12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검사에서 발생할 수 있는 표절 시비를 줄입니다.</a:t>
            </a:r>
            <a:endParaRPr lang="en-US" sz="1200" dirty="0"/>
          </a:p>
        </p:txBody>
      </p:sp>
      <p:sp>
        <p:nvSpPr>
          <p:cNvPr id="36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이애본(드림아이티비즈) · useful-ai.dreamitbiz.com · 교육 목적 비영리 이용 · 출처 표기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" name="Shape 2"/>
          <p:cNvSpPr/>
          <p:nvPr/>
        </p:nvSpPr>
        <p:spPr>
          <a:xfrm>
            <a:off x="0" y="2095805"/>
            <a:ext cx="4762195" cy="4762195"/>
          </a:xfrm>
          <a:prstGeom prst="ellipse">
            <a:avLst/>
          </a:prstGeom>
          <a:solidFill>
            <a:srgbClr val="38BDF8">
              <a:alpha val="2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" name="Shape 3"/>
          <p:cNvSpPr/>
          <p:nvPr/>
        </p:nvSpPr>
        <p:spPr>
          <a:xfrm>
            <a:off x="761695" y="476402"/>
            <a:ext cx="571500" cy="57607"/>
          </a:xfrm>
          <a:prstGeom prst="roundRect">
            <a:avLst>
              <a:gd name="adj" fmla="val 793654"/>
            </a:avLst>
          </a:prstGeom>
          <a:solidFill>
            <a:srgbClr val="38BDF8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6" name="Text 4"/>
          <p:cNvSpPr txBox="1"/>
          <p:nvPr/>
        </p:nvSpPr>
        <p:spPr>
          <a:xfrm>
            <a:off x="761695" y="724205"/>
            <a:ext cx="795528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작성 가이드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761695" y="952805"/>
            <a:ext cx="3829507" cy="4956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7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간접 인용: 요약과 재기술</a:t>
            </a:r>
            <a:endParaRPr lang="en-US" sz="2700" dirty="0"/>
          </a:p>
        </p:txBody>
      </p:sp>
      <p:sp>
        <p:nvSpPr>
          <p:cNvPr id="8" name="Text 6"/>
          <p:cNvSpPr txBox="1"/>
          <p:nvPr/>
        </p:nvSpPr>
        <p:spPr>
          <a:xfrm>
            <a:off x="761695" y="1543507"/>
            <a:ext cx="5138928" cy="2478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9CA3A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원문의 의미를 훼손하지 않으면서 자신의 언어로 표현하는 두 가지 방식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761695" y="2085746"/>
            <a:ext cx="5143500" cy="4295851"/>
          </a:xfrm>
          <a:prstGeom prst="roundRect">
            <a:avLst>
              <a:gd name="adj" fmla="val 755"/>
            </a:avLst>
          </a:prstGeom>
          <a:solidFill>
            <a:srgbClr val="1E293B">
              <a:alpha val="50000"/>
            </a:srgbClr>
          </a:solidFill>
          <a:ln w="50800">
            <a:solidFill>
              <a:srgbClr val="38BDF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0" name="Shape 8"/>
          <p:cNvSpPr/>
          <p:nvPr/>
        </p:nvSpPr>
        <p:spPr>
          <a:xfrm>
            <a:off x="1057046" y="2409444"/>
            <a:ext cx="752551" cy="323698"/>
          </a:xfrm>
          <a:prstGeom prst="roundRect">
            <a:avLst>
              <a:gd name="adj" fmla="val 282486"/>
            </a:avLst>
          </a:prstGeom>
          <a:solidFill>
            <a:srgbClr val="38BDF8">
              <a:alpha val="15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11" name="Image 0" descr="preencoded.png"/>
          <p:cNvPicPr>
            <a:picLocks noChangeAspect="1"/>
          </p:cNvPicPr>
          <p:nvPr/>
        </p:nvPicPr>
        <p:blipFill>
          <a:blip r:embed="rId3"/>
          <a:srcRect l="-3425" r="-3425"/>
          <a:stretch/>
        </p:blipFill>
        <p:spPr>
          <a:xfrm>
            <a:off x="1190549" y="2502713"/>
            <a:ext cx="142646" cy="133502"/>
          </a:xfrm>
          <a:prstGeom prst="rect">
            <a:avLst/>
          </a:prstGeom>
        </p:spPr>
      </p:pic>
      <p:sp>
        <p:nvSpPr>
          <p:cNvPr id="12" name="Text 9"/>
          <p:cNvSpPr txBox="1"/>
          <p:nvPr/>
        </p:nvSpPr>
        <p:spPr>
          <a:xfrm>
            <a:off x="1410005" y="2467051"/>
            <a:ext cx="37033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38BDF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요약</a:t>
            </a:r>
            <a:endParaRPr lang="en-US" sz="1000" dirty="0"/>
          </a:p>
        </p:txBody>
      </p:sp>
      <p:pic>
        <p:nvPicPr>
          <p:cNvPr id="13" name="Image 1" descr="preencoded.png"/>
          <p:cNvPicPr>
            <a:picLocks noChangeAspect="1"/>
          </p:cNvPicPr>
          <p:nvPr/>
        </p:nvPicPr>
        <p:blipFill>
          <a:blip r:embed="rId4"/>
          <a:srcRect t="-2222" b="-2222"/>
          <a:stretch/>
        </p:blipFill>
        <p:spPr>
          <a:xfrm>
            <a:off x="1057046" y="2959913"/>
            <a:ext cx="123444" cy="171907"/>
          </a:xfrm>
          <a:prstGeom prst="rect">
            <a:avLst/>
          </a:prstGeom>
        </p:spPr>
      </p:pic>
      <p:sp>
        <p:nvSpPr>
          <p:cNvPr id="14" name="Text 10"/>
          <p:cNvSpPr txBox="1"/>
          <p:nvPr/>
        </p:nvSpPr>
        <p:spPr>
          <a:xfrm>
            <a:off x="1257300" y="2920594"/>
            <a:ext cx="440741" cy="2578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개념</a:t>
            </a:r>
            <a:endParaRPr lang="en-US" sz="1300" dirty="0"/>
          </a:p>
        </p:txBody>
      </p:sp>
      <p:sp>
        <p:nvSpPr>
          <p:cNvPr id="15" name="Text 11"/>
          <p:cNvSpPr txBox="1"/>
          <p:nvPr/>
        </p:nvSpPr>
        <p:spPr>
          <a:xfrm>
            <a:off x="1057046" y="3286354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세부 내용보다는 전체적인 요지가 중요할 때, 핵심 아이디어만 간결하게 압축하여 기술하는 방식입니다.</a:t>
            </a:r>
            <a:endParaRPr lang="en-US" sz="1200" dirty="0"/>
          </a:p>
        </p:txBody>
      </p:sp>
      <p:pic>
        <p:nvPicPr>
          <p:cNvPr id="16" name="Image 2" descr="preencoded.png"/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1057046" y="4012387"/>
            <a:ext cx="171907" cy="171907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1304849" y="3972154"/>
            <a:ext cx="792785" cy="2578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실제 예시</a:t>
            </a:r>
            <a:endParaRPr lang="en-US" sz="1300" dirty="0"/>
          </a:p>
        </p:txBody>
      </p:sp>
      <p:sp>
        <p:nvSpPr>
          <p:cNvPr id="18" name="Shape 13"/>
          <p:cNvSpPr/>
          <p:nvPr/>
        </p:nvSpPr>
        <p:spPr>
          <a:xfrm>
            <a:off x="1057046" y="4337914"/>
            <a:ext cx="4552798" cy="1752905"/>
          </a:xfrm>
          <a:prstGeom prst="roundRect">
            <a:avLst>
              <a:gd name="adj" fmla="val 3402"/>
            </a:avLst>
          </a:prstGeom>
          <a:solidFill>
            <a:srgbClr val="0F172A">
              <a:alpha val="60000"/>
            </a:srgbClr>
          </a:solidFill>
          <a:ln w="12700">
            <a:solidFill>
              <a:srgbClr val="FFFFFF">
                <a:alpha val="5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9" name="Text 14"/>
          <p:cNvSpPr txBox="1"/>
          <p:nvPr/>
        </p:nvSpPr>
        <p:spPr>
          <a:xfrm>
            <a:off x="1295705" y="4575658"/>
            <a:ext cx="4153205" cy="4764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"이동훈(2016)은 팀 기반 학습의 부정적 측면을 상쇄하고자 사전 예방 중심의 적극적 교수 전략이 중요하다고 강조하였다."</a:t>
            </a:r>
            <a:endParaRPr lang="en-US" sz="1200" dirty="0"/>
          </a:p>
        </p:txBody>
      </p:sp>
      <p:sp>
        <p:nvSpPr>
          <p:cNvPr id="20" name="Text 15"/>
          <p:cNvSpPr txBox="1"/>
          <p:nvPr/>
        </p:nvSpPr>
        <p:spPr>
          <a:xfrm>
            <a:off x="3169310" y="5653735"/>
            <a:ext cx="2307031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i="1" dirty="0">
                <a:solidFill>
                  <a:srgbClr val="64748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출처: 이동훈 (2016). 팀 기반 학습 연구...</a:t>
            </a:r>
            <a:endParaRPr lang="en-US" sz="1000" dirty="0"/>
          </a:p>
        </p:txBody>
      </p:sp>
      <p:sp>
        <p:nvSpPr>
          <p:cNvPr id="21" name="Shape 16"/>
          <p:cNvSpPr/>
          <p:nvPr/>
        </p:nvSpPr>
        <p:spPr>
          <a:xfrm>
            <a:off x="6286500" y="2085746"/>
            <a:ext cx="5143500" cy="4295851"/>
          </a:xfrm>
          <a:prstGeom prst="roundRect">
            <a:avLst>
              <a:gd name="adj" fmla="val 755"/>
            </a:avLst>
          </a:prstGeom>
          <a:solidFill>
            <a:srgbClr val="1E293B">
              <a:alpha val="30000"/>
            </a:srgbClr>
          </a:solidFill>
          <a:ln w="50800">
            <a:solidFill>
              <a:srgbClr val="F43F5E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2" name="Shape 17"/>
          <p:cNvSpPr/>
          <p:nvPr/>
        </p:nvSpPr>
        <p:spPr>
          <a:xfrm>
            <a:off x="6581851" y="2409444"/>
            <a:ext cx="886054" cy="323698"/>
          </a:xfrm>
          <a:prstGeom prst="roundRect">
            <a:avLst>
              <a:gd name="adj" fmla="val 282486"/>
            </a:avLst>
          </a:prstGeom>
          <a:solidFill>
            <a:srgbClr val="F43F5E">
              <a:alpha val="15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23" name="Image 3" descr="preencoded.png"/>
          <p:cNvPicPr>
            <a:picLocks noChangeAspect="1"/>
          </p:cNvPicPr>
          <p:nvPr/>
        </p:nvPicPr>
        <p:blipFill>
          <a:blip r:embed="rId6"/>
          <a:srcRect l="-3425" r="-3425"/>
          <a:stretch/>
        </p:blipFill>
        <p:spPr>
          <a:xfrm>
            <a:off x="6715354" y="2502713"/>
            <a:ext cx="142646" cy="133502"/>
          </a:xfrm>
          <a:prstGeom prst="rect">
            <a:avLst/>
          </a:prstGeom>
        </p:spPr>
      </p:pic>
      <p:sp>
        <p:nvSpPr>
          <p:cNvPr id="24" name="Text 18"/>
          <p:cNvSpPr txBox="1"/>
          <p:nvPr/>
        </p:nvSpPr>
        <p:spPr>
          <a:xfrm>
            <a:off x="6933895" y="2467051"/>
            <a:ext cx="50292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F43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재기술</a:t>
            </a:r>
            <a:endParaRPr lang="en-US" sz="1000" dirty="0"/>
          </a:p>
        </p:txBody>
      </p:sp>
      <p:pic>
        <p:nvPicPr>
          <p:cNvPr id="25" name="Image 4" descr="preencoded.png"/>
          <p:cNvPicPr>
            <a:picLocks noChangeAspect="1"/>
          </p:cNvPicPr>
          <p:nvPr/>
        </p:nvPicPr>
        <p:blipFill>
          <a:blip r:embed="rId7"/>
          <a:srcRect t="-842" b="-842"/>
          <a:stretch/>
        </p:blipFill>
        <p:spPr>
          <a:xfrm>
            <a:off x="6581851" y="2959913"/>
            <a:ext cx="190195" cy="171907"/>
          </a:xfrm>
          <a:prstGeom prst="rect">
            <a:avLst/>
          </a:prstGeom>
        </p:spPr>
      </p:pic>
      <p:sp>
        <p:nvSpPr>
          <p:cNvPr id="26" name="Text 19"/>
          <p:cNvSpPr txBox="1"/>
          <p:nvPr/>
        </p:nvSpPr>
        <p:spPr>
          <a:xfrm>
            <a:off x="6848856" y="2920594"/>
            <a:ext cx="440741" cy="2578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개념</a:t>
            </a:r>
            <a:endParaRPr lang="en-US" sz="1300" dirty="0"/>
          </a:p>
        </p:txBody>
      </p:sp>
      <p:sp>
        <p:nvSpPr>
          <p:cNvPr id="27" name="Text 20"/>
          <p:cNvSpPr txBox="1"/>
          <p:nvPr/>
        </p:nvSpPr>
        <p:spPr>
          <a:xfrm>
            <a:off x="6581851" y="3286354"/>
            <a:ext cx="461040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원문의 의미는 그대로 유지하되, 문장 구조와 단어를 나의 언어로 완전히 바꾸어 서술하는 방식입니다.</a:t>
            </a:r>
            <a:endParaRPr lang="en-US" sz="1200" dirty="0"/>
          </a:p>
        </p:txBody>
      </p:sp>
      <p:pic>
        <p:nvPicPr>
          <p:cNvPr id="28" name="Image 5" descr="preencoded.png"/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6581851" y="4012387"/>
            <a:ext cx="171907" cy="171907"/>
          </a:xfrm>
          <a:prstGeom prst="rect">
            <a:avLst/>
          </a:prstGeom>
        </p:spPr>
      </p:pic>
      <p:sp>
        <p:nvSpPr>
          <p:cNvPr id="29" name="Text 21"/>
          <p:cNvSpPr txBox="1"/>
          <p:nvPr/>
        </p:nvSpPr>
        <p:spPr>
          <a:xfrm>
            <a:off x="6829654" y="3972154"/>
            <a:ext cx="792785" cy="2578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실제 예시</a:t>
            </a:r>
            <a:endParaRPr lang="en-US" sz="1300" dirty="0"/>
          </a:p>
        </p:txBody>
      </p:sp>
      <p:sp>
        <p:nvSpPr>
          <p:cNvPr id="30" name="Shape 22"/>
          <p:cNvSpPr/>
          <p:nvPr/>
        </p:nvSpPr>
        <p:spPr>
          <a:xfrm>
            <a:off x="6581851" y="4337914"/>
            <a:ext cx="4552798" cy="1752905"/>
          </a:xfrm>
          <a:prstGeom prst="roundRect">
            <a:avLst>
              <a:gd name="adj" fmla="val 3402"/>
            </a:avLst>
          </a:prstGeom>
          <a:solidFill>
            <a:srgbClr val="0F172A">
              <a:alpha val="60000"/>
            </a:srgbClr>
          </a:solidFill>
          <a:ln w="12700">
            <a:solidFill>
              <a:srgbClr val="FFFFFF">
                <a:alpha val="5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1" name="Text 23"/>
          <p:cNvSpPr txBox="1"/>
          <p:nvPr/>
        </p:nvSpPr>
        <p:spPr>
          <a:xfrm>
            <a:off x="6819595" y="4575658"/>
            <a:ext cx="4114800" cy="4764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"이동훈(2016)은 결과 문책보다 교수자의 체계적 개입으로 문제 발생 자체를 차단하는 접근이 더 효과적이라 보았다."</a:t>
            </a:r>
            <a:endParaRPr lang="en-US" sz="1200" dirty="0"/>
          </a:p>
        </p:txBody>
      </p:sp>
      <p:sp>
        <p:nvSpPr>
          <p:cNvPr id="32" name="Text 24"/>
          <p:cNvSpPr txBox="1"/>
          <p:nvPr/>
        </p:nvSpPr>
        <p:spPr>
          <a:xfrm>
            <a:off x="8694115" y="5653735"/>
            <a:ext cx="2307031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i="1" dirty="0">
                <a:solidFill>
                  <a:srgbClr val="64748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출처: 이동훈 (2016). 팀 기반 학습 연구...</a:t>
            </a:r>
            <a:endParaRPr lang="en-US" sz="1000" dirty="0"/>
          </a:p>
        </p:txBody>
      </p:sp>
      <p:sp>
        <p:nvSpPr>
          <p:cNvPr id="33" name="Shape 25"/>
          <p:cNvSpPr/>
          <p:nvPr/>
        </p:nvSpPr>
        <p:spPr>
          <a:xfrm>
            <a:off x="5857646" y="3191256"/>
            <a:ext cx="476402" cy="476402"/>
          </a:xfrm>
          <a:prstGeom prst="ellipse">
            <a:avLst/>
          </a:prstGeom>
          <a:solidFill>
            <a:srgbClr val="0F172A"/>
          </a:solidFill>
          <a:ln w="25400">
            <a:solidFill>
              <a:srgbClr val="FFFFFF">
                <a:alpha val="10000"/>
              </a:srgbClr>
            </a:solidFill>
            <a:prstDash val="solid"/>
          </a:ln>
          <a:effectLst>
            <a:outerShdw blurRad="12700" dist="12700" dir="16200000" algn="bl" rotWithShape="0">
              <a:srgbClr val="0F172A">
                <a:alpha val="10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34" name="Text 26"/>
          <p:cNvSpPr txBox="1"/>
          <p:nvPr/>
        </p:nvSpPr>
        <p:spPr>
          <a:xfrm>
            <a:off x="5999378" y="3314700"/>
            <a:ext cx="31455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VS</a:t>
            </a:r>
            <a:endParaRPr lang="en-US" sz="1200" dirty="0"/>
          </a:p>
        </p:txBody>
      </p:sp>
      <p:sp>
        <p:nvSpPr>
          <p:cNvPr id="35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이애본(드림아이티비즈) · useful-ai.dreamitbiz.com · 교육 목적 비영리 이용 · 출처 표기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" name="Shap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>
              <a:alpha val="3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" name="Shape 3"/>
          <p:cNvSpPr/>
          <p:nvPr/>
        </p:nvSpPr>
        <p:spPr>
          <a:xfrm>
            <a:off x="761695" y="476402"/>
            <a:ext cx="571500" cy="57607"/>
          </a:xfrm>
          <a:prstGeom prst="rect">
            <a:avLst/>
          </a:prstGeom>
          <a:solidFill>
            <a:srgbClr val="38BDF8"/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3761842" y="6219749"/>
            <a:ext cx="133502" cy="13350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761695" y="724205"/>
            <a:ext cx="662026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연습 방법</a:t>
            </a:r>
            <a:endParaRPr lang="en-US" sz="1000" dirty="0"/>
          </a:p>
        </p:txBody>
      </p:sp>
      <p:sp>
        <p:nvSpPr>
          <p:cNvPr id="8" name="Text 5"/>
          <p:cNvSpPr txBox="1"/>
          <p:nvPr/>
        </p:nvSpPr>
        <p:spPr>
          <a:xfrm>
            <a:off x="761695" y="942746"/>
            <a:ext cx="4791456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6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간접 인용 4단계 연습법</a:t>
            </a:r>
            <a:endParaRPr lang="en-US" sz="3600" dirty="0"/>
          </a:p>
        </p:txBody>
      </p:sp>
      <p:sp>
        <p:nvSpPr>
          <p:cNvPr id="9" name="Text 6"/>
          <p:cNvSpPr txBox="1"/>
          <p:nvPr/>
        </p:nvSpPr>
        <p:spPr>
          <a:xfrm>
            <a:off x="761695" y="1666951"/>
            <a:ext cx="5477256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dirty="0">
                <a:solidFill>
                  <a:srgbClr val="D1D5D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표절을 확실하게 피하는 가장 효과적인 글쓰기 훈련 프로세스입니다.</a:t>
            </a:r>
            <a:endParaRPr lang="en-US" sz="1500" dirty="0"/>
          </a:p>
        </p:txBody>
      </p:sp>
      <p:sp>
        <p:nvSpPr>
          <p:cNvPr id="10" name="Text 7"/>
          <p:cNvSpPr txBox="1"/>
          <p:nvPr/>
        </p:nvSpPr>
        <p:spPr>
          <a:xfrm>
            <a:off x="3971239" y="6191402"/>
            <a:ext cx="4567428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이 방법은 서울대학교 글쓰기 교실 등 주요 대학에서 권장하는 표준 훈련법입니다.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1238098" y="4134002"/>
            <a:ext cx="9715500" cy="38405"/>
          </a:xfrm>
          <a:prstGeom prst="rect">
            <a:avLst/>
          </a:prstGeom>
          <a:solidFill>
            <a:srgbClr val="334155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2" name="Shape 9"/>
          <p:cNvSpPr/>
          <p:nvPr/>
        </p:nvSpPr>
        <p:spPr>
          <a:xfrm>
            <a:off x="1238098" y="4134002"/>
            <a:ext cx="8001000" cy="38405"/>
          </a:xfrm>
          <a:prstGeom prst="rect">
            <a:avLst/>
          </a:prstGeom>
          <a:solidFill>
            <a:srgbClr val="0EA5E9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3" name="Shape 10"/>
          <p:cNvSpPr/>
          <p:nvPr/>
        </p:nvSpPr>
        <p:spPr>
          <a:xfrm>
            <a:off x="761695" y="2838298"/>
            <a:ext cx="2438705" cy="2628900"/>
          </a:xfrm>
          <a:prstGeom prst="roundRect">
            <a:avLst>
              <a:gd name="adj" fmla="val 2343"/>
            </a:avLst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  <a:effectLst>
            <a:outerShdw blurRad="292100" dist="101600" dir="54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4" name="Shape 11"/>
          <p:cNvSpPr/>
          <p:nvPr/>
        </p:nvSpPr>
        <p:spPr>
          <a:xfrm>
            <a:off x="1600200" y="3247949"/>
            <a:ext cx="761695" cy="761695"/>
          </a:xfrm>
          <a:prstGeom prst="ellipse">
            <a:avLst/>
          </a:prstGeom>
          <a:solidFill>
            <a:srgbClr val="38BDF8">
              <a:alpha val="1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15" name="Image 1" descr="preencoded.png"/>
          <p:cNvPicPr>
            <a:picLocks noChangeAspect="1"/>
          </p:cNvPicPr>
          <p:nvPr/>
        </p:nvPicPr>
        <p:blipFill>
          <a:blip r:embed="rId4"/>
          <a:srcRect l="-50" r="-50"/>
          <a:stretch/>
        </p:blipFill>
        <p:spPr>
          <a:xfrm>
            <a:off x="1809598" y="3476549"/>
            <a:ext cx="342900" cy="304495"/>
          </a:xfrm>
          <a:prstGeom prst="rect">
            <a:avLst/>
          </a:prstGeom>
        </p:spPr>
      </p:pic>
      <p:sp>
        <p:nvSpPr>
          <p:cNvPr id="16" name="Text 12"/>
          <p:cNvSpPr txBox="1"/>
          <p:nvPr/>
        </p:nvSpPr>
        <p:spPr>
          <a:xfrm>
            <a:off x="1775765" y="4238244"/>
            <a:ext cx="590702" cy="3337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읽기</a:t>
            </a:r>
            <a:endParaRPr lang="en-US" sz="1800" dirty="0"/>
          </a:p>
        </p:txBody>
      </p:sp>
      <p:sp>
        <p:nvSpPr>
          <p:cNvPr id="17" name="Text 13"/>
          <p:cNvSpPr txBox="1"/>
          <p:nvPr/>
        </p:nvSpPr>
        <p:spPr>
          <a:xfrm>
            <a:off x="1307592" y="4695444"/>
            <a:ext cx="146761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원문을 꼼꼼히 읽으며</a:t>
            </a:r>
            <a:endParaRPr lang="en-US" sz="1200" dirty="0"/>
          </a:p>
        </p:txBody>
      </p:sp>
      <p:sp>
        <p:nvSpPr>
          <p:cNvPr id="18" name="Text 14"/>
          <p:cNvSpPr txBox="1"/>
          <p:nvPr/>
        </p:nvSpPr>
        <p:spPr>
          <a:xfrm>
            <a:off x="1145743" y="4924044"/>
            <a:ext cx="1791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핵심 메시지를 파악합니다.</a:t>
            </a:r>
            <a:endParaRPr lang="en-US" sz="1200" dirty="0"/>
          </a:p>
        </p:txBody>
      </p:sp>
      <p:sp>
        <p:nvSpPr>
          <p:cNvPr id="19" name="Shape 15"/>
          <p:cNvSpPr/>
          <p:nvPr/>
        </p:nvSpPr>
        <p:spPr>
          <a:xfrm>
            <a:off x="3504895" y="2838298"/>
            <a:ext cx="2438705" cy="2628900"/>
          </a:xfrm>
          <a:prstGeom prst="roundRect">
            <a:avLst>
              <a:gd name="adj" fmla="val 2343"/>
            </a:avLst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  <a:effectLst>
            <a:outerShdw blurRad="292100" dist="101600" dir="54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20" name="Shape 16"/>
          <p:cNvSpPr/>
          <p:nvPr/>
        </p:nvSpPr>
        <p:spPr>
          <a:xfrm>
            <a:off x="4343400" y="3247949"/>
            <a:ext cx="761695" cy="761695"/>
          </a:xfrm>
          <a:prstGeom prst="ellipse">
            <a:avLst/>
          </a:prstGeom>
          <a:solidFill>
            <a:srgbClr val="38BDF8">
              <a:alpha val="1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21" name="Image 2" descr="preencoded.png"/>
          <p:cNvPicPr>
            <a:picLocks noChangeAspect="1"/>
          </p:cNvPicPr>
          <p:nvPr/>
        </p:nvPicPr>
        <p:blipFill>
          <a:blip r:embed="rId5"/>
          <a:srcRect l="-90" r="-90"/>
          <a:stretch/>
        </p:blipFill>
        <p:spPr>
          <a:xfrm>
            <a:off x="4533595" y="3476549"/>
            <a:ext cx="381305" cy="304495"/>
          </a:xfrm>
          <a:prstGeom prst="rect">
            <a:avLst/>
          </a:prstGeom>
        </p:spPr>
      </p:pic>
      <p:sp>
        <p:nvSpPr>
          <p:cNvPr id="22" name="Text 17"/>
          <p:cNvSpPr txBox="1"/>
          <p:nvPr/>
        </p:nvSpPr>
        <p:spPr>
          <a:xfrm>
            <a:off x="4518965" y="4238244"/>
            <a:ext cx="590702" cy="3337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덮기</a:t>
            </a:r>
            <a:endParaRPr lang="en-US" sz="1800" dirty="0"/>
          </a:p>
        </p:txBody>
      </p:sp>
      <p:sp>
        <p:nvSpPr>
          <p:cNvPr id="23" name="Text 18"/>
          <p:cNvSpPr txBox="1"/>
          <p:nvPr/>
        </p:nvSpPr>
        <p:spPr>
          <a:xfrm>
            <a:off x="4190695" y="4695444"/>
            <a:ext cx="119146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원문을 보지 않고</a:t>
            </a:r>
            <a:endParaRPr lang="en-US" sz="1200" dirty="0"/>
          </a:p>
        </p:txBody>
      </p:sp>
      <p:sp>
        <p:nvSpPr>
          <p:cNvPr id="24" name="Text 19"/>
          <p:cNvSpPr txBox="1"/>
          <p:nvPr/>
        </p:nvSpPr>
        <p:spPr>
          <a:xfrm>
            <a:off x="3749040" y="4924044"/>
            <a:ext cx="206745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내용을 머릿속으로 떠올립니다.</a:t>
            </a:r>
            <a:endParaRPr lang="en-US" sz="1200" dirty="0"/>
          </a:p>
        </p:txBody>
      </p:sp>
      <p:sp>
        <p:nvSpPr>
          <p:cNvPr id="25" name="Shape 20"/>
          <p:cNvSpPr/>
          <p:nvPr/>
        </p:nvSpPr>
        <p:spPr>
          <a:xfrm>
            <a:off x="6248095" y="2838298"/>
            <a:ext cx="2438705" cy="2628900"/>
          </a:xfrm>
          <a:prstGeom prst="roundRect">
            <a:avLst>
              <a:gd name="adj" fmla="val 2343"/>
            </a:avLst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  <a:effectLst>
            <a:outerShdw blurRad="292100" dist="101600" dir="54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26" name="Shape 21"/>
          <p:cNvSpPr/>
          <p:nvPr/>
        </p:nvSpPr>
        <p:spPr>
          <a:xfrm>
            <a:off x="7086600" y="3247949"/>
            <a:ext cx="761695" cy="761695"/>
          </a:xfrm>
          <a:prstGeom prst="ellipse">
            <a:avLst/>
          </a:prstGeom>
          <a:solidFill>
            <a:srgbClr val="38BDF8">
              <a:alpha val="1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27" name="Image 3" descr="preencoded.png"/>
          <p:cNvPicPr>
            <a:picLocks noChangeAspect="1"/>
          </p:cNvPicPr>
          <p:nvPr/>
        </p:nvPicPr>
        <p:blipFill>
          <a:blip r:embed="rId6"/>
          <a:srcRect/>
          <a:stretch/>
        </p:blipFill>
        <p:spPr>
          <a:xfrm>
            <a:off x="7315200" y="3476549"/>
            <a:ext cx="304495" cy="304495"/>
          </a:xfrm>
          <a:prstGeom prst="rect">
            <a:avLst/>
          </a:prstGeom>
        </p:spPr>
      </p:pic>
      <p:sp>
        <p:nvSpPr>
          <p:cNvPr id="28" name="Text 22"/>
          <p:cNvSpPr txBox="1"/>
          <p:nvPr/>
        </p:nvSpPr>
        <p:spPr>
          <a:xfrm>
            <a:off x="7262165" y="4238244"/>
            <a:ext cx="590702" cy="3337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쓰기</a:t>
            </a:r>
            <a:endParaRPr lang="en-US" sz="1800" dirty="0"/>
          </a:p>
        </p:txBody>
      </p:sp>
      <p:sp>
        <p:nvSpPr>
          <p:cNvPr id="29" name="Text 23"/>
          <p:cNvSpPr txBox="1"/>
          <p:nvPr/>
        </p:nvSpPr>
        <p:spPr>
          <a:xfrm>
            <a:off x="6723583" y="4695444"/>
            <a:ext cx="161025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기억한 내용을 바탕으로</a:t>
            </a:r>
            <a:endParaRPr lang="en-US" sz="1200" dirty="0"/>
          </a:p>
        </p:txBody>
      </p:sp>
      <p:sp>
        <p:nvSpPr>
          <p:cNvPr id="30" name="Text 24"/>
          <p:cNvSpPr txBox="1"/>
          <p:nvPr/>
        </p:nvSpPr>
        <p:spPr>
          <a:xfrm>
            <a:off x="6632143" y="4924044"/>
            <a:ext cx="1791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나의 언어로 재작성합니다.</a:t>
            </a:r>
            <a:endParaRPr lang="en-US" sz="1200" dirty="0"/>
          </a:p>
        </p:txBody>
      </p:sp>
      <p:sp>
        <p:nvSpPr>
          <p:cNvPr id="31" name="Shape 25"/>
          <p:cNvSpPr/>
          <p:nvPr/>
        </p:nvSpPr>
        <p:spPr>
          <a:xfrm>
            <a:off x="8991295" y="2838298"/>
            <a:ext cx="2438705" cy="2628900"/>
          </a:xfrm>
          <a:prstGeom prst="roundRect">
            <a:avLst>
              <a:gd name="adj" fmla="val 2343"/>
            </a:avLst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  <a:effectLst>
            <a:outerShdw blurRad="292100" dist="101600" dir="54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32" name="Shape 26"/>
          <p:cNvSpPr/>
          <p:nvPr/>
        </p:nvSpPr>
        <p:spPr>
          <a:xfrm>
            <a:off x="9829800" y="3247949"/>
            <a:ext cx="761695" cy="761695"/>
          </a:xfrm>
          <a:prstGeom prst="ellipse">
            <a:avLst/>
          </a:prstGeom>
          <a:solidFill>
            <a:srgbClr val="38BDF8">
              <a:alpha val="1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33" name="Image 4" descr="preencoded.png"/>
          <p:cNvPicPr>
            <a:picLocks noChangeAspect="1"/>
          </p:cNvPicPr>
          <p:nvPr/>
        </p:nvPicPr>
        <p:blipFill>
          <a:blip r:embed="rId7"/>
          <a:srcRect/>
          <a:stretch/>
        </p:blipFill>
        <p:spPr>
          <a:xfrm>
            <a:off x="10058400" y="3476549"/>
            <a:ext cx="304495" cy="304495"/>
          </a:xfrm>
          <a:prstGeom prst="rect">
            <a:avLst/>
          </a:prstGeom>
        </p:spPr>
      </p:pic>
      <p:sp>
        <p:nvSpPr>
          <p:cNvPr id="34" name="Text 27"/>
          <p:cNvSpPr txBox="1"/>
          <p:nvPr/>
        </p:nvSpPr>
        <p:spPr>
          <a:xfrm>
            <a:off x="10005365" y="4238244"/>
            <a:ext cx="590702" cy="3337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대조</a:t>
            </a:r>
            <a:endParaRPr lang="en-US" sz="1800" dirty="0"/>
          </a:p>
        </p:txBody>
      </p:sp>
      <p:sp>
        <p:nvSpPr>
          <p:cNvPr id="35" name="Text 28"/>
          <p:cNvSpPr txBox="1"/>
          <p:nvPr/>
        </p:nvSpPr>
        <p:spPr>
          <a:xfrm>
            <a:off x="9235440" y="4695444"/>
            <a:ext cx="206745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원문과 비교하여 의미 왜곡이나</a:t>
            </a:r>
            <a:endParaRPr lang="en-US" sz="1200" dirty="0"/>
          </a:p>
        </p:txBody>
      </p:sp>
      <p:sp>
        <p:nvSpPr>
          <p:cNvPr id="36" name="Text 29"/>
          <p:cNvSpPr txBox="1"/>
          <p:nvPr/>
        </p:nvSpPr>
        <p:spPr>
          <a:xfrm>
            <a:off x="9375343" y="4924044"/>
            <a:ext cx="1791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표현 유사성을 점검합니다.</a:t>
            </a:r>
            <a:endParaRPr lang="en-US" sz="1200" dirty="0"/>
          </a:p>
        </p:txBody>
      </p:sp>
      <p:pic>
        <p:nvPicPr>
          <p:cNvPr id="37" name="Image 5" descr="preencoded.png"/>
          <p:cNvPicPr>
            <a:picLocks noChangeAspect="1"/>
          </p:cNvPicPr>
          <p:nvPr/>
        </p:nvPicPr>
        <p:blipFill>
          <a:blip r:embed="rId8"/>
          <a:srcRect l="-505" r="-505"/>
          <a:stretch/>
        </p:blipFill>
        <p:spPr>
          <a:xfrm>
            <a:off x="3305556" y="4062679"/>
            <a:ext cx="114300" cy="181051"/>
          </a:xfrm>
          <a:prstGeom prst="rect">
            <a:avLst/>
          </a:prstGeom>
        </p:spPr>
      </p:pic>
      <p:pic>
        <p:nvPicPr>
          <p:cNvPr id="38" name="Image 6" descr="preencoded.png"/>
          <p:cNvPicPr>
            <a:picLocks noChangeAspect="1"/>
          </p:cNvPicPr>
          <p:nvPr/>
        </p:nvPicPr>
        <p:blipFill>
          <a:blip r:embed="rId8"/>
          <a:srcRect l="-505" r="-505"/>
          <a:stretch/>
        </p:blipFill>
        <p:spPr>
          <a:xfrm>
            <a:off x="6048756" y="4062679"/>
            <a:ext cx="114300" cy="181051"/>
          </a:xfrm>
          <a:prstGeom prst="rect">
            <a:avLst/>
          </a:prstGeom>
        </p:spPr>
      </p:pic>
      <p:pic>
        <p:nvPicPr>
          <p:cNvPr id="39" name="Image 7" descr="preencoded.png"/>
          <p:cNvPicPr>
            <a:picLocks noChangeAspect="1"/>
          </p:cNvPicPr>
          <p:nvPr/>
        </p:nvPicPr>
        <p:blipFill>
          <a:blip r:embed="rId8"/>
          <a:srcRect l="-505" r="-505"/>
          <a:stretch/>
        </p:blipFill>
        <p:spPr>
          <a:xfrm>
            <a:off x="8791956" y="4062679"/>
            <a:ext cx="114300" cy="181051"/>
          </a:xfrm>
          <a:prstGeom prst="rect">
            <a:avLst/>
          </a:prstGeom>
        </p:spPr>
      </p:pic>
      <p:sp>
        <p:nvSpPr>
          <p:cNvPr id="40" name="Shape 30"/>
          <p:cNvSpPr/>
          <p:nvPr/>
        </p:nvSpPr>
        <p:spPr>
          <a:xfrm>
            <a:off x="1790395" y="2657246"/>
            <a:ext cx="381305" cy="381305"/>
          </a:xfrm>
          <a:prstGeom prst="ellipse">
            <a:avLst/>
          </a:prstGeom>
          <a:solidFill>
            <a:srgbClr val="0F172A"/>
          </a:solidFill>
          <a:ln w="25400">
            <a:solidFill>
              <a:srgbClr val="38BDF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1" name="Text 31"/>
          <p:cNvSpPr txBox="1"/>
          <p:nvPr/>
        </p:nvSpPr>
        <p:spPr>
          <a:xfrm>
            <a:off x="1925726" y="2711196"/>
            <a:ext cx="251460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38BDF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</a:t>
            </a:r>
            <a:endParaRPr lang="en-US" sz="1400" dirty="0"/>
          </a:p>
        </p:txBody>
      </p:sp>
      <p:sp>
        <p:nvSpPr>
          <p:cNvPr id="42" name="Shape 32"/>
          <p:cNvSpPr/>
          <p:nvPr/>
        </p:nvSpPr>
        <p:spPr>
          <a:xfrm>
            <a:off x="4533595" y="2657246"/>
            <a:ext cx="381305" cy="381305"/>
          </a:xfrm>
          <a:prstGeom prst="ellipse">
            <a:avLst/>
          </a:prstGeom>
          <a:solidFill>
            <a:srgbClr val="0F172A"/>
          </a:solidFill>
          <a:ln w="25400">
            <a:solidFill>
              <a:srgbClr val="38BDF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3" name="Text 33"/>
          <p:cNvSpPr txBox="1"/>
          <p:nvPr/>
        </p:nvSpPr>
        <p:spPr>
          <a:xfrm>
            <a:off x="4668926" y="2711196"/>
            <a:ext cx="251460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38BDF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</a:t>
            </a:r>
            <a:endParaRPr lang="en-US" sz="1400" dirty="0"/>
          </a:p>
        </p:txBody>
      </p:sp>
      <p:sp>
        <p:nvSpPr>
          <p:cNvPr id="44" name="Shape 34"/>
          <p:cNvSpPr/>
          <p:nvPr/>
        </p:nvSpPr>
        <p:spPr>
          <a:xfrm>
            <a:off x="7276795" y="2657246"/>
            <a:ext cx="381305" cy="381305"/>
          </a:xfrm>
          <a:prstGeom prst="ellipse">
            <a:avLst/>
          </a:prstGeom>
          <a:solidFill>
            <a:srgbClr val="0F172A"/>
          </a:solidFill>
          <a:ln w="25400">
            <a:solidFill>
              <a:srgbClr val="38BDF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5" name="Text 35"/>
          <p:cNvSpPr txBox="1"/>
          <p:nvPr/>
        </p:nvSpPr>
        <p:spPr>
          <a:xfrm>
            <a:off x="7412126" y="2711196"/>
            <a:ext cx="251460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38BDF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3</a:t>
            </a:r>
            <a:endParaRPr lang="en-US" sz="1400" dirty="0"/>
          </a:p>
        </p:txBody>
      </p:sp>
      <p:sp>
        <p:nvSpPr>
          <p:cNvPr id="46" name="Shape 36"/>
          <p:cNvSpPr/>
          <p:nvPr/>
        </p:nvSpPr>
        <p:spPr>
          <a:xfrm>
            <a:off x="10019995" y="2657246"/>
            <a:ext cx="381305" cy="381305"/>
          </a:xfrm>
          <a:prstGeom prst="ellipse">
            <a:avLst/>
          </a:prstGeom>
          <a:solidFill>
            <a:srgbClr val="0F172A"/>
          </a:solidFill>
          <a:ln w="25400">
            <a:solidFill>
              <a:srgbClr val="38BDF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7" name="Text 37"/>
          <p:cNvSpPr txBox="1"/>
          <p:nvPr/>
        </p:nvSpPr>
        <p:spPr>
          <a:xfrm>
            <a:off x="10155326" y="2711196"/>
            <a:ext cx="251460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38BDF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4</a:t>
            </a:r>
            <a:endParaRPr lang="en-US" sz="1400" dirty="0"/>
          </a:p>
        </p:txBody>
      </p:sp>
      <p:sp>
        <p:nvSpPr>
          <p:cNvPr id="48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이애본(드림아이티비즈) · useful-ai.dreamitbiz.com · 교육 목적 비영리 이용 · 출처 표기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" name="Shape 2"/>
          <p:cNvSpPr/>
          <p:nvPr/>
        </p:nvSpPr>
        <p:spPr>
          <a:xfrm>
            <a:off x="571500" y="1077163"/>
            <a:ext cx="11048695" cy="9144"/>
          </a:xfrm>
          <a:prstGeom prst="rect">
            <a:avLst/>
          </a:prstGeom>
          <a:solidFill>
            <a:srgbClr val="FFFFFF">
              <a:alpha val="1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" name="Shape 3"/>
          <p:cNvSpPr/>
          <p:nvPr/>
        </p:nvSpPr>
        <p:spPr>
          <a:xfrm>
            <a:off x="10484510" y="510235"/>
            <a:ext cx="1143000" cy="428854"/>
          </a:xfrm>
          <a:prstGeom prst="roundRect">
            <a:avLst>
              <a:gd name="adj" fmla="val 213219"/>
            </a:avLst>
          </a:prstGeom>
          <a:solidFill>
            <a:srgbClr val="38BDF8">
              <a:alpha val="10000"/>
            </a:srgbClr>
          </a:solidFill>
          <a:ln w="12700">
            <a:solidFill>
              <a:srgbClr val="38BDF8"/>
            </a:solidFill>
            <a:prstDash val="solid"/>
          </a:ln>
          <a:effectLst>
            <a:outerShdw blurRad="139700" dist="12700" dir="16200000" algn="bl" rotWithShape="0">
              <a:srgbClr val="38BDF8">
                <a:alpha val="2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10684764" y="636422"/>
            <a:ext cx="171907" cy="171907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8033004" y="1276502"/>
            <a:ext cx="3590849" cy="5296205"/>
          </a:xfrm>
          <a:prstGeom prst="roundRect">
            <a:avLst>
              <a:gd name="adj" fmla="val 811"/>
            </a:avLst>
          </a:prstGeom>
          <a:solidFill>
            <a:srgbClr val="38BDF8">
              <a:alpha val="5000"/>
            </a:srgbClr>
          </a:solidFill>
          <a:ln w="12700">
            <a:solidFill>
              <a:srgbClr val="38BDF8">
                <a:alpha val="3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" name="Shape 5"/>
          <p:cNvSpPr/>
          <p:nvPr/>
        </p:nvSpPr>
        <p:spPr>
          <a:xfrm>
            <a:off x="8270748" y="2169871"/>
            <a:ext cx="3114446" cy="9144"/>
          </a:xfrm>
          <a:prstGeom prst="rect">
            <a:avLst/>
          </a:prstGeom>
          <a:solidFill>
            <a:srgbClr val="E5E7E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9" name="Shape 6"/>
          <p:cNvSpPr/>
          <p:nvPr/>
        </p:nvSpPr>
        <p:spPr>
          <a:xfrm>
            <a:off x="8270748" y="3199486"/>
            <a:ext cx="3114446" cy="9144"/>
          </a:xfrm>
          <a:prstGeom prst="rect">
            <a:avLst/>
          </a:prstGeom>
          <a:solidFill>
            <a:srgbClr val="FFFFFF">
              <a:alpha val="1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0" name="Shape 7"/>
          <p:cNvSpPr/>
          <p:nvPr/>
        </p:nvSpPr>
        <p:spPr>
          <a:xfrm>
            <a:off x="8270748" y="2398471"/>
            <a:ext cx="190195" cy="190195"/>
          </a:xfrm>
          <a:prstGeom prst="roundRect">
            <a:avLst>
              <a:gd name="adj" fmla="val 120192"/>
            </a:avLst>
          </a:prstGeom>
          <a:noFill/>
          <a:ln w="25400">
            <a:solidFill>
              <a:srgbClr val="38BDF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1" name="Shape 8"/>
          <p:cNvSpPr/>
          <p:nvPr/>
        </p:nvSpPr>
        <p:spPr>
          <a:xfrm>
            <a:off x="8270748" y="4219042"/>
            <a:ext cx="3114446" cy="9144"/>
          </a:xfrm>
          <a:prstGeom prst="rect">
            <a:avLst/>
          </a:prstGeom>
          <a:solidFill>
            <a:srgbClr val="FFFFFF">
              <a:alpha val="1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2" name="Shape 9"/>
          <p:cNvSpPr/>
          <p:nvPr/>
        </p:nvSpPr>
        <p:spPr>
          <a:xfrm>
            <a:off x="8270748" y="3418942"/>
            <a:ext cx="190195" cy="190195"/>
          </a:xfrm>
          <a:prstGeom prst="roundRect">
            <a:avLst>
              <a:gd name="adj" fmla="val 120192"/>
            </a:avLst>
          </a:prstGeom>
          <a:noFill/>
          <a:ln w="25400">
            <a:solidFill>
              <a:srgbClr val="38BDF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3" name="Shape 10"/>
          <p:cNvSpPr/>
          <p:nvPr/>
        </p:nvSpPr>
        <p:spPr>
          <a:xfrm>
            <a:off x="8270748" y="5239512"/>
            <a:ext cx="3114446" cy="9144"/>
          </a:xfrm>
          <a:prstGeom prst="rect">
            <a:avLst/>
          </a:prstGeom>
          <a:solidFill>
            <a:srgbClr val="FFFFFF">
              <a:alpha val="1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4" name="Shape 11"/>
          <p:cNvSpPr/>
          <p:nvPr/>
        </p:nvSpPr>
        <p:spPr>
          <a:xfrm>
            <a:off x="8270748" y="4438498"/>
            <a:ext cx="190195" cy="190195"/>
          </a:xfrm>
          <a:prstGeom prst="roundRect">
            <a:avLst>
              <a:gd name="adj" fmla="val 120192"/>
            </a:avLst>
          </a:prstGeom>
          <a:noFill/>
          <a:ln w="25400">
            <a:solidFill>
              <a:srgbClr val="38BDF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5" name="Shape 12"/>
          <p:cNvSpPr/>
          <p:nvPr/>
        </p:nvSpPr>
        <p:spPr>
          <a:xfrm>
            <a:off x="8270748" y="5458968"/>
            <a:ext cx="190195" cy="190195"/>
          </a:xfrm>
          <a:prstGeom prst="roundRect">
            <a:avLst>
              <a:gd name="adj" fmla="val 120192"/>
            </a:avLst>
          </a:prstGeom>
          <a:noFill/>
          <a:ln w="25400">
            <a:solidFill>
              <a:srgbClr val="38BDF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6" name="Text 13"/>
          <p:cNvSpPr txBox="1"/>
          <p:nvPr/>
        </p:nvSpPr>
        <p:spPr>
          <a:xfrm>
            <a:off x="647395" y="314554"/>
            <a:ext cx="400507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실습 1</a:t>
            </a:r>
            <a:endParaRPr lang="en-US" sz="900" dirty="0"/>
          </a:p>
        </p:txBody>
      </p:sp>
      <p:sp>
        <p:nvSpPr>
          <p:cNvPr id="17" name="Text 14"/>
          <p:cNvSpPr txBox="1"/>
          <p:nvPr/>
        </p:nvSpPr>
        <p:spPr>
          <a:xfrm>
            <a:off x="1148486" y="304495"/>
            <a:ext cx="967435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실습 워크시트</a:t>
            </a:r>
            <a:endParaRPr lang="en-US" sz="1000" dirty="0"/>
          </a:p>
        </p:txBody>
      </p:sp>
      <p:sp>
        <p:nvSpPr>
          <p:cNvPr id="18" name="Text 15"/>
          <p:cNvSpPr txBox="1"/>
          <p:nvPr/>
        </p:nvSpPr>
        <p:spPr>
          <a:xfrm>
            <a:off x="571500" y="552298"/>
            <a:ext cx="1871777" cy="4197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요약과 재기술</a:t>
            </a:r>
            <a:endParaRPr lang="en-US" sz="2200" dirty="0"/>
          </a:p>
        </p:txBody>
      </p:sp>
      <p:sp>
        <p:nvSpPr>
          <p:cNvPr id="19" name="Text 16"/>
          <p:cNvSpPr txBox="1"/>
          <p:nvPr/>
        </p:nvSpPr>
        <p:spPr>
          <a:xfrm>
            <a:off x="10970057" y="596189"/>
            <a:ext cx="583387" cy="2386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38BDF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05:00</a:t>
            </a:r>
            <a:endParaRPr lang="en-US" sz="1300" dirty="0"/>
          </a:p>
        </p:txBody>
      </p:sp>
      <p:pic>
        <p:nvPicPr>
          <p:cNvPr id="20" name="Image 1" descr="preencoded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8270748" y="1848002"/>
            <a:ext cx="171907" cy="171907"/>
          </a:xfrm>
          <a:prstGeom prst="rect">
            <a:avLst/>
          </a:prstGeom>
        </p:spPr>
      </p:pic>
      <p:sp>
        <p:nvSpPr>
          <p:cNvPr id="21" name="Text 17"/>
          <p:cNvSpPr txBox="1"/>
          <p:nvPr/>
        </p:nvSpPr>
        <p:spPr>
          <a:xfrm>
            <a:off x="8518550" y="1798625"/>
            <a:ext cx="1491386" cy="2478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제출 전 체크리스트</a:t>
            </a:r>
            <a:endParaRPr lang="en-US" sz="1300" dirty="0"/>
          </a:p>
        </p:txBody>
      </p:sp>
      <p:sp>
        <p:nvSpPr>
          <p:cNvPr id="22" name="Text 18"/>
          <p:cNvSpPr txBox="1"/>
          <p:nvPr/>
        </p:nvSpPr>
        <p:spPr>
          <a:xfrm>
            <a:off x="8594446" y="2370125"/>
            <a:ext cx="104790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의미 왜곡 없음</a:t>
            </a:r>
            <a:endParaRPr lang="en-US" sz="1200" dirty="0"/>
          </a:p>
        </p:txBody>
      </p:sp>
      <p:sp>
        <p:nvSpPr>
          <p:cNvPr id="23" name="Text 19"/>
          <p:cNvSpPr txBox="1"/>
          <p:nvPr/>
        </p:nvSpPr>
        <p:spPr>
          <a:xfrm>
            <a:off x="8594446" y="2627071"/>
            <a:ext cx="2735885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원문이 주장하는 '적극적 태도의 필요성'이 그대로 유지되었나요?</a:t>
            </a:r>
            <a:endParaRPr lang="en-US" sz="1000" dirty="0"/>
          </a:p>
        </p:txBody>
      </p:sp>
      <p:sp>
        <p:nvSpPr>
          <p:cNvPr id="24" name="Text 20"/>
          <p:cNvSpPr txBox="1"/>
          <p:nvPr/>
        </p:nvSpPr>
        <p:spPr>
          <a:xfrm>
            <a:off x="8594446" y="3389681"/>
            <a:ext cx="86685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표현 차별화</a:t>
            </a:r>
            <a:endParaRPr lang="en-US" sz="1200" dirty="0"/>
          </a:p>
        </p:txBody>
      </p:sp>
      <p:sp>
        <p:nvSpPr>
          <p:cNvPr id="25" name="Text 21"/>
          <p:cNvSpPr txBox="1"/>
          <p:nvPr/>
        </p:nvSpPr>
        <p:spPr>
          <a:xfrm>
            <a:off x="8594446" y="3647542"/>
            <a:ext cx="2821838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원문의 단어(소극적 처방 등)를 그대로 쓰지 않고 다른 말로 바꿨나요?</a:t>
            </a:r>
            <a:endParaRPr lang="en-US" sz="1000" dirty="0"/>
          </a:p>
        </p:txBody>
      </p:sp>
      <p:sp>
        <p:nvSpPr>
          <p:cNvPr id="26" name="Text 22"/>
          <p:cNvSpPr txBox="1"/>
          <p:nvPr/>
        </p:nvSpPr>
        <p:spPr>
          <a:xfrm>
            <a:off x="8594446" y="4410151"/>
            <a:ext cx="104790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출처 표기 필수</a:t>
            </a:r>
            <a:endParaRPr lang="en-US" sz="1200" dirty="0"/>
          </a:p>
        </p:txBody>
      </p:sp>
      <p:sp>
        <p:nvSpPr>
          <p:cNvPr id="27" name="Text 23"/>
          <p:cNvSpPr txBox="1"/>
          <p:nvPr/>
        </p:nvSpPr>
        <p:spPr>
          <a:xfrm>
            <a:off x="8594446" y="4667098"/>
            <a:ext cx="2507285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문장 끝에 (저자, 연도) 형식으로 내주(In-text citation)를 달았나요?</a:t>
            </a:r>
            <a:endParaRPr lang="en-US" sz="1000" dirty="0"/>
          </a:p>
        </p:txBody>
      </p:sp>
      <p:sp>
        <p:nvSpPr>
          <p:cNvPr id="28" name="Text 24"/>
          <p:cNvSpPr txBox="1"/>
          <p:nvPr/>
        </p:nvSpPr>
        <p:spPr>
          <a:xfrm>
            <a:off x="8594446" y="5429707"/>
            <a:ext cx="86685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자신의 관점</a:t>
            </a:r>
            <a:endParaRPr lang="en-US" sz="1200" dirty="0"/>
          </a:p>
        </p:txBody>
      </p:sp>
      <p:sp>
        <p:nvSpPr>
          <p:cNvPr id="29" name="Text 25"/>
          <p:cNvSpPr txBox="1"/>
          <p:nvPr/>
        </p:nvSpPr>
        <p:spPr>
          <a:xfrm>
            <a:off x="8594446" y="5687568"/>
            <a:ext cx="2821838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단순 나열이 아니라 리포트 문맥에 맞게 자연스럽게 연결되나요?</a:t>
            </a:r>
            <a:endParaRPr lang="en-US" sz="1000" dirty="0"/>
          </a:p>
        </p:txBody>
      </p:sp>
      <p:sp>
        <p:nvSpPr>
          <p:cNvPr id="30" name="Shape 26"/>
          <p:cNvSpPr/>
          <p:nvPr/>
        </p:nvSpPr>
        <p:spPr>
          <a:xfrm>
            <a:off x="571500" y="1462126"/>
            <a:ext cx="7181698" cy="1933956"/>
          </a:xfrm>
          <a:prstGeom prst="roundRect">
            <a:avLst>
              <a:gd name="adj" fmla="val 2795"/>
            </a:avLst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  <a:effectLst>
            <a:outerShdw blurRad="635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31" name="Shape 27"/>
          <p:cNvSpPr/>
          <p:nvPr/>
        </p:nvSpPr>
        <p:spPr>
          <a:xfrm>
            <a:off x="771754" y="1377086"/>
            <a:ext cx="933602" cy="209398"/>
          </a:xfrm>
          <a:prstGeom prst="roundRect">
            <a:avLst>
              <a:gd name="adj" fmla="val 79396"/>
            </a:avLst>
          </a:prstGeom>
          <a:solidFill>
            <a:srgbClr val="38BDF8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2" name="Text 28"/>
          <p:cNvSpPr txBox="1"/>
          <p:nvPr/>
        </p:nvSpPr>
        <p:spPr>
          <a:xfrm>
            <a:off x="866851" y="1395374"/>
            <a:ext cx="829361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0F172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STEP 1. 원문</a:t>
            </a:r>
            <a:endParaRPr lang="en-US" sz="900" dirty="0"/>
          </a:p>
        </p:txBody>
      </p:sp>
      <p:sp>
        <p:nvSpPr>
          <p:cNvPr id="33" name="Shape 29"/>
          <p:cNvSpPr/>
          <p:nvPr/>
        </p:nvSpPr>
        <p:spPr>
          <a:xfrm>
            <a:off x="771754" y="1738274"/>
            <a:ext cx="6782105" cy="1457554"/>
          </a:xfrm>
          <a:prstGeom prst="roundRect">
            <a:avLst>
              <a:gd name="adj" fmla="val 3280"/>
            </a:avLst>
          </a:prstGeom>
          <a:solidFill>
            <a:srgbClr val="0F172A">
              <a:alpha val="5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4" name="Shape 30"/>
          <p:cNvSpPr/>
          <p:nvPr/>
        </p:nvSpPr>
        <p:spPr>
          <a:xfrm>
            <a:off x="771754" y="1738274"/>
            <a:ext cx="38405" cy="1457554"/>
          </a:xfrm>
          <a:prstGeom prst="rect">
            <a:avLst/>
          </a:prstGeom>
          <a:solidFill>
            <a:srgbClr val="94A3B8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5" name="Text 31"/>
          <p:cNvSpPr txBox="1"/>
          <p:nvPr/>
        </p:nvSpPr>
        <p:spPr>
          <a:xfrm>
            <a:off x="961949" y="1881835"/>
            <a:ext cx="667512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[원문 예시]</a:t>
            </a:r>
            <a:endParaRPr lang="en-US" sz="900" dirty="0"/>
          </a:p>
        </p:txBody>
      </p:sp>
      <p:sp>
        <p:nvSpPr>
          <p:cNvPr id="36" name="Text 32"/>
          <p:cNvSpPr txBox="1"/>
          <p:nvPr/>
        </p:nvSpPr>
        <p:spPr>
          <a:xfrm>
            <a:off x="961949" y="2128723"/>
            <a:ext cx="6472123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"팀 기반 학습에서 태만이 야기하는 부정적인 현상들을 방지하기 위하여, 단순히 태만에 상응하는 평가를 내리는 소극적 처방이 아니라... (중략) ...태만의 발생을 조기에 차단하는 적극적 태도가 필요하다." (원문 일부 생략)</a:t>
            </a:r>
            <a:endParaRPr lang="en-US" sz="1100" dirty="0"/>
          </a:p>
        </p:txBody>
      </p:sp>
      <p:sp>
        <p:nvSpPr>
          <p:cNvPr id="37" name="Text 33"/>
          <p:cNvSpPr txBox="1"/>
          <p:nvPr/>
        </p:nvSpPr>
        <p:spPr>
          <a:xfrm>
            <a:off x="6644030" y="2881274"/>
            <a:ext cx="838505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- 이동훈 (2016)</a:t>
            </a:r>
            <a:endParaRPr lang="en-US" sz="900" dirty="0"/>
          </a:p>
        </p:txBody>
      </p:sp>
      <p:sp>
        <p:nvSpPr>
          <p:cNvPr id="38" name="Shape 34"/>
          <p:cNvSpPr/>
          <p:nvPr/>
        </p:nvSpPr>
        <p:spPr>
          <a:xfrm>
            <a:off x="571500" y="3652114"/>
            <a:ext cx="7181698" cy="1238098"/>
          </a:xfrm>
          <a:prstGeom prst="roundRect">
            <a:avLst>
              <a:gd name="adj" fmla="val 6817"/>
            </a:avLst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  <a:effectLst>
            <a:outerShdw blurRad="635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39" name="Shape 35"/>
          <p:cNvSpPr/>
          <p:nvPr/>
        </p:nvSpPr>
        <p:spPr>
          <a:xfrm>
            <a:off x="771754" y="3567074"/>
            <a:ext cx="933602" cy="209398"/>
          </a:xfrm>
          <a:prstGeom prst="roundRect">
            <a:avLst>
              <a:gd name="adj" fmla="val 79396"/>
            </a:avLst>
          </a:prstGeom>
          <a:solidFill>
            <a:srgbClr val="38BDF8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0" name="Text 36"/>
          <p:cNvSpPr txBox="1"/>
          <p:nvPr/>
        </p:nvSpPr>
        <p:spPr>
          <a:xfrm>
            <a:off x="866851" y="3586277"/>
            <a:ext cx="829361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0F172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STEP 2. 요약</a:t>
            </a:r>
            <a:endParaRPr lang="en-US" sz="900" dirty="0"/>
          </a:p>
        </p:txBody>
      </p:sp>
      <p:sp>
        <p:nvSpPr>
          <p:cNvPr id="41" name="Shape 37"/>
          <p:cNvSpPr/>
          <p:nvPr/>
        </p:nvSpPr>
        <p:spPr>
          <a:xfrm>
            <a:off x="771754" y="3929177"/>
            <a:ext cx="6782105" cy="761695"/>
          </a:xfrm>
          <a:prstGeom prst="roundRect">
            <a:avLst>
              <a:gd name="adj" fmla="val 12005"/>
            </a:avLst>
          </a:prstGeom>
          <a:solidFill>
            <a:srgbClr val="FFFFFF">
              <a:alpha val="5000"/>
            </a:srgbClr>
          </a:solidFill>
          <a:ln w="25400">
            <a:solidFill>
              <a:srgbClr val="475569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42" name="Image 2" descr="preencoded.png"/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942746" y="4135831"/>
            <a:ext cx="133502" cy="133502"/>
          </a:xfrm>
          <a:prstGeom prst="rect">
            <a:avLst/>
          </a:prstGeom>
        </p:spPr>
      </p:pic>
      <p:sp>
        <p:nvSpPr>
          <p:cNvPr id="43" name="Text 38"/>
          <p:cNvSpPr txBox="1"/>
          <p:nvPr/>
        </p:nvSpPr>
        <p:spPr>
          <a:xfrm>
            <a:off x="1152144" y="4100170"/>
            <a:ext cx="758038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작성 가이드</a:t>
            </a:r>
            <a:endParaRPr lang="en-US" sz="1000" dirty="0"/>
          </a:p>
        </p:txBody>
      </p:sp>
      <p:sp>
        <p:nvSpPr>
          <p:cNvPr id="44" name="Text 39"/>
          <p:cNvSpPr txBox="1"/>
          <p:nvPr/>
        </p:nvSpPr>
        <p:spPr>
          <a:xfrm>
            <a:off x="942746" y="4328770"/>
            <a:ext cx="4405579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원문의 핵심 키워드(태만 방지, 적극적 태도)만 남기고 한 문장으로 줄여보세요.</a:t>
            </a:r>
            <a:endParaRPr lang="en-US" sz="1000" dirty="0"/>
          </a:p>
        </p:txBody>
      </p:sp>
      <p:sp>
        <p:nvSpPr>
          <p:cNvPr id="45" name="Shape 40"/>
          <p:cNvSpPr/>
          <p:nvPr/>
        </p:nvSpPr>
        <p:spPr>
          <a:xfrm>
            <a:off x="571500" y="5148072"/>
            <a:ext cx="7181698" cy="1238098"/>
          </a:xfrm>
          <a:prstGeom prst="roundRect">
            <a:avLst>
              <a:gd name="adj" fmla="val 6817"/>
            </a:avLst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  <a:effectLst>
            <a:outerShdw blurRad="635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46" name="Shape 41"/>
          <p:cNvSpPr/>
          <p:nvPr/>
        </p:nvSpPr>
        <p:spPr>
          <a:xfrm>
            <a:off x="771754" y="5062118"/>
            <a:ext cx="1037844" cy="209398"/>
          </a:xfrm>
          <a:prstGeom prst="roundRect">
            <a:avLst>
              <a:gd name="adj" fmla="val 79396"/>
            </a:avLst>
          </a:prstGeom>
          <a:solidFill>
            <a:srgbClr val="38BDF8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7" name="Text 42"/>
          <p:cNvSpPr txBox="1"/>
          <p:nvPr/>
        </p:nvSpPr>
        <p:spPr>
          <a:xfrm>
            <a:off x="866851" y="5081321"/>
            <a:ext cx="933602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0F172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STEP 3. 재기술</a:t>
            </a:r>
            <a:endParaRPr lang="en-US" sz="900" dirty="0"/>
          </a:p>
        </p:txBody>
      </p:sp>
      <p:sp>
        <p:nvSpPr>
          <p:cNvPr id="48" name="Shape 43"/>
          <p:cNvSpPr/>
          <p:nvPr/>
        </p:nvSpPr>
        <p:spPr>
          <a:xfrm>
            <a:off x="771754" y="5424221"/>
            <a:ext cx="6782105" cy="761695"/>
          </a:xfrm>
          <a:prstGeom prst="roundRect">
            <a:avLst>
              <a:gd name="adj" fmla="val 12005"/>
            </a:avLst>
          </a:prstGeom>
          <a:solidFill>
            <a:srgbClr val="FFFFFF">
              <a:alpha val="5000"/>
            </a:srgbClr>
          </a:solidFill>
          <a:ln w="25400">
            <a:solidFill>
              <a:srgbClr val="475569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49" name="Image 3" descr="preencoded.png"/>
          <p:cNvPicPr>
            <a:picLocks noChangeAspect="1"/>
          </p:cNvPicPr>
          <p:nvPr/>
        </p:nvPicPr>
        <p:blipFill>
          <a:blip r:embed="rId6"/>
          <a:srcRect/>
          <a:stretch/>
        </p:blipFill>
        <p:spPr>
          <a:xfrm>
            <a:off x="942746" y="5631790"/>
            <a:ext cx="133502" cy="133502"/>
          </a:xfrm>
          <a:prstGeom prst="rect">
            <a:avLst/>
          </a:prstGeom>
        </p:spPr>
      </p:pic>
      <p:sp>
        <p:nvSpPr>
          <p:cNvPr id="50" name="Text 44"/>
          <p:cNvSpPr txBox="1"/>
          <p:nvPr/>
        </p:nvSpPr>
        <p:spPr>
          <a:xfrm>
            <a:off x="1152144" y="5595214"/>
            <a:ext cx="758038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작성 가이드</a:t>
            </a:r>
            <a:endParaRPr lang="en-US" sz="1000" dirty="0"/>
          </a:p>
        </p:txBody>
      </p:sp>
      <p:sp>
        <p:nvSpPr>
          <p:cNvPr id="51" name="Text 45"/>
          <p:cNvSpPr txBox="1"/>
          <p:nvPr/>
        </p:nvSpPr>
        <p:spPr>
          <a:xfrm>
            <a:off x="942746" y="5823814"/>
            <a:ext cx="3844138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나만의 어휘로 바꿔 서술하고, 문장 끝에 (이동훈, 2016)을 붙이세요.</a:t>
            </a:r>
            <a:endParaRPr lang="en-US" sz="1000" dirty="0"/>
          </a:p>
        </p:txBody>
      </p:sp>
      <p:pic>
        <p:nvPicPr>
          <p:cNvPr id="52" name="Image 4" descr="preencoded.png"/>
          <p:cNvPicPr>
            <a:picLocks noChangeAspect="1"/>
          </p:cNvPicPr>
          <p:nvPr/>
        </p:nvPicPr>
        <p:blipFill>
          <a:blip r:embed="rId7"/>
          <a:srcRect t="-856" b="-856"/>
          <a:stretch/>
        </p:blipFill>
        <p:spPr>
          <a:xfrm>
            <a:off x="4092854" y="3433572"/>
            <a:ext cx="133502" cy="181051"/>
          </a:xfrm>
          <a:prstGeom prst="rect">
            <a:avLst/>
          </a:prstGeom>
        </p:spPr>
      </p:pic>
      <p:pic>
        <p:nvPicPr>
          <p:cNvPr id="53" name="Image 5" descr="preencoded.png"/>
          <p:cNvPicPr>
            <a:picLocks noChangeAspect="1"/>
          </p:cNvPicPr>
          <p:nvPr/>
        </p:nvPicPr>
        <p:blipFill>
          <a:blip r:embed="rId7"/>
          <a:srcRect t="-856" b="-856"/>
          <a:stretch/>
        </p:blipFill>
        <p:spPr>
          <a:xfrm>
            <a:off x="4092854" y="4928616"/>
            <a:ext cx="133502" cy="181051"/>
          </a:xfrm>
          <a:prstGeom prst="rect">
            <a:avLst/>
          </a:prstGeom>
        </p:spPr>
      </p:pic>
      <p:sp>
        <p:nvSpPr>
          <p:cNvPr id="54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이애본(드림아이티비즈) · useful-ai.dreamitbiz.com · 교육 목적 비영리 이용 · 출처 표기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" name="Shape 2"/>
          <p:cNvSpPr/>
          <p:nvPr/>
        </p:nvSpPr>
        <p:spPr>
          <a:xfrm>
            <a:off x="-1904695" y="-1904695"/>
            <a:ext cx="7619695" cy="7619695"/>
          </a:xfrm>
          <a:prstGeom prst="ellipse">
            <a:avLst/>
          </a:prstGeom>
          <a:solidFill>
            <a:srgbClr val="38BDF8">
              <a:alpha val="2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" name="Shape 3"/>
          <p:cNvSpPr/>
          <p:nvPr/>
        </p:nvSpPr>
        <p:spPr>
          <a:xfrm>
            <a:off x="8382305" y="3047695"/>
            <a:ext cx="4762195" cy="4762195"/>
          </a:xfrm>
          <a:prstGeom prst="ellipse">
            <a:avLst/>
          </a:prstGeom>
          <a:solidFill>
            <a:srgbClr val="38BDF8">
              <a:alpha val="2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6" name="Shape 4"/>
          <p:cNvSpPr/>
          <p:nvPr/>
        </p:nvSpPr>
        <p:spPr>
          <a:xfrm>
            <a:off x="0" y="0"/>
            <a:ext cx="4638751" cy="6858000"/>
          </a:xfrm>
          <a:prstGeom prst="rect">
            <a:avLst/>
          </a:prstGeom>
          <a:solidFill>
            <a:srgbClr val="0F172A">
              <a:alpha val="5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7" name="Shape 5"/>
          <p:cNvSpPr/>
          <p:nvPr/>
        </p:nvSpPr>
        <p:spPr>
          <a:xfrm>
            <a:off x="4629607" y="0"/>
            <a:ext cx="9144" cy="6858000"/>
          </a:xfrm>
          <a:prstGeom prst="rect">
            <a:avLst/>
          </a:prstGeom>
          <a:solidFill>
            <a:srgbClr val="FFFFFF">
              <a:alpha val="1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8" name="Shape 6"/>
          <p:cNvSpPr/>
          <p:nvPr/>
        </p:nvSpPr>
        <p:spPr>
          <a:xfrm>
            <a:off x="571500" y="1945843"/>
            <a:ext cx="571500" cy="57607"/>
          </a:xfrm>
          <a:prstGeom prst="rect">
            <a:avLst/>
          </a:prstGeom>
          <a:solidFill>
            <a:srgbClr val="38BDF8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9" name="Text 7"/>
          <p:cNvSpPr txBox="1"/>
          <p:nvPr/>
        </p:nvSpPr>
        <p:spPr>
          <a:xfrm>
            <a:off x="571500" y="2231136"/>
            <a:ext cx="833933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핵심 가이드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571500" y="2488082"/>
            <a:ext cx="2162556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6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직접 인용</a:t>
            </a:r>
            <a:endParaRPr lang="en-US" sz="3600" dirty="0"/>
          </a:p>
        </p:txBody>
      </p:sp>
      <p:sp>
        <p:nvSpPr>
          <p:cNvPr id="11" name="Text 9"/>
          <p:cNvSpPr txBox="1"/>
          <p:nvPr/>
        </p:nvSpPr>
        <p:spPr>
          <a:xfrm>
            <a:off x="571500" y="3059582"/>
            <a:ext cx="2162556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6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활용 원칙</a:t>
            </a:r>
            <a:endParaRPr lang="en-US" sz="3600" dirty="0"/>
          </a:p>
        </p:txBody>
      </p:sp>
      <p:sp>
        <p:nvSpPr>
          <p:cNvPr id="12" name="Text 10"/>
          <p:cNvSpPr txBox="1"/>
          <p:nvPr/>
        </p:nvSpPr>
        <p:spPr>
          <a:xfrm>
            <a:off x="578357" y="4272991"/>
            <a:ext cx="362011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500" dirty="0">
                <a:solidFill>
                  <a:srgbClr val="9CA3A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원문을 그대로 가져올 </a:t>
            </a:r>
            <a:r>
              <a:rPr lang="en-US" sz="1500" dirty="0" err="1">
                <a:solidFill>
                  <a:srgbClr val="9CA3A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때는</a:t>
            </a:r>
            <a:r>
              <a:rPr lang="en-US" sz="1500" dirty="0">
                <a:solidFill>
                  <a:srgbClr val="9CA3A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</a:p>
          <a:p>
            <a:pPr marL="0" indent="0" algn="l">
              <a:lnSpc>
                <a:spcPct val="150000"/>
              </a:lnSpc>
              <a:buNone/>
            </a:pPr>
            <a:r>
              <a:rPr lang="en-US" sz="1500" dirty="0">
                <a:solidFill>
                  <a:srgbClr val="9CA3A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더 엄격한 기준이 필요합니다. </a:t>
            </a:r>
          </a:p>
          <a:p>
            <a:pPr marL="0" indent="0" algn="l">
              <a:lnSpc>
                <a:spcPct val="150000"/>
              </a:lnSpc>
              <a:buNone/>
            </a:pPr>
            <a:endParaRPr lang="en-US" sz="1500" dirty="0">
              <a:solidFill>
                <a:srgbClr val="9CA3AF"/>
              </a:solidFill>
              <a:latin typeface="Noto Sans KR" pitchFamily="34" charset="0"/>
              <a:ea typeface="Noto Sans KR" pitchFamily="34" charset="-122"/>
              <a:cs typeface="Noto Sans KR" pitchFamily="34" charset="-120"/>
            </a:endParaRPr>
          </a:p>
          <a:p>
            <a:pPr marL="0" indent="0" algn="l">
              <a:lnSpc>
                <a:spcPct val="150000"/>
              </a:lnSpc>
              <a:buNone/>
            </a:pPr>
            <a:r>
              <a:rPr lang="en-US" sz="1500" dirty="0" err="1">
                <a:solidFill>
                  <a:srgbClr val="9CA3A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표현</a:t>
            </a:r>
            <a:r>
              <a:rPr lang="en-US" sz="1500" dirty="0">
                <a:solidFill>
                  <a:srgbClr val="9CA3A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자체가 증거가 될 </a:t>
            </a:r>
            <a:r>
              <a:rPr lang="en-US" sz="1500" dirty="0" err="1">
                <a:solidFill>
                  <a:srgbClr val="9CA3A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때만</a:t>
            </a:r>
            <a:endParaRPr lang="en-US" sz="1500" dirty="0">
              <a:solidFill>
                <a:srgbClr val="9CA3AF"/>
              </a:solidFill>
              <a:latin typeface="Noto Sans KR" pitchFamily="34" charset="0"/>
              <a:ea typeface="Noto Sans KR" pitchFamily="34" charset="-122"/>
              <a:cs typeface="Noto Sans KR" pitchFamily="34" charset="-120"/>
            </a:endParaRPr>
          </a:p>
          <a:p>
            <a:pPr marL="0" indent="0" algn="l">
              <a:lnSpc>
                <a:spcPct val="150000"/>
              </a:lnSpc>
              <a:buNone/>
            </a:pPr>
            <a:r>
              <a:rPr lang="en-US" sz="1500" dirty="0">
                <a:solidFill>
                  <a:srgbClr val="9CA3A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제한적으로 사용하세요.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5299862" y="895198"/>
            <a:ext cx="6229807" cy="1123798"/>
          </a:xfrm>
          <a:prstGeom prst="roundRect">
            <a:avLst>
              <a:gd name="adj" fmla="val 5516"/>
            </a:avLst>
          </a:prstGeom>
          <a:solidFill>
            <a:srgbClr val="FFFFFF">
              <a:alpha val="3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4" name="Shape 12"/>
          <p:cNvSpPr/>
          <p:nvPr/>
        </p:nvSpPr>
        <p:spPr>
          <a:xfrm>
            <a:off x="5299862" y="895198"/>
            <a:ext cx="38405" cy="1123798"/>
          </a:xfrm>
          <a:prstGeom prst="rect">
            <a:avLst/>
          </a:prstGeom>
          <a:solidFill>
            <a:srgbClr val="000000">
              <a:alpha val="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5" name="Shape 13"/>
          <p:cNvSpPr/>
          <p:nvPr/>
        </p:nvSpPr>
        <p:spPr>
          <a:xfrm>
            <a:off x="5565953" y="1086307"/>
            <a:ext cx="457200" cy="457200"/>
          </a:xfrm>
          <a:prstGeom prst="roundRect">
            <a:avLst>
              <a:gd name="adj" fmla="val 33333"/>
            </a:avLst>
          </a:prstGeom>
          <a:solidFill>
            <a:srgbClr val="38BDF8">
              <a:alpha val="1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16" name="Image 0" descr="preencoded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5680253" y="1200607"/>
            <a:ext cx="228600" cy="228600"/>
          </a:xfrm>
          <a:prstGeom prst="rect">
            <a:avLst/>
          </a:prstGeom>
        </p:spPr>
      </p:pic>
      <p:sp>
        <p:nvSpPr>
          <p:cNvPr id="17" name="Shape 14"/>
          <p:cNvSpPr/>
          <p:nvPr/>
        </p:nvSpPr>
        <p:spPr>
          <a:xfrm>
            <a:off x="5299862" y="2210105"/>
            <a:ext cx="6229807" cy="1123798"/>
          </a:xfrm>
          <a:prstGeom prst="roundRect">
            <a:avLst>
              <a:gd name="adj" fmla="val 5516"/>
            </a:avLst>
          </a:prstGeom>
          <a:solidFill>
            <a:srgbClr val="FFFFFF">
              <a:alpha val="3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8" name="Shape 15"/>
          <p:cNvSpPr/>
          <p:nvPr/>
        </p:nvSpPr>
        <p:spPr>
          <a:xfrm>
            <a:off x="5299862" y="2210105"/>
            <a:ext cx="38405" cy="1123798"/>
          </a:xfrm>
          <a:prstGeom prst="rect">
            <a:avLst/>
          </a:prstGeom>
          <a:solidFill>
            <a:srgbClr val="000000">
              <a:alpha val="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9" name="Shape 16"/>
          <p:cNvSpPr/>
          <p:nvPr/>
        </p:nvSpPr>
        <p:spPr>
          <a:xfrm>
            <a:off x="5565953" y="2400300"/>
            <a:ext cx="457200" cy="457200"/>
          </a:xfrm>
          <a:prstGeom prst="roundRect">
            <a:avLst>
              <a:gd name="adj" fmla="val 33333"/>
            </a:avLst>
          </a:prstGeom>
          <a:solidFill>
            <a:srgbClr val="38BDF8">
              <a:alpha val="1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20" name="Image 1" descr="preencoded.png"/>
          <p:cNvPicPr>
            <a:picLocks noChangeAspect="1"/>
          </p:cNvPicPr>
          <p:nvPr/>
        </p:nvPicPr>
        <p:blipFill>
          <a:blip r:embed="rId4"/>
          <a:srcRect l="-57" r="-57"/>
          <a:stretch/>
        </p:blipFill>
        <p:spPr>
          <a:xfrm>
            <a:off x="5694883" y="2514600"/>
            <a:ext cx="200254" cy="228600"/>
          </a:xfrm>
          <a:prstGeom prst="rect">
            <a:avLst/>
          </a:prstGeom>
        </p:spPr>
      </p:pic>
      <p:sp>
        <p:nvSpPr>
          <p:cNvPr id="21" name="Shape 17"/>
          <p:cNvSpPr/>
          <p:nvPr/>
        </p:nvSpPr>
        <p:spPr>
          <a:xfrm>
            <a:off x="5299862" y="3524098"/>
            <a:ext cx="6229807" cy="1123798"/>
          </a:xfrm>
          <a:prstGeom prst="roundRect">
            <a:avLst>
              <a:gd name="adj" fmla="val 5516"/>
            </a:avLst>
          </a:prstGeom>
          <a:solidFill>
            <a:srgbClr val="FFFFFF">
              <a:alpha val="3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2" name="Shape 18"/>
          <p:cNvSpPr/>
          <p:nvPr/>
        </p:nvSpPr>
        <p:spPr>
          <a:xfrm>
            <a:off x="5299862" y="3524098"/>
            <a:ext cx="38405" cy="1123798"/>
          </a:xfrm>
          <a:prstGeom prst="rect">
            <a:avLst/>
          </a:prstGeom>
          <a:solidFill>
            <a:srgbClr val="000000">
              <a:alpha val="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3" name="Shape 19"/>
          <p:cNvSpPr/>
          <p:nvPr/>
        </p:nvSpPr>
        <p:spPr>
          <a:xfrm>
            <a:off x="5565953" y="3715207"/>
            <a:ext cx="457200" cy="457200"/>
          </a:xfrm>
          <a:prstGeom prst="roundRect">
            <a:avLst>
              <a:gd name="adj" fmla="val 33333"/>
            </a:avLst>
          </a:prstGeom>
          <a:solidFill>
            <a:srgbClr val="38BDF8">
              <a:alpha val="1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24" name="Image 2" descr="preencoded.png"/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5680253" y="3829507"/>
            <a:ext cx="228600" cy="228600"/>
          </a:xfrm>
          <a:prstGeom prst="rect">
            <a:avLst/>
          </a:prstGeom>
        </p:spPr>
      </p:pic>
      <p:sp>
        <p:nvSpPr>
          <p:cNvPr id="25" name="Shape 20"/>
          <p:cNvSpPr/>
          <p:nvPr/>
        </p:nvSpPr>
        <p:spPr>
          <a:xfrm>
            <a:off x="5299862" y="4839005"/>
            <a:ext cx="6229807" cy="1123798"/>
          </a:xfrm>
          <a:prstGeom prst="roundRect">
            <a:avLst>
              <a:gd name="adj" fmla="val 5516"/>
            </a:avLst>
          </a:prstGeom>
          <a:solidFill>
            <a:srgbClr val="FFFFFF">
              <a:alpha val="3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6" name="Shape 21"/>
          <p:cNvSpPr/>
          <p:nvPr/>
        </p:nvSpPr>
        <p:spPr>
          <a:xfrm>
            <a:off x="5299862" y="4839005"/>
            <a:ext cx="38405" cy="1123798"/>
          </a:xfrm>
          <a:prstGeom prst="rect">
            <a:avLst/>
          </a:prstGeom>
          <a:solidFill>
            <a:srgbClr val="000000">
              <a:alpha val="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7" name="Shape 22"/>
          <p:cNvSpPr/>
          <p:nvPr/>
        </p:nvSpPr>
        <p:spPr>
          <a:xfrm>
            <a:off x="5565953" y="5029200"/>
            <a:ext cx="457200" cy="457200"/>
          </a:xfrm>
          <a:prstGeom prst="roundRect">
            <a:avLst>
              <a:gd name="adj" fmla="val 33333"/>
            </a:avLst>
          </a:prstGeom>
          <a:solidFill>
            <a:srgbClr val="38BDF8">
              <a:alpha val="1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28" name="Image 3" descr="preencoded.png"/>
          <p:cNvPicPr>
            <a:picLocks noChangeAspect="1"/>
          </p:cNvPicPr>
          <p:nvPr/>
        </p:nvPicPr>
        <p:blipFill>
          <a:blip r:embed="rId6"/>
          <a:srcRect l="-80" r="-80"/>
          <a:stretch/>
        </p:blipFill>
        <p:spPr>
          <a:xfrm>
            <a:off x="5651906" y="5143500"/>
            <a:ext cx="286207" cy="228600"/>
          </a:xfrm>
          <a:prstGeom prst="rect">
            <a:avLst/>
          </a:prstGeom>
        </p:spPr>
      </p:pic>
      <p:sp>
        <p:nvSpPr>
          <p:cNvPr id="29" name="Text 23"/>
          <p:cNvSpPr txBox="1"/>
          <p:nvPr/>
        </p:nvSpPr>
        <p:spPr>
          <a:xfrm>
            <a:off x="6214262" y="1057046"/>
            <a:ext cx="1077163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F1F5F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제한적 사용</a:t>
            </a:r>
            <a:endParaRPr lang="en-US" sz="1500" dirty="0"/>
          </a:p>
        </p:txBody>
      </p:sp>
      <p:sp>
        <p:nvSpPr>
          <p:cNvPr id="30" name="Text 24"/>
          <p:cNvSpPr txBox="1"/>
          <p:nvPr/>
        </p:nvSpPr>
        <p:spPr>
          <a:xfrm>
            <a:off x="6214262" y="1371600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표현 자체가 핵심 증거이거나 대체 불가능한 경우에만 사용합니다. 편의를 위한 단순 복사는 지양하세요.</a:t>
            </a:r>
            <a:endParaRPr lang="en-US" sz="1200" dirty="0"/>
          </a:p>
        </p:txBody>
      </p:sp>
      <p:sp>
        <p:nvSpPr>
          <p:cNvPr id="31" name="Text 25"/>
          <p:cNvSpPr txBox="1"/>
          <p:nvPr/>
        </p:nvSpPr>
        <p:spPr>
          <a:xfrm>
            <a:off x="6214262" y="2371954"/>
            <a:ext cx="2057400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F1F5F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따옴표와 블록 인용 구분</a:t>
            </a:r>
            <a:endParaRPr lang="en-US" sz="1500" dirty="0"/>
          </a:p>
        </p:txBody>
      </p:sp>
      <p:sp>
        <p:nvSpPr>
          <p:cNvPr id="32" name="Text 26"/>
          <p:cNvSpPr txBox="1"/>
          <p:nvPr/>
        </p:nvSpPr>
        <p:spPr>
          <a:xfrm>
            <a:off x="6214262" y="2686507"/>
            <a:ext cx="4343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짧은 문장은 큰따옴표("")로, 3줄 이상의 긴 문장은 별도의 단락으로 들여쓰기하여 명확히 구분합니다.</a:t>
            </a:r>
            <a:endParaRPr lang="en-US" sz="1200" dirty="0"/>
          </a:p>
        </p:txBody>
      </p:sp>
      <p:sp>
        <p:nvSpPr>
          <p:cNvPr id="33" name="Text 27"/>
          <p:cNvSpPr txBox="1"/>
          <p:nvPr/>
        </p:nvSpPr>
        <p:spPr>
          <a:xfrm>
            <a:off x="6214262" y="3685946"/>
            <a:ext cx="1886407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F1F5F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맥락 설명과 논평 병행</a:t>
            </a:r>
            <a:endParaRPr lang="en-US" sz="1500" dirty="0"/>
          </a:p>
        </p:txBody>
      </p:sp>
      <p:sp>
        <p:nvSpPr>
          <p:cNvPr id="34" name="Text 28"/>
          <p:cNvSpPr txBox="1"/>
          <p:nvPr/>
        </p:nvSpPr>
        <p:spPr>
          <a:xfrm>
            <a:off x="6214262" y="4000500"/>
            <a:ext cx="465795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인용 전에는 도입 맥락을 설명하고, 인용 후에는 해당 내용에 대한 자신의 해석이나 논평을 반드시 덧붙입니다.</a:t>
            </a:r>
            <a:endParaRPr lang="en-US" sz="1200" dirty="0"/>
          </a:p>
        </p:txBody>
      </p:sp>
      <p:sp>
        <p:nvSpPr>
          <p:cNvPr id="35" name="Text 29"/>
          <p:cNvSpPr txBox="1"/>
          <p:nvPr/>
        </p:nvSpPr>
        <p:spPr>
          <a:xfrm>
            <a:off x="6214262" y="5000854"/>
            <a:ext cx="1305763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F1F5F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원문 혼용 금지</a:t>
            </a:r>
            <a:endParaRPr lang="en-US" sz="1500" dirty="0"/>
          </a:p>
        </p:txBody>
      </p:sp>
      <p:sp>
        <p:nvSpPr>
          <p:cNvPr id="36" name="Text 30"/>
          <p:cNvSpPr txBox="1"/>
          <p:nvPr/>
        </p:nvSpPr>
        <p:spPr>
          <a:xfrm>
            <a:off x="6214262" y="5315407"/>
            <a:ext cx="465795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자신의 문장인 것처럼 맥락 없이 원문을 이어 붙이면 안 됩니다. 인용임을 시각적으로 명확히 표시하세요.</a:t>
            </a:r>
            <a:endParaRPr lang="en-US" sz="1200" dirty="0"/>
          </a:p>
        </p:txBody>
      </p:sp>
      <p:sp>
        <p:nvSpPr>
          <p:cNvPr id="37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이애본(드림아이티비즈) · useful-ai.dreamitbiz.com · 교육 목적 비영리 이용 · 출처 표기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" name="Shape 2"/>
          <p:cNvSpPr/>
          <p:nvPr/>
        </p:nvSpPr>
        <p:spPr>
          <a:xfrm>
            <a:off x="-1904695" y="-1904695"/>
            <a:ext cx="7619695" cy="7619695"/>
          </a:xfrm>
          <a:prstGeom prst="ellipse">
            <a:avLst/>
          </a:prstGeom>
          <a:solidFill>
            <a:srgbClr val="38BDF8">
              <a:alpha val="2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" name="Shape 3"/>
          <p:cNvSpPr/>
          <p:nvPr/>
        </p:nvSpPr>
        <p:spPr>
          <a:xfrm>
            <a:off x="8382305" y="3047695"/>
            <a:ext cx="4762195" cy="4762195"/>
          </a:xfrm>
          <a:prstGeom prst="ellipse">
            <a:avLst/>
          </a:prstGeom>
          <a:solidFill>
            <a:srgbClr val="38BDF8">
              <a:alpha val="2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6" name="Shape 4"/>
          <p:cNvSpPr/>
          <p:nvPr/>
        </p:nvSpPr>
        <p:spPr>
          <a:xfrm>
            <a:off x="0" y="0"/>
            <a:ext cx="4638751" cy="6858000"/>
          </a:xfrm>
          <a:prstGeom prst="rect">
            <a:avLst/>
          </a:prstGeom>
          <a:solidFill>
            <a:srgbClr val="0F172A">
              <a:alpha val="5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7" name="Shape 5"/>
          <p:cNvSpPr/>
          <p:nvPr/>
        </p:nvSpPr>
        <p:spPr>
          <a:xfrm>
            <a:off x="4629607" y="0"/>
            <a:ext cx="9144" cy="6858000"/>
          </a:xfrm>
          <a:prstGeom prst="rect">
            <a:avLst/>
          </a:prstGeom>
          <a:solidFill>
            <a:srgbClr val="FFFFFF">
              <a:alpha val="1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8" name="Shape 6"/>
          <p:cNvSpPr/>
          <p:nvPr/>
        </p:nvSpPr>
        <p:spPr>
          <a:xfrm>
            <a:off x="571500" y="2100377"/>
            <a:ext cx="571500" cy="57607"/>
          </a:xfrm>
          <a:prstGeom prst="rect">
            <a:avLst/>
          </a:prstGeom>
          <a:solidFill>
            <a:srgbClr val="38BDF8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9" name="Text 7"/>
          <p:cNvSpPr txBox="1"/>
          <p:nvPr/>
        </p:nvSpPr>
        <p:spPr>
          <a:xfrm>
            <a:off x="571500" y="2385670"/>
            <a:ext cx="700430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직접 인용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571500" y="2643530"/>
            <a:ext cx="2581351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6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직접 인용이</a:t>
            </a:r>
            <a:endParaRPr lang="en-US" sz="3600" dirty="0"/>
          </a:p>
        </p:txBody>
      </p:sp>
      <p:sp>
        <p:nvSpPr>
          <p:cNvPr id="11" name="Text 9"/>
          <p:cNvSpPr txBox="1"/>
          <p:nvPr/>
        </p:nvSpPr>
        <p:spPr>
          <a:xfrm>
            <a:off x="571500" y="3215030"/>
            <a:ext cx="3001061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6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허용되는 경우</a:t>
            </a:r>
            <a:endParaRPr lang="en-US" sz="3600" dirty="0"/>
          </a:p>
        </p:txBody>
      </p:sp>
      <p:sp>
        <p:nvSpPr>
          <p:cNvPr id="12" name="Text 10"/>
          <p:cNvSpPr txBox="1"/>
          <p:nvPr/>
        </p:nvSpPr>
        <p:spPr>
          <a:xfrm>
            <a:off x="571500" y="4147718"/>
            <a:ext cx="3572561" cy="5907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dirty="0">
                <a:solidFill>
                  <a:srgbClr val="9CA3A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원문 그대로를 가져오는 것이 학술적으로 유의미할 때에만 제한적으로 활용합니다.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5299862" y="1837944"/>
            <a:ext cx="6229807" cy="533095"/>
          </a:xfrm>
          <a:prstGeom prst="roundRect">
            <a:avLst>
              <a:gd name="adj" fmla="val 24504"/>
            </a:avLst>
          </a:prstGeom>
          <a:solidFill>
            <a:srgbClr val="38BDF8">
              <a:alpha val="8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4" name="Shape 12"/>
          <p:cNvSpPr/>
          <p:nvPr/>
        </p:nvSpPr>
        <p:spPr>
          <a:xfrm>
            <a:off x="5299862" y="1837944"/>
            <a:ext cx="38405" cy="533095"/>
          </a:xfrm>
          <a:prstGeom prst="rect">
            <a:avLst/>
          </a:prstGeom>
          <a:solidFill>
            <a:srgbClr val="38BDF8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5" name="Shape 13"/>
          <p:cNvSpPr/>
          <p:nvPr/>
        </p:nvSpPr>
        <p:spPr>
          <a:xfrm>
            <a:off x="5299862" y="2500884"/>
            <a:ext cx="6229807" cy="533095"/>
          </a:xfrm>
          <a:prstGeom prst="roundRect">
            <a:avLst>
              <a:gd name="adj" fmla="val 24504"/>
            </a:avLst>
          </a:prstGeom>
          <a:solidFill>
            <a:srgbClr val="FFFFFF">
              <a:alpha val="3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6" name="Shape 14"/>
          <p:cNvSpPr/>
          <p:nvPr/>
        </p:nvSpPr>
        <p:spPr>
          <a:xfrm>
            <a:off x="5299862" y="2500884"/>
            <a:ext cx="38405" cy="533095"/>
          </a:xfrm>
          <a:prstGeom prst="rect">
            <a:avLst/>
          </a:prstGeom>
          <a:solidFill>
            <a:srgbClr val="000000">
              <a:alpha val="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7" name="Shape 15"/>
          <p:cNvSpPr/>
          <p:nvPr/>
        </p:nvSpPr>
        <p:spPr>
          <a:xfrm>
            <a:off x="5299862" y="3163824"/>
            <a:ext cx="6229807" cy="533095"/>
          </a:xfrm>
          <a:prstGeom prst="roundRect">
            <a:avLst>
              <a:gd name="adj" fmla="val 24504"/>
            </a:avLst>
          </a:prstGeom>
          <a:solidFill>
            <a:srgbClr val="FFFFFF">
              <a:alpha val="3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8" name="Shape 16"/>
          <p:cNvSpPr/>
          <p:nvPr/>
        </p:nvSpPr>
        <p:spPr>
          <a:xfrm>
            <a:off x="5299862" y="3163824"/>
            <a:ext cx="38405" cy="533095"/>
          </a:xfrm>
          <a:prstGeom prst="rect">
            <a:avLst/>
          </a:prstGeom>
          <a:solidFill>
            <a:srgbClr val="000000">
              <a:alpha val="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9" name="Shape 17"/>
          <p:cNvSpPr/>
          <p:nvPr/>
        </p:nvSpPr>
        <p:spPr>
          <a:xfrm>
            <a:off x="5299862" y="3826764"/>
            <a:ext cx="6229807" cy="533095"/>
          </a:xfrm>
          <a:prstGeom prst="roundRect">
            <a:avLst>
              <a:gd name="adj" fmla="val 24504"/>
            </a:avLst>
          </a:prstGeom>
          <a:solidFill>
            <a:srgbClr val="FFFFFF">
              <a:alpha val="3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0" name="Shape 18"/>
          <p:cNvSpPr/>
          <p:nvPr/>
        </p:nvSpPr>
        <p:spPr>
          <a:xfrm>
            <a:off x="5299862" y="3826764"/>
            <a:ext cx="38405" cy="533095"/>
          </a:xfrm>
          <a:prstGeom prst="rect">
            <a:avLst/>
          </a:prstGeom>
          <a:solidFill>
            <a:srgbClr val="000000">
              <a:alpha val="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1" name="Shape 19"/>
          <p:cNvSpPr/>
          <p:nvPr/>
        </p:nvSpPr>
        <p:spPr>
          <a:xfrm>
            <a:off x="5299862" y="4489704"/>
            <a:ext cx="6229807" cy="533095"/>
          </a:xfrm>
          <a:prstGeom prst="roundRect">
            <a:avLst>
              <a:gd name="adj" fmla="val 24504"/>
            </a:avLst>
          </a:prstGeom>
          <a:solidFill>
            <a:srgbClr val="FFFFFF">
              <a:alpha val="3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2" name="Shape 20"/>
          <p:cNvSpPr/>
          <p:nvPr/>
        </p:nvSpPr>
        <p:spPr>
          <a:xfrm>
            <a:off x="5299862" y="4489704"/>
            <a:ext cx="38405" cy="533095"/>
          </a:xfrm>
          <a:prstGeom prst="rect">
            <a:avLst/>
          </a:prstGeom>
          <a:solidFill>
            <a:srgbClr val="000000">
              <a:alpha val="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3" name="Text 21"/>
          <p:cNvSpPr txBox="1"/>
          <p:nvPr/>
        </p:nvSpPr>
        <p:spPr>
          <a:xfrm>
            <a:off x="5649163" y="1948586"/>
            <a:ext cx="427025" cy="3054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600" b="1" dirty="0">
                <a:solidFill>
                  <a:srgbClr val="38BDF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01</a:t>
            </a:r>
            <a:endParaRPr lang="en-US" sz="1600" dirty="0"/>
          </a:p>
        </p:txBody>
      </p:sp>
      <p:sp>
        <p:nvSpPr>
          <p:cNvPr id="24" name="Text 22"/>
          <p:cNvSpPr txBox="1"/>
          <p:nvPr/>
        </p:nvSpPr>
        <p:spPr>
          <a:xfrm>
            <a:off x="6099962" y="1971446"/>
            <a:ext cx="3275381" cy="2478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F1F5F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정의: 학술 용어나 현상을 정확하게 규정할 때</a:t>
            </a:r>
            <a:endParaRPr lang="en-US" sz="1300" dirty="0"/>
          </a:p>
        </p:txBody>
      </p:sp>
      <p:sp>
        <p:nvSpPr>
          <p:cNvPr id="25" name="Text 23"/>
          <p:cNvSpPr txBox="1"/>
          <p:nvPr/>
        </p:nvSpPr>
        <p:spPr>
          <a:xfrm>
            <a:off x="5649163" y="2611526"/>
            <a:ext cx="427025" cy="3054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600" b="1" dirty="0">
                <a:solidFill>
                  <a:srgbClr val="38BDF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02</a:t>
            </a:r>
            <a:endParaRPr lang="en-US" sz="1600" dirty="0"/>
          </a:p>
        </p:txBody>
      </p:sp>
      <p:sp>
        <p:nvSpPr>
          <p:cNvPr id="26" name="Text 24"/>
          <p:cNvSpPr txBox="1"/>
          <p:nvPr/>
        </p:nvSpPr>
        <p:spPr>
          <a:xfrm>
            <a:off x="6099962" y="2634386"/>
            <a:ext cx="3427171" cy="2478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F1F5F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권위: 저명한 학자의 진술로 주장을 뒷받침할 때</a:t>
            </a:r>
            <a:endParaRPr lang="en-US" sz="1300" dirty="0"/>
          </a:p>
        </p:txBody>
      </p:sp>
      <p:sp>
        <p:nvSpPr>
          <p:cNvPr id="27" name="Text 25"/>
          <p:cNvSpPr txBox="1"/>
          <p:nvPr/>
        </p:nvSpPr>
        <p:spPr>
          <a:xfrm>
            <a:off x="5649163" y="3274466"/>
            <a:ext cx="427025" cy="3054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600" b="1" dirty="0">
                <a:solidFill>
                  <a:srgbClr val="38BDF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03</a:t>
            </a:r>
            <a:endParaRPr lang="en-US" sz="1600" dirty="0"/>
          </a:p>
        </p:txBody>
      </p:sp>
      <p:sp>
        <p:nvSpPr>
          <p:cNvPr id="28" name="Text 26"/>
          <p:cNvSpPr txBox="1"/>
          <p:nvPr/>
        </p:nvSpPr>
        <p:spPr>
          <a:xfrm>
            <a:off x="6099962" y="3297326"/>
            <a:ext cx="3941978" cy="2478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F1F5F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상이한 견해: 원문의 표현을 공정하게 대조하고 싶을 때</a:t>
            </a:r>
            <a:endParaRPr lang="en-US" sz="1300" dirty="0"/>
          </a:p>
        </p:txBody>
      </p:sp>
      <p:sp>
        <p:nvSpPr>
          <p:cNvPr id="29" name="Text 27"/>
          <p:cNvSpPr txBox="1"/>
          <p:nvPr/>
        </p:nvSpPr>
        <p:spPr>
          <a:xfrm>
            <a:off x="5649163" y="3937406"/>
            <a:ext cx="427025" cy="3054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600" b="1" dirty="0">
                <a:solidFill>
                  <a:srgbClr val="38BDF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04</a:t>
            </a:r>
            <a:endParaRPr lang="en-US" sz="1600" dirty="0"/>
          </a:p>
        </p:txBody>
      </p:sp>
      <p:sp>
        <p:nvSpPr>
          <p:cNvPr id="30" name="Text 28"/>
          <p:cNvSpPr txBox="1"/>
          <p:nvPr/>
        </p:nvSpPr>
        <p:spPr>
          <a:xfrm>
            <a:off x="6099962" y="3960266"/>
            <a:ext cx="3741725" cy="2478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F1F5F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독창성: 표현 자체가 독창적이거나 대체 불가능할 때</a:t>
            </a:r>
            <a:endParaRPr lang="en-US" sz="1300" dirty="0"/>
          </a:p>
        </p:txBody>
      </p:sp>
      <p:sp>
        <p:nvSpPr>
          <p:cNvPr id="31" name="Text 29"/>
          <p:cNvSpPr txBox="1"/>
          <p:nvPr/>
        </p:nvSpPr>
        <p:spPr>
          <a:xfrm>
            <a:off x="5649163" y="4600346"/>
            <a:ext cx="427025" cy="3054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600" b="1" dirty="0">
                <a:solidFill>
                  <a:srgbClr val="38BDF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05</a:t>
            </a:r>
            <a:endParaRPr lang="en-US" sz="1600" dirty="0"/>
          </a:p>
        </p:txBody>
      </p:sp>
      <p:sp>
        <p:nvSpPr>
          <p:cNvPr id="32" name="Text 30"/>
          <p:cNvSpPr txBox="1"/>
          <p:nvPr/>
        </p:nvSpPr>
        <p:spPr>
          <a:xfrm>
            <a:off x="6099962" y="4623206"/>
            <a:ext cx="3475634" cy="2478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F1F5F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개념적 틀: 논의의 핵심 프레임이 되는 문장일 때</a:t>
            </a:r>
            <a:endParaRPr lang="en-US" sz="1300" dirty="0"/>
          </a:p>
        </p:txBody>
      </p:sp>
      <p:sp>
        <p:nvSpPr>
          <p:cNvPr id="33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이애본(드림아이티비즈) · useful-ai.dreamitbiz.com · 교육 목적 비영리 이용 · 출처 표기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" name="Shape 2"/>
          <p:cNvSpPr/>
          <p:nvPr/>
        </p:nvSpPr>
        <p:spPr>
          <a:xfrm>
            <a:off x="7905902" y="2572207"/>
            <a:ext cx="4762195" cy="4762195"/>
          </a:xfrm>
          <a:prstGeom prst="ellipse">
            <a:avLst/>
          </a:prstGeom>
          <a:solidFill>
            <a:srgbClr val="38BDF8">
              <a:alpha val="3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" name="Shape 3"/>
          <p:cNvSpPr/>
          <p:nvPr/>
        </p:nvSpPr>
        <p:spPr>
          <a:xfrm>
            <a:off x="761695" y="476402"/>
            <a:ext cx="571500" cy="57607"/>
          </a:xfrm>
          <a:prstGeom prst="roundRect">
            <a:avLst>
              <a:gd name="adj" fmla="val 793654"/>
            </a:avLst>
          </a:prstGeom>
          <a:solidFill>
            <a:srgbClr val="38BDF8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6" name="Text 4"/>
          <p:cNvSpPr txBox="1"/>
          <p:nvPr/>
        </p:nvSpPr>
        <p:spPr>
          <a:xfrm>
            <a:off x="761695" y="638251"/>
            <a:ext cx="3076956" cy="4956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7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직접 인용 형식 예시</a:t>
            </a:r>
            <a:endParaRPr lang="en-US" sz="2700" dirty="0"/>
          </a:p>
        </p:txBody>
      </p:sp>
      <p:sp>
        <p:nvSpPr>
          <p:cNvPr id="7" name="Text 5"/>
          <p:cNvSpPr txBox="1"/>
          <p:nvPr/>
        </p:nvSpPr>
        <p:spPr>
          <a:xfrm>
            <a:off x="761695" y="1190549"/>
            <a:ext cx="4977079" cy="2478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9CA3A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인용문의 길이에 따라 짧은 인용과 블록 인용으로 형식이 달라집니다.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761695" y="1733703"/>
            <a:ext cx="5143500" cy="4549652"/>
          </a:xfrm>
          <a:prstGeom prst="roundRect">
            <a:avLst>
              <a:gd name="adj" fmla="val 645"/>
            </a:avLst>
          </a:prstGeom>
          <a:solidFill>
            <a:srgbClr val="1E293B">
              <a:alpha val="50000"/>
            </a:srgbClr>
          </a:solidFill>
          <a:ln w="50800">
            <a:solidFill>
              <a:srgbClr val="38BDF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9" name="Shape 7"/>
          <p:cNvSpPr/>
          <p:nvPr/>
        </p:nvSpPr>
        <p:spPr>
          <a:xfrm>
            <a:off x="1057046" y="2057400"/>
            <a:ext cx="4552798" cy="314554"/>
          </a:xfrm>
          <a:prstGeom prst="roundRect">
            <a:avLst>
              <a:gd name="adj" fmla="val 290697"/>
            </a:avLst>
          </a:prstGeom>
          <a:solidFill>
            <a:srgbClr val="38BDF8">
              <a:alpha val="15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10" name="Image 0" descr="preencoded.png"/>
          <p:cNvPicPr>
            <a:picLocks noChangeAspect="1"/>
          </p:cNvPicPr>
          <p:nvPr/>
        </p:nvPicPr>
        <p:blipFill>
          <a:blip r:embed="rId3"/>
          <a:srcRect l="-2838" r="-2838"/>
          <a:stretch/>
        </p:blipFill>
        <p:spPr>
          <a:xfrm>
            <a:off x="1190549" y="2145182"/>
            <a:ext cx="123444" cy="133502"/>
          </a:xfrm>
          <a:prstGeom prst="rect">
            <a:avLst/>
          </a:prstGeom>
        </p:spPr>
      </p:pic>
      <p:sp>
        <p:nvSpPr>
          <p:cNvPr id="11" name="Text 8"/>
          <p:cNvSpPr txBox="1"/>
          <p:nvPr/>
        </p:nvSpPr>
        <p:spPr>
          <a:xfrm>
            <a:off x="1390802" y="2115007"/>
            <a:ext cx="1506931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38BDF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짧은 인용 (40단어 미만)</a:t>
            </a:r>
            <a:endParaRPr lang="en-US" sz="1000" dirty="0"/>
          </a:p>
        </p:txBody>
      </p:sp>
      <p:pic>
        <p:nvPicPr>
          <p:cNvPr id="12" name="Image 1" descr="preencoded.png"/>
          <p:cNvPicPr>
            <a:picLocks noChangeAspect="1"/>
          </p:cNvPicPr>
          <p:nvPr/>
        </p:nvPicPr>
        <p:blipFill>
          <a:blip r:embed="rId4"/>
          <a:srcRect l="-31409" r="-31409"/>
          <a:stretch/>
        </p:blipFill>
        <p:spPr>
          <a:xfrm>
            <a:off x="1057046" y="2592324"/>
            <a:ext cx="190195" cy="133502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1248156" y="2556662"/>
            <a:ext cx="1617574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문장 내 큰따옴표(“ ”) 사용</a:t>
            </a:r>
            <a:endParaRPr lang="en-US" sz="1000" dirty="0"/>
          </a:p>
        </p:txBody>
      </p:sp>
      <p:pic>
        <p:nvPicPr>
          <p:cNvPr id="14" name="Image 2" descr="preencoded.png"/>
          <p:cNvPicPr>
            <a:picLocks noChangeAspect="1"/>
          </p:cNvPicPr>
          <p:nvPr/>
        </p:nvPicPr>
        <p:blipFill>
          <a:blip r:embed="rId4"/>
          <a:srcRect l="-31409" r="-31409"/>
          <a:stretch/>
        </p:blipFill>
        <p:spPr>
          <a:xfrm>
            <a:off x="1057046" y="2894076"/>
            <a:ext cx="190195" cy="133502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1248156" y="2857500"/>
            <a:ext cx="2104034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괄호 안에 저자, 연도, 쪽수(p.) 표기</a:t>
            </a:r>
            <a:endParaRPr lang="en-US" sz="1000" dirty="0"/>
          </a:p>
        </p:txBody>
      </p:sp>
      <p:sp>
        <p:nvSpPr>
          <p:cNvPr id="16" name="Shape 11"/>
          <p:cNvSpPr/>
          <p:nvPr/>
        </p:nvSpPr>
        <p:spPr>
          <a:xfrm>
            <a:off x="1057046" y="3158338"/>
            <a:ext cx="4552798" cy="1695298"/>
          </a:xfrm>
          <a:prstGeom prst="roundRect">
            <a:avLst>
              <a:gd name="adj" fmla="val 2424"/>
            </a:avLst>
          </a:prstGeom>
          <a:solidFill>
            <a:srgbClr val="0F172A">
              <a:alpha val="6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7" name="Shape 12"/>
          <p:cNvSpPr/>
          <p:nvPr/>
        </p:nvSpPr>
        <p:spPr>
          <a:xfrm>
            <a:off x="1057046" y="3158338"/>
            <a:ext cx="28346" cy="1695298"/>
          </a:xfrm>
          <a:prstGeom prst="rect">
            <a:avLst/>
          </a:prstGeom>
          <a:solidFill>
            <a:srgbClr val="38BDF8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8" name="Text 13"/>
          <p:cNvSpPr txBox="1"/>
          <p:nvPr/>
        </p:nvSpPr>
        <p:spPr>
          <a:xfrm>
            <a:off x="1276502" y="3358591"/>
            <a:ext cx="3871570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김철수는 "연구 윤리는 학문의 기본이다"라고 강조했다(김철수, 2026, p. 15).</a:t>
            </a:r>
            <a:endParaRPr lang="en-US" sz="1100" dirty="0"/>
          </a:p>
        </p:txBody>
      </p:sp>
      <p:sp>
        <p:nvSpPr>
          <p:cNvPr id="19" name="Text 14"/>
          <p:cNvSpPr txBox="1"/>
          <p:nvPr/>
        </p:nvSpPr>
        <p:spPr>
          <a:xfrm>
            <a:off x="1276502" y="3898087"/>
            <a:ext cx="423367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또는,</a:t>
            </a:r>
            <a:endParaRPr lang="en-US" sz="1100" dirty="0"/>
          </a:p>
        </p:txBody>
      </p:sp>
      <p:sp>
        <p:nvSpPr>
          <p:cNvPr id="20" name="Text 15"/>
          <p:cNvSpPr txBox="1"/>
          <p:nvPr/>
        </p:nvSpPr>
        <p:spPr>
          <a:xfrm>
            <a:off x="1276502" y="4206240"/>
            <a:ext cx="3975811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김철수(2026)는 "연구 윤리는 학문의 기본이다"라고 주장했다(p. 15).</a:t>
            </a:r>
            <a:endParaRPr lang="en-US" sz="1100" dirty="0"/>
          </a:p>
        </p:txBody>
      </p:sp>
      <p:sp>
        <p:nvSpPr>
          <p:cNvPr id="21" name="Text 16"/>
          <p:cNvSpPr txBox="1"/>
          <p:nvPr/>
        </p:nvSpPr>
        <p:spPr>
          <a:xfrm>
            <a:off x="1057046" y="5106924"/>
            <a:ext cx="1810512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B72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* 마침표는 인용 괄호 뒤에 찍습니다.</a:t>
            </a:r>
            <a:endParaRPr lang="en-US" sz="900" dirty="0"/>
          </a:p>
        </p:txBody>
      </p:sp>
      <p:sp>
        <p:nvSpPr>
          <p:cNvPr id="22" name="Shape 17"/>
          <p:cNvSpPr/>
          <p:nvPr/>
        </p:nvSpPr>
        <p:spPr>
          <a:xfrm>
            <a:off x="6286500" y="1733703"/>
            <a:ext cx="5143500" cy="4549652"/>
          </a:xfrm>
          <a:prstGeom prst="roundRect">
            <a:avLst>
              <a:gd name="adj" fmla="val 645"/>
            </a:avLst>
          </a:prstGeom>
          <a:solidFill>
            <a:srgbClr val="1E293B">
              <a:alpha val="30000"/>
            </a:srgbClr>
          </a:solidFill>
          <a:ln w="50800">
            <a:solidFill>
              <a:srgbClr val="F43F5E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3" name="Shape 18"/>
          <p:cNvSpPr/>
          <p:nvPr/>
        </p:nvSpPr>
        <p:spPr>
          <a:xfrm>
            <a:off x="6581851" y="2057400"/>
            <a:ext cx="4552798" cy="314554"/>
          </a:xfrm>
          <a:prstGeom prst="roundRect">
            <a:avLst>
              <a:gd name="adj" fmla="val 290697"/>
            </a:avLst>
          </a:prstGeom>
          <a:solidFill>
            <a:srgbClr val="F43F5E">
              <a:alpha val="15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24" name="Image 3" descr="preencoded.png"/>
          <p:cNvPicPr>
            <a:picLocks noChangeAspect="1"/>
          </p:cNvPicPr>
          <p:nvPr/>
        </p:nvPicPr>
        <p:blipFill>
          <a:blip r:embed="rId5"/>
          <a:srcRect l="-2838" r="-2838"/>
          <a:stretch/>
        </p:blipFill>
        <p:spPr>
          <a:xfrm>
            <a:off x="6715354" y="2145182"/>
            <a:ext cx="123444" cy="133502"/>
          </a:xfrm>
          <a:prstGeom prst="rect">
            <a:avLst/>
          </a:prstGeom>
        </p:spPr>
      </p:pic>
      <p:sp>
        <p:nvSpPr>
          <p:cNvPr id="25" name="Text 19"/>
          <p:cNvSpPr txBox="1"/>
          <p:nvPr/>
        </p:nvSpPr>
        <p:spPr>
          <a:xfrm>
            <a:off x="6915607" y="2115007"/>
            <a:ext cx="1506931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F43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블록 인용 (40단어 이상)</a:t>
            </a:r>
            <a:endParaRPr lang="en-US" sz="1000" dirty="0"/>
          </a:p>
        </p:txBody>
      </p:sp>
      <p:pic>
        <p:nvPicPr>
          <p:cNvPr id="26" name="Image 4" descr="preencoded.png"/>
          <p:cNvPicPr>
            <a:picLocks noChangeAspect="1"/>
          </p:cNvPicPr>
          <p:nvPr/>
        </p:nvPicPr>
        <p:blipFill>
          <a:blip r:embed="rId4"/>
          <a:srcRect l="-31409" r="-31409"/>
          <a:stretch/>
        </p:blipFill>
        <p:spPr>
          <a:xfrm>
            <a:off x="6581851" y="2592324"/>
            <a:ext cx="190195" cy="133502"/>
          </a:xfrm>
          <a:prstGeom prst="rect">
            <a:avLst/>
          </a:prstGeom>
        </p:spPr>
      </p:pic>
      <p:sp>
        <p:nvSpPr>
          <p:cNvPr id="27" name="Text 20"/>
          <p:cNvSpPr txBox="1"/>
          <p:nvPr/>
        </p:nvSpPr>
        <p:spPr>
          <a:xfrm>
            <a:off x="6772046" y="2556662"/>
            <a:ext cx="1903781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따옴표 없이 새로운 줄에서 시작</a:t>
            </a:r>
            <a:endParaRPr lang="en-US" sz="1000" dirty="0"/>
          </a:p>
        </p:txBody>
      </p:sp>
      <p:pic>
        <p:nvPicPr>
          <p:cNvPr id="28" name="Image 5" descr="preencoded.png"/>
          <p:cNvPicPr>
            <a:picLocks noChangeAspect="1"/>
          </p:cNvPicPr>
          <p:nvPr/>
        </p:nvPicPr>
        <p:blipFill>
          <a:blip r:embed="rId4"/>
          <a:srcRect l="-31409" r="-31409"/>
          <a:stretch/>
        </p:blipFill>
        <p:spPr>
          <a:xfrm>
            <a:off x="6581851" y="2894076"/>
            <a:ext cx="190195" cy="133502"/>
          </a:xfrm>
          <a:prstGeom prst="rect">
            <a:avLst/>
          </a:prstGeom>
        </p:spPr>
      </p:pic>
      <p:sp>
        <p:nvSpPr>
          <p:cNvPr id="29" name="Text 21"/>
          <p:cNvSpPr txBox="1"/>
          <p:nvPr/>
        </p:nvSpPr>
        <p:spPr>
          <a:xfrm>
            <a:off x="6772046" y="2857500"/>
            <a:ext cx="2160727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전체 문단을 들여쓰기(Indentation)</a:t>
            </a:r>
            <a:endParaRPr lang="en-US" sz="1000" dirty="0"/>
          </a:p>
        </p:txBody>
      </p:sp>
      <p:sp>
        <p:nvSpPr>
          <p:cNvPr id="30" name="Shape 22"/>
          <p:cNvSpPr/>
          <p:nvPr/>
        </p:nvSpPr>
        <p:spPr>
          <a:xfrm>
            <a:off x="6581851" y="3158338"/>
            <a:ext cx="4552798" cy="1390802"/>
          </a:xfrm>
          <a:prstGeom prst="roundRect">
            <a:avLst>
              <a:gd name="adj" fmla="val 3603"/>
            </a:avLst>
          </a:prstGeom>
          <a:solidFill>
            <a:srgbClr val="0F172A">
              <a:alpha val="6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1" name="Shape 23"/>
          <p:cNvSpPr/>
          <p:nvPr/>
        </p:nvSpPr>
        <p:spPr>
          <a:xfrm>
            <a:off x="6581851" y="3158338"/>
            <a:ext cx="28346" cy="1390802"/>
          </a:xfrm>
          <a:prstGeom prst="rect">
            <a:avLst/>
          </a:prstGeom>
          <a:solidFill>
            <a:srgbClr val="F43F5E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2" name="Text 24"/>
          <p:cNvSpPr txBox="1"/>
          <p:nvPr/>
        </p:nvSpPr>
        <p:spPr>
          <a:xfrm>
            <a:off x="6801307" y="3358591"/>
            <a:ext cx="242316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김철수(2026)는 다음과 같이 설명했다:</a:t>
            </a:r>
            <a:endParaRPr lang="en-US" sz="1100" dirty="0"/>
          </a:p>
        </p:txBody>
      </p:sp>
      <p:sp>
        <p:nvSpPr>
          <p:cNvPr id="33" name="Shape 25"/>
          <p:cNvSpPr/>
          <p:nvPr/>
        </p:nvSpPr>
        <p:spPr>
          <a:xfrm>
            <a:off x="6801307" y="3656686"/>
            <a:ext cx="19202" cy="694944"/>
          </a:xfrm>
          <a:prstGeom prst="rect">
            <a:avLst/>
          </a:prstGeom>
          <a:solidFill>
            <a:srgbClr val="4B5563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4" name="Text 26"/>
          <p:cNvSpPr txBox="1"/>
          <p:nvPr/>
        </p:nvSpPr>
        <p:spPr>
          <a:xfrm>
            <a:off x="6972300" y="3666744"/>
            <a:ext cx="402336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i="1" dirty="0">
                <a:solidFill>
                  <a:srgbClr val="9CA3A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연구 윤리는 단순히 규정을 지키는 것을 넘어, 학문 공동체 내의 신뢰를 형성하는 핵심 기제이다. 따라서 모든 연구자는 인용과 출처 표기를 철저히 해야 한다 (pp. 15-16).</a:t>
            </a:r>
            <a:endParaRPr lang="en-US" sz="1100" dirty="0"/>
          </a:p>
        </p:txBody>
      </p:sp>
      <p:sp>
        <p:nvSpPr>
          <p:cNvPr id="35" name="Shape 27"/>
          <p:cNvSpPr/>
          <p:nvPr/>
        </p:nvSpPr>
        <p:spPr>
          <a:xfrm>
            <a:off x="6610197" y="4812371"/>
            <a:ext cx="4552798" cy="905256"/>
          </a:xfrm>
          <a:prstGeom prst="roundRect">
            <a:avLst>
              <a:gd name="adj" fmla="val 12759"/>
            </a:avLst>
          </a:prstGeom>
          <a:solidFill>
            <a:srgbClr val="FFFFFF">
              <a:alpha val="5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6" name="Shape 28"/>
          <p:cNvSpPr/>
          <p:nvPr/>
        </p:nvSpPr>
        <p:spPr>
          <a:xfrm>
            <a:off x="6752844" y="5090349"/>
            <a:ext cx="342900" cy="342900"/>
          </a:xfrm>
          <a:prstGeom prst="ellipse">
            <a:avLst/>
          </a:prstGeom>
          <a:solidFill>
            <a:srgbClr val="FBBF24"/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37" name="Image 6" descr="preencoded.png"/>
          <p:cNvPicPr>
            <a:picLocks noChangeAspect="1"/>
          </p:cNvPicPr>
          <p:nvPr/>
        </p:nvPicPr>
        <p:blipFill>
          <a:blip r:embed="rId6"/>
          <a:srcRect t="-856" b="-856"/>
          <a:stretch/>
        </p:blipFill>
        <p:spPr>
          <a:xfrm>
            <a:off x="6858000" y="5170816"/>
            <a:ext cx="133502" cy="181051"/>
          </a:xfrm>
          <a:prstGeom prst="rect">
            <a:avLst/>
          </a:prstGeom>
        </p:spPr>
      </p:pic>
      <p:sp>
        <p:nvSpPr>
          <p:cNvPr id="38" name="Text 29"/>
          <p:cNvSpPr txBox="1"/>
          <p:nvPr/>
        </p:nvSpPr>
        <p:spPr>
          <a:xfrm>
            <a:off x="7238390" y="4955018"/>
            <a:ext cx="1408176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FBBF2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PRO TIP: 맥락과 논평</a:t>
            </a:r>
            <a:endParaRPr lang="en-US" sz="1000" dirty="0"/>
          </a:p>
        </p:txBody>
      </p:sp>
      <p:sp>
        <p:nvSpPr>
          <p:cNvPr id="39" name="Text 30"/>
          <p:cNvSpPr txBox="1"/>
          <p:nvPr/>
        </p:nvSpPr>
        <p:spPr>
          <a:xfrm>
            <a:off x="7238390" y="5179960"/>
            <a:ext cx="3802990" cy="3913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인용 전후에 '누가/어떤 맥락에서' 말했는지 밝히고, 인용 후에는 내 주장을 덧붙이세요.</a:t>
            </a:r>
            <a:endParaRPr lang="en-US" sz="1000" dirty="0"/>
          </a:p>
        </p:txBody>
      </p:sp>
      <p:sp>
        <p:nvSpPr>
          <p:cNvPr id="40" name="Shape 31"/>
          <p:cNvSpPr/>
          <p:nvPr/>
        </p:nvSpPr>
        <p:spPr>
          <a:xfrm>
            <a:off x="5857646" y="3354934"/>
            <a:ext cx="476402" cy="476402"/>
          </a:xfrm>
          <a:prstGeom prst="ellipse">
            <a:avLst/>
          </a:prstGeom>
          <a:solidFill>
            <a:srgbClr val="0F172A"/>
          </a:solidFill>
          <a:ln w="25400">
            <a:solidFill>
              <a:srgbClr val="FFFFFF">
                <a:alpha val="10000"/>
              </a:srgbClr>
            </a:solidFill>
            <a:prstDash val="solid"/>
          </a:ln>
          <a:effectLst>
            <a:outerShdw blurRad="12700" dist="12700" dir="16200000" algn="bl" rotWithShape="0">
              <a:srgbClr val="0F172A">
                <a:alpha val="10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41" name="Text 32"/>
          <p:cNvSpPr txBox="1"/>
          <p:nvPr/>
        </p:nvSpPr>
        <p:spPr>
          <a:xfrm>
            <a:off x="5999378" y="3478378"/>
            <a:ext cx="31455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VS</a:t>
            </a:r>
            <a:endParaRPr lang="en-US" sz="1200" dirty="0"/>
          </a:p>
        </p:txBody>
      </p:sp>
      <p:sp>
        <p:nvSpPr>
          <p:cNvPr id="42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이애본(드림아이티비즈) · useful-ai.dreamitbiz.com · 교육 목적 비영리 이용 · 출처 표기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" name="Shape 2"/>
          <p:cNvSpPr/>
          <p:nvPr/>
        </p:nvSpPr>
        <p:spPr>
          <a:xfrm>
            <a:off x="-1904695" y="-1904695"/>
            <a:ext cx="7619695" cy="7619695"/>
          </a:xfrm>
          <a:prstGeom prst="ellipse">
            <a:avLst/>
          </a:prstGeom>
          <a:solidFill>
            <a:srgbClr val="38BDF8">
              <a:alpha val="2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" name="Shape 3"/>
          <p:cNvSpPr/>
          <p:nvPr/>
        </p:nvSpPr>
        <p:spPr>
          <a:xfrm>
            <a:off x="8382305" y="3047695"/>
            <a:ext cx="4762195" cy="4762195"/>
          </a:xfrm>
          <a:prstGeom prst="ellipse">
            <a:avLst/>
          </a:prstGeom>
          <a:solidFill>
            <a:srgbClr val="38BDF8">
              <a:alpha val="2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6" name="Shape 4"/>
          <p:cNvSpPr/>
          <p:nvPr/>
        </p:nvSpPr>
        <p:spPr>
          <a:xfrm>
            <a:off x="0" y="0"/>
            <a:ext cx="4638751" cy="6858000"/>
          </a:xfrm>
          <a:prstGeom prst="rect">
            <a:avLst/>
          </a:prstGeom>
          <a:solidFill>
            <a:srgbClr val="0F172A">
              <a:alpha val="5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7" name="Shape 5"/>
          <p:cNvSpPr/>
          <p:nvPr/>
        </p:nvSpPr>
        <p:spPr>
          <a:xfrm>
            <a:off x="4629607" y="0"/>
            <a:ext cx="9144" cy="6858000"/>
          </a:xfrm>
          <a:prstGeom prst="rect">
            <a:avLst/>
          </a:prstGeom>
          <a:solidFill>
            <a:srgbClr val="FFFFFF">
              <a:alpha val="1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8" name="Shape 6"/>
          <p:cNvSpPr/>
          <p:nvPr/>
        </p:nvSpPr>
        <p:spPr>
          <a:xfrm>
            <a:off x="571500" y="2100377"/>
            <a:ext cx="571500" cy="57607"/>
          </a:xfrm>
          <a:prstGeom prst="rect">
            <a:avLst/>
          </a:prstGeom>
          <a:solidFill>
            <a:srgbClr val="38BDF8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9" name="Text 7"/>
          <p:cNvSpPr txBox="1"/>
          <p:nvPr/>
        </p:nvSpPr>
        <p:spPr>
          <a:xfrm>
            <a:off x="571500" y="2385670"/>
            <a:ext cx="833933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재인용 원칙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571500" y="2643530"/>
            <a:ext cx="1772107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6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재인용:</a:t>
            </a:r>
            <a:endParaRPr lang="en-US" sz="3600" dirty="0"/>
          </a:p>
        </p:txBody>
      </p:sp>
      <p:sp>
        <p:nvSpPr>
          <p:cNvPr id="11" name="Text 9"/>
          <p:cNvSpPr txBox="1"/>
          <p:nvPr/>
        </p:nvSpPr>
        <p:spPr>
          <a:xfrm>
            <a:off x="571500" y="3215030"/>
            <a:ext cx="2581351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6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개념과 원칙</a:t>
            </a:r>
            <a:endParaRPr lang="en-US" sz="3600" dirty="0"/>
          </a:p>
        </p:txBody>
      </p:sp>
      <p:sp>
        <p:nvSpPr>
          <p:cNvPr id="12" name="Text 10"/>
          <p:cNvSpPr txBox="1"/>
          <p:nvPr/>
        </p:nvSpPr>
        <p:spPr>
          <a:xfrm>
            <a:off x="571500" y="4147718"/>
            <a:ext cx="3562502" cy="5907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dirty="0">
                <a:solidFill>
                  <a:srgbClr val="9CA3A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A가 인용한 B를 다시 인용할 때 원문 확인이 원칙이며, 불가피한 경우에만 허용됩니다.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5299862" y="1445666"/>
            <a:ext cx="6229807" cy="828446"/>
          </a:xfrm>
          <a:prstGeom prst="roundRect">
            <a:avLst>
              <a:gd name="adj" fmla="val 10149"/>
            </a:avLst>
          </a:prstGeom>
          <a:solidFill>
            <a:srgbClr val="38BDF8">
              <a:alpha val="8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4" name="Shape 12"/>
          <p:cNvSpPr/>
          <p:nvPr/>
        </p:nvSpPr>
        <p:spPr>
          <a:xfrm>
            <a:off x="5299862" y="1445666"/>
            <a:ext cx="38405" cy="828446"/>
          </a:xfrm>
          <a:prstGeom prst="rect">
            <a:avLst/>
          </a:prstGeom>
          <a:solidFill>
            <a:srgbClr val="38BDF8"/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15" name="Image 0" descr="preencoded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5671109" y="1771193"/>
            <a:ext cx="171907" cy="171907"/>
          </a:xfrm>
          <a:prstGeom prst="rect">
            <a:avLst/>
          </a:prstGeom>
        </p:spPr>
      </p:pic>
      <p:sp>
        <p:nvSpPr>
          <p:cNvPr id="16" name="Shape 13"/>
          <p:cNvSpPr/>
          <p:nvPr/>
        </p:nvSpPr>
        <p:spPr>
          <a:xfrm>
            <a:off x="5299862" y="2421331"/>
            <a:ext cx="6229807" cy="828446"/>
          </a:xfrm>
          <a:prstGeom prst="roundRect">
            <a:avLst>
              <a:gd name="adj" fmla="val 10149"/>
            </a:avLst>
          </a:prstGeom>
          <a:solidFill>
            <a:srgbClr val="FFFFFF">
              <a:alpha val="3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7" name="Shape 14"/>
          <p:cNvSpPr/>
          <p:nvPr/>
        </p:nvSpPr>
        <p:spPr>
          <a:xfrm>
            <a:off x="5299862" y="2421331"/>
            <a:ext cx="38405" cy="828446"/>
          </a:xfrm>
          <a:prstGeom prst="rect">
            <a:avLst/>
          </a:prstGeom>
          <a:solidFill>
            <a:srgbClr val="000000">
              <a:alpha val="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18" name="Image 1" descr="preencoded.png"/>
          <p:cNvPicPr>
            <a:picLocks noChangeAspect="1"/>
          </p:cNvPicPr>
          <p:nvPr/>
        </p:nvPicPr>
        <p:blipFill>
          <a:blip r:embed="rId4"/>
          <a:srcRect t="-2725" b="-2725"/>
          <a:stretch/>
        </p:blipFill>
        <p:spPr>
          <a:xfrm>
            <a:off x="5685739" y="2746858"/>
            <a:ext cx="142646" cy="171907"/>
          </a:xfrm>
          <a:prstGeom prst="rect">
            <a:avLst/>
          </a:prstGeom>
        </p:spPr>
      </p:pic>
      <p:sp>
        <p:nvSpPr>
          <p:cNvPr id="19" name="Shape 15"/>
          <p:cNvSpPr/>
          <p:nvPr/>
        </p:nvSpPr>
        <p:spPr>
          <a:xfrm>
            <a:off x="5299862" y="3396996"/>
            <a:ext cx="6229807" cy="828446"/>
          </a:xfrm>
          <a:prstGeom prst="roundRect">
            <a:avLst>
              <a:gd name="adj" fmla="val 10149"/>
            </a:avLst>
          </a:prstGeom>
          <a:solidFill>
            <a:srgbClr val="FFFFFF">
              <a:alpha val="3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0" name="Shape 16"/>
          <p:cNvSpPr/>
          <p:nvPr/>
        </p:nvSpPr>
        <p:spPr>
          <a:xfrm>
            <a:off x="5299862" y="3396996"/>
            <a:ext cx="38405" cy="828446"/>
          </a:xfrm>
          <a:prstGeom prst="rect">
            <a:avLst/>
          </a:prstGeom>
          <a:solidFill>
            <a:srgbClr val="000000">
              <a:alpha val="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21" name="Image 2" descr="preencoded.png"/>
          <p:cNvPicPr>
            <a:picLocks noChangeAspect="1"/>
          </p:cNvPicPr>
          <p:nvPr/>
        </p:nvPicPr>
        <p:blipFill>
          <a:blip r:embed="rId4"/>
          <a:srcRect t="-2725" b="-2725"/>
          <a:stretch/>
        </p:blipFill>
        <p:spPr>
          <a:xfrm>
            <a:off x="5685739" y="3722522"/>
            <a:ext cx="142646" cy="171907"/>
          </a:xfrm>
          <a:prstGeom prst="rect">
            <a:avLst/>
          </a:prstGeom>
        </p:spPr>
      </p:pic>
      <p:sp>
        <p:nvSpPr>
          <p:cNvPr id="22" name="Shape 17"/>
          <p:cNvSpPr/>
          <p:nvPr/>
        </p:nvSpPr>
        <p:spPr>
          <a:xfrm>
            <a:off x="5299862" y="4371746"/>
            <a:ext cx="6229807" cy="1047902"/>
          </a:xfrm>
          <a:prstGeom prst="roundRect">
            <a:avLst>
              <a:gd name="adj" fmla="val 6346"/>
            </a:avLst>
          </a:prstGeom>
          <a:solidFill>
            <a:srgbClr val="FFFFFF">
              <a:alpha val="3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3" name="Shape 18"/>
          <p:cNvSpPr/>
          <p:nvPr/>
        </p:nvSpPr>
        <p:spPr>
          <a:xfrm>
            <a:off x="5299862" y="4371746"/>
            <a:ext cx="38405" cy="1047902"/>
          </a:xfrm>
          <a:prstGeom prst="rect">
            <a:avLst/>
          </a:prstGeom>
          <a:solidFill>
            <a:srgbClr val="000000">
              <a:alpha val="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24" name="Image 3" descr="preencoded.png"/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5671109" y="4806086"/>
            <a:ext cx="171907" cy="171907"/>
          </a:xfrm>
          <a:prstGeom prst="rect">
            <a:avLst/>
          </a:prstGeom>
        </p:spPr>
      </p:pic>
      <p:sp>
        <p:nvSpPr>
          <p:cNvPr id="25" name="Text 19"/>
          <p:cNvSpPr txBox="1"/>
          <p:nvPr/>
        </p:nvSpPr>
        <p:spPr>
          <a:xfrm>
            <a:off x="6137453" y="1598371"/>
            <a:ext cx="1837030" cy="2478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1F5F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제1원칙: 원문 직접 확인</a:t>
            </a:r>
            <a:endParaRPr lang="en-US" sz="1300" dirty="0"/>
          </a:p>
        </p:txBody>
      </p:sp>
      <p:sp>
        <p:nvSpPr>
          <p:cNvPr id="26" name="Text 20"/>
          <p:cNvSpPr txBox="1"/>
          <p:nvPr/>
        </p:nvSpPr>
        <p:spPr>
          <a:xfrm>
            <a:off x="6137453" y="1899209"/>
            <a:ext cx="503377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오류나 왜곡 방지를 위해 1차 자료(원문)를 직접 찾아 읽는 것이 가장 바람직합니다.</a:t>
            </a:r>
            <a:endParaRPr lang="en-US" sz="1100" dirty="0"/>
          </a:p>
        </p:txBody>
      </p:sp>
      <p:sp>
        <p:nvSpPr>
          <p:cNvPr id="27" name="Text 21"/>
          <p:cNvSpPr txBox="1"/>
          <p:nvPr/>
        </p:nvSpPr>
        <p:spPr>
          <a:xfrm>
            <a:off x="6137453" y="2573122"/>
            <a:ext cx="2074774" cy="2478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1F5F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허용 조건 1: 원문 확보 불가</a:t>
            </a:r>
            <a:endParaRPr lang="en-US" sz="1300" dirty="0"/>
          </a:p>
        </p:txBody>
      </p:sp>
      <p:sp>
        <p:nvSpPr>
          <p:cNvPr id="28" name="Text 22"/>
          <p:cNvSpPr txBox="1"/>
          <p:nvPr/>
        </p:nvSpPr>
        <p:spPr>
          <a:xfrm>
            <a:off x="6137453" y="2874874"/>
            <a:ext cx="5042916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원문이 절판되었거나 비공개 자료여서 물리적으로 접근할 수 없는 경우에 한합니다.</a:t>
            </a:r>
            <a:endParaRPr lang="en-US" sz="1100" dirty="0"/>
          </a:p>
        </p:txBody>
      </p:sp>
      <p:sp>
        <p:nvSpPr>
          <p:cNvPr id="29" name="Text 23"/>
          <p:cNvSpPr txBox="1"/>
          <p:nvPr/>
        </p:nvSpPr>
        <p:spPr>
          <a:xfrm>
            <a:off x="6137453" y="3548786"/>
            <a:ext cx="1722730" cy="2478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1F5F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허용 조건 2: 언어 장벽</a:t>
            </a:r>
            <a:endParaRPr lang="en-US" sz="1300" dirty="0"/>
          </a:p>
        </p:txBody>
      </p:sp>
      <p:sp>
        <p:nvSpPr>
          <p:cNvPr id="30" name="Text 24"/>
          <p:cNvSpPr txBox="1"/>
          <p:nvPr/>
        </p:nvSpPr>
        <p:spPr>
          <a:xfrm>
            <a:off x="6137453" y="3849624"/>
            <a:ext cx="512887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원문이 해석 불가능한 언어로 되어 있고 신뢰할 만한 번역본도 없는 경우 허용됩니다.</a:t>
            </a:r>
            <a:endParaRPr lang="en-US" sz="1100" dirty="0"/>
          </a:p>
        </p:txBody>
      </p:sp>
      <p:sp>
        <p:nvSpPr>
          <p:cNvPr id="31" name="Text 25"/>
          <p:cNvSpPr txBox="1"/>
          <p:nvPr/>
        </p:nvSpPr>
        <p:spPr>
          <a:xfrm>
            <a:off x="6137453" y="4524451"/>
            <a:ext cx="1731874" cy="2478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1F5F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표기 규칙: 재인용 명시</a:t>
            </a:r>
            <a:endParaRPr lang="en-US" sz="1300" dirty="0"/>
          </a:p>
        </p:txBody>
      </p:sp>
      <p:sp>
        <p:nvSpPr>
          <p:cNvPr id="32" name="Text 26"/>
          <p:cNvSpPr txBox="1"/>
          <p:nvPr/>
        </p:nvSpPr>
        <p:spPr>
          <a:xfrm>
            <a:off x="6137453" y="4825289"/>
            <a:ext cx="5214823" cy="4288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본문에는 원저자와 재인용 출처를 모두 밝히되(예: as cited in), 참고문헌엔 내가 읽은 자료만 적습니다.</a:t>
            </a:r>
            <a:endParaRPr lang="en-US" sz="1100" dirty="0"/>
          </a:p>
        </p:txBody>
      </p:sp>
      <p:sp>
        <p:nvSpPr>
          <p:cNvPr id="33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이애본(드림아이티비즈) · useful-ai.dreamitbiz.com · 교육 목적 비영리 이용 · 출처 표기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" name="Shape 2"/>
          <p:cNvSpPr/>
          <p:nvPr/>
        </p:nvSpPr>
        <p:spPr>
          <a:xfrm>
            <a:off x="8382305" y="0"/>
            <a:ext cx="3810305" cy="3810305"/>
          </a:xfrm>
          <a:prstGeom prst="ellipse">
            <a:avLst/>
          </a:prstGeom>
          <a:solidFill>
            <a:srgbClr val="38BDF8">
              <a:alpha val="3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" name="Shape 3"/>
          <p:cNvSpPr/>
          <p:nvPr/>
        </p:nvSpPr>
        <p:spPr>
          <a:xfrm>
            <a:off x="761695" y="476402"/>
            <a:ext cx="571500" cy="57607"/>
          </a:xfrm>
          <a:prstGeom prst="roundRect">
            <a:avLst>
              <a:gd name="adj" fmla="val 793654"/>
            </a:avLst>
          </a:prstGeom>
          <a:solidFill>
            <a:srgbClr val="38BDF8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6" name="Text 4"/>
          <p:cNvSpPr txBox="1"/>
          <p:nvPr/>
        </p:nvSpPr>
        <p:spPr>
          <a:xfrm>
            <a:off x="761695" y="724205"/>
            <a:ext cx="1110082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재인용 예시/주의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761695" y="952805"/>
            <a:ext cx="3924605" cy="4956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7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재인용 표기법과 주의사항</a:t>
            </a:r>
            <a:endParaRPr lang="en-US" sz="2700" dirty="0"/>
          </a:p>
        </p:txBody>
      </p:sp>
      <p:sp>
        <p:nvSpPr>
          <p:cNvPr id="8" name="Text 6"/>
          <p:cNvSpPr txBox="1"/>
          <p:nvPr/>
        </p:nvSpPr>
        <p:spPr>
          <a:xfrm>
            <a:off x="761695" y="1543507"/>
            <a:ext cx="6844284" cy="2478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9CA3A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원문을 직접 확인할 수 없을 때 사용하는 재인용 방식과 이로 인한 위험성 및 대안을 확인합니다.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761695" y="2180844"/>
            <a:ext cx="5143500" cy="4943246"/>
          </a:xfrm>
          <a:prstGeom prst="roundRect">
            <a:avLst>
              <a:gd name="adj" fmla="val 570"/>
            </a:avLst>
          </a:prstGeom>
          <a:solidFill>
            <a:srgbClr val="1E293B">
              <a:alpha val="50000"/>
            </a:srgbClr>
          </a:solidFill>
          <a:ln w="50800">
            <a:solidFill>
              <a:srgbClr val="38BDF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0" name="Shape 8"/>
          <p:cNvSpPr/>
          <p:nvPr/>
        </p:nvSpPr>
        <p:spPr>
          <a:xfrm>
            <a:off x="1152144" y="2600554"/>
            <a:ext cx="4362602" cy="362102"/>
          </a:xfrm>
          <a:prstGeom prst="roundRect">
            <a:avLst>
              <a:gd name="adj" fmla="val 252526"/>
            </a:avLst>
          </a:prstGeom>
          <a:solidFill>
            <a:srgbClr val="38BDF8">
              <a:alpha val="15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11" name="Image 0" descr="preencoded.png"/>
          <p:cNvPicPr>
            <a:picLocks noChangeAspect="1"/>
          </p:cNvPicPr>
          <p:nvPr/>
        </p:nvPicPr>
        <p:blipFill>
          <a:blip r:embed="rId3"/>
          <a:srcRect l="-3425" r="-3425"/>
          <a:stretch/>
        </p:blipFill>
        <p:spPr>
          <a:xfrm>
            <a:off x="1304849" y="2713025"/>
            <a:ext cx="142646" cy="133502"/>
          </a:xfrm>
          <a:prstGeom prst="rect">
            <a:avLst/>
          </a:prstGeom>
        </p:spPr>
      </p:pic>
      <p:sp>
        <p:nvSpPr>
          <p:cNvPr id="12" name="Text 9"/>
          <p:cNvSpPr txBox="1"/>
          <p:nvPr/>
        </p:nvSpPr>
        <p:spPr>
          <a:xfrm>
            <a:off x="1524305" y="2676449"/>
            <a:ext cx="1132027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38BDF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올바른 표기 예시</a:t>
            </a:r>
            <a:endParaRPr lang="en-US" sz="1000" dirty="0"/>
          </a:p>
        </p:txBody>
      </p:sp>
      <p:sp>
        <p:nvSpPr>
          <p:cNvPr id="13" name="Shape 10"/>
          <p:cNvSpPr/>
          <p:nvPr/>
        </p:nvSpPr>
        <p:spPr>
          <a:xfrm>
            <a:off x="1152144" y="4796942"/>
            <a:ext cx="4362602" cy="9144"/>
          </a:xfrm>
          <a:prstGeom prst="rect">
            <a:avLst/>
          </a:prstGeom>
          <a:solidFill>
            <a:srgbClr val="FFFFFF">
              <a:alpha val="5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4" name="Shape 11"/>
          <p:cNvSpPr/>
          <p:nvPr/>
        </p:nvSpPr>
        <p:spPr>
          <a:xfrm>
            <a:off x="1152144" y="3186684"/>
            <a:ext cx="381305" cy="381305"/>
          </a:xfrm>
          <a:prstGeom prst="roundRect">
            <a:avLst>
              <a:gd name="adj" fmla="val 47962"/>
            </a:avLst>
          </a:prstGeom>
          <a:solidFill>
            <a:srgbClr val="38BDF8">
              <a:alpha val="1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15" name="Image 1" descr="preencoded.png"/>
          <p:cNvPicPr>
            <a:picLocks noChangeAspect="1"/>
          </p:cNvPicPr>
          <p:nvPr/>
        </p:nvPicPr>
        <p:blipFill>
          <a:blip r:embed="rId4"/>
          <a:srcRect l="-1082" r="-1082"/>
          <a:stretch/>
        </p:blipFill>
        <p:spPr>
          <a:xfrm>
            <a:off x="1261872" y="3287268"/>
            <a:ext cx="161849" cy="181051"/>
          </a:xfrm>
          <a:prstGeom prst="rect">
            <a:avLst/>
          </a:prstGeom>
        </p:spPr>
      </p:pic>
      <p:sp>
        <p:nvSpPr>
          <p:cNvPr id="16" name="Text 12"/>
          <p:cNvSpPr txBox="1"/>
          <p:nvPr/>
        </p:nvSpPr>
        <p:spPr>
          <a:xfrm>
            <a:off x="1723644" y="3186684"/>
            <a:ext cx="1981505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APA Style (영어 논문)</a:t>
            </a:r>
            <a:endParaRPr lang="en-US" sz="1500" dirty="0"/>
          </a:p>
        </p:txBody>
      </p:sp>
      <p:sp>
        <p:nvSpPr>
          <p:cNvPr id="17" name="Shape 13"/>
          <p:cNvSpPr/>
          <p:nvPr/>
        </p:nvSpPr>
        <p:spPr>
          <a:xfrm>
            <a:off x="1723644" y="3548786"/>
            <a:ext cx="3791102" cy="448056"/>
          </a:xfrm>
          <a:prstGeom prst="rect">
            <a:avLst/>
          </a:prstGeom>
          <a:solidFill>
            <a:srgbClr val="0F172A">
              <a:alpha val="6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8" name="Shape 14"/>
          <p:cNvSpPr/>
          <p:nvPr/>
        </p:nvSpPr>
        <p:spPr>
          <a:xfrm>
            <a:off x="1723644" y="3548786"/>
            <a:ext cx="28346" cy="448056"/>
          </a:xfrm>
          <a:prstGeom prst="rect">
            <a:avLst/>
          </a:prstGeom>
          <a:solidFill>
            <a:srgbClr val="38BDF8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9" name="Text 15"/>
          <p:cNvSpPr txBox="1"/>
          <p:nvPr/>
        </p:nvSpPr>
        <p:spPr>
          <a:xfrm>
            <a:off x="1904695" y="3682289"/>
            <a:ext cx="3242462" cy="1719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(John, 1975, as cited in Lily, 2005)</a:t>
            </a:r>
            <a:endParaRPr lang="en-US" sz="1100" dirty="0"/>
          </a:p>
        </p:txBody>
      </p:sp>
      <p:sp>
        <p:nvSpPr>
          <p:cNvPr id="20" name="Text 16"/>
          <p:cNvSpPr txBox="1"/>
          <p:nvPr/>
        </p:nvSpPr>
        <p:spPr>
          <a:xfrm>
            <a:off x="1723644" y="4070909"/>
            <a:ext cx="381030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원저자(John)와 재인용자(Lily)를 모두 명시하며, 참고문헌에는 실제로 본 Lily의 문헌만 기재합니다.</a:t>
            </a:r>
            <a:endParaRPr lang="en-US" sz="1200" dirty="0"/>
          </a:p>
        </p:txBody>
      </p:sp>
      <p:sp>
        <p:nvSpPr>
          <p:cNvPr id="21" name="Shape 17"/>
          <p:cNvSpPr/>
          <p:nvPr/>
        </p:nvSpPr>
        <p:spPr>
          <a:xfrm>
            <a:off x="1152144" y="5071262"/>
            <a:ext cx="381305" cy="381305"/>
          </a:xfrm>
          <a:prstGeom prst="roundRect">
            <a:avLst>
              <a:gd name="adj" fmla="val 47962"/>
            </a:avLst>
          </a:prstGeom>
          <a:solidFill>
            <a:srgbClr val="38BDF8">
              <a:alpha val="1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22" name="Image 2" descr="preencoded.png"/>
          <p:cNvPicPr>
            <a:picLocks noChangeAspect="1"/>
          </p:cNvPicPr>
          <p:nvPr/>
        </p:nvPicPr>
        <p:blipFill>
          <a:blip r:embed="rId5"/>
          <a:srcRect l="-1082" r="-1082"/>
          <a:stretch/>
        </p:blipFill>
        <p:spPr>
          <a:xfrm>
            <a:off x="1261872" y="5170932"/>
            <a:ext cx="161849" cy="181051"/>
          </a:xfrm>
          <a:prstGeom prst="rect">
            <a:avLst/>
          </a:prstGeom>
        </p:spPr>
      </p:pic>
      <p:sp>
        <p:nvSpPr>
          <p:cNvPr id="23" name="Text 18"/>
          <p:cNvSpPr txBox="1"/>
          <p:nvPr/>
        </p:nvSpPr>
        <p:spPr>
          <a:xfrm>
            <a:off x="1723644" y="5071262"/>
            <a:ext cx="18004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국내 학술지 (한국어)</a:t>
            </a:r>
            <a:endParaRPr lang="en-US" sz="1500" dirty="0"/>
          </a:p>
        </p:txBody>
      </p:sp>
      <p:sp>
        <p:nvSpPr>
          <p:cNvPr id="24" name="Shape 19"/>
          <p:cNvSpPr/>
          <p:nvPr/>
        </p:nvSpPr>
        <p:spPr>
          <a:xfrm>
            <a:off x="1723644" y="5433365"/>
            <a:ext cx="3791102" cy="448056"/>
          </a:xfrm>
          <a:prstGeom prst="rect">
            <a:avLst/>
          </a:prstGeom>
          <a:solidFill>
            <a:srgbClr val="0F172A">
              <a:alpha val="6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5" name="Shape 20"/>
          <p:cNvSpPr/>
          <p:nvPr/>
        </p:nvSpPr>
        <p:spPr>
          <a:xfrm>
            <a:off x="1723644" y="5433365"/>
            <a:ext cx="28346" cy="448056"/>
          </a:xfrm>
          <a:prstGeom prst="rect">
            <a:avLst/>
          </a:prstGeom>
          <a:solidFill>
            <a:srgbClr val="38BDF8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6" name="Text 21"/>
          <p:cNvSpPr txBox="1"/>
          <p:nvPr/>
        </p:nvSpPr>
        <p:spPr>
          <a:xfrm>
            <a:off x="1904695" y="5565953"/>
            <a:ext cx="2976372" cy="1719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(홍길동, 1990, 재인용: 김철수, 2020)</a:t>
            </a:r>
            <a:endParaRPr lang="en-US" sz="1100" dirty="0"/>
          </a:p>
        </p:txBody>
      </p:sp>
      <p:sp>
        <p:nvSpPr>
          <p:cNvPr id="27" name="Text 22"/>
          <p:cNvSpPr txBox="1"/>
          <p:nvPr/>
        </p:nvSpPr>
        <p:spPr>
          <a:xfrm>
            <a:off x="1723644" y="5954573"/>
            <a:ext cx="376275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'재인용'임을 분명히 밝히고, 내가 직접 읽은 2차 자료(김철수)의 출처 정보를 정확히 제공해야 합니다.</a:t>
            </a:r>
            <a:endParaRPr lang="en-US" sz="1200" dirty="0"/>
          </a:p>
        </p:txBody>
      </p:sp>
      <p:sp>
        <p:nvSpPr>
          <p:cNvPr id="28" name="Shape 23"/>
          <p:cNvSpPr/>
          <p:nvPr/>
        </p:nvSpPr>
        <p:spPr>
          <a:xfrm>
            <a:off x="6286500" y="2180844"/>
            <a:ext cx="5143500" cy="4943246"/>
          </a:xfrm>
          <a:prstGeom prst="roundRect">
            <a:avLst>
              <a:gd name="adj" fmla="val 570"/>
            </a:avLst>
          </a:prstGeom>
          <a:solidFill>
            <a:srgbClr val="1E293B">
              <a:alpha val="30000"/>
            </a:srgbClr>
          </a:solidFill>
          <a:ln w="50800">
            <a:solidFill>
              <a:srgbClr val="F43F5E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9" name="Shape 24"/>
          <p:cNvSpPr/>
          <p:nvPr/>
        </p:nvSpPr>
        <p:spPr>
          <a:xfrm>
            <a:off x="6676949" y="2600554"/>
            <a:ext cx="4362602" cy="362102"/>
          </a:xfrm>
          <a:prstGeom prst="roundRect">
            <a:avLst>
              <a:gd name="adj" fmla="val 252526"/>
            </a:avLst>
          </a:prstGeom>
          <a:solidFill>
            <a:srgbClr val="F43F5E">
              <a:alpha val="15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30" name="Image 3" descr="preencoded.png"/>
          <p:cNvPicPr>
            <a:picLocks noChangeAspect="1"/>
          </p:cNvPicPr>
          <p:nvPr/>
        </p:nvPicPr>
        <p:blipFill>
          <a:blip r:embed="rId6"/>
          <a:srcRect l="-3425" r="-3425"/>
          <a:stretch/>
        </p:blipFill>
        <p:spPr>
          <a:xfrm>
            <a:off x="6829654" y="2713025"/>
            <a:ext cx="142646" cy="133502"/>
          </a:xfrm>
          <a:prstGeom prst="rect">
            <a:avLst/>
          </a:prstGeom>
        </p:spPr>
      </p:pic>
      <p:sp>
        <p:nvSpPr>
          <p:cNvPr id="31" name="Text 25"/>
          <p:cNvSpPr txBox="1"/>
          <p:nvPr/>
        </p:nvSpPr>
        <p:spPr>
          <a:xfrm>
            <a:off x="7048195" y="2676449"/>
            <a:ext cx="998525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F43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위험성 및 대안</a:t>
            </a:r>
            <a:endParaRPr lang="en-US" sz="1000" dirty="0"/>
          </a:p>
        </p:txBody>
      </p:sp>
      <p:sp>
        <p:nvSpPr>
          <p:cNvPr id="32" name="Shape 26"/>
          <p:cNvSpPr/>
          <p:nvPr/>
        </p:nvSpPr>
        <p:spPr>
          <a:xfrm>
            <a:off x="6676949" y="4272991"/>
            <a:ext cx="4362602" cy="9144"/>
          </a:xfrm>
          <a:prstGeom prst="rect">
            <a:avLst/>
          </a:prstGeom>
          <a:solidFill>
            <a:srgbClr val="FFFFFF">
              <a:alpha val="5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3" name="Shape 27"/>
          <p:cNvSpPr/>
          <p:nvPr/>
        </p:nvSpPr>
        <p:spPr>
          <a:xfrm>
            <a:off x="6676949" y="3186684"/>
            <a:ext cx="381305" cy="381305"/>
          </a:xfrm>
          <a:prstGeom prst="roundRect">
            <a:avLst>
              <a:gd name="adj" fmla="val 47962"/>
            </a:avLst>
          </a:prstGeom>
          <a:solidFill>
            <a:srgbClr val="F43F5E">
              <a:alpha val="1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34" name="Image 4" descr="preencoded.png"/>
          <p:cNvPicPr>
            <a:picLocks noChangeAspect="1"/>
          </p:cNvPicPr>
          <p:nvPr/>
        </p:nvPicPr>
        <p:blipFill>
          <a:blip r:embed="rId7"/>
          <a:srcRect l="-505" r="-505"/>
          <a:stretch/>
        </p:blipFill>
        <p:spPr>
          <a:xfrm>
            <a:off x="6752844" y="3287268"/>
            <a:ext cx="228600" cy="181051"/>
          </a:xfrm>
          <a:prstGeom prst="rect">
            <a:avLst/>
          </a:prstGeom>
        </p:spPr>
      </p:pic>
      <p:sp>
        <p:nvSpPr>
          <p:cNvPr id="35" name="Text 28"/>
          <p:cNvSpPr txBox="1"/>
          <p:nvPr/>
        </p:nvSpPr>
        <p:spPr>
          <a:xfrm>
            <a:off x="7248449" y="3186684"/>
            <a:ext cx="1476756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의미 왜곡의 위험</a:t>
            </a:r>
            <a:endParaRPr lang="en-US" sz="1500" dirty="0"/>
          </a:p>
        </p:txBody>
      </p:sp>
      <p:sp>
        <p:nvSpPr>
          <p:cNvPr id="36" name="Text 29"/>
          <p:cNvSpPr txBox="1"/>
          <p:nvPr/>
        </p:nvSpPr>
        <p:spPr>
          <a:xfrm>
            <a:off x="7248449" y="3548786"/>
            <a:ext cx="383865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중간 전달자(재인용자)가 원문을 오역하거나 맥락을 잘못 해석했을 경우, 그 오류를 그대로 답습하게 됩니다.</a:t>
            </a:r>
            <a:endParaRPr lang="en-US" sz="1200" dirty="0"/>
          </a:p>
        </p:txBody>
      </p:sp>
      <p:sp>
        <p:nvSpPr>
          <p:cNvPr id="37" name="Shape 30"/>
          <p:cNvSpPr/>
          <p:nvPr/>
        </p:nvSpPr>
        <p:spPr>
          <a:xfrm>
            <a:off x="6676949" y="5635447"/>
            <a:ext cx="4362602" cy="9144"/>
          </a:xfrm>
          <a:prstGeom prst="rect">
            <a:avLst/>
          </a:prstGeom>
          <a:solidFill>
            <a:srgbClr val="FFFFFF">
              <a:alpha val="5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8" name="Shape 31"/>
          <p:cNvSpPr/>
          <p:nvPr/>
        </p:nvSpPr>
        <p:spPr>
          <a:xfrm>
            <a:off x="6676949" y="4549140"/>
            <a:ext cx="381305" cy="381305"/>
          </a:xfrm>
          <a:prstGeom prst="roundRect">
            <a:avLst>
              <a:gd name="adj" fmla="val 47962"/>
            </a:avLst>
          </a:prstGeom>
          <a:solidFill>
            <a:srgbClr val="F43F5E">
              <a:alpha val="1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39" name="Image 5" descr="preencoded.png"/>
          <p:cNvPicPr>
            <a:picLocks noChangeAspect="1"/>
          </p:cNvPicPr>
          <p:nvPr/>
        </p:nvPicPr>
        <p:blipFill>
          <a:blip r:embed="rId8"/>
          <a:srcRect/>
          <a:stretch/>
        </p:blipFill>
        <p:spPr>
          <a:xfrm>
            <a:off x="6776618" y="4648810"/>
            <a:ext cx="181051" cy="181051"/>
          </a:xfrm>
          <a:prstGeom prst="rect">
            <a:avLst/>
          </a:prstGeom>
        </p:spPr>
      </p:pic>
      <p:sp>
        <p:nvSpPr>
          <p:cNvPr id="40" name="Text 32"/>
          <p:cNvSpPr txBox="1"/>
          <p:nvPr/>
        </p:nvSpPr>
        <p:spPr>
          <a:xfrm>
            <a:off x="7248449" y="4549140"/>
            <a:ext cx="1077163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검증 불가능</a:t>
            </a:r>
            <a:endParaRPr lang="en-US" sz="1500" dirty="0"/>
          </a:p>
        </p:txBody>
      </p:sp>
      <p:sp>
        <p:nvSpPr>
          <p:cNvPr id="41" name="Text 33"/>
          <p:cNvSpPr txBox="1"/>
          <p:nvPr/>
        </p:nvSpPr>
        <p:spPr>
          <a:xfrm>
            <a:off x="7248449" y="4911242"/>
            <a:ext cx="3829507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원저자의 실제 의도나 데이터의 정확성을 직접 확인할 수 없어 학술적 신뢰도가 하락할 수 있습니다.</a:t>
            </a:r>
            <a:endParaRPr lang="en-US" sz="1200" dirty="0"/>
          </a:p>
        </p:txBody>
      </p:sp>
      <p:sp>
        <p:nvSpPr>
          <p:cNvPr id="42" name="Shape 34"/>
          <p:cNvSpPr/>
          <p:nvPr/>
        </p:nvSpPr>
        <p:spPr>
          <a:xfrm>
            <a:off x="6676949" y="5911596"/>
            <a:ext cx="381305" cy="381305"/>
          </a:xfrm>
          <a:prstGeom prst="roundRect">
            <a:avLst>
              <a:gd name="adj" fmla="val 47962"/>
            </a:avLst>
          </a:prstGeom>
          <a:solidFill>
            <a:srgbClr val="F43F5E">
              <a:alpha val="1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43" name="Image 6" descr="preencoded.png"/>
          <p:cNvPicPr>
            <a:picLocks noChangeAspect="1"/>
          </p:cNvPicPr>
          <p:nvPr/>
        </p:nvPicPr>
        <p:blipFill>
          <a:blip r:embed="rId9"/>
          <a:srcRect l="-1082" r="-1082"/>
          <a:stretch/>
        </p:blipFill>
        <p:spPr>
          <a:xfrm>
            <a:off x="6786677" y="6011266"/>
            <a:ext cx="161849" cy="181051"/>
          </a:xfrm>
          <a:prstGeom prst="rect">
            <a:avLst/>
          </a:prstGeom>
        </p:spPr>
      </p:pic>
      <p:sp>
        <p:nvSpPr>
          <p:cNvPr id="44" name="Text 35"/>
          <p:cNvSpPr txBox="1"/>
          <p:nvPr/>
        </p:nvSpPr>
        <p:spPr>
          <a:xfrm>
            <a:off x="7248449" y="5911596"/>
            <a:ext cx="2286000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최선의 대안: 1차 자료 확보</a:t>
            </a:r>
            <a:endParaRPr lang="en-US" sz="1500" dirty="0"/>
          </a:p>
        </p:txBody>
      </p:sp>
      <p:sp>
        <p:nvSpPr>
          <p:cNvPr id="45" name="Text 36"/>
          <p:cNvSpPr txBox="1"/>
          <p:nvPr/>
        </p:nvSpPr>
        <p:spPr>
          <a:xfrm>
            <a:off x="7248449" y="6272784"/>
            <a:ext cx="38679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가능하다면 도서관 상호대차 등으로 1차 문헌을 직접 확인하세요.</a:t>
            </a:r>
            <a:endParaRPr lang="en-US" sz="1200" dirty="0"/>
          </a:p>
        </p:txBody>
      </p:sp>
      <p:sp>
        <p:nvSpPr>
          <p:cNvPr id="46" name="Shape 37"/>
          <p:cNvSpPr/>
          <p:nvPr/>
        </p:nvSpPr>
        <p:spPr>
          <a:xfrm>
            <a:off x="5810098" y="3513125"/>
            <a:ext cx="571500" cy="571500"/>
          </a:xfrm>
          <a:prstGeom prst="ellipse">
            <a:avLst/>
          </a:prstGeom>
          <a:solidFill>
            <a:srgbClr val="0F172A"/>
          </a:solidFill>
          <a:ln w="25400">
            <a:solidFill>
              <a:srgbClr val="FFFFFF">
                <a:alpha val="10000"/>
              </a:srgbClr>
            </a:solidFill>
            <a:prstDash val="solid"/>
          </a:ln>
          <a:effectLst>
            <a:outerShdw blurRad="12700" dist="12700" dir="16200000" algn="bl" rotWithShape="0">
              <a:srgbClr val="0F172A">
                <a:alpha val="10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47" name="Text 38"/>
          <p:cNvSpPr txBox="1"/>
          <p:nvPr/>
        </p:nvSpPr>
        <p:spPr>
          <a:xfrm>
            <a:off x="5980176" y="3661258"/>
            <a:ext cx="375818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VS</a:t>
            </a:r>
            <a:endParaRPr lang="en-US" sz="1400" dirty="0"/>
          </a:p>
        </p:txBody>
      </p:sp>
      <p:sp>
        <p:nvSpPr>
          <p:cNvPr id="48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이애본(드림아이티비즈) · useful-ai.dreamitbiz.com · 교육 목적 비영리 이용 · 출처 표기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rcRect t="-1" b="-1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10019995" y="2952598"/>
            <a:ext cx="5505602" cy="55156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B</a:t>
            </a:r>
            <a:endParaRPr lang="en-US" sz="30000" dirty="0"/>
          </a:p>
        </p:txBody>
      </p:sp>
      <p:sp>
        <p:nvSpPr>
          <p:cNvPr id="6" name="Shape 3"/>
          <p:cNvSpPr/>
          <p:nvPr/>
        </p:nvSpPr>
        <p:spPr>
          <a:xfrm>
            <a:off x="8324698" y="1028700"/>
            <a:ext cx="1429207" cy="1429207"/>
          </a:xfrm>
          <a:prstGeom prst="ellipse">
            <a:avLst/>
          </a:prstGeom>
          <a:noFill/>
          <a:ln w="12700">
            <a:solidFill>
              <a:srgbClr val="38BDF8">
                <a:alpha val="2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" name="Shape 4"/>
          <p:cNvSpPr/>
          <p:nvPr/>
        </p:nvSpPr>
        <p:spPr>
          <a:xfrm>
            <a:off x="1218895" y="4724705"/>
            <a:ext cx="761695" cy="761695"/>
          </a:xfrm>
          <a:prstGeom prst="rect">
            <a:avLst/>
          </a:prstGeom>
          <a:noFill/>
          <a:ln w="12700">
            <a:solidFill>
              <a:srgbClr val="38BDF8">
                <a:alpha val="2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" name="Shape 5"/>
          <p:cNvSpPr/>
          <p:nvPr/>
        </p:nvSpPr>
        <p:spPr>
          <a:xfrm>
            <a:off x="952805" y="1988820"/>
            <a:ext cx="933602" cy="428854"/>
          </a:xfrm>
          <a:prstGeom prst="roundRect">
            <a:avLst>
              <a:gd name="adj" fmla="val 18953"/>
            </a:avLst>
          </a:prstGeom>
          <a:solidFill>
            <a:srgbClr val="38BDF8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9" name="Shape 6"/>
          <p:cNvSpPr/>
          <p:nvPr/>
        </p:nvSpPr>
        <p:spPr>
          <a:xfrm>
            <a:off x="2037283" y="2192731"/>
            <a:ext cx="952805" cy="19202"/>
          </a:xfrm>
          <a:prstGeom prst="rect">
            <a:avLst/>
          </a:prstGeom>
          <a:solidFill>
            <a:srgbClr val="38BDF8">
              <a:alpha val="5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0" name="Shape 7"/>
          <p:cNvSpPr/>
          <p:nvPr/>
        </p:nvSpPr>
        <p:spPr>
          <a:xfrm>
            <a:off x="952805" y="3954780"/>
            <a:ext cx="38405" cy="914400"/>
          </a:xfrm>
          <a:prstGeom prst="rect">
            <a:avLst/>
          </a:prstGeom>
          <a:solidFill>
            <a:srgbClr val="334155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1" name="Text 8"/>
          <p:cNvSpPr txBox="1"/>
          <p:nvPr/>
        </p:nvSpPr>
        <p:spPr>
          <a:xfrm>
            <a:off x="1143000" y="2064715"/>
            <a:ext cx="690372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0F172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파트 B</a:t>
            </a:r>
            <a:endParaRPr lang="en-US" sz="1400" dirty="0"/>
          </a:p>
        </p:txBody>
      </p:sp>
      <p:sp>
        <p:nvSpPr>
          <p:cNvPr id="12" name="Text 9"/>
          <p:cNvSpPr txBox="1"/>
          <p:nvPr/>
        </p:nvSpPr>
        <p:spPr>
          <a:xfrm>
            <a:off x="952805" y="2558491"/>
            <a:ext cx="6924751" cy="13240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출처 표기 시스템</a:t>
            </a:r>
            <a:endParaRPr lang="en-US" sz="7200" dirty="0"/>
          </a:p>
        </p:txBody>
      </p:sp>
      <p:sp>
        <p:nvSpPr>
          <p:cNvPr id="13" name="Text 10"/>
          <p:cNvSpPr txBox="1"/>
          <p:nvPr/>
        </p:nvSpPr>
        <p:spPr>
          <a:xfrm>
            <a:off x="1218895" y="3963924"/>
            <a:ext cx="8449056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24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내주 · 번호주 · 각주/미주 · 참고문헌의 </a:t>
            </a:r>
            <a:r>
              <a:rPr lang="en-US" sz="2400" dirty="0" err="1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구조와</a:t>
            </a:r>
            <a:r>
              <a:rPr lang="en-US" sz="24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</a:p>
          <a:p>
            <a:pPr marL="0" indent="0" algn="l">
              <a:lnSpc>
                <a:spcPct val="150000"/>
              </a:lnSpc>
              <a:buNone/>
            </a:pPr>
            <a:r>
              <a:rPr lang="en-US" sz="2400" dirty="0" err="1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올바른</a:t>
            </a:r>
            <a:r>
              <a:rPr lang="en-US" sz="24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선택 가이드를 학습합니다.</a:t>
            </a:r>
            <a:endParaRPr lang="en-US" sz="2400" dirty="0"/>
          </a:p>
        </p:txBody>
      </p:sp>
      <p:sp>
        <p:nvSpPr>
          <p:cNvPr id="14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이애본(드림아이티비즈) · useful-ai.dreamitbiz.com · 교육 목적 비영리 이용 · 출처 표기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" name="Shape 2"/>
          <p:cNvSpPr/>
          <p:nvPr/>
        </p:nvSpPr>
        <p:spPr>
          <a:xfrm>
            <a:off x="-1904695" y="-1904695"/>
            <a:ext cx="7619695" cy="7619695"/>
          </a:xfrm>
          <a:prstGeom prst="ellipse">
            <a:avLst/>
          </a:prstGeom>
          <a:solidFill>
            <a:srgbClr val="38BDF8">
              <a:alpha val="2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" name="Shape 3"/>
          <p:cNvSpPr/>
          <p:nvPr/>
        </p:nvSpPr>
        <p:spPr>
          <a:xfrm>
            <a:off x="7905902" y="2572207"/>
            <a:ext cx="5715000" cy="5715000"/>
          </a:xfrm>
          <a:prstGeom prst="ellipse">
            <a:avLst/>
          </a:prstGeom>
          <a:solidFill>
            <a:srgbClr val="38BDF8">
              <a:alpha val="2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6" name="Shape 4"/>
          <p:cNvSpPr/>
          <p:nvPr/>
        </p:nvSpPr>
        <p:spPr>
          <a:xfrm>
            <a:off x="0" y="0"/>
            <a:ext cx="4267505" cy="6858000"/>
          </a:xfrm>
          <a:prstGeom prst="rect">
            <a:avLst/>
          </a:prstGeom>
          <a:solidFill>
            <a:srgbClr val="0F172A">
              <a:alpha val="5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7" name="Shape 5"/>
          <p:cNvSpPr/>
          <p:nvPr/>
        </p:nvSpPr>
        <p:spPr>
          <a:xfrm>
            <a:off x="4258361" y="0"/>
            <a:ext cx="9144" cy="6858000"/>
          </a:xfrm>
          <a:prstGeom prst="rect">
            <a:avLst/>
          </a:prstGeom>
          <a:solidFill>
            <a:srgbClr val="FFFFFF">
              <a:alpha val="1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8" name="Shape 6"/>
          <p:cNvSpPr/>
          <p:nvPr/>
        </p:nvSpPr>
        <p:spPr>
          <a:xfrm>
            <a:off x="571500" y="2144268"/>
            <a:ext cx="571500" cy="57607"/>
          </a:xfrm>
          <a:prstGeom prst="rect">
            <a:avLst/>
          </a:prstGeom>
          <a:solidFill>
            <a:srgbClr val="38BDF8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9" name="Text 7"/>
          <p:cNvSpPr txBox="1"/>
          <p:nvPr/>
        </p:nvSpPr>
        <p:spPr>
          <a:xfrm>
            <a:off x="571500" y="2382012"/>
            <a:ext cx="2162556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6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출처 표기</a:t>
            </a:r>
            <a:endParaRPr lang="en-US" sz="3600" dirty="0"/>
          </a:p>
        </p:txBody>
      </p:sp>
      <p:sp>
        <p:nvSpPr>
          <p:cNvPr id="10" name="Text 8"/>
          <p:cNvSpPr txBox="1"/>
          <p:nvPr/>
        </p:nvSpPr>
        <p:spPr>
          <a:xfrm>
            <a:off x="571500" y="2953512"/>
            <a:ext cx="2581351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6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시스템 개요</a:t>
            </a:r>
            <a:endParaRPr lang="en-US" sz="3600" dirty="0"/>
          </a:p>
        </p:txBody>
      </p:sp>
      <p:sp>
        <p:nvSpPr>
          <p:cNvPr id="11" name="Text 9"/>
          <p:cNvSpPr txBox="1"/>
          <p:nvPr/>
        </p:nvSpPr>
        <p:spPr>
          <a:xfrm>
            <a:off x="571500" y="3887114"/>
            <a:ext cx="3195828" cy="8101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300" dirty="0">
                <a:solidFill>
                  <a:srgbClr val="9CA3A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전공과 학술 분야에 </a:t>
            </a:r>
            <a:r>
              <a:rPr lang="en-US" sz="1300" dirty="0" err="1">
                <a:solidFill>
                  <a:srgbClr val="9CA3A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따라</a:t>
            </a:r>
            <a:r>
              <a:rPr lang="en-US" sz="1300" dirty="0">
                <a:solidFill>
                  <a:srgbClr val="9CA3A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  <a:r>
              <a:rPr lang="en-US" sz="1300" dirty="0" err="1">
                <a:solidFill>
                  <a:srgbClr val="9CA3A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선호하는</a:t>
            </a:r>
            <a:r>
              <a:rPr lang="en-US" sz="1300" dirty="0">
                <a:solidFill>
                  <a:srgbClr val="9CA3A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  <a:r>
              <a:rPr lang="en-US" sz="1300" dirty="0" err="1">
                <a:solidFill>
                  <a:srgbClr val="9CA3A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표기</a:t>
            </a:r>
            <a:r>
              <a:rPr lang="en-US" sz="1300" dirty="0">
                <a:solidFill>
                  <a:srgbClr val="9CA3A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방식이 다릅니다. </a:t>
            </a:r>
          </a:p>
          <a:p>
            <a:pPr marL="0" indent="0" algn="l">
              <a:lnSpc>
                <a:spcPct val="150000"/>
              </a:lnSpc>
              <a:buNone/>
            </a:pPr>
            <a:endParaRPr lang="en-US" sz="1300" dirty="0">
              <a:solidFill>
                <a:srgbClr val="9CA3AF"/>
              </a:solidFill>
              <a:latin typeface="Noto Sans KR" pitchFamily="34" charset="0"/>
              <a:ea typeface="Noto Sans KR" pitchFamily="34" charset="-122"/>
              <a:cs typeface="Noto Sans KR" pitchFamily="34" charset="-120"/>
            </a:endParaRPr>
          </a:p>
          <a:p>
            <a:pPr marL="0" indent="0" algn="l">
              <a:lnSpc>
                <a:spcPct val="150000"/>
              </a:lnSpc>
              <a:buNone/>
            </a:pPr>
            <a:r>
              <a:rPr lang="en-US" sz="1300" dirty="0">
                <a:solidFill>
                  <a:srgbClr val="9CA3A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3가지 핵심 요소로 정리했습니다.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4934102" y="843991"/>
            <a:ext cx="6590995" cy="1218895"/>
          </a:xfrm>
          <a:prstGeom prst="roundRect">
            <a:avLst>
              <a:gd name="adj" fmla="val 7033"/>
            </a:avLst>
          </a:prstGeom>
          <a:solidFill>
            <a:srgbClr val="38BDF8">
              <a:alpha val="5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3" name="Shape 11"/>
          <p:cNvSpPr/>
          <p:nvPr/>
        </p:nvSpPr>
        <p:spPr>
          <a:xfrm>
            <a:off x="4934102" y="843991"/>
            <a:ext cx="38405" cy="1218895"/>
          </a:xfrm>
          <a:prstGeom prst="rect">
            <a:avLst/>
          </a:prstGeom>
          <a:solidFill>
            <a:srgbClr val="38BDF8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4" name="Shape 12"/>
          <p:cNvSpPr/>
          <p:nvPr/>
        </p:nvSpPr>
        <p:spPr>
          <a:xfrm>
            <a:off x="5693054" y="1058875"/>
            <a:ext cx="790956" cy="267005"/>
          </a:xfrm>
          <a:prstGeom prst="roundRect">
            <a:avLst>
              <a:gd name="adj" fmla="val 48924"/>
            </a:avLst>
          </a:prstGeom>
          <a:solidFill>
            <a:srgbClr val="38BDF8">
              <a:alpha val="15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15" name="Image 0" descr="preencoded.png"/>
          <p:cNvPicPr>
            <a:picLocks noChangeAspect="1"/>
          </p:cNvPicPr>
          <p:nvPr/>
        </p:nvPicPr>
        <p:blipFill>
          <a:blip r:embed="rId3"/>
          <a:srcRect l="-7192" r="-7192"/>
          <a:stretch/>
        </p:blipFill>
        <p:spPr>
          <a:xfrm>
            <a:off x="5201107" y="1495044"/>
            <a:ext cx="152705" cy="133502"/>
          </a:xfrm>
          <a:prstGeom prst="rect">
            <a:avLst/>
          </a:prstGeom>
        </p:spPr>
      </p:pic>
      <p:pic>
        <p:nvPicPr>
          <p:cNvPr id="16" name="Image 1" descr="preencoded.png"/>
          <p:cNvPicPr>
            <a:picLocks noChangeAspect="1"/>
          </p:cNvPicPr>
          <p:nvPr/>
        </p:nvPicPr>
        <p:blipFill>
          <a:blip r:embed="rId4"/>
          <a:srcRect t="-4641" b="-4641"/>
          <a:stretch/>
        </p:blipFill>
        <p:spPr>
          <a:xfrm>
            <a:off x="8324698" y="1495044"/>
            <a:ext cx="152705" cy="133502"/>
          </a:xfrm>
          <a:prstGeom prst="rect">
            <a:avLst/>
          </a:prstGeom>
        </p:spPr>
      </p:pic>
      <p:sp>
        <p:nvSpPr>
          <p:cNvPr id="17" name="Shape 13"/>
          <p:cNvSpPr/>
          <p:nvPr/>
        </p:nvSpPr>
        <p:spPr>
          <a:xfrm>
            <a:off x="4934102" y="2284171"/>
            <a:ext cx="6590995" cy="1218895"/>
          </a:xfrm>
          <a:prstGeom prst="roundRect">
            <a:avLst>
              <a:gd name="adj" fmla="val 7033"/>
            </a:avLst>
          </a:prstGeom>
          <a:solidFill>
            <a:srgbClr val="FFFFFF">
              <a:alpha val="3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8" name="Shape 14"/>
          <p:cNvSpPr/>
          <p:nvPr/>
        </p:nvSpPr>
        <p:spPr>
          <a:xfrm>
            <a:off x="4934102" y="2284171"/>
            <a:ext cx="38405" cy="1218895"/>
          </a:xfrm>
          <a:prstGeom prst="rect">
            <a:avLst/>
          </a:prstGeom>
          <a:solidFill>
            <a:srgbClr val="000000">
              <a:alpha val="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9" name="Shape 15"/>
          <p:cNvSpPr/>
          <p:nvPr/>
        </p:nvSpPr>
        <p:spPr>
          <a:xfrm>
            <a:off x="5882335" y="2499055"/>
            <a:ext cx="533095" cy="267005"/>
          </a:xfrm>
          <a:prstGeom prst="roundRect">
            <a:avLst>
              <a:gd name="adj" fmla="val 48924"/>
            </a:avLst>
          </a:prstGeom>
          <a:solidFill>
            <a:srgbClr val="38BDF8">
              <a:alpha val="15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20" name="Image 2" descr="preencoded.png"/>
          <p:cNvPicPr>
            <a:picLocks noChangeAspect="1"/>
          </p:cNvPicPr>
          <p:nvPr/>
        </p:nvPicPr>
        <p:blipFill>
          <a:blip r:embed="rId3"/>
          <a:srcRect l="-7192" r="-7192"/>
          <a:stretch/>
        </p:blipFill>
        <p:spPr>
          <a:xfrm>
            <a:off x="5201107" y="2935224"/>
            <a:ext cx="152705" cy="133502"/>
          </a:xfrm>
          <a:prstGeom prst="rect">
            <a:avLst/>
          </a:prstGeom>
        </p:spPr>
      </p:pic>
      <p:pic>
        <p:nvPicPr>
          <p:cNvPr id="21" name="Image 3" descr="preencoded.png"/>
          <p:cNvPicPr>
            <a:picLocks noChangeAspect="1"/>
          </p:cNvPicPr>
          <p:nvPr/>
        </p:nvPicPr>
        <p:blipFill>
          <a:blip r:embed="rId4"/>
          <a:srcRect t="-4641" b="-4641"/>
          <a:stretch/>
        </p:blipFill>
        <p:spPr>
          <a:xfrm>
            <a:off x="8324698" y="2935224"/>
            <a:ext cx="152705" cy="133502"/>
          </a:xfrm>
          <a:prstGeom prst="rect">
            <a:avLst/>
          </a:prstGeom>
        </p:spPr>
      </p:pic>
      <p:sp>
        <p:nvSpPr>
          <p:cNvPr id="22" name="Shape 16"/>
          <p:cNvSpPr/>
          <p:nvPr/>
        </p:nvSpPr>
        <p:spPr>
          <a:xfrm>
            <a:off x="4934102" y="3724351"/>
            <a:ext cx="6590995" cy="1218895"/>
          </a:xfrm>
          <a:prstGeom prst="roundRect">
            <a:avLst>
              <a:gd name="adj" fmla="val 7033"/>
            </a:avLst>
          </a:prstGeom>
          <a:solidFill>
            <a:srgbClr val="FFFFFF">
              <a:alpha val="3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3" name="Shape 17"/>
          <p:cNvSpPr/>
          <p:nvPr/>
        </p:nvSpPr>
        <p:spPr>
          <a:xfrm>
            <a:off x="4934102" y="3724351"/>
            <a:ext cx="38405" cy="1218895"/>
          </a:xfrm>
          <a:prstGeom prst="rect">
            <a:avLst/>
          </a:prstGeom>
          <a:solidFill>
            <a:srgbClr val="000000">
              <a:alpha val="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4" name="Shape 18"/>
          <p:cNvSpPr/>
          <p:nvPr/>
        </p:nvSpPr>
        <p:spPr>
          <a:xfrm>
            <a:off x="6152083" y="3939235"/>
            <a:ext cx="533095" cy="267005"/>
          </a:xfrm>
          <a:prstGeom prst="roundRect">
            <a:avLst>
              <a:gd name="adj" fmla="val 48924"/>
            </a:avLst>
          </a:prstGeom>
          <a:solidFill>
            <a:srgbClr val="38BDF8">
              <a:alpha val="15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25" name="Image 4" descr="preencoded.png"/>
          <p:cNvPicPr>
            <a:picLocks noChangeAspect="1"/>
          </p:cNvPicPr>
          <p:nvPr/>
        </p:nvPicPr>
        <p:blipFill>
          <a:blip r:embed="rId3"/>
          <a:srcRect l="-7192" r="-7192"/>
          <a:stretch/>
        </p:blipFill>
        <p:spPr>
          <a:xfrm>
            <a:off x="5201107" y="4375404"/>
            <a:ext cx="152705" cy="133502"/>
          </a:xfrm>
          <a:prstGeom prst="rect">
            <a:avLst/>
          </a:prstGeom>
        </p:spPr>
      </p:pic>
      <p:pic>
        <p:nvPicPr>
          <p:cNvPr id="26" name="Image 5" descr="preencoded.png"/>
          <p:cNvPicPr>
            <a:picLocks noChangeAspect="1"/>
          </p:cNvPicPr>
          <p:nvPr/>
        </p:nvPicPr>
        <p:blipFill>
          <a:blip r:embed="rId4"/>
          <a:srcRect t="-4641" b="-4641"/>
          <a:stretch/>
        </p:blipFill>
        <p:spPr>
          <a:xfrm>
            <a:off x="8324698" y="4375404"/>
            <a:ext cx="152705" cy="133502"/>
          </a:xfrm>
          <a:prstGeom prst="rect">
            <a:avLst/>
          </a:prstGeom>
        </p:spPr>
      </p:pic>
      <p:sp>
        <p:nvSpPr>
          <p:cNvPr id="27" name="Text 19"/>
          <p:cNvSpPr txBox="1"/>
          <p:nvPr/>
        </p:nvSpPr>
        <p:spPr>
          <a:xfrm>
            <a:off x="5201107" y="1034186"/>
            <a:ext cx="535838" cy="2953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F1F5F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내주</a:t>
            </a:r>
            <a:endParaRPr lang="en-US" sz="1600" dirty="0"/>
          </a:p>
        </p:txBody>
      </p:sp>
      <p:sp>
        <p:nvSpPr>
          <p:cNvPr id="28" name="Text 20"/>
          <p:cNvSpPr txBox="1"/>
          <p:nvPr/>
        </p:nvSpPr>
        <p:spPr>
          <a:xfrm>
            <a:off x="5789066" y="1097280"/>
            <a:ext cx="692201" cy="1810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38BDF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가장 대중적</a:t>
            </a:r>
            <a:endParaRPr lang="en-US" sz="900" dirty="0"/>
          </a:p>
        </p:txBody>
      </p:sp>
      <p:sp>
        <p:nvSpPr>
          <p:cNvPr id="29" name="Text 21"/>
          <p:cNvSpPr txBox="1"/>
          <p:nvPr/>
        </p:nvSpPr>
        <p:spPr>
          <a:xfrm>
            <a:off x="5447995" y="1457554"/>
            <a:ext cx="409651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64748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무엇을</a:t>
            </a:r>
            <a:endParaRPr lang="en-US" sz="900" dirty="0"/>
          </a:p>
        </p:txBody>
      </p:sp>
      <p:sp>
        <p:nvSpPr>
          <p:cNvPr id="30" name="Text 22"/>
          <p:cNvSpPr txBox="1"/>
          <p:nvPr/>
        </p:nvSpPr>
        <p:spPr>
          <a:xfrm>
            <a:off x="5447995" y="1647749"/>
            <a:ext cx="2051914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본문 괄호 안에 (저자, 연도) 표기</a:t>
            </a:r>
            <a:endParaRPr lang="en-US" sz="1100" dirty="0"/>
          </a:p>
        </p:txBody>
      </p:sp>
      <p:sp>
        <p:nvSpPr>
          <p:cNvPr id="31" name="Text 23"/>
          <p:cNvSpPr txBox="1"/>
          <p:nvPr/>
        </p:nvSpPr>
        <p:spPr>
          <a:xfrm>
            <a:off x="8572500" y="1457554"/>
            <a:ext cx="305410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64748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누가</a:t>
            </a:r>
            <a:endParaRPr lang="en-US" sz="900" dirty="0"/>
          </a:p>
        </p:txBody>
      </p:sp>
      <p:sp>
        <p:nvSpPr>
          <p:cNvPr id="32" name="Text 24"/>
          <p:cNvSpPr txBox="1"/>
          <p:nvPr/>
        </p:nvSpPr>
        <p:spPr>
          <a:xfrm>
            <a:off x="8572500" y="1647749"/>
            <a:ext cx="206197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APA, MLA (사회과학, 인문 일부)</a:t>
            </a:r>
            <a:endParaRPr lang="en-US" sz="1100" dirty="0"/>
          </a:p>
        </p:txBody>
      </p:sp>
      <p:sp>
        <p:nvSpPr>
          <p:cNvPr id="33" name="Text 25"/>
          <p:cNvSpPr txBox="1"/>
          <p:nvPr/>
        </p:nvSpPr>
        <p:spPr>
          <a:xfrm>
            <a:off x="5201107" y="2474366"/>
            <a:ext cx="726034" cy="2953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F1F5F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번호주</a:t>
            </a:r>
            <a:endParaRPr lang="en-US" sz="1600" dirty="0"/>
          </a:p>
        </p:txBody>
      </p:sp>
      <p:sp>
        <p:nvSpPr>
          <p:cNvPr id="34" name="Text 26"/>
          <p:cNvSpPr txBox="1"/>
          <p:nvPr/>
        </p:nvSpPr>
        <p:spPr>
          <a:xfrm>
            <a:off x="5978347" y="2537460"/>
            <a:ext cx="435254" cy="1810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38BDF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간결함</a:t>
            </a:r>
            <a:endParaRPr lang="en-US" sz="900" dirty="0"/>
          </a:p>
        </p:txBody>
      </p:sp>
      <p:sp>
        <p:nvSpPr>
          <p:cNvPr id="35" name="Text 27"/>
          <p:cNvSpPr txBox="1"/>
          <p:nvPr/>
        </p:nvSpPr>
        <p:spPr>
          <a:xfrm>
            <a:off x="5447995" y="2897734"/>
            <a:ext cx="409651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64748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무엇을</a:t>
            </a:r>
            <a:endParaRPr lang="en-US" sz="900" dirty="0"/>
          </a:p>
        </p:txBody>
      </p:sp>
      <p:sp>
        <p:nvSpPr>
          <p:cNvPr id="36" name="Text 28"/>
          <p:cNvSpPr txBox="1"/>
          <p:nvPr/>
        </p:nvSpPr>
        <p:spPr>
          <a:xfrm>
            <a:off x="5447995" y="3087929"/>
            <a:ext cx="1909267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본문에 [1], [2] 등 숫자로 표기</a:t>
            </a:r>
            <a:endParaRPr lang="en-US" sz="1100" dirty="0"/>
          </a:p>
        </p:txBody>
      </p:sp>
      <p:sp>
        <p:nvSpPr>
          <p:cNvPr id="37" name="Text 29"/>
          <p:cNvSpPr txBox="1"/>
          <p:nvPr/>
        </p:nvSpPr>
        <p:spPr>
          <a:xfrm>
            <a:off x="8572500" y="2897734"/>
            <a:ext cx="305410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64748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누가</a:t>
            </a:r>
            <a:endParaRPr lang="en-US" sz="900" dirty="0"/>
          </a:p>
        </p:txBody>
      </p:sp>
      <p:sp>
        <p:nvSpPr>
          <p:cNvPr id="38" name="Text 30"/>
          <p:cNvSpPr txBox="1"/>
          <p:nvPr/>
        </p:nvSpPr>
        <p:spPr>
          <a:xfrm>
            <a:off x="8572500" y="3087929"/>
            <a:ext cx="208026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IEEE, Vancouver (이공계, 의학)</a:t>
            </a:r>
            <a:endParaRPr lang="en-US" sz="1100" dirty="0"/>
          </a:p>
        </p:txBody>
      </p:sp>
      <p:sp>
        <p:nvSpPr>
          <p:cNvPr id="39" name="Text 31"/>
          <p:cNvSpPr txBox="1"/>
          <p:nvPr/>
        </p:nvSpPr>
        <p:spPr>
          <a:xfrm>
            <a:off x="5201107" y="3914546"/>
            <a:ext cx="993038" cy="2953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F1F5F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각주/미주</a:t>
            </a:r>
            <a:endParaRPr lang="en-US" sz="1600" dirty="0"/>
          </a:p>
        </p:txBody>
      </p:sp>
      <p:sp>
        <p:nvSpPr>
          <p:cNvPr id="40" name="Text 32"/>
          <p:cNvSpPr txBox="1"/>
          <p:nvPr/>
        </p:nvSpPr>
        <p:spPr>
          <a:xfrm>
            <a:off x="6247181" y="3977640"/>
            <a:ext cx="435254" cy="1810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38BDF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상세함</a:t>
            </a:r>
            <a:endParaRPr lang="en-US" sz="900" dirty="0"/>
          </a:p>
        </p:txBody>
      </p:sp>
      <p:sp>
        <p:nvSpPr>
          <p:cNvPr id="41" name="Text 33"/>
          <p:cNvSpPr txBox="1"/>
          <p:nvPr/>
        </p:nvSpPr>
        <p:spPr>
          <a:xfrm>
            <a:off x="5447995" y="4337914"/>
            <a:ext cx="409651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64748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무엇을</a:t>
            </a:r>
            <a:endParaRPr lang="en-US" sz="900" dirty="0"/>
          </a:p>
        </p:txBody>
      </p:sp>
      <p:sp>
        <p:nvSpPr>
          <p:cNvPr id="42" name="Text 34"/>
          <p:cNvSpPr txBox="1"/>
          <p:nvPr/>
        </p:nvSpPr>
        <p:spPr>
          <a:xfrm>
            <a:off x="5447995" y="4528109"/>
            <a:ext cx="2243023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어깨번호¹ 후 하단에 상세 정보 기재</a:t>
            </a:r>
            <a:endParaRPr lang="en-US" sz="1100" dirty="0"/>
          </a:p>
        </p:txBody>
      </p:sp>
      <p:sp>
        <p:nvSpPr>
          <p:cNvPr id="43" name="Text 35"/>
          <p:cNvSpPr txBox="1"/>
          <p:nvPr/>
        </p:nvSpPr>
        <p:spPr>
          <a:xfrm>
            <a:off x="8572500" y="4337914"/>
            <a:ext cx="305410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64748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누가</a:t>
            </a:r>
            <a:endParaRPr lang="en-US" sz="900" dirty="0"/>
          </a:p>
        </p:txBody>
      </p:sp>
      <p:sp>
        <p:nvSpPr>
          <p:cNvPr id="44" name="Text 36"/>
          <p:cNvSpPr txBox="1"/>
          <p:nvPr/>
        </p:nvSpPr>
        <p:spPr>
          <a:xfrm>
            <a:off x="8572500" y="4528109"/>
            <a:ext cx="2014423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Chicago (역사, 신학 등 인문학)</a:t>
            </a:r>
            <a:endParaRPr lang="en-US" sz="1100" dirty="0"/>
          </a:p>
        </p:txBody>
      </p:sp>
      <p:sp>
        <p:nvSpPr>
          <p:cNvPr id="45" name="Shape 37"/>
          <p:cNvSpPr/>
          <p:nvPr/>
        </p:nvSpPr>
        <p:spPr>
          <a:xfrm>
            <a:off x="4934102" y="5164531"/>
            <a:ext cx="6590995" cy="857707"/>
          </a:xfrm>
          <a:prstGeom prst="roundRect">
            <a:avLst>
              <a:gd name="adj" fmla="val 14215"/>
            </a:avLst>
          </a:prstGeom>
          <a:solidFill>
            <a:srgbClr val="FFFFFF">
              <a:alpha val="9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6" name="Shape 38"/>
          <p:cNvSpPr/>
          <p:nvPr/>
        </p:nvSpPr>
        <p:spPr>
          <a:xfrm>
            <a:off x="4934102" y="5164531"/>
            <a:ext cx="38405" cy="857707"/>
          </a:xfrm>
          <a:prstGeom prst="rect">
            <a:avLst/>
          </a:prstGeom>
          <a:solidFill>
            <a:srgbClr val="000000">
              <a:alpha val="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47" name="Image 6" descr="preencoded.png"/>
          <p:cNvPicPr>
            <a:picLocks noChangeAspect="1"/>
          </p:cNvPicPr>
          <p:nvPr/>
        </p:nvPicPr>
        <p:blipFill>
          <a:blip r:embed="rId5">
            <a:alphaModFix amt="90000"/>
          </a:blip>
          <a:srcRect l="-7192" r="-7192"/>
          <a:stretch/>
        </p:blipFill>
        <p:spPr>
          <a:xfrm>
            <a:off x="5201107" y="5682996"/>
            <a:ext cx="152705" cy="133502"/>
          </a:xfrm>
          <a:prstGeom prst="rect">
            <a:avLst/>
          </a:prstGeom>
        </p:spPr>
      </p:pic>
      <p:sp>
        <p:nvSpPr>
          <p:cNvPr id="48" name="Text 39"/>
          <p:cNvSpPr txBox="1"/>
          <p:nvPr/>
        </p:nvSpPr>
        <p:spPr>
          <a:xfrm>
            <a:off x="5201107" y="5317236"/>
            <a:ext cx="745236" cy="2386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94A3B8">
                    <a:alpha val="90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참고문헌</a:t>
            </a:r>
            <a:endParaRPr lang="en-US" sz="1300" dirty="0"/>
          </a:p>
        </p:txBody>
      </p:sp>
      <p:sp>
        <p:nvSpPr>
          <p:cNvPr id="49" name="Text 40"/>
          <p:cNvSpPr txBox="1"/>
          <p:nvPr/>
        </p:nvSpPr>
        <p:spPr>
          <a:xfrm>
            <a:off x="5447995" y="5644591"/>
            <a:ext cx="3899916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94A3B8">
                    <a:alpha val="90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본문에서 인용한 모든 자료를 문서 끝에 정리한 최종 목록 (필수)</a:t>
            </a:r>
            <a:endParaRPr lang="en-US" sz="1100" dirty="0"/>
          </a:p>
        </p:txBody>
      </p:sp>
      <p:sp>
        <p:nvSpPr>
          <p:cNvPr id="50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이애본(드림아이티비즈) · useful-ai.dreamitbiz.com · 교육 목적 비영리 이용 · 출처 표기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" name="Shape 2"/>
          <p:cNvSpPr/>
          <p:nvPr/>
        </p:nvSpPr>
        <p:spPr>
          <a:xfrm>
            <a:off x="-1904695" y="-1904695"/>
            <a:ext cx="7619695" cy="7619695"/>
          </a:xfrm>
          <a:prstGeom prst="ellipse">
            <a:avLst/>
          </a:prstGeom>
          <a:solidFill>
            <a:srgbClr val="38BDF8">
              <a:alpha val="2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" name="Shape 3"/>
          <p:cNvSpPr/>
          <p:nvPr/>
        </p:nvSpPr>
        <p:spPr>
          <a:xfrm>
            <a:off x="7905902" y="2572207"/>
            <a:ext cx="5715000" cy="5715000"/>
          </a:xfrm>
          <a:prstGeom prst="ellipse">
            <a:avLst/>
          </a:prstGeom>
          <a:solidFill>
            <a:srgbClr val="38BDF8">
              <a:alpha val="2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6" name="Shape 4"/>
          <p:cNvSpPr/>
          <p:nvPr/>
        </p:nvSpPr>
        <p:spPr>
          <a:xfrm>
            <a:off x="0" y="0"/>
            <a:ext cx="4267505" cy="6858000"/>
          </a:xfrm>
          <a:prstGeom prst="rect">
            <a:avLst/>
          </a:prstGeom>
          <a:solidFill>
            <a:srgbClr val="0F172A">
              <a:alpha val="5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7" name="Shape 5"/>
          <p:cNvSpPr/>
          <p:nvPr/>
        </p:nvSpPr>
        <p:spPr>
          <a:xfrm>
            <a:off x="4258361" y="0"/>
            <a:ext cx="9144" cy="6858000"/>
          </a:xfrm>
          <a:prstGeom prst="rect">
            <a:avLst/>
          </a:prstGeom>
          <a:solidFill>
            <a:srgbClr val="FFFFFF">
              <a:alpha val="1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8" name="Shape 6"/>
          <p:cNvSpPr/>
          <p:nvPr/>
        </p:nvSpPr>
        <p:spPr>
          <a:xfrm>
            <a:off x="476402" y="1449324"/>
            <a:ext cx="571500" cy="57607"/>
          </a:xfrm>
          <a:prstGeom prst="rect">
            <a:avLst/>
          </a:prstGeom>
          <a:solidFill>
            <a:srgbClr val="38BDF8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9" name="Shape 7"/>
          <p:cNvSpPr/>
          <p:nvPr/>
        </p:nvSpPr>
        <p:spPr>
          <a:xfrm>
            <a:off x="476402" y="4475988"/>
            <a:ext cx="3305556" cy="933602"/>
          </a:xfrm>
          <a:prstGeom prst="roundRect">
            <a:avLst>
              <a:gd name="adj" fmla="val 7995"/>
            </a:avLst>
          </a:prstGeom>
          <a:noFill/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0" name="Text 8"/>
          <p:cNvSpPr txBox="1"/>
          <p:nvPr/>
        </p:nvSpPr>
        <p:spPr>
          <a:xfrm>
            <a:off x="476402" y="1734617"/>
            <a:ext cx="1815084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PART B. 출처 표기 시스템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76402" y="1991563"/>
            <a:ext cx="3105302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6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내주(In-text)</a:t>
            </a:r>
            <a:endParaRPr lang="en-US" sz="3600" dirty="0"/>
          </a:p>
        </p:txBody>
      </p:sp>
      <p:sp>
        <p:nvSpPr>
          <p:cNvPr id="12" name="Text 10"/>
          <p:cNvSpPr txBox="1"/>
          <p:nvPr/>
        </p:nvSpPr>
        <p:spPr>
          <a:xfrm>
            <a:off x="476402" y="2563063"/>
            <a:ext cx="2162556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6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기본 원칙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76402" y="3420770"/>
            <a:ext cx="3435102" cy="8101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300" dirty="0">
                <a:solidFill>
                  <a:srgbClr val="9CA3A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본문 안에서 출처를 </a:t>
            </a:r>
            <a:r>
              <a:rPr lang="en-US" sz="1300" dirty="0" err="1">
                <a:solidFill>
                  <a:srgbClr val="9CA3A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밝히는</a:t>
            </a:r>
            <a:r>
              <a:rPr lang="en-US" sz="1300" dirty="0">
                <a:solidFill>
                  <a:srgbClr val="9CA3A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</a:p>
          <a:p>
            <a:pPr marL="0" indent="0" algn="l">
              <a:lnSpc>
                <a:spcPct val="150000"/>
              </a:lnSpc>
              <a:buNone/>
            </a:pPr>
            <a:r>
              <a:rPr lang="en-US" sz="1300" dirty="0" err="1">
                <a:solidFill>
                  <a:srgbClr val="9CA3A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가장</a:t>
            </a:r>
            <a:r>
              <a:rPr lang="en-US" sz="1300" dirty="0">
                <a:solidFill>
                  <a:srgbClr val="9CA3A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기초적인 규칙입니다. </a:t>
            </a:r>
          </a:p>
          <a:p>
            <a:pPr marL="0" indent="0" algn="l">
              <a:lnSpc>
                <a:spcPct val="150000"/>
              </a:lnSpc>
              <a:buNone/>
            </a:pPr>
            <a:r>
              <a:rPr lang="en-US" sz="1300" dirty="0" err="1">
                <a:solidFill>
                  <a:srgbClr val="9CA3A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괄호형과</a:t>
            </a:r>
            <a:r>
              <a:rPr lang="en-US" sz="1300" dirty="0">
                <a:solidFill>
                  <a:srgbClr val="9CA3A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서술형의 차이를 명확히 이해해야 합니다.</a:t>
            </a:r>
            <a:endParaRPr lang="en-US" sz="1300" dirty="0"/>
          </a:p>
        </p:txBody>
      </p:sp>
      <p:pic>
        <p:nvPicPr>
          <p:cNvPr id="14" name="Image 0" descr="preencoded.png"/>
          <p:cNvPicPr>
            <a:picLocks noChangeAspect="1"/>
          </p:cNvPicPr>
          <p:nvPr/>
        </p:nvPicPr>
        <p:blipFill>
          <a:blip r:embed="rId3"/>
          <a:srcRect l="-2512" r="-2512"/>
          <a:stretch/>
        </p:blipFill>
        <p:spPr>
          <a:xfrm>
            <a:off x="638251" y="4673498"/>
            <a:ext cx="105156" cy="133502"/>
          </a:xfrm>
          <a:prstGeom prst="rect">
            <a:avLst/>
          </a:prstGeom>
        </p:spPr>
      </p:pic>
      <p:sp>
        <p:nvSpPr>
          <p:cNvPr id="15" name="Text 12"/>
          <p:cNvSpPr txBox="1"/>
          <p:nvPr/>
        </p:nvSpPr>
        <p:spPr>
          <a:xfrm>
            <a:off x="819302" y="4637837"/>
            <a:ext cx="596189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핵심 Tip</a:t>
            </a:r>
            <a:endParaRPr lang="en-US" sz="1000" dirty="0"/>
          </a:p>
        </p:txBody>
      </p:sp>
      <p:sp>
        <p:nvSpPr>
          <p:cNvPr id="16" name="Text 13"/>
          <p:cNvSpPr txBox="1"/>
          <p:nvPr/>
        </p:nvSpPr>
        <p:spPr>
          <a:xfrm>
            <a:off x="638251" y="4866437"/>
            <a:ext cx="3062326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D1D5D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APA, MLA 등 스타일에 따라 저자, 연도, 페이지의 표기 순서가 다르므로 반드시 해당 가이드를 확인하세요.</a:t>
            </a:r>
            <a:endParaRPr lang="en-US" sz="1000" dirty="0"/>
          </a:p>
        </p:txBody>
      </p:sp>
      <p:sp>
        <p:nvSpPr>
          <p:cNvPr id="17" name="Shape 14"/>
          <p:cNvSpPr/>
          <p:nvPr/>
        </p:nvSpPr>
        <p:spPr>
          <a:xfrm>
            <a:off x="4839005" y="1051560"/>
            <a:ext cx="6782105" cy="1076249"/>
          </a:xfrm>
          <a:prstGeom prst="roundRect">
            <a:avLst>
              <a:gd name="adj" fmla="val 6015"/>
            </a:avLst>
          </a:prstGeom>
          <a:solidFill>
            <a:srgbClr val="FFFFFF">
              <a:alpha val="3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8" name="Shape 15"/>
          <p:cNvSpPr/>
          <p:nvPr/>
        </p:nvSpPr>
        <p:spPr>
          <a:xfrm>
            <a:off x="4839005" y="1051560"/>
            <a:ext cx="38405" cy="1076249"/>
          </a:xfrm>
          <a:prstGeom prst="rect">
            <a:avLst/>
          </a:prstGeom>
          <a:solidFill>
            <a:srgbClr val="000000">
              <a:alpha val="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9" name="Shape 16"/>
          <p:cNvSpPr/>
          <p:nvPr/>
        </p:nvSpPr>
        <p:spPr>
          <a:xfrm>
            <a:off x="5105095" y="1223467"/>
            <a:ext cx="381305" cy="381305"/>
          </a:xfrm>
          <a:prstGeom prst="roundRect">
            <a:avLst>
              <a:gd name="adj" fmla="val 47962"/>
            </a:avLst>
          </a:prstGeom>
          <a:solidFill>
            <a:srgbClr val="38BDF8">
              <a:alpha val="1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20" name="Image 1" descr="preencoded.png"/>
          <p:cNvPicPr>
            <a:picLocks noChangeAspect="1"/>
          </p:cNvPicPr>
          <p:nvPr/>
        </p:nvPicPr>
        <p:blipFill>
          <a:blip r:embed="rId4"/>
          <a:srcRect t="-100" b="-100"/>
          <a:stretch/>
        </p:blipFill>
        <p:spPr>
          <a:xfrm>
            <a:off x="5238598" y="1337767"/>
            <a:ext cx="114300" cy="152705"/>
          </a:xfrm>
          <a:prstGeom prst="rect">
            <a:avLst/>
          </a:prstGeom>
        </p:spPr>
      </p:pic>
      <p:sp>
        <p:nvSpPr>
          <p:cNvPr id="21" name="Shape 17"/>
          <p:cNvSpPr/>
          <p:nvPr/>
        </p:nvSpPr>
        <p:spPr>
          <a:xfrm>
            <a:off x="4839005" y="2278685"/>
            <a:ext cx="6782105" cy="1076249"/>
          </a:xfrm>
          <a:prstGeom prst="roundRect">
            <a:avLst>
              <a:gd name="adj" fmla="val 6015"/>
            </a:avLst>
          </a:prstGeom>
          <a:solidFill>
            <a:srgbClr val="FFFFFF">
              <a:alpha val="3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2" name="Shape 18"/>
          <p:cNvSpPr/>
          <p:nvPr/>
        </p:nvSpPr>
        <p:spPr>
          <a:xfrm>
            <a:off x="4839005" y="2278685"/>
            <a:ext cx="38405" cy="1076249"/>
          </a:xfrm>
          <a:prstGeom prst="rect">
            <a:avLst/>
          </a:prstGeom>
          <a:solidFill>
            <a:srgbClr val="000000">
              <a:alpha val="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3" name="Shape 19"/>
          <p:cNvSpPr/>
          <p:nvPr/>
        </p:nvSpPr>
        <p:spPr>
          <a:xfrm>
            <a:off x="5105095" y="2449678"/>
            <a:ext cx="381305" cy="381305"/>
          </a:xfrm>
          <a:prstGeom prst="roundRect">
            <a:avLst>
              <a:gd name="adj" fmla="val 47962"/>
            </a:avLst>
          </a:prstGeom>
          <a:solidFill>
            <a:srgbClr val="38BDF8">
              <a:alpha val="1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24" name="Image 2" descr="preencoded.png"/>
          <p:cNvPicPr>
            <a:picLocks noChangeAspect="1"/>
          </p:cNvPicPr>
          <p:nvPr/>
        </p:nvPicPr>
        <p:blipFill>
          <a:blip r:embed="rId5"/>
          <a:srcRect t="-180" b="-180"/>
          <a:stretch/>
        </p:blipFill>
        <p:spPr>
          <a:xfrm>
            <a:off x="5201107" y="2563978"/>
            <a:ext cx="190195" cy="152705"/>
          </a:xfrm>
          <a:prstGeom prst="rect">
            <a:avLst/>
          </a:prstGeom>
        </p:spPr>
      </p:pic>
      <p:sp>
        <p:nvSpPr>
          <p:cNvPr id="25" name="Shape 20"/>
          <p:cNvSpPr/>
          <p:nvPr/>
        </p:nvSpPr>
        <p:spPr>
          <a:xfrm>
            <a:off x="4839005" y="3504895"/>
            <a:ext cx="6782105" cy="1076249"/>
          </a:xfrm>
          <a:prstGeom prst="roundRect">
            <a:avLst>
              <a:gd name="adj" fmla="val 6015"/>
            </a:avLst>
          </a:prstGeom>
          <a:solidFill>
            <a:srgbClr val="FFFFFF">
              <a:alpha val="3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6" name="Shape 21"/>
          <p:cNvSpPr/>
          <p:nvPr/>
        </p:nvSpPr>
        <p:spPr>
          <a:xfrm>
            <a:off x="4839005" y="3504895"/>
            <a:ext cx="38405" cy="1076249"/>
          </a:xfrm>
          <a:prstGeom prst="rect">
            <a:avLst/>
          </a:prstGeom>
          <a:solidFill>
            <a:srgbClr val="000000">
              <a:alpha val="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7" name="Shape 22"/>
          <p:cNvSpPr/>
          <p:nvPr/>
        </p:nvSpPr>
        <p:spPr>
          <a:xfrm>
            <a:off x="5105095" y="3676802"/>
            <a:ext cx="381305" cy="381305"/>
          </a:xfrm>
          <a:prstGeom prst="roundRect">
            <a:avLst>
              <a:gd name="adj" fmla="val 47962"/>
            </a:avLst>
          </a:prstGeom>
          <a:solidFill>
            <a:srgbClr val="38BDF8">
              <a:alpha val="1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28" name="Image 3" descr="preencoded.png"/>
          <p:cNvPicPr>
            <a:picLocks noChangeAspect="1"/>
          </p:cNvPicPr>
          <p:nvPr/>
        </p:nvPicPr>
        <p:blipFill>
          <a:blip r:embed="rId6"/>
          <a:srcRect t="-100" b="-100"/>
          <a:stretch/>
        </p:blipFill>
        <p:spPr>
          <a:xfrm>
            <a:off x="5238598" y="3791102"/>
            <a:ext cx="114300" cy="152705"/>
          </a:xfrm>
          <a:prstGeom prst="rect">
            <a:avLst/>
          </a:prstGeom>
        </p:spPr>
      </p:pic>
      <p:sp>
        <p:nvSpPr>
          <p:cNvPr id="29" name="Shape 23"/>
          <p:cNvSpPr/>
          <p:nvPr/>
        </p:nvSpPr>
        <p:spPr>
          <a:xfrm>
            <a:off x="4839005" y="4732020"/>
            <a:ext cx="6782105" cy="1076249"/>
          </a:xfrm>
          <a:prstGeom prst="roundRect">
            <a:avLst>
              <a:gd name="adj" fmla="val 6015"/>
            </a:avLst>
          </a:prstGeom>
          <a:solidFill>
            <a:srgbClr val="FBBF24">
              <a:alpha val="5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0" name="Shape 24"/>
          <p:cNvSpPr/>
          <p:nvPr/>
        </p:nvSpPr>
        <p:spPr>
          <a:xfrm>
            <a:off x="4839005" y="4732020"/>
            <a:ext cx="38405" cy="1076249"/>
          </a:xfrm>
          <a:prstGeom prst="rect">
            <a:avLst/>
          </a:prstGeom>
          <a:solidFill>
            <a:srgbClr val="FBBF24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1" name="Shape 25"/>
          <p:cNvSpPr/>
          <p:nvPr/>
        </p:nvSpPr>
        <p:spPr>
          <a:xfrm>
            <a:off x="5105095" y="4903013"/>
            <a:ext cx="381305" cy="381305"/>
          </a:xfrm>
          <a:prstGeom prst="roundRect">
            <a:avLst>
              <a:gd name="adj" fmla="val 47962"/>
            </a:avLst>
          </a:prstGeom>
          <a:solidFill>
            <a:srgbClr val="FBBF24">
              <a:alpha val="1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32" name="Image 4" descr="preencoded.png"/>
          <p:cNvPicPr>
            <a:picLocks noChangeAspect="1"/>
          </p:cNvPicPr>
          <p:nvPr/>
        </p:nvPicPr>
        <p:blipFill>
          <a:blip r:embed="rId7"/>
          <a:srcRect/>
          <a:stretch/>
        </p:blipFill>
        <p:spPr>
          <a:xfrm>
            <a:off x="5219395" y="5017313"/>
            <a:ext cx="152705" cy="152705"/>
          </a:xfrm>
          <a:prstGeom prst="rect">
            <a:avLst/>
          </a:prstGeom>
        </p:spPr>
      </p:pic>
      <p:sp>
        <p:nvSpPr>
          <p:cNvPr id="33" name="Text 26"/>
          <p:cNvSpPr txBox="1"/>
          <p:nvPr/>
        </p:nvSpPr>
        <p:spPr>
          <a:xfrm>
            <a:off x="5676595" y="1204265"/>
            <a:ext cx="2433218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F1F5F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괄호형 인용 (Parenthetical)</a:t>
            </a:r>
            <a:endParaRPr lang="en-US" sz="1400" dirty="0"/>
          </a:p>
        </p:txBody>
      </p:sp>
      <p:sp>
        <p:nvSpPr>
          <p:cNvPr id="34" name="Text 27"/>
          <p:cNvSpPr txBox="1"/>
          <p:nvPr/>
        </p:nvSpPr>
        <p:spPr>
          <a:xfrm>
            <a:off x="5676595" y="1516075"/>
            <a:ext cx="576346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문장의 끝이나 중간에 괄호를 사용하여 출처 정보를 표기합니다. 연구 결과는 ...하다 (Kim, 2026). ...라는 견해다 (Smith 15).</a:t>
            </a:r>
            <a:endParaRPr lang="en-US" sz="1200" dirty="0"/>
          </a:p>
        </p:txBody>
      </p:sp>
      <p:sp>
        <p:nvSpPr>
          <p:cNvPr id="35" name="Text 28"/>
          <p:cNvSpPr txBox="1"/>
          <p:nvPr/>
        </p:nvSpPr>
        <p:spPr>
          <a:xfrm>
            <a:off x="5676595" y="2430475"/>
            <a:ext cx="2071116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F1F5F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서술형 인용 (Narrative)</a:t>
            </a:r>
            <a:endParaRPr lang="en-US" sz="1400" dirty="0"/>
          </a:p>
        </p:txBody>
      </p:sp>
      <p:sp>
        <p:nvSpPr>
          <p:cNvPr id="36" name="Text 29"/>
          <p:cNvSpPr txBox="1"/>
          <p:nvPr/>
        </p:nvSpPr>
        <p:spPr>
          <a:xfrm>
            <a:off x="5676595" y="2743200"/>
            <a:ext cx="58293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저자의 이름을 문장의 주어 등 문장 성분으로 자연스럽게 포함합니다. Kim (2026)은 ...라고 주장했다.</a:t>
            </a:r>
            <a:endParaRPr lang="en-US" sz="1200" dirty="0"/>
          </a:p>
        </p:txBody>
      </p:sp>
      <p:sp>
        <p:nvSpPr>
          <p:cNvPr id="37" name="Text 30"/>
          <p:cNvSpPr txBox="1"/>
          <p:nvPr/>
        </p:nvSpPr>
        <p:spPr>
          <a:xfrm>
            <a:off x="5676595" y="3657600"/>
            <a:ext cx="1423721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F1F5F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페이지 번호 표기</a:t>
            </a:r>
            <a:endParaRPr lang="en-US" sz="1400" dirty="0"/>
          </a:p>
        </p:txBody>
      </p:sp>
      <p:sp>
        <p:nvSpPr>
          <p:cNvPr id="38" name="Text 31"/>
          <p:cNvSpPr txBox="1"/>
          <p:nvPr/>
        </p:nvSpPr>
        <p:spPr>
          <a:xfrm>
            <a:off x="5676595" y="3970325"/>
            <a:ext cx="573420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직접 인용 시에는 페이지 번호를 반드시 표기해야 합니다. * 간접 인용의 경우 APA는 선택, MLA는 필수인 경우가 많음 (Hong, 2026, p. 25)</a:t>
            </a:r>
            <a:endParaRPr lang="en-US" sz="1200" dirty="0"/>
          </a:p>
        </p:txBody>
      </p:sp>
      <p:sp>
        <p:nvSpPr>
          <p:cNvPr id="39" name="Text 32"/>
          <p:cNvSpPr txBox="1"/>
          <p:nvPr/>
        </p:nvSpPr>
        <p:spPr>
          <a:xfrm>
            <a:off x="5676595" y="4884725"/>
            <a:ext cx="2232965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FBBF2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문장부호(마침표) 위치 주의</a:t>
            </a:r>
            <a:endParaRPr lang="en-US" sz="1400" dirty="0"/>
          </a:p>
        </p:txBody>
      </p:sp>
      <p:sp>
        <p:nvSpPr>
          <p:cNvPr id="40" name="Text 33"/>
          <p:cNvSpPr txBox="1"/>
          <p:nvPr/>
        </p:nvSpPr>
        <p:spPr>
          <a:xfrm>
            <a:off x="5676595" y="5196535"/>
            <a:ext cx="58110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마침표는 괄호 뒤에 찍습니다. (단, 긴 블록 인용은 예외) ...이다. (Kim, 2023) ...이다 (Kim, 2023).</a:t>
            </a:r>
            <a:endParaRPr lang="en-US" sz="1200" dirty="0"/>
          </a:p>
        </p:txBody>
      </p:sp>
      <p:sp>
        <p:nvSpPr>
          <p:cNvPr id="41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이애본(드림아이티비즈) · useful-ai.dreamitbiz.com · 교육 목적 비영리 이용 · 출처 표기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" name="Shape 2"/>
          <p:cNvSpPr/>
          <p:nvPr/>
        </p:nvSpPr>
        <p:spPr>
          <a:xfrm>
            <a:off x="8382305" y="0"/>
            <a:ext cx="3810305" cy="3810305"/>
          </a:xfrm>
          <a:prstGeom prst="ellipse">
            <a:avLst/>
          </a:prstGeom>
          <a:solidFill>
            <a:srgbClr val="38BDF8">
              <a:alpha val="3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" name="Shape 3"/>
          <p:cNvSpPr/>
          <p:nvPr/>
        </p:nvSpPr>
        <p:spPr>
          <a:xfrm>
            <a:off x="761695" y="476402"/>
            <a:ext cx="571500" cy="57607"/>
          </a:xfrm>
          <a:prstGeom prst="roundRect">
            <a:avLst>
              <a:gd name="adj" fmla="val 793654"/>
            </a:avLst>
          </a:prstGeom>
          <a:solidFill>
            <a:srgbClr val="38BDF8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6" name="Text 4"/>
          <p:cNvSpPr txBox="1"/>
          <p:nvPr/>
        </p:nvSpPr>
        <p:spPr>
          <a:xfrm>
            <a:off x="761695" y="685800"/>
            <a:ext cx="3429000" cy="4956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7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APA 스타일 인용 예시</a:t>
            </a:r>
            <a:endParaRPr lang="en-US" sz="2700" dirty="0"/>
          </a:p>
        </p:txBody>
      </p:sp>
      <p:sp>
        <p:nvSpPr>
          <p:cNvPr id="7" name="Text 5"/>
          <p:cNvSpPr txBox="1"/>
          <p:nvPr/>
        </p:nvSpPr>
        <p:spPr>
          <a:xfrm>
            <a:off x="761695" y="1276502"/>
            <a:ext cx="6053328" cy="2478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9CA3A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가장 널리 쓰이는 APA(7판) 방식의 본문 내주와 참고문헌 표기법 비교 (2026년 기준)</a:t>
            </a:r>
            <a:endParaRPr lang="en-US" sz="1300" dirty="0"/>
          </a:p>
        </p:txBody>
      </p:sp>
      <p:grpSp>
        <p:nvGrpSpPr>
          <p:cNvPr id="48" name="그룹 47">
            <a:extLst>
              <a:ext uri="{FF2B5EF4-FFF2-40B4-BE49-F238E27FC236}">
                <a16:creationId xmlns:a16="http://schemas.microsoft.com/office/drawing/2014/main" id="{94AAED2D-A5B8-50B4-291F-78BA4CDFD6BF}"/>
              </a:ext>
            </a:extLst>
          </p:cNvPr>
          <p:cNvGrpSpPr/>
          <p:nvPr/>
        </p:nvGrpSpPr>
        <p:grpSpPr>
          <a:xfrm>
            <a:off x="767660" y="1681212"/>
            <a:ext cx="10668305" cy="4625774"/>
            <a:chOff x="761695" y="2009163"/>
            <a:chExt cx="10668305" cy="4625774"/>
          </a:xfrm>
        </p:grpSpPr>
        <p:sp>
          <p:nvSpPr>
            <p:cNvPr id="8" name="Shape 6"/>
            <p:cNvSpPr/>
            <p:nvPr/>
          </p:nvSpPr>
          <p:spPr>
            <a:xfrm>
              <a:off x="761695" y="2009163"/>
              <a:ext cx="5143500" cy="4625774"/>
            </a:xfrm>
            <a:prstGeom prst="roundRect">
              <a:avLst>
                <a:gd name="adj" fmla="val 545"/>
              </a:avLst>
            </a:prstGeom>
            <a:solidFill>
              <a:srgbClr val="1E293B">
                <a:alpha val="50000"/>
              </a:srgbClr>
            </a:solidFill>
            <a:ln w="50800">
              <a:solidFill>
                <a:srgbClr val="38BDF8"/>
              </a:solidFill>
              <a:prstDash val="solid"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9" name="Shape 7"/>
            <p:cNvSpPr/>
            <p:nvPr/>
          </p:nvSpPr>
          <p:spPr>
            <a:xfrm>
              <a:off x="1152144" y="2238451"/>
              <a:ext cx="4362602" cy="362102"/>
            </a:xfrm>
            <a:prstGeom prst="roundRect">
              <a:avLst>
                <a:gd name="adj" fmla="val 252526"/>
              </a:avLst>
            </a:prstGeom>
            <a:solidFill>
              <a:srgbClr val="38BDF8">
                <a:alpha val="15000"/>
              </a:srgbClr>
            </a:solidFill>
            <a:ln/>
          </p:spPr>
          <p:txBody>
            <a:bodyPr/>
            <a:lstStyle/>
            <a:p>
              <a:endParaRPr lang="ko-KR" altLang="en-US"/>
            </a:p>
          </p:txBody>
        </p:sp>
        <p:pic>
          <p:nvPicPr>
            <p:cNvPr id="10" name="Image 0" descr="preencoded.png"/>
            <p:cNvPicPr>
              <a:picLocks noChangeAspect="1"/>
            </p:cNvPicPr>
            <p:nvPr/>
          </p:nvPicPr>
          <p:blipFill>
            <a:blip r:embed="rId3"/>
            <a:srcRect l="-2838" r="-2838"/>
            <a:stretch/>
          </p:blipFill>
          <p:spPr>
            <a:xfrm>
              <a:off x="1304849" y="2350922"/>
              <a:ext cx="123444" cy="133502"/>
            </a:xfrm>
            <a:prstGeom prst="rect">
              <a:avLst/>
            </a:prstGeom>
          </p:spPr>
        </p:pic>
        <p:sp>
          <p:nvSpPr>
            <p:cNvPr id="11" name="Text 8"/>
            <p:cNvSpPr txBox="1"/>
            <p:nvPr/>
          </p:nvSpPr>
          <p:spPr>
            <a:xfrm>
              <a:off x="1505102" y="2314346"/>
              <a:ext cx="1436522" cy="21031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000" b="1" dirty="0">
                  <a:solidFill>
                    <a:srgbClr val="38BDF8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본문 내주 (IN-TEXT)</a:t>
              </a:r>
              <a:endParaRPr lang="en-US" sz="1000" dirty="0"/>
            </a:p>
          </p:txBody>
        </p:sp>
        <p:sp>
          <p:nvSpPr>
            <p:cNvPr id="12" name="Shape 9"/>
            <p:cNvSpPr/>
            <p:nvPr/>
          </p:nvSpPr>
          <p:spPr>
            <a:xfrm>
              <a:off x="1152144" y="4187952"/>
              <a:ext cx="4362602" cy="9144"/>
            </a:xfrm>
            <a:prstGeom prst="rect">
              <a:avLst/>
            </a:prstGeom>
            <a:solidFill>
              <a:srgbClr val="FFFFFF">
                <a:alpha val="5000"/>
              </a:srgbClr>
            </a:solidFill>
            <a:ln/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3" name="Shape 10"/>
            <p:cNvSpPr/>
            <p:nvPr/>
          </p:nvSpPr>
          <p:spPr>
            <a:xfrm>
              <a:off x="1152144" y="2825496"/>
              <a:ext cx="381305" cy="381305"/>
            </a:xfrm>
            <a:prstGeom prst="roundRect">
              <a:avLst>
                <a:gd name="adj" fmla="val 47962"/>
              </a:avLst>
            </a:prstGeom>
            <a:solidFill>
              <a:srgbClr val="38BDF8">
                <a:alpha val="10000"/>
              </a:srgbClr>
            </a:solidFill>
            <a:ln/>
          </p:spPr>
          <p:txBody>
            <a:bodyPr/>
            <a:lstStyle/>
            <a:p>
              <a:endParaRPr lang="ko-KR" altLang="en-US"/>
            </a:p>
          </p:txBody>
        </p:sp>
        <p:pic>
          <p:nvPicPr>
            <p:cNvPr id="14" name="Image 1" descr="preencoded.png"/>
            <p:cNvPicPr>
              <a:picLocks noChangeAspect="1"/>
            </p:cNvPicPr>
            <p:nvPr/>
          </p:nvPicPr>
          <p:blipFill>
            <a:blip r:embed="rId4"/>
            <a:srcRect/>
            <a:stretch/>
          </p:blipFill>
          <p:spPr>
            <a:xfrm>
              <a:off x="1252728" y="2925166"/>
              <a:ext cx="181051" cy="181051"/>
            </a:xfrm>
            <a:prstGeom prst="rect">
              <a:avLst/>
            </a:prstGeom>
          </p:spPr>
        </p:pic>
        <p:sp>
          <p:nvSpPr>
            <p:cNvPr id="15" name="Text 11"/>
            <p:cNvSpPr txBox="1"/>
            <p:nvPr/>
          </p:nvSpPr>
          <p:spPr>
            <a:xfrm>
              <a:off x="1723644" y="2825496"/>
              <a:ext cx="2048256" cy="277063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500" b="1" dirty="0">
                  <a:solidFill>
                    <a:srgbClr val="FFFFFF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간접 인용 (요약/재기술)</a:t>
              </a:r>
              <a:endParaRPr lang="en-US" sz="1500" dirty="0"/>
            </a:p>
          </p:txBody>
        </p:sp>
        <p:sp>
          <p:nvSpPr>
            <p:cNvPr id="16" name="Text 12"/>
            <p:cNvSpPr txBox="1"/>
            <p:nvPr/>
          </p:nvSpPr>
          <p:spPr>
            <a:xfrm>
              <a:off x="1723644" y="3186684"/>
              <a:ext cx="3219602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200" dirty="0">
                  <a:solidFill>
                    <a:srgbClr val="CBD5E1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아이디어만 가져올 때, 저자와 연도만 표기합니다.</a:t>
              </a:r>
              <a:endParaRPr lang="en-US" sz="1200" dirty="0"/>
            </a:p>
          </p:txBody>
        </p:sp>
        <p:sp>
          <p:nvSpPr>
            <p:cNvPr id="17" name="Text 13"/>
            <p:cNvSpPr txBox="1"/>
            <p:nvPr/>
          </p:nvSpPr>
          <p:spPr>
            <a:xfrm>
              <a:off x="1723644" y="3430829"/>
              <a:ext cx="3676802" cy="47640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200" dirty="0">
                  <a:solidFill>
                    <a:srgbClr val="CBD5E1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...연구 결과에 따르면 팀 기반 학습은 긍정적 효과가 있다 (Hong &amp; Kim, 2026).</a:t>
              </a:r>
              <a:endParaRPr lang="en-US" sz="1200" dirty="0"/>
            </a:p>
          </p:txBody>
        </p:sp>
        <p:sp>
          <p:nvSpPr>
            <p:cNvPr id="18" name="Shape 14"/>
            <p:cNvSpPr/>
            <p:nvPr/>
          </p:nvSpPr>
          <p:spPr>
            <a:xfrm>
              <a:off x="1152144" y="4461358"/>
              <a:ext cx="381305" cy="381305"/>
            </a:xfrm>
            <a:prstGeom prst="roundRect">
              <a:avLst>
                <a:gd name="adj" fmla="val 47962"/>
              </a:avLst>
            </a:prstGeom>
            <a:solidFill>
              <a:srgbClr val="38BDF8">
                <a:alpha val="10000"/>
              </a:srgbClr>
            </a:solidFill>
            <a:ln/>
          </p:spPr>
          <p:txBody>
            <a:bodyPr/>
            <a:lstStyle/>
            <a:p>
              <a:endParaRPr lang="ko-KR" altLang="en-US"/>
            </a:p>
          </p:txBody>
        </p:sp>
        <p:pic>
          <p:nvPicPr>
            <p:cNvPr id="19" name="Image 2" descr="preencoded.png"/>
            <p:cNvPicPr>
              <a:picLocks noChangeAspect="1"/>
            </p:cNvPicPr>
            <p:nvPr/>
          </p:nvPicPr>
          <p:blipFill>
            <a:blip r:embed="rId5"/>
            <a:srcRect l="-1082" r="-1082"/>
            <a:stretch/>
          </p:blipFill>
          <p:spPr>
            <a:xfrm>
              <a:off x="1261872" y="4561027"/>
              <a:ext cx="161849" cy="181051"/>
            </a:xfrm>
            <a:prstGeom prst="rect">
              <a:avLst/>
            </a:prstGeom>
          </p:spPr>
        </p:pic>
        <p:sp>
          <p:nvSpPr>
            <p:cNvPr id="20" name="Text 15"/>
            <p:cNvSpPr txBox="1"/>
            <p:nvPr/>
          </p:nvSpPr>
          <p:spPr>
            <a:xfrm>
              <a:off x="1723644" y="4461358"/>
              <a:ext cx="905256" cy="277063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500" b="1" dirty="0">
                  <a:solidFill>
                    <a:srgbClr val="FFFFFF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직접 인용</a:t>
              </a:r>
              <a:endParaRPr lang="en-US" sz="1500" dirty="0"/>
            </a:p>
          </p:txBody>
        </p:sp>
        <p:sp>
          <p:nvSpPr>
            <p:cNvPr id="21" name="Text 16"/>
            <p:cNvSpPr txBox="1"/>
            <p:nvPr/>
          </p:nvSpPr>
          <p:spPr>
            <a:xfrm>
              <a:off x="1723644" y="4823460"/>
              <a:ext cx="3324758" cy="47640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200" dirty="0">
                  <a:solidFill>
                    <a:srgbClr val="CBD5E1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원문을 그대로 가져올 때, 반드시 페이지 번호(p.)를 포함합니다.</a:t>
              </a:r>
              <a:endParaRPr lang="en-US" sz="1200" dirty="0"/>
            </a:p>
          </p:txBody>
        </p:sp>
        <p:sp>
          <p:nvSpPr>
            <p:cNvPr id="22" name="Text 17"/>
            <p:cNvSpPr txBox="1"/>
            <p:nvPr/>
          </p:nvSpPr>
          <p:spPr>
            <a:xfrm>
              <a:off x="1723644" y="5310835"/>
              <a:ext cx="3829507" cy="47640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200" dirty="0">
                  <a:solidFill>
                    <a:srgbClr val="CBD5E1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...라고 주장하며 "적극적 개입이 필수적이다"라고 강조했다 (Hong &amp; Kim, 2026, p. 15).</a:t>
              </a:r>
              <a:endParaRPr lang="en-US" sz="1200" dirty="0"/>
            </a:p>
          </p:txBody>
        </p:sp>
        <p:sp>
          <p:nvSpPr>
            <p:cNvPr id="23" name="Shape 18"/>
            <p:cNvSpPr/>
            <p:nvPr/>
          </p:nvSpPr>
          <p:spPr>
            <a:xfrm>
              <a:off x="6286500" y="2009163"/>
              <a:ext cx="5143500" cy="4625774"/>
            </a:xfrm>
            <a:prstGeom prst="roundRect">
              <a:avLst>
                <a:gd name="adj" fmla="val 545"/>
              </a:avLst>
            </a:prstGeom>
            <a:solidFill>
              <a:srgbClr val="1E293B">
                <a:alpha val="30000"/>
              </a:srgbClr>
            </a:solidFill>
            <a:ln w="50800">
              <a:solidFill>
                <a:srgbClr val="F43F5E"/>
              </a:solidFill>
              <a:prstDash val="solid"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4" name="Shape 19"/>
            <p:cNvSpPr/>
            <p:nvPr/>
          </p:nvSpPr>
          <p:spPr>
            <a:xfrm>
              <a:off x="6676949" y="2238451"/>
              <a:ext cx="4362602" cy="362102"/>
            </a:xfrm>
            <a:prstGeom prst="roundRect">
              <a:avLst>
                <a:gd name="adj" fmla="val 252526"/>
              </a:avLst>
            </a:prstGeom>
            <a:solidFill>
              <a:srgbClr val="F43F5E">
                <a:alpha val="15000"/>
              </a:srgbClr>
            </a:solidFill>
            <a:ln/>
          </p:spPr>
          <p:txBody>
            <a:bodyPr/>
            <a:lstStyle/>
            <a:p>
              <a:endParaRPr lang="ko-KR" altLang="en-US"/>
            </a:p>
          </p:txBody>
        </p:sp>
        <p:pic>
          <p:nvPicPr>
            <p:cNvPr id="25" name="Image 3" descr="preencoded.png"/>
            <p:cNvPicPr>
              <a:picLocks noChangeAspect="1"/>
            </p:cNvPicPr>
            <p:nvPr/>
          </p:nvPicPr>
          <p:blipFill>
            <a:blip r:embed="rId6"/>
            <a:srcRect l="-3425" r="-3425"/>
            <a:stretch/>
          </p:blipFill>
          <p:spPr>
            <a:xfrm>
              <a:off x="6829654" y="2350922"/>
              <a:ext cx="142646" cy="133502"/>
            </a:xfrm>
            <a:prstGeom prst="rect">
              <a:avLst/>
            </a:prstGeom>
          </p:spPr>
        </p:pic>
        <p:sp>
          <p:nvSpPr>
            <p:cNvPr id="26" name="Text 20"/>
            <p:cNvSpPr txBox="1"/>
            <p:nvPr/>
          </p:nvSpPr>
          <p:spPr>
            <a:xfrm>
              <a:off x="7048195" y="2314346"/>
              <a:ext cx="1751076" cy="21031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000" b="1" dirty="0">
                  <a:solidFill>
                    <a:srgbClr val="F43F5E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참고문헌 (REFERENCES)</a:t>
              </a:r>
              <a:endParaRPr lang="en-US" sz="1000" dirty="0"/>
            </a:p>
          </p:txBody>
        </p:sp>
        <p:sp>
          <p:nvSpPr>
            <p:cNvPr id="27" name="Shape 21"/>
            <p:cNvSpPr/>
            <p:nvPr/>
          </p:nvSpPr>
          <p:spPr>
            <a:xfrm>
              <a:off x="6676949" y="5083150"/>
              <a:ext cx="4362602" cy="9144"/>
            </a:xfrm>
            <a:prstGeom prst="rect">
              <a:avLst/>
            </a:prstGeom>
            <a:solidFill>
              <a:srgbClr val="FFFFFF">
                <a:alpha val="5000"/>
              </a:srgbClr>
            </a:solidFill>
            <a:ln/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8" name="Shape 22"/>
            <p:cNvSpPr/>
            <p:nvPr/>
          </p:nvSpPr>
          <p:spPr>
            <a:xfrm>
              <a:off x="6676949" y="2825496"/>
              <a:ext cx="381305" cy="381305"/>
            </a:xfrm>
            <a:prstGeom prst="roundRect">
              <a:avLst>
                <a:gd name="adj" fmla="val 47962"/>
              </a:avLst>
            </a:prstGeom>
            <a:solidFill>
              <a:srgbClr val="F43F5E">
                <a:alpha val="10000"/>
              </a:srgbClr>
            </a:solidFill>
            <a:ln/>
          </p:spPr>
          <p:txBody>
            <a:bodyPr/>
            <a:lstStyle/>
            <a:p>
              <a:endParaRPr lang="ko-KR" altLang="en-US"/>
            </a:p>
          </p:txBody>
        </p:sp>
        <p:pic>
          <p:nvPicPr>
            <p:cNvPr id="29" name="Image 4" descr="preencoded.png"/>
            <p:cNvPicPr>
              <a:picLocks noChangeAspect="1"/>
            </p:cNvPicPr>
            <p:nvPr/>
          </p:nvPicPr>
          <p:blipFill>
            <a:blip r:embed="rId7"/>
            <a:srcRect l="-1082" r="-1082"/>
            <a:stretch/>
          </p:blipFill>
          <p:spPr>
            <a:xfrm>
              <a:off x="6786677" y="2925166"/>
              <a:ext cx="161849" cy="181051"/>
            </a:xfrm>
            <a:prstGeom prst="rect">
              <a:avLst/>
            </a:prstGeom>
          </p:spPr>
        </p:pic>
        <p:sp>
          <p:nvSpPr>
            <p:cNvPr id="30" name="Text 23"/>
            <p:cNvSpPr txBox="1"/>
            <p:nvPr/>
          </p:nvSpPr>
          <p:spPr>
            <a:xfrm>
              <a:off x="7248449" y="2825496"/>
              <a:ext cx="2667305" cy="277063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500" b="1" dirty="0">
                  <a:solidFill>
                    <a:srgbClr val="FFFFFF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학술지 논문 (Journal Article)</a:t>
              </a:r>
              <a:endParaRPr lang="en-US" sz="1500" dirty="0"/>
            </a:p>
          </p:txBody>
        </p:sp>
        <p:sp>
          <p:nvSpPr>
            <p:cNvPr id="31" name="Text 24"/>
            <p:cNvSpPr txBox="1"/>
            <p:nvPr/>
          </p:nvSpPr>
          <p:spPr>
            <a:xfrm>
              <a:off x="7248449" y="3186684"/>
              <a:ext cx="3810305" cy="724205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200" dirty="0">
                  <a:solidFill>
                    <a:srgbClr val="CBD5E1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본문의 (Hong &amp; Kim, 2026)과 정확히 매칭되어야 합니다. 저자명, 연도, 제목, 학술지명(이탤릭), 권(호), 페이지, DOI 순으로 기재합니다.</a:t>
              </a:r>
              <a:endParaRPr lang="en-US" sz="1200" dirty="0"/>
            </a:p>
          </p:txBody>
        </p:sp>
        <p:sp>
          <p:nvSpPr>
            <p:cNvPr id="32" name="Shape 25"/>
            <p:cNvSpPr/>
            <p:nvPr/>
          </p:nvSpPr>
          <p:spPr>
            <a:xfrm>
              <a:off x="7248449" y="3994099"/>
              <a:ext cx="3791102" cy="819302"/>
            </a:xfrm>
            <a:prstGeom prst="roundRect">
              <a:avLst>
                <a:gd name="adj" fmla="val 5191"/>
              </a:avLst>
            </a:prstGeom>
            <a:solidFill>
              <a:srgbClr val="F43F5E">
                <a:alpha val="10000"/>
              </a:srgbClr>
            </a:solidFill>
            <a:ln/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33" name="Text 26"/>
            <p:cNvSpPr txBox="1"/>
            <p:nvPr/>
          </p:nvSpPr>
          <p:spPr>
            <a:xfrm>
              <a:off x="7324344" y="4051706"/>
              <a:ext cx="3598164" cy="33375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900" dirty="0">
                  <a:solidFill>
                    <a:srgbClr val="FDA4AF"/>
                  </a:solidFill>
                  <a:latin typeface="Courier New" pitchFamily="34" charset="0"/>
                  <a:ea typeface="Courier New" pitchFamily="34" charset="-122"/>
                  <a:cs typeface="Courier New" pitchFamily="34" charset="-120"/>
                </a:rPr>
                <a:t>Hong, J., &amp; Kim, S. (2026). The impact of team-based learning on student engagement.</a:t>
              </a:r>
              <a:endParaRPr lang="en-US" sz="900" dirty="0"/>
            </a:p>
          </p:txBody>
        </p:sp>
        <p:sp>
          <p:nvSpPr>
            <p:cNvPr id="34" name="Text 27"/>
            <p:cNvSpPr txBox="1"/>
            <p:nvPr/>
          </p:nvSpPr>
          <p:spPr>
            <a:xfrm>
              <a:off x="7324344" y="4237330"/>
              <a:ext cx="3598164" cy="33375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900" i="1" dirty="0">
                  <a:solidFill>
                    <a:srgbClr val="FDA4AF"/>
                  </a:solidFill>
                  <a:latin typeface="Courier New" pitchFamily="34" charset="0"/>
                  <a:ea typeface="Courier New" pitchFamily="34" charset="-122"/>
                  <a:cs typeface="Courier New" pitchFamily="34" charset="-120"/>
                </a:rPr>
                <a:t>Journal of Educational Research</a:t>
              </a:r>
              <a:endParaRPr lang="en-US" sz="900" dirty="0"/>
            </a:p>
          </p:txBody>
        </p:sp>
        <p:sp>
          <p:nvSpPr>
            <p:cNvPr id="35" name="Text 28"/>
            <p:cNvSpPr txBox="1"/>
            <p:nvPr/>
          </p:nvSpPr>
          <p:spPr>
            <a:xfrm>
              <a:off x="7324344" y="4422953"/>
              <a:ext cx="2636215" cy="33375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900" dirty="0">
                  <a:solidFill>
                    <a:srgbClr val="FDA4AF"/>
                  </a:solidFill>
                  <a:latin typeface="Courier New" pitchFamily="34" charset="0"/>
                  <a:ea typeface="Courier New" pitchFamily="34" charset="-122"/>
                  <a:cs typeface="Courier New" pitchFamily="34" charset="-120"/>
                </a:rPr>
                <a:t>, 12(3), 1–20. https://doi.org/10.xxxx/xxxxx</a:t>
              </a:r>
              <a:endParaRPr lang="en-US" sz="900" dirty="0"/>
            </a:p>
          </p:txBody>
        </p:sp>
        <p:sp>
          <p:nvSpPr>
            <p:cNvPr id="36" name="Shape 29"/>
            <p:cNvSpPr/>
            <p:nvPr/>
          </p:nvSpPr>
          <p:spPr>
            <a:xfrm>
              <a:off x="6676949" y="5356555"/>
              <a:ext cx="381305" cy="381305"/>
            </a:xfrm>
            <a:prstGeom prst="roundRect">
              <a:avLst>
                <a:gd name="adj" fmla="val 47962"/>
              </a:avLst>
            </a:prstGeom>
            <a:solidFill>
              <a:srgbClr val="F43F5E">
                <a:alpha val="10000"/>
              </a:srgbClr>
            </a:solidFill>
            <a:ln/>
          </p:spPr>
          <p:txBody>
            <a:bodyPr/>
            <a:lstStyle/>
            <a:p>
              <a:endParaRPr lang="ko-KR" altLang="en-US"/>
            </a:p>
          </p:txBody>
        </p:sp>
        <p:pic>
          <p:nvPicPr>
            <p:cNvPr id="37" name="Image 5" descr="preencoded.png"/>
            <p:cNvPicPr>
              <a:picLocks noChangeAspect="1"/>
            </p:cNvPicPr>
            <p:nvPr/>
          </p:nvPicPr>
          <p:blipFill>
            <a:blip r:embed="rId8"/>
            <a:srcRect l="-1082" r="-1082"/>
            <a:stretch/>
          </p:blipFill>
          <p:spPr>
            <a:xfrm>
              <a:off x="6786677" y="5456225"/>
              <a:ext cx="161849" cy="181051"/>
            </a:xfrm>
            <a:prstGeom prst="rect">
              <a:avLst/>
            </a:prstGeom>
          </p:spPr>
        </p:pic>
        <p:sp>
          <p:nvSpPr>
            <p:cNvPr id="38" name="Text 30"/>
            <p:cNvSpPr txBox="1"/>
            <p:nvPr/>
          </p:nvSpPr>
          <p:spPr>
            <a:xfrm>
              <a:off x="7248449" y="5356555"/>
              <a:ext cx="1353312" cy="277063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500" b="1" dirty="0">
                  <a:solidFill>
                    <a:srgbClr val="FFFFFF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단행본 (Book)</a:t>
              </a:r>
              <a:endParaRPr lang="en-US" sz="1500" dirty="0"/>
            </a:p>
          </p:txBody>
        </p:sp>
        <p:sp>
          <p:nvSpPr>
            <p:cNvPr id="39" name="Text 31"/>
            <p:cNvSpPr txBox="1"/>
            <p:nvPr/>
          </p:nvSpPr>
          <p:spPr>
            <a:xfrm>
              <a:off x="7248449" y="5718658"/>
              <a:ext cx="914400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200" dirty="0">
                  <a:solidFill>
                    <a:srgbClr val="CBD5E1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저자. (연도).</a:t>
              </a:r>
              <a:endParaRPr lang="en-US" sz="1200" dirty="0"/>
            </a:p>
          </p:txBody>
        </p:sp>
        <p:sp>
          <p:nvSpPr>
            <p:cNvPr id="40" name="Text 32"/>
            <p:cNvSpPr txBox="1"/>
            <p:nvPr/>
          </p:nvSpPr>
          <p:spPr>
            <a:xfrm>
              <a:off x="8040319" y="5718658"/>
              <a:ext cx="924458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200" i="1" dirty="0">
                  <a:solidFill>
                    <a:srgbClr val="CBD5E1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서명(이탤릭)</a:t>
              </a:r>
              <a:endParaRPr lang="en-US" sz="1200" dirty="0"/>
            </a:p>
          </p:txBody>
        </p:sp>
        <p:sp>
          <p:nvSpPr>
            <p:cNvPr id="41" name="Text 33"/>
            <p:cNvSpPr txBox="1"/>
            <p:nvPr/>
          </p:nvSpPr>
          <p:spPr>
            <a:xfrm>
              <a:off x="8844077" y="5718658"/>
              <a:ext cx="667512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200" dirty="0">
                  <a:solidFill>
                    <a:srgbClr val="CBD5E1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. 출판사.</a:t>
              </a:r>
              <a:endParaRPr lang="en-US" sz="1200" dirty="0"/>
            </a:p>
          </p:txBody>
        </p:sp>
        <p:sp>
          <p:nvSpPr>
            <p:cNvPr id="42" name="Shape 34"/>
            <p:cNvSpPr/>
            <p:nvPr/>
          </p:nvSpPr>
          <p:spPr>
            <a:xfrm>
              <a:off x="7248449" y="6038698"/>
              <a:ext cx="3791102" cy="448056"/>
            </a:xfrm>
            <a:prstGeom prst="roundRect">
              <a:avLst>
                <a:gd name="adj" fmla="val 17369"/>
              </a:avLst>
            </a:prstGeom>
            <a:solidFill>
              <a:srgbClr val="F43F5E">
                <a:alpha val="10000"/>
              </a:srgbClr>
            </a:solidFill>
            <a:ln/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43" name="Text 35"/>
            <p:cNvSpPr txBox="1"/>
            <p:nvPr/>
          </p:nvSpPr>
          <p:spPr>
            <a:xfrm>
              <a:off x="7324344" y="6095390"/>
              <a:ext cx="1217066" cy="143561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900" dirty="0">
                  <a:solidFill>
                    <a:srgbClr val="FDA4AF"/>
                  </a:solidFill>
                  <a:latin typeface="Courier New" pitchFamily="34" charset="0"/>
                  <a:ea typeface="Courier New" pitchFamily="34" charset="-122"/>
                  <a:cs typeface="Courier New" pitchFamily="34" charset="-120"/>
                </a:rPr>
                <a:t>Lee, M. (2026).</a:t>
              </a:r>
              <a:endParaRPr lang="en-US" sz="900" dirty="0"/>
            </a:p>
          </p:txBody>
        </p:sp>
        <p:sp>
          <p:nvSpPr>
            <p:cNvPr id="44" name="Text 36"/>
            <p:cNvSpPr txBox="1"/>
            <p:nvPr/>
          </p:nvSpPr>
          <p:spPr>
            <a:xfrm>
              <a:off x="8442655" y="6095390"/>
              <a:ext cx="1741018" cy="143561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900" i="1" dirty="0">
                  <a:solidFill>
                    <a:srgbClr val="FDA4AF"/>
                  </a:solidFill>
                  <a:latin typeface="Courier New" pitchFamily="34" charset="0"/>
                  <a:ea typeface="Courier New" pitchFamily="34" charset="-122"/>
                  <a:cs typeface="Courier New" pitchFamily="34" charset="-120"/>
                </a:rPr>
                <a:t>Academic Writing Guide</a:t>
              </a:r>
              <a:endParaRPr lang="en-US" sz="900" dirty="0"/>
            </a:p>
          </p:txBody>
        </p:sp>
        <p:sp>
          <p:nvSpPr>
            <p:cNvPr id="45" name="Text 37"/>
            <p:cNvSpPr txBox="1"/>
            <p:nvPr/>
          </p:nvSpPr>
          <p:spPr>
            <a:xfrm>
              <a:off x="7324344" y="6095390"/>
              <a:ext cx="3379622" cy="33375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900" dirty="0">
                  <a:solidFill>
                    <a:srgbClr val="FDA4AF"/>
                  </a:solidFill>
                  <a:latin typeface="Courier New" pitchFamily="34" charset="0"/>
                  <a:ea typeface="Courier New" pitchFamily="34" charset="-122"/>
                  <a:cs typeface="Courier New" pitchFamily="34" charset="-120"/>
                </a:rPr>
                <a:t>. Seoul Press.</a:t>
              </a:r>
              <a:endParaRPr lang="en-US" sz="900" dirty="0"/>
            </a:p>
          </p:txBody>
        </p:sp>
        <p:sp>
          <p:nvSpPr>
            <p:cNvPr id="46" name="Shape 38"/>
            <p:cNvSpPr/>
            <p:nvPr/>
          </p:nvSpPr>
          <p:spPr>
            <a:xfrm>
              <a:off x="5810098" y="3390595"/>
              <a:ext cx="571500" cy="571500"/>
            </a:xfrm>
            <a:prstGeom prst="ellipse">
              <a:avLst/>
            </a:prstGeom>
            <a:solidFill>
              <a:srgbClr val="0F172A"/>
            </a:solidFill>
            <a:ln w="25400">
              <a:solidFill>
                <a:srgbClr val="FFFFFF">
                  <a:alpha val="10000"/>
                </a:srgbClr>
              </a:solidFill>
              <a:prstDash val="solid"/>
            </a:ln>
            <a:effectLst>
              <a:outerShdw blurRad="12700" dist="12700" dir="16200000" algn="bl" rotWithShape="0">
                <a:srgbClr val="0F172A">
                  <a:alpha val="100000"/>
                </a:srgbClr>
              </a:outerShdw>
            </a:effectLst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47" name="Text 39"/>
            <p:cNvSpPr txBox="1"/>
            <p:nvPr/>
          </p:nvSpPr>
          <p:spPr>
            <a:xfrm>
              <a:off x="5980176" y="3539642"/>
              <a:ext cx="375818" cy="277063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400" b="1" dirty="0">
                  <a:solidFill>
                    <a:srgbClr val="94A3B8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VS</a:t>
              </a:r>
              <a:endParaRPr lang="en-US" sz="1400" dirty="0"/>
            </a:p>
          </p:txBody>
        </p:sp>
      </p:grpSp>
      <p:sp>
        <p:nvSpPr>
          <p:cNvPr id="49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이애본(드림아이티비즈) · useful-ai.dreamitbiz.com · 교육 목적 비영리 이용 · 출처 표기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" name="Shape 2"/>
          <p:cNvSpPr/>
          <p:nvPr/>
        </p:nvSpPr>
        <p:spPr>
          <a:xfrm>
            <a:off x="8382305" y="0"/>
            <a:ext cx="3810305" cy="3810305"/>
          </a:xfrm>
          <a:prstGeom prst="ellipse">
            <a:avLst/>
          </a:prstGeom>
          <a:solidFill>
            <a:srgbClr val="38BDF8">
              <a:alpha val="3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" name="Shape 3"/>
          <p:cNvSpPr/>
          <p:nvPr/>
        </p:nvSpPr>
        <p:spPr>
          <a:xfrm>
            <a:off x="761695" y="476402"/>
            <a:ext cx="571500" cy="57607"/>
          </a:xfrm>
          <a:prstGeom prst="roundRect">
            <a:avLst>
              <a:gd name="adj" fmla="val 793654"/>
            </a:avLst>
          </a:prstGeom>
          <a:solidFill>
            <a:srgbClr val="38BDF8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6" name="Text 4"/>
          <p:cNvSpPr txBox="1"/>
          <p:nvPr/>
        </p:nvSpPr>
        <p:spPr>
          <a:xfrm>
            <a:off x="761695" y="724205"/>
            <a:ext cx="833933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MLA 스타일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761695" y="952805"/>
            <a:ext cx="5143500" cy="4956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7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MLA 예시 (본문 / Works Cited)</a:t>
            </a:r>
            <a:endParaRPr lang="en-US" sz="2700" dirty="0"/>
          </a:p>
        </p:txBody>
      </p:sp>
      <p:sp>
        <p:nvSpPr>
          <p:cNvPr id="8" name="Text 6"/>
          <p:cNvSpPr txBox="1"/>
          <p:nvPr/>
        </p:nvSpPr>
        <p:spPr>
          <a:xfrm>
            <a:off x="761695" y="1543507"/>
            <a:ext cx="4101084" cy="2478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9CA3A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인문학 분야의 표준인 MLA 스타일의 핵심 표기법입니다.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761695" y="2085746"/>
            <a:ext cx="5143500" cy="3965401"/>
          </a:xfrm>
          <a:prstGeom prst="roundRect">
            <a:avLst>
              <a:gd name="adj" fmla="val 755"/>
            </a:avLst>
          </a:prstGeom>
          <a:solidFill>
            <a:srgbClr val="1E293B">
              <a:alpha val="50000"/>
            </a:srgbClr>
          </a:solidFill>
          <a:ln w="50800">
            <a:solidFill>
              <a:srgbClr val="38BDF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0" name="Shape 8"/>
          <p:cNvSpPr/>
          <p:nvPr/>
        </p:nvSpPr>
        <p:spPr>
          <a:xfrm>
            <a:off x="1152144" y="2409444"/>
            <a:ext cx="4362602" cy="314554"/>
          </a:xfrm>
          <a:prstGeom prst="roundRect">
            <a:avLst>
              <a:gd name="adj" fmla="val 290697"/>
            </a:avLst>
          </a:prstGeom>
          <a:solidFill>
            <a:srgbClr val="38BDF8">
              <a:alpha val="15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11" name="Image 0" descr="preencoded.png"/>
          <p:cNvPicPr>
            <a:picLocks noChangeAspect="1"/>
          </p:cNvPicPr>
          <p:nvPr/>
        </p:nvPicPr>
        <p:blipFill>
          <a:blip r:embed="rId3"/>
          <a:srcRect l="-2838" r="-2838"/>
          <a:stretch/>
        </p:blipFill>
        <p:spPr>
          <a:xfrm>
            <a:off x="1285646" y="2497226"/>
            <a:ext cx="123444" cy="133502"/>
          </a:xfrm>
          <a:prstGeom prst="rect">
            <a:avLst/>
          </a:prstGeom>
        </p:spPr>
      </p:pic>
      <p:sp>
        <p:nvSpPr>
          <p:cNvPr id="12" name="Text 9"/>
          <p:cNvSpPr txBox="1"/>
          <p:nvPr/>
        </p:nvSpPr>
        <p:spPr>
          <a:xfrm>
            <a:off x="1485900" y="2467051"/>
            <a:ext cx="650138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38BDF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본문 내주</a:t>
            </a:r>
            <a:endParaRPr lang="en-US" sz="1000" dirty="0"/>
          </a:p>
        </p:txBody>
      </p:sp>
      <p:sp>
        <p:nvSpPr>
          <p:cNvPr id="13" name="Shape 10"/>
          <p:cNvSpPr/>
          <p:nvPr/>
        </p:nvSpPr>
        <p:spPr>
          <a:xfrm>
            <a:off x="1152144" y="4137660"/>
            <a:ext cx="4362602" cy="9144"/>
          </a:xfrm>
          <a:prstGeom prst="rect">
            <a:avLst/>
          </a:prstGeom>
          <a:solidFill>
            <a:srgbClr val="FFFFFF">
              <a:alpha val="5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4" name="Shape 11"/>
          <p:cNvSpPr/>
          <p:nvPr/>
        </p:nvSpPr>
        <p:spPr>
          <a:xfrm>
            <a:off x="1152144" y="2908706"/>
            <a:ext cx="342900" cy="342900"/>
          </a:xfrm>
          <a:prstGeom prst="roundRect">
            <a:avLst>
              <a:gd name="adj" fmla="val 59259"/>
            </a:avLst>
          </a:prstGeom>
          <a:solidFill>
            <a:srgbClr val="38BDF8">
              <a:alpha val="1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15" name="Image 1" descr="preencoded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1238098" y="2994660"/>
            <a:ext cx="171907" cy="171907"/>
          </a:xfrm>
          <a:prstGeom prst="rect">
            <a:avLst/>
          </a:prstGeom>
        </p:spPr>
      </p:pic>
      <p:sp>
        <p:nvSpPr>
          <p:cNvPr id="16" name="Text 12"/>
          <p:cNvSpPr txBox="1"/>
          <p:nvPr/>
        </p:nvSpPr>
        <p:spPr>
          <a:xfrm>
            <a:off x="1647749" y="2908706"/>
            <a:ext cx="1360627" cy="2478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저자명 포함 문장</a:t>
            </a:r>
            <a:endParaRPr lang="en-US" sz="1300" dirty="0"/>
          </a:p>
        </p:txBody>
      </p:sp>
      <p:sp>
        <p:nvSpPr>
          <p:cNvPr id="17" name="Text 13"/>
          <p:cNvSpPr txBox="1"/>
          <p:nvPr/>
        </p:nvSpPr>
        <p:spPr>
          <a:xfrm>
            <a:off x="1647749" y="3219602"/>
            <a:ext cx="3147365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문장에 저자가 언급되면 괄호에 페이지만 적습니다.</a:t>
            </a:r>
            <a:endParaRPr lang="en-US" sz="1100" dirty="0"/>
          </a:p>
        </p:txBody>
      </p:sp>
      <p:sp>
        <p:nvSpPr>
          <p:cNvPr id="18" name="Shape 14"/>
          <p:cNvSpPr/>
          <p:nvPr/>
        </p:nvSpPr>
        <p:spPr>
          <a:xfrm>
            <a:off x="1647749" y="3507638"/>
            <a:ext cx="3038551" cy="437998"/>
          </a:xfrm>
          <a:prstGeom prst="rect">
            <a:avLst/>
          </a:prstGeom>
          <a:solidFill>
            <a:srgbClr val="0F172A">
              <a:alpha val="6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9" name="Shape 15"/>
          <p:cNvSpPr/>
          <p:nvPr/>
        </p:nvSpPr>
        <p:spPr>
          <a:xfrm>
            <a:off x="1647749" y="3507638"/>
            <a:ext cx="28346" cy="437998"/>
          </a:xfrm>
          <a:prstGeom prst="rect">
            <a:avLst/>
          </a:prstGeom>
          <a:solidFill>
            <a:srgbClr val="64748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0" name="Text 16"/>
          <p:cNvSpPr txBox="1"/>
          <p:nvPr/>
        </p:nvSpPr>
        <p:spPr>
          <a:xfrm>
            <a:off x="1790395" y="3612794"/>
            <a:ext cx="196596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Hong and Kim argue... (15).</a:t>
            </a:r>
            <a:endParaRPr lang="en-US" sz="1100" dirty="0"/>
          </a:p>
        </p:txBody>
      </p:sp>
      <p:sp>
        <p:nvSpPr>
          <p:cNvPr id="21" name="Shape 17"/>
          <p:cNvSpPr/>
          <p:nvPr/>
        </p:nvSpPr>
        <p:spPr>
          <a:xfrm>
            <a:off x="1152144" y="4329684"/>
            <a:ext cx="342900" cy="342900"/>
          </a:xfrm>
          <a:prstGeom prst="roundRect">
            <a:avLst>
              <a:gd name="adj" fmla="val 59259"/>
            </a:avLst>
          </a:prstGeom>
          <a:solidFill>
            <a:srgbClr val="38BDF8">
              <a:alpha val="1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2" name="Text 18"/>
          <p:cNvSpPr txBox="1"/>
          <p:nvPr/>
        </p:nvSpPr>
        <p:spPr>
          <a:xfrm>
            <a:off x="1647749" y="4329684"/>
            <a:ext cx="1036930" cy="2478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괄호 안 표기</a:t>
            </a:r>
            <a:endParaRPr lang="en-US" sz="1300" dirty="0"/>
          </a:p>
        </p:txBody>
      </p:sp>
      <p:sp>
        <p:nvSpPr>
          <p:cNvPr id="23" name="Text 19"/>
          <p:cNvSpPr txBox="1"/>
          <p:nvPr/>
        </p:nvSpPr>
        <p:spPr>
          <a:xfrm>
            <a:off x="1647749" y="4640580"/>
            <a:ext cx="3233318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저자 미언급 시 (성 페이지)로 표기합니다. 쉼표 없음.</a:t>
            </a:r>
            <a:endParaRPr lang="en-US" sz="1100" dirty="0"/>
          </a:p>
        </p:txBody>
      </p:sp>
      <p:sp>
        <p:nvSpPr>
          <p:cNvPr id="24" name="Shape 20"/>
          <p:cNvSpPr/>
          <p:nvPr/>
        </p:nvSpPr>
        <p:spPr>
          <a:xfrm>
            <a:off x="1647749" y="4928616"/>
            <a:ext cx="3124505" cy="437998"/>
          </a:xfrm>
          <a:prstGeom prst="rect">
            <a:avLst/>
          </a:prstGeom>
          <a:solidFill>
            <a:srgbClr val="0F172A">
              <a:alpha val="6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5" name="Shape 21"/>
          <p:cNvSpPr/>
          <p:nvPr/>
        </p:nvSpPr>
        <p:spPr>
          <a:xfrm>
            <a:off x="1647749" y="4928616"/>
            <a:ext cx="28346" cy="437998"/>
          </a:xfrm>
          <a:prstGeom prst="rect">
            <a:avLst/>
          </a:prstGeom>
          <a:solidFill>
            <a:srgbClr val="64748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6" name="Text 22"/>
          <p:cNvSpPr txBox="1"/>
          <p:nvPr/>
        </p:nvSpPr>
        <p:spPr>
          <a:xfrm>
            <a:off x="1790395" y="5033772"/>
            <a:ext cx="2937967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Citations are crucial... (Hong and Kim 15).</a:t>
            </a:r>
            <a:endParaRPr lang="en-US" sz="1100" dirty="0"/>
          </a:p>
        </p:txBody>
      </p:sp>
      <p:sp>
        <p:nvSpPr>
          <p:cNvPr id="27" name="Shape 23"/>
          <p:cNvSpPr/>
          <p:nvPr/>
        </p:nvSpPr>
        <p:spPr>
          <a:xfrm>
            <a:off x="6286500" y="2085746"/>
            <a:ext cx="5143500" cy="3965401"/>
          </a:xfrm>
          <a:prstGeom prst="roundRect">
            <a:avLst>
              <a:gd name="adj" fmla="val 755"/>
            </a:avLst>
          </a:prstGeom>
          <a:solidFill>
            <a:srgbClr val="1E293B">
              <a:alpha val="30000"/>
            </a:srgbClr>
          </a:solidFill>
          <a:ln w="50800">
            <a:solidFill>
              <a:srgbClr val="F43F5E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8" name="Shape 24"/>
          <p:cNvSpPr/>
          <p:nvPr/>
        </p:nvSpPr>
        <p:spPr>
          <a:xfrm>
            <a:off x="6676949" y="2409444"/>
            <a:ext cx="4362602" cy="314554"/>
          </a:xfrm>
          <a:prstGeom prst="roundRect">
            <a:avLst>
              <a:gd name="adj" fmla="val 290697"/>
            </a:avLst>
          </a:prstGeom>
          <a:solidFill>
            <a:srgbClr val="F43F5E">
              <a:alpha val="15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29" name="Image 2" descr="preencoded.png"/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6810451" y="2497226"/>
            <a:ext cx="133502" cy="133502"/>
          </a:xfrm>
          <a:prstGeom prst="rect">
            <a:avLst/>
          </a:prstGeom>
        </p:spPr>
      </p:pic>
      <p:sp>
        <p:nvSpPr>
          <p:cNvPr id="30" name="Text 25"/>
          <p:cNvSpPr txBox="1"/>
          <p:nvPr/>
        </p:nvSpPr>
        <p:spPr>
          <a:xfrm>
            <a:off x="7019849" y="2467051"/>
            <a:ext cx="602590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F43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참고문헌</a:t>
            </a:r>
            <a:endParaRPr lang="en-US" sz="1000" dirty="0"/>
          </a:p>
        </p:txBody>
      </p:sp>
      <p:sp>
        <p:nvSpPr>
          <p:cNvPr id="31" name="Shape 26"/>
          <p:cNvSpPr/>
          <p:nvPr/>
        </p:nvSpPr>
        <p:spPr>
          <a:xfrm>
            <a:off x="6676949" y="3623767"/>
            <a:ext cx="4362602" cy="9144"/>
          </a:xfrm>
          <a:prstGeom prst="rect">
            <a:avLst/>
          </a:prstGeom>
          <a:solidFill>
            <a:srgbClr val="FFFFFF">
              <a:alpha val="5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2" name="Shape 27"/>
          <p:cNvSpPr/>
          <p:nvPr/>
        </p:nvSpPr>
        <p:spPr>
          <a:xfrm>
            <a:off x="6676949" y="2908706"/>
            <a:ext cx="342900" cy="342900"/>
          </a:xfrm>
          <a:prstGeom prst="roundRect">
            <a:avLst>
              <a:gd name="adj" fmla="val 59259"/>
            </a:avLst>
          </a:prstGeom>
          <a:solidFill>
            <a:srgbClr val="F43F5E">
              <a:alpha val="1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33" name="Image 3" descr="preencoded.png"/>
          <p:cNvPicPr>
            <a:picLocks noChangeAspect="1"/>
          </p:cNvPicPr>
          <p:nvPr/>
        </p:nvPicPr>
        <p:blipFill>
          <a:blip r:embed="rId6"/>
          <a:srcRect t="-2725" b="-2725"/>
          <a:stretch/>
        </p:blipFill>
        <p:spPr>
          <a:xfrm>
            <a:off x="6776618" y="2994660"/>
            <a:ext cx="142646" cy="171907"/>
          </a:xfrm>
          <a:prstGeom prst="rect">
            <a:avLst/>
          </a:prstGeom>
        </p:spPr>
      </p:pic>
      <p:sp>
        <p:nvSpPr>
          <p:cNvPr id="34" name="Text 28"/>
          <p:cNvSpPr txBox="1"/>
          <p:nvPr/>
        </p:nvSpPr>
        <p:spPr>
          <a:xfrm>
            <a:off x="7172554" y="2908706"/>
            <a:ext cx="827532" cy="2478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기본 구조</a:t>
            </a:r>
            <a:endParaRPr lang="en-US" sz="1300" dirty="0"/>
          </a:p>
        </p:txBody>
      </p:sp>
      <p:sp>
        <p:nvSpPr>
          <p:cNvPr id="35" name="Text 29"/>
          <p:cNvSpPr txBox="1"/>
          <p:nvPr/>
        </p:nvSpPr>
        <p:spPr>
          <a:xfrm>
            <a:off x="7172554" y="3219602"/>
            <a:ext cx="3595421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저자. 제목. 컨테이너, 출판사, 연도, 위치(p/pp/DOI) 순서.</a:t>
            </a:r>
            <a:endParaRPr lang="en-US" sz="1100" dirty="0"/>
          </a:p>
        </p:txBody>
      </p:sp>
      <p:sp>
        <p:nvSpPr>
          <p:cNvPr id="36" name="Shape 30"/>
          <p:cNvSpPr/>
          <p:nvPr/>
        </p:nvSpPr>
        <p:spPr>
          <a:xfrm>
            <a:off x="6676949" y="3822192"/>
            <a:ext cx="342900" cy="342900"/>
          </a:xfrm>
          <a:prstGeom prst="roundRect">
            <a:avLst>
              <a:gd name="adj" fmla="val 59259"/>
            </a:avLst>
          </a:prstGeom>
          <a:solidFill>
            <a:srgbClr val="F43F5E">
              <a:alpha val="1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37" name="Image 4" descr="preencoded.png"/>
          <p:cNvPicPr>
            <a:picLocks noChangeAspect="1"/>
          </p:cNvPicPr>
          <p:nvPr/>
        </p:nvPicPr>
        <p:blipFill>
          <a:blip r:embed="rId7"/>
          <a:srcRect t="-2222" b="-2222"/>
          <a:stretch/>
        </p:blipFill>
        <p:spPr>
          <a:xfrm>
            <a:off x="6786677" y="3908146"/>
            <a:ext cx="123444" cy="171907"/>
          </a:xfrm>
          <a:prstGeom prst="rect">
            <a:avLst/>
          </a:prstGeom>
        </p:spPr>
      </p:pic>
      <p:sp>
        <p:nvSpPr>
          <p:cNvPr id="38" name="Text 31"/>
          <p:cNvSpPr txBox="1"/>
          <p:nvPr/>
        </p:nvSpPr>
        <p:spPr>
          <a:xfrm>
            <a:off x="7172554" y="3822192"/>
            <a:ext cx="1960474" cy="2478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작성 예시 (2026년 기준)</a:t>
            </a:r>
            <a:endParaRPr lang="en-US" sz="1300" dirty="0"/>
          </a:p>
        </p:txBody>
      </p:sp>
      <p:sp>
        <p:nvSpPr>
          <p:cNvPr id="39" name="Text 32"/>
          <p:cNvSpPr txBox="1"/>
          <p:nvPr/>
        </p:nvSpPr>
        <p:spPr>
          <a:xfrm>
            <a:off x="7172554" y="4133088"/>
            <a:ext cx="1738274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저널 논문 표기 예시입니다.</a:t>
            </a:r>
            <a:endParaRPr lang="en-US" sz="1100" dirty="0"/>
          </a:p>
        </p:txBody>
      </p:sp>
      <p:sp>
        <p:nvSpPr>
          <p:cNvPr id="40" name="Shape 33"/>
          <p:cNvSpPr/>
          <p:nvPr/>
        </p:nvSpPr>
        <p:spPr>
          <a:xfrm>
            <a:off x="7172554" y="4421124"/>
            <a:ext cx="3866998" cy="638251"/>
          </a:xfrm>
          <a:prstGeom prst="rect">
            <a:avLst/>
          </a:prstGeom>
          <a:solidFill>
            <a:srgbClr val="0F172A">
              <a:alpha val="6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1" name="Shape 34"/>
          <p:cNvSpPr/>
          <p:nvPr/>
        </p:nvSpPr>
        <p:spPr>
          <a:xfrm>
            <a:off x="7172554" y="4421124"/>
            <a:ext cx="28346" cy="638251"/>
          </a:xfrm>
          <a:prstGeom prst="rect">
            <a:avLst/>
          </a:prstGeom>
          <a:solidFill>
            <a:srgbClr val="F43F5E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2" name="Text 35"/>
          <p:cNvSpPr txBox="1"/>
          <p:nvPr/>
        </p:nvSpPr>
        <p:spPr>
          <a:xfrm>
            <a:off x="7315200" y="4526280"/>
            <a:ext cx="3595421" cy="4197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Hong, Jin, and Soo Kim. "Title." Journal Name, vol. 12, no. 3, 2026, pp. 1–20. doi...</a:t>
            </a:r>
            <a:endParaRPr lang="en-US" sz="1100" dirty="0"/>
          </a:p>
        </p:txBody>
      </p:sp>
      <p:sp>
        <p:nvSpPr>
          <p:cNvPr id="43" name="Shape 36"/>
          <p:cNvSpPr/>
          <p:nvPr/>
        </p:nvSpPr>
        <p:spPr>
          <a:xfrm>
            <a:off x="5857646" y="3191256"/>
            <a:ext cx="476402" cy="476402"/>
          </a:xfrm>
          <a:prstGeom prst="ellipse">
            <a:avLst/>
          </a:prstGeom>
          <a:solidFill>
            <a:srgbClr val="0F172A"/>
          </a:solidFill>
          <a:ln w="25400">
            <a:solidFill>
              <a:srgbClr val="FFFFFF">
                <a:alpha val="10000"/>
              </a:srgbClr>
            </a:solidFill>
            <a:prstDash val="solid"/>
          </a:ln>
          <a:effectLst>
            <a:outerShdw blurRad="12700" dist="12700" dir="16200000" algn="bl" rotWithShape="0">
              <a:srgbClr val="0F172A">
                <a:alpha val="10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44" name="Text 37"/>
          <p:cNvSpPr txBox="1"/>
          <p:nvPr/>
        </p:nvSpPr>
        <p:spPr>
          <a:xfrm>
            <a:off x="5999378" y="3314700"/>
            <a:ext cx="31455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VS</a:t>
            </a:r>
            <a:endParaRPr lang="en-US" sz="1200" dirty="0"/>
          </a:p>
        </p:txBody>
      </p:sp>
      <p:sp>
        <p:nvSpPr>
          <p:cNvPr id="45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이애본(드림아이티비즈) · useful-ai.dreamitbiz.com · 교육 목적 비영리 이용 · 출처 표기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" name="Shape 2"/>
          <p:cNvSpPr/>
          <p:nvPr/>
        </p:nvSpPr>
        <p:spPr>
          <a:xfrm>
            <a:off x="8382305" y="-952805"/>
            <a:ext cx="4762195" cy="4762195"/>
          </a:xfrm>
          <a:prstGeom prst="ellipse">
            <a:avLst/>
          </a:prstGeom>
          <a:solidFill>
            <a:srgbClr val="38BDF8">
              <a:alpha val="5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" name="Shape 3"/>
          <p:cNvSpPr/>
          <p:nvPr/>
        </p:nvSpPr>
        <p:spPr>
          <a:xfrm>
            <a:off x="761695" y="476402"/>
            <a:ext cx="571500" cy="57607"/>
          </a:xfrm>
          <a:prstGeom prst="roundRect">
            <a:avLst>
              <a:gd name="adj" fmla="val 793654"/>
            </a:avLst>
          </a:prstGeom>
          <a:solidFill>
            <a:srgbClr val="38BDF8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6" name="Text 4"/>
          <p:cNvSpPr txBox="1"/>
          <p:nvPr/>
        </p:nvSpPr>
        <p:spPr>
          <a:xfrm>
            <a:off x="761695" y="724205"/>
            <a:ext cx="1662379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이공계열 분야의 표기 방식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761695" y="952805"/>
            <a:ext cx="3743554" cy="4956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7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번호주(IEEE) 기본/예시</a:t>
            </a:r>
            <a:endParaRPr lang="en-US" sz="2700" dirty="0"/>
          </a:p>
        </p:txBody>
      </p:sp>
      <p:sp>
        <p:nvSpPr>
          <p:cNvPr id="8" name="Text 6"/>
          <p:cNvSpPr txBox="1"/>
          <p:nvPr/>
        </p:nvSpPr>
        <p:spPr>
          <a:xfrm>
            <a:off x="761695" y="1543507"/>
            <a:ext cx="6120079" cy="2478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9CA3A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본문에서는 대괄호 숫자로 간결하게 표시하고, 참고문헌에서 상세 정보를 제공합니다.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761695" y="2180844"/>
            <a:ext cx="5143500" cy="3628532"/>
          </a:xfrm>
          <a:prstGeom prst="roundRect">
            <a:avLst>
              <a:gd name="adj" fmla="val 790"/>
            </a:avLst>
          </a:prstGeom>
          <a:solidFill>
            <a:srgbClr val="1E293B">
              <a:alpha val="50000"/>
            </a:srgbClr>
          </a:solidFill>
          <a:ln w="50800">
            <a:solidFill>
              <a:srgbClr val="38BDF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0" name="Shape 8"/>
          <p:cNvSpPr/>
          <p:nvPr/>
        </p:nvSpPr>
        <p:spPr>
          <a:xfrm>
            <a:off x="1152144" y="2553005"/>
            <a:ext cx="4362602" cy="362102"/>
          </a:xfrm>
          <a:prstGeom prst="roundRect">
            <a:avLst>
              <a:gd name="adj" fmla="val 252526"/>
            </a:avLst>
          </a:prstGeom>
          <a:solidFill>
            <a:srgbClr val="38BDF8">
              <a:alpha val="15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11" name="Image 0" descr="preencoded.png"/>
          <p:cNvPicPr>
            <a:picLocks noChangeAspect="1"/>
          </p:cNvPicPr>
          <p:nvPr/>
        </p:nvPicPr>
        <p:blipFill>
          <a:blip r:embed="rId3"/>
          <a:srcRect l="-3425" r="-3425"/>
          <a:stretch/>
        </p:blipFill>
        <p:spPr>
          <a:xfrm>
            <a:off x="1304849" y="2665476"/>
            <a:ext cx="142646" cy="133502"/>
          </a:xfrm>
          <a:prstGeom prst="rect">
            <a:avLst/>
          </a:prstGeom>
        </p:spPr>
      </p:pic>
      <p:sp>
        <p:nvSpPr>
          <p:cNvPr id="12" name="Text 9"/>
          <p:cNvSpPr txBox="1"/>
          <p:nvPr/>
        </p:nvSpPr>
        <p:spPr>
          <a:xfrm>
            <a:off x="1524305" y="2628900"/>
            <a:ext cx="998525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38BDF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본문 표기 규칙</a:t>
            </a:r>
            <a:endParaRPr lang="en-US" sz="1000" dirty="0"/>
          </a:p>
        </p:txBody>
      </p:sp>
      <p:sp>
        <p:nvSpPr>
          <p:cNvPr id="13" name="Shape 10"/>
          <p:cNvSpPr/>
          <p:nvPr/>
        </p:nvSpPr>
        <p:spPr>
          <a:xfrm>
            <a:off x="1152144" y="3139135"/>
            <a:ext cx="418795" cy="418795"/>
          </a:xfrm>
          <a:prstGeom prst="roundRect">
            <a:avLst>
              <a:gd name="adj" fmla="val 49623"/>
            </a:avLst>
          </a:prstGeom>
          <a:solidFill>
            <a:srgbClr val="38BDF8">
              <a:alpha val="1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4" name="Text 11"/>
          <p:cNvSpPr txBox="1"/>
          <p:nvPr/>
        </p:nvSpPr>
        <p:spPr>
          <a:xfrm>
            <a:off x="1762049" y="3139135"/>
            <a:ext cx="1629461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대괄호 [번호] 사용</a:t>
            </a:r>
            <a:endParaRPr lang="en-US" sz="1500" dirty="0"/>
          </a:p>
        </p:txBody>
      </p:sp>
      <p:sp>
        <p:nvSpPr>
          <p:cNvPr id="15" name="Text 12"/>
          <p:cNvSpPr txBox="1"/>
          <p:nvPr/>
        </p:nvSpPr>
        <p:spPr>
          <a:xfrm>
            <a:off x="1762049" y="3501238"/>
            <a:ext cx="3829507" cy="4764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저자명이나 인용된 문장 끝에 대괄호로 번호를 매깁니다. 번호는 본문에 등장하는 순서대로 부여합니다.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1152144" y="4274820"/>
            <a:ext cx="418795" cy="418795"/>
          </a:xfrm>
          <a:prstGeom prst="roundRect">
            <a:avLst>
              <a:gd name="adj" fmla="val 49623"/>
            </a:avLst>
          </a:prstGeom>
          <a:solidFill>
            <a:srgbClr val="38BDF8">
              <a:alpha val="1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17" name="Image 1" descr="preencoded.png"/>
          <p:cNvPicPr>
            <a:picLocks noChangeAspect="1"/>
          </p:cNvPicPr>
          <p:nvPr/>
        </p:nvPicPr>
        <p:blipFill>
          <a:blip r:embed="rId4"/>
          <a:srcRect l="-1648" r="-1648"/>
          <a:stretch/>
        </p:blipFill>
        <p:spPr>
          <a:xfrm>
            <a:off x="1276502" y="4389120"/>
            <a:ext cx="171907" cy="190195"/>
          </a:xfrm>
          <a:prstGeom prst="rect">
            <a:avLst/>
          </a:prstGeom>
        </p:spPr>
      </p:pic>
      <p:sp>
        <p:nvSpPr>
          <p:cNvPr id="18" name="Text 14"/>
          <p:cNvSpPr txBox="1"/>
          <p:nvPr/>
        </p:nvSpPr>
        <p:spPr>
          <a:xfrm>
            <a:off x="1762049" y="4274820"/>
            <a:ext cx="905256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작성 예시</a:t>
            </a:r>
            <a:endParaRPr lang="en-US" sz="1500" dirty="0"/>
          </a:p>
        </p:txBody>
      </p:sp>
      <p:sp>
        <p:nvSpPr>
          <p:cNvPr id="19" name="Text 15"/>
          <p:cNvSpPr txBox="1"/>
          <p:nvPr/>
        </p:nvSpPr>
        <p:spPr>
          <a:xfrm>
            <a:off x="1762049" y="4636922"/>
            <a:ext cx="3801161" cy="4764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"이 알고리즘은 기존 방식보다 처리 속도를 2배 향상시켰다 [1]."</a:t>
            </a:r>
            <a:endParaRPr lang="en-US" sz="1200" dirty="0"/>
          </a:p>
        </p:txBody>
      </p:sp>
      <p:sp>
        <p:nvSpPr>
          <p:cNvPr id="20" name="Shape 16"/>
          <p:cNvSpPr/>
          <p:nvPr/>
        </p:nvSpPr>
        <p:spPr>
          <a:xfrm>
            <a:off x="6286500" y="2180844"/>
            <a:ext cx="5143500" cy="3628532"/>
          </a:xfrm>
          <a:prstGeom prst="roundRect">
            <a:avLst>
              <a:gd name="adj" fmla="val 790"/>
            </a:avLst>
          </a:prstGeom>
          <a:solidFill>
            <a:srgbClr val="1E293B">
              <a:alpha val="40000"/>
            </a:srgbClr>
          </a:solidFill>
          <a:ln w="50800">
            <a:solidFill>
              <a:srgbClr val="0EA5E9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1" name="Shape 17"/>
          <p:cNvSpPr/>
          <p:nvPr/>
        </p:nvSpPr>
        <p:spPr>
          <a:xfrm>
            <a:off x="6676949" y="2553005"/>
            <a:ext cx="4362602" cy="362102"/>
          </a:xfrm>
          <a:prstGeom prst="roundRect">
            <a:avLst>
              <a:gd name="adj" fmla="val 252526"/>
            </a:avLst>
          </a:prstGeom>
          <a:solidFill>
            <a:srgbClr val="0EA5E9">
              <a:alpha val="15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22" name="Image 2" descr="preencoded.png"/>
          <p:cNvPicPr>
            <a:picLocks noChangeAspect="1"/>
          </p:cNvPicPr>
          <p:nvPr/>
        </p:nvPicPr>
        <p:blipFill>
          <a:blip r:embed="rId5"/>
          <a:srcRect l="-3425" r="-3425"/>
          <a:stretch/>
        </p:blipFill>
        <p:spPr>
          <a:xfrm>
            <a:off x="6829654" y="2665476"/>
            <a:ext cx="142646" cy="133502"/>
          </a:xfrm>
          <a:prstGeom prst="rect">
            <a:avLst/>
          </a:prstGeom>
        </p:spPr>
      </p:pic>
      <p:sp>
        <p:nvSpPr>
          <p:cNvPr id="23" name="Text 18"/>
          <p:cNvSpPr txBox="1"/>
          <p:nvPr/>
        </p:nvSpPr>
        <p:spPr>
          <a:xfrm>
            <a:off x="7048195" y="2628900"/>
            <a:ext cx="1751076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0EA5E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참고문헌 (REFERENCES)</a:t>
            </a:r>
            <a:endParaRPr lang="en-US" sz="1000" dirty="0"/>
          </a:p>
        </p:txBody>
      </p:sp>
      <p:sp>
        <p:nvSpPr>
          <p:cNvPr id="24" name="Shape 19"/>
          <p:cNvSpPr/>
          <p:nvPr/>
        </p:nvSpPr>
        <p:spPr>
          <a:xfrm>
            <a:off x="6676949" y="3139135"/>
            <a:ext cx="418795" cy="418795"/>
          </a:xfrm>
          <a:prstGeom prst="roundRect">
            <a:avLst>
              <a:gd name="adj" fmla="val 49623"/>
            </a:avLst>
          </a:prstGeom>
          <a:solidFill>
            <a:srgbClr val="0EA5E9">
              <a:alpha val="1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25" name="Image 3" descr="preencoded.png"/>
          <p:cNvPicPr>
            <a:picLocks noChangeAspect="1"/>
          </p:cNvPicPr>
          <p:nvPr/>
        </p:nvPicPr>
        <p:blipFill>
          <a:blip r:embed="rId6"/>
          <a:srcRect l="-1282" r="-1282"/>
          <a:stretch/>
        </p:blipFill>
        <p:spPr>
          <a:xfrm>
            <a:off x="6776618" y="3253435"/>
            <a:ext cx="219456" cy="190195"/>
          </a:xfrm>
          <a:prstGeom prst="rect">
            <a:avLst/>
          </a:prstGeom>
        </p:spPr>
      </p:pic>
      <p:sp>
        <p:nvSpPr>
          <p:cNvPr id="26" name="Text 20"/>
          <p:cNvSpPr txBox="1"/>
          <p:nvPr/>
        </p:nvSpPr>
        <p:spPr>
          <a:xfrm>
            <a:off x="7286854" y="3139135"/>
            <a:ext cx="1657807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인용 순서대로 정렬</a:t>
            </a:r>
            <a:endParaRPr lang="en-US" sz="1500" dirty="0"/>
          </a:p>
        </p:txBody>
      </p:sp>
      <p:sp>
        <p:nvSpPr>
          <p:cNvPr id="27" name="Text 21"/>
          <p:cNvSpPr txBox="1"/>
          <p:nvPr/>
        </p:nvSpPr>
        <p:spPr>
          <a:xfrm>
            <a:off x="7286854" y="3501238"/>
            <a:ext cx="3686861" cy="4764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저자명의 알파벳 순서가 아닌, 본문에서 인용된 번호 순서([1], [2]...)대로 목록을 작성합니다.</a:t>
            </a:r>
            <a:endParaRPr lang="en-US" sz="1200" dirty="0"/>
          </a:p>
        </p:txBody>
      </p:sp>
      <p:sp>
        <p:nvSpPr>
          <p:cNvPr id="28" name="Shape 22"/>
          <p:cNvSpPr/>
          <p:nvPr/>
        </p:nvSpPr>
        <p:spPr>
          <a:xfrm>
            <a:off x="6676949" y="4274820"/>
            <a:ext cx="418795" cy="418795"/>
          </a:xfrm>
          <a:prstGeom prst="roundRect">
            <a:avLst>
              <a:gd name="adj" fmla="val 49623"/>
            </a:avLst>
          </a:prstGeom>
          <a:solidFill>
            <a:srgbClr val="0EA5E9">
              <a:alpha val="1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29" name="Image 4" descr="preencoded.png"/>
          <p:cNvPicPr>
            <a:picLocks noChangeAspect="1"/>
          </p:cNvPicPr>
          <p:nvPr/>
        </p:nvPicPr>
        <p:blipFill>
          <a:blip r:embed="rId7"/>
          <a:srcRect l="-1648" r="-1648"/>
          <a:stretch/>
        </p:blipFill>
        <p:spPr>
          <a:xfrm>
            <a:off x="6801307" y="4389120"/>
            <a:ext cx="171907" cy="190195"/>
          </a:xfrm>
          <a:prstGeom prst="rect">
            <a:avLst/>
          </a:prstGeom>
        </p:spPr>
      </p:pic>
      <p:sp>
        <p:nvSpPr>
          <p:cNvPr id="30" name="Text 23"/>
          <p:cNvSpPr txBox="1"/>
          <p:nvPr/>
        </p:nvSpPr>
        <p:spPr>
          <a:xfrm>
            <a:off x="7286854" y="4274820"/>
            <a:ext cx="905256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작성 예시</a:t>
            </a:r>
            <a:endParaRPr lang="en-US" sz="1500" dirty="0"/>
          </a:p>
        </p:txBody>
      </p:sp>
      <p:sp>
        <p:nvSpPr>
          <p:cNvPr id="31" name="Text 24"/>
          <p:cNvSpPr txBox="1"/>
          <p:nvPr/>
        </p:nvSpPr>
        <p:spPr>
          <a:xfrm>
            <a:off x="7286854" y="4665269"/>
            <a:ext cx="2591410" cy="4197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CBD5E1"/>
                </a:solidFill>
                <a:latin typeface="ui-monospace" pitchFamily="34" charset="0"/>
                <a:ea typeface="ui-monospace" pitchFamily="34" charset="-122"/>
                <a:cs typeface="ui-monospace" pitchFamily="34" charset="-120"/>
              </a:rPr>
              <a:t>[1] J. K. Author, "Title of paper,"</a:t>
            </a:r>
            <a:endParaRPr lang="en-US" sz="1200" dirty="0"/>
          </a:p>
        </p:txBody>
      </p:sp>
      <p:sp>
        <p:nvSpPr>
          <p:cNvPr id="32" name="Text 25"/>
          <p:cNvSpPr txBox="1"/>
          <p:nvPr/>
        </p:nvSpPr>
        <p:spPr>
          <a:xfrm>
            <a:off x="7926934" y="4908499"/>
            <a:ext cx="2315261" cy="1719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i="1" dirty="0">
                <a:solidFill>
                  <a:srgbClr val="CBD5E1"/>
                </a:solidFill>
                <a:latin typeface="ui-monospace" pitchFamily="34" charset="0"/>
                <a:ea typeface="ui-monospace" pitchFamily="34" charset="-122"/>
                <a:cs typeface="ui-monospace" pitchFamily="34" charset="-120"/>
              </a:rPr>
              <a:t>Abbrev. Title of Journal</a:t>
            </a:r>
            <a:endParaRPr lang="en-US" sz="1200" dirty="0"/>
          </a:p>
        </p:txBody>
      </p:sp>
      <p:sp>
        <p:nvSpPr>
          <p:cNvPr id="33" name="Text 26"/>
          <p:cNvSpPr txBox="1"/>
          <p:nvPr/>
        </p:nvSpPr>
        <p:spPr>
          <a:xfrm>
            <a:off x="7286854" y="4908499"/>
            <a:ext cx="3781958" cy="4197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CBD5E1"/>
                </a:solidFill>
                <a:latin typeface="ui-monospace" pitchFamily="34" charset="0"/>
                <a:ea typeface="ui-monospace" pitchFamily="34" charset="-122"/>
                <a:cs typeface="ui-monospace" pitchFamily="34" charset="-120"/>
              </a:rPr>
              <a:t>, vol. x, no. x, pp. xxx-xxx, year.</a:t>
            </a:r>
            <a:endParaRPr lang="en-US" sz="1200" dirty="0"/>
          </a:p>
        </p:txBody>
      </p:sp>
      <p:sp>
        <p:nvSpPr>
          <p:cNvPr id="34" name="Shape 27"/>
          <p:cNvSpPr/>
          <p:nvPr/>
        </p:nvSpPr>
        <p:spPr>
          <a:xfrm>
            <a:off x="5857646" y="3191256"/>
            <a:ext cx="476402" cy="476402"/>
          </a:xfrm>
          <a:prstGeom prst="ellipse">
            <a:avLst/>
          </a:prstGeom>
          <a:solidFill>
            <a:srgbClr val="0F172A"/>
          </a:solidFill>
          <a:ln w="25400">
            <a:solidFill>
              <a:srgbClr val="38BDF8">
                <a:alpha val="30000"/>
              </a:srgbClr>
            </a:solidFill>
            <a:prstDash val="solid"/>
          </a:ln>
          <a:effectLst>
            <a:outerShdw blurRad="12700" dist="12700" dir="16200000" algn="bl" rotWithShape="0">
              <a:srgbClr val="0F172A">
                <a:alpha val="10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pic>
        <p:nvPicPr>
          <p:cNvPr id="35" name="Image 5" descr="preencoded.png"/>
          <p:cNvPicPr>
            <a:picLocks noChangeAspect="1"/>
          </p:cNvPicPr>
          <p:nvPr/>
        </p:nvPicPr>
        <p:blipFill>
          <a:blip r:embed="rId8"/>
          <a:srcRect l="-1082" r="-1082"/>
          <a:stretch/>
        </p:blipFill>
        <p:spPr>
          <a:xfrm>
            <a:off x="6014923" y="3338474"/>
            <a:ext cx="161849" cy="181051"/>
          </a:xfrm>
          <a:prstGeom prst="rect">
            <a:avLst/>
          </a:prstGeom>
        </p:spPr>
      </p:pic>
      <p:sp>
        <p:nvSpPr>
          <p:cNvPr id="36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이애본(드림아이티비즈) · useful-ai.dreamitbiz.com · 교육 목적 비영리 이용 · 출처 표기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-915" y="-383180"/>
            <a:ext cx="12191695" cy="6858000"/>
          </a:xfrm>
          <a:prstGeom prst="rect">
            <a:avLst/>
          </a:prstGeom>
          <a:solidFill>
            <a:srgbClr val="0F172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" name="Shape 2"/>
          <p:cNvSpPr/>
          <p:nvPr/>
        </p:nvSpPr>
        <p:spPr>
          <a:xfrm>
            <a:off x="8382305" y="0"/>
            <a:ext cx="3810305" cy="3810305"/>
          </a:xfrm>
          <a:prstGeom prst="ellipse">
            <a:avLst/>
          </a:prstGeom>
          <a:solidFill>
            <a:srgbClr val="38BDF8">
              <a:alpha val="3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" name="Shape 3"/>
          <p:cNvSpPr/>
          <p:nvPr/>
        </p:nvSpPr>
        <p:spPr>
          <a:xfrm>
            <a:off x="761695" y="476402"/>
            <a:ext cx="571500" cy="57607"/>
          </a:xfrm>
          <a:prstGeom prst="roundRect">
            <a:avLst>
              <a:gd name="adj" fmla="val 793654"/>
            </a:avLst>
          </a:prstGeom>
          <a:solidFill>
            <a:srgbClr val="38BDF8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6" name="Text 4"/>
          <p:cNvSpPr txBox="1"/>
          <p:nvPr/>
        </p:nvSpPr>
        <p:spPr>
          <a:xfrm>
            <a:off x="761695" y="685800"/>
            <a:ext cx="4343400" cy="4956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7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각주/미주(Chicago) 표기법</a:t>
            </a:r>
            <a:endParaRPr lang="en-US" sz="2700" dirty="0"/>
          </a:p>
        </p:txBody>
      </p:sp>
      <p:sp>
        <p:nvSpPr>
          <p:cNvPr id="7" name="Text 5"/>
          <p:cNvSpPr txBox="1"/>
          <p:nvPr/>
        </p:nvSpPr>
        <p:spPr>
          <a:xfrm>
            <a:off x="747065" y="1175242"/>
            <a:ext cx="6587338" cy="2478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9CA3A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인문학 분야에서 주로 사용하며, 본문 흐름을 방해하지 않기 위해 윗첨자 번호를 사용합니다.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761695" y="1630534"/>
            <a:ext cx="5143500" cy="4967408"/>
          </a:xfrm>
          <a:prstGeom prst="roundRect">
            <a:avLst>
              <a:gd name="adj" fmla="val 527"/>
            </a:avLst>
          </a:prstGeom>
          <a:solidFill>
            <a:srgbClr val="1E293B">
              <a:alpha val="50000"/>
            </a:srgbClr>
          </a:solidFill>
          <a:ln w="50800">
            <a:solidFill>
              <a:srgbClr val="38BDF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9" name="Shape 7"/>
          <p:cNvSpPr/>
          <p:nvPr/>
        </p:nvSpPr>
        <p:spPr>
          <a:xfrm>
            <a:off x="1104595" y="1863861"/>
            <a:ext cx="4457700" cy="362102"/>
          </a:xfrm>
          <a:prstGeom prst="roundRect">
            <a:avLst>
              <a:gd name="adj" fmla="val 252526"/>
            </a:avLst>
          </a:prstGeom>
          <a:solidFill>
            <a:srgbClr val="38BDF8">
              <a:alpha val="15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10" name="Image 0" descr="preencoded.png"/>
          <p:cNvPicPr>
            <a:picLocks noChangeAspect="1"/>
          </p:cNvPicPr>
          <p:nvPr/>
        </p:nvPicPr>
        <p:blipFill>
          <a:blip r:embed="rId3"/>
          <a:srcRect l="-3425" r="-3425"/>
          <a:stretch/>
        </p:blipFill>
        <p:spPr>
          <a:xfrm>
            <a:off x="1257300" y="1976333"/>
            <a:ext cx="142646" cy="133502"/>
          </a:xfrm>
          <a:prstGeom prst="rect">
            <a:avLst/>
          </a:prstGeom>
        </p:spPr>
      </p:pic>
      <p:sp>
        <p:nvSpPr>
          <p:cNvPr id="11" name="Text 8"/>
          <p:cNvSpPr txBox="1"/>
          <p:nvPr/>
        </p:nvSpPr>
        <p:spPr>
          <a:xfrm>
            <a:off x="1476756" y="1939757"/>
            <a:ext cx="1826971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38BDF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본문 및 각주 (FOOTNOTE)</a:t>
            </a:r>
            <a:endParaRPr lang="en-US" sz="1000" dirty="0"/>
          </a:p>
        </p:txBody>
      </p:sp>
      <p:pic>
        <p:nvPicPr>
          <p:cNvPr id="12" name="Image 1" descr="preencoded.png"/>
          <p:cNvPicPr>
            <a:picLocks noChangeAspect="1"/>
          </p:cNvPicPr>
          <p:nvPr/>
        </p:nvPicPr>
        <p:blipFill>
          <a:blip r:embed="rId4"/>
          <a:srcRect t="-1359" b="-1359"/>
          <a:stretch/>
        </p:blipFill>
        <p:spPr>
          <a:xfrm>
            <a:off x="1104595" y="2449992"/>
            <a:ext cx="105156" cy="123444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1209751" y="2449992"/>
            <a:ext cx="204277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본문 문장 끝에 윗첨자 번호 표기</a:t>
            </a:r>
            <a:endParaRPr lang="en-US" sz="1100" dirty="0"/>
          </a:p>
        </p:txBody>
      </p:sp>
      <p:pic>
        <p:nvPicPr>
          <p:cNvPr id="14" name="Image 2" descr="preencoded.png"/>
          <p:cNvPicPr>
            <a:picLocks noChangeAspect="1"/>
          </p:cNvPicPr>
          <p:nvPr/>
        </p:nvPicPr>
        <p:blipFill>
          <a:blip r:embed="rId4"/>
          <a:srcRect t="-1359" b="-1359"/>
          <a:stretch/>
        </p:blipFill>
        <p:spPr>
          <a:xfrm>
            <a:off x="1104595" y="2781919"/>
            <a:ext cx="105156" cy="123444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1209751" y="2781919"/>
            <a:ext cx="308061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페이지 하단(각주) 또는 챕터 뒤(미주)에 상세 정보</a:t>
            </a:r>
            <a:endParaRPr lang="en-US" sz="1100" dirty="0"/>
          </a:p>
        </p:txBody>
      </p:sp>
      <p:pic>
        <p:nvPicPr>
          <p:cNvPr id="16" name="Image 3" descr="preencoded.png"/>
          <p:cNvPicPr>
            <a:picLocks noChangeAspect="1"/>
          </p:cNvPicPr>
          <p:nvPr/>
        </p:nvPicPr>
        <p:blipFill>
          <a:blip r:embed="rId4"/>
          <a:srcRect t="-1359" b="-1359"/>
          <a:stretch/>
        </p:blipFill>
        <p:spPr>
          <a:xfrm>
            <a:off x="1104595" y="3112932"/>
            <a:ext cx="105156" cy="123444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1209751" y="3112932"/>
            <a:ext cx="29855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저자명: 이름(First Name) 성(Last Name) 순서</a:t>
            </a:r>
            <a:endParaRPr lang="en-US" sz="1100" dirty="0"/>
          </a:p>
        </p:txBody>
      </p:sp>
      <p:pic>
        <p:nvPicPr>
          <p:cNvPr id="18" name="Image 4" descr="preencoded.png"/>
          <p:cNvPicPr>
            <a:picLocks noChangeAspect="1"/>
          </p:cNvPicPr>
          <p:nvPr/>
        </p:nvPicPr>
        <p:blipFill>
          <a:blip r:embed="rId4"/>
          <a:srcRect t="-1359" b="-1359"/>
          <a:stretch/>
        </p:blipFill>
        <p:spPr>
          <a:xfrm>
            <a:off x="1104595" y="3444859"/>
            <a:ext cx="105156" cy="123444"/>
          </a:xfrm>
          <a:prstGeom prst="rect">
            <a:avLst/>
          </a:prstGeom>
        </p:spPr>
      </p:pic>
      <p:sp>
        <p:nvSpPr>
          <p:cNvPr id="19" name="Text 12"/>
          <p:cNvSpPr txBox="1"/>
          <p:nvPr/>
        </p:nvSpPr>
        <p:spPr>
          <a:xfrm>
            <a:off x="1209751" y="3444859"/>
            <a:ext cx="2709367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출판 정보: 괄호 안에 (출판지: 출판사, 연도)</a:t>
            </a:r>
            <a:endParaRPr lang="en-US" sz="1100" dirty="0"/>
          </a:p>
        </p:txBody>
      </p:sp>
      <p:sp>
        <p:nvSpPr>
          <p:cNvPr id="28" name="Shape 21"/>
          <p:cNvSpPr/>
          <p:nvPr/>
        </p:nvSpPr>
        <p:spPr>
          <a:xfrm>
            <a:off x="6286500" y="1630534"/>
            <a:ext cx="5143500" cy="4967408"/>
          </a:xfrm>
          <a:prstGeom prst="roundRect">
            <a:avLst>
              <a:gd name="adj" fmla="val 527"/>
            </a:avLst>
          </a:prstGeom>
          <a:solidFill>
            <a:srgbClr val="1E293B">
              <a:alpha val="30000"/>
            </a:srgbClr>
          </a:solidFill>
          <a:ln w="50800">
            <a:solidFill>
              <a:srgbClr val="F43F5E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9" name="Shape 22"/>
          <p:cNvSpPr/>
          <p:nvPr/>
        </p:nvSpPr>
        <p:spPr>
          <a:xfrm>
            <a:off x="6629400" y="1863861"/>
            <a:ext cx="4457700" cy="362102"/>
          </a:xfrm>
          <a:prstGeom prst="roundRect">
            <a:avLst>
              <a:gd name="adj" fmla="val 252526"/>
            </a:avLst>
          </a:prstGeom>
          <a:solidFill>
            <a:srgbClr val="F43F5E">
              <a:alpha val="15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30" name="Image 5" descr="preencoded.png"/>
          <p:cNvPicPr>
            <a:picLocks noChangeAspect="1"/>
          </p:cNvPicPr>
          <p:nvPr/>
        </p:nvPicPr>
        <p:blipFill>
          <a:blip r:embed="rId5"/>
          <a:srcRect l="-3425" r="-3425"/>
          <a:stretch/>
        </p:blipFill>
        <p:spPr>
          <a:xfrm>
            <a:off x="6782105" y="1976333"/>
            <a:ext cx="142646" cy="133502"/>
          </a:xfrm>
          <a:prstGeom prst="rect">
            <a:avLst/>
          </a:prstGeom>
        </p:spPr>
      </p:pic>
      <p:sp>
        <p:nvSpPr>
          <p:cNvPr id="31" name="Text 23"/>
          <p:cNvSpPr txBox="1"/>
          <p:nvPr/>
        </p:nvSpPr>
        <p:spPr>
          <a:xfrm>
            <a:off x="7000646" y="1939757"/>
            <a:ext cx="1903781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F43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참고문헌 (BIBLIOGRAPHY)</a:t>
            </a:r>
            <a:endParaRPr lang="en-US" sz="1000" dirty="0"/>
          </a:p>
        </p:txBody>
      </p:sp>
      <p:pic>
        <p:nvPicPr>
          <p:cNvPr id="32" name="Image 6" descr="preencoded.png"/>
          <p:cNvPicPr>
            <a:picLocks noChangeAspect="1"/>
          </p:cNvPicPr>
          <p:nvPr/>
        </p:nvPicPr>
        <p:blipFill>
          <a:blip r:embed="rId6"/>
          <a:srcRect t="-2012" b="-2012"/>
          <a:stretch/>
        </p:blipFill>
        <p:spPr>
          <a:xfrm>
            <a:off x="6629400" y="2449992"/>
            <a:ext cx="133502" cy="123444"/>
          </a:xfrm>
          <a:prstGeom prst="rect">
            <a:avLst/>
          </a:prstGeom>
        </p:spPr>
      </p:pic>
      <p:sp>
        <p:nvSpPr>
          <p:cNvPr id="33" name="Text 24"/>
          <p:cNvSpPr txBox="1"/>
          <p:nvPr/>
        </p:nvSpPr>
        <p:spPr>
          <a:xfrm>
            <a:off x="6762902" y="2449992"/>
            <a:ext cx="204277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문서 맨 뒤에 별도 페이지로 작성</a:t>
            </a:r>
            <a:endParaRPr lang="en-US" sz="1100" dirty="0"/>
          </a:p>
        </p:txBody>
      </p:sp>
      <p:pic>
        <p:nvPicPr>
          <p:cNvPr id="34" name="Image 7" descr="preencoded.png"/>
          <p:cNvPicPr>
            <a:picLocks noChangeAspect="1"/>
          </p:cNvPicPr>
          <p:nvPr/>
        </p:nvPicPr>
        <p:blipFill>
          <a:blip r:embed="rId6"/>
          <a:srcRect t="-2012" b="-2012"/>
          <a:stretch/>
        </p:blipFill>
        <p:spPr>
          <a:xfrm>
            <a:off x="6629400" y="2781919"/>
            <a:ext cx="133502" cy="123444"/>
          </a:xfrm>
          <a:prstGeom prst="rect">
            <a:avLst/>
          </a:prstGeom>
        </p:spPr>
      </p:pic>
      <p:sp>
        <p:nvSpPr>
          <p:cNvPr id="35" name="Text 25"/>
          <p:cNvSpPr txBox="1"/>
          <p:nvPr/>
        </p:nvSpPr>
        <p:spPr>
          <a:xfrm>
            <a:off x="6762902" y="2781919"/>
            <a:ext cx="303306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저자명: 성(Last Name), 이름(First Name) 순서</a:t>
            </a:r>
            <a:endParaRPr lang="en-US" sz="1100" dirty="0"/>
          </a:p>
        </p:txBody>
      </p:sp>
      <p:pic>
        <p:nvPicPr>
          <p:cNvPr id="36" name="Image 8" descr="preencoded.png"/>
          <p:cNvPicPr>
            <a:picLocks noChangeAspect="1"/>
          </p:cNvPicPr>
          <p:nvPr/>
        </p:nvPicPr>
        <p:blipFill>
          <a:blip r:embed="rId6"/>
          <a:srcRect t="-2012" b="-2012"/>
          <a:stretch/>
        </p:blipFill>
        <p:spPr>
          <a:xfrm>
            <a:off x="6629400" y="3112932"/>
            <a:ext cx="133502" cy="123444"/>
          </a:xfrm>
          <a:prstGeom prst="rect">
            <a:avLst/>
          </a:prstGeom>
        </p:spPr>
      </p:pic>
      <p:sp>
        <p:nvSpPr>
          <p:cNvPr id="37" name="Text 26"/>
          <p:cNvSpPr txBox="1"/>
          <p:nvPr/>
        </p:nvSpPr>
        <p:spPr>
          <a:xfrm>
            <a:off x="6762902" y="3112932"/>
            <a:ext cx="2357323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출판 정보: 괄호 없이 마침표(.)로 구분</a:t>
            </a:r>
            <a:endParaRPr lang="en-US" sz="1100" dirty="0"/>
          </a:p>
        </p:txBody>
      </p:sp>
      <p:pic>
        <p:nvPicPr>
          <p:cNvPr id="38" name="Image 9" descr="preencoded.png"/>
          <p:cNvPicPr>
            <a:picLocks noChangeAspect="1"/>
          </p:cNvPicPr>
          <p:nvPr/>
        </p:nvPicPr>
        <p:blipFill>
          <a:blip r:embed="rId6"/>
          <a:srcRect t="-2012" b="-2012"/>
          <a:stretch/>
        </p:blipFill>
        <p:spPr>
          <a:xfrm>
            <a:off x="6629400" y="3444859"/>
            <a:ext cx="133502" cy="123444"/>
          </a:xfrm>
          <a:prstGeom prst="rect">
            <a:avLst/>
          </a:prstGeom>
        </p:spPr>
      </p:pic>
      <p:sp>
        <p:nvSpPr>
          <p:cNvPr id="39" name="Text 27"/>
          <p:cNvSpPr txBox="1"/>
          <p:nvPr/>
        </p:nvSpPr>
        <p:spPr>
          <a:xfrm>
            <a:off x="6762902" y="3444859"/>
            <a:ext cx="27569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두 번째 줄부터 들여쓰기 (Hanging Indent)</a:t>
            </a:r>
            <a:endParaRPr lang="en-US" sz="1100" dirty="0"/>
          </a:p>
        </p:txBody>
      </p:sp>
      <p:grpSp>
        <p:nvGrpSpPr>
          <p:cNvPr id="50" name="그룹 49">
            <a:extLst>
              <a:ext uri="{FF2B5EF4-FFF2-40B4-BE49-F238E27FC236}">
                <a16:creationId xmlns:a16="http://schemas.microsoft.com/office/drawing/2014/main" id="{E56468F6-AB38-CF05-34D0-8CB68F4D4360}"/>
              </a:ext>
            </a:extLst>
          </p:cNvPr>
          <p:cNvGrpSpPr/>
          <p:nvPr/>
        </p:nvGrpSpPr>
        <p:grpSpPr>
          <a:xfrm>
            <a:off x="1104594" y="3679860"/>
            <a:ext cx="9982505" cy="2668220"/>
            <a:chOff x="1104595" y="4026417"/>
            <a:chExt cx="9982505" cy="2668220"/>
          </a:xfrm>
        </p:grpSpPr>
        <p:sp>
          <p:nvSpPr>
            <p:cNvPr id="20" name="Shape 13"/>
            <p:cNvSpPr/>
            <p:nvPr/>
          </p:nvSpPr>
          <p:spPr>
            <a:xfrm>
              <a:off x="1104595" y="4109628"/>
              <a:ext cx="4457700" cy="1248156"/>
            </a:xfrm>
            <a:prstGeom prst="roundRect">
              <a:avLst>
                <a:gd name="adj" fmla="val 4474"/>
              </a:avLst>
            </a:prstGeom>
            <a:solidFill>
              <a:srgbClr val="0F172A">
                <a:alpha val="60000"/>
              </a:srgbClr>
            </a:solidFill>
            <a:ln w="12700">
              <a:solidFill>
                <a:srgbClr val="FFFFFF">
                  <a:alpha val="20000"/>
                </a:srgbClr>
              </a:solidFill>
              <a:prstDash val="solid"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1" name="Shape 14"/>
            <p:cNvSpPr/>
            <p:nvPr/>
          </p:nvSpPr>
          <p:spPr>
            <a:xfrm>
              <a:off x="1304849" y="4576886"/>
              <a:ext cx="4058107" cy="9144"/>
            </a:xfrm>
            <a:prstGeom prst="rect">
              <a:avLst/>
            </a:prstGeom>
            <a:solidFill>
              <a:srgbClr val="374151"/>
            </a:solidFill>
            <a:ln/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2" name="Text 15"/>
            <p:cNvSpPr txBox="1"/>
            <p:nvPr/>
          </p:nvSpPr>
          <p:spPr>
            <a:xfrm>
              <a:off x="1304849" y="4309881"/>
              <a:ext cx="633679" cy="19111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000" dirty="0">
                  <a:solidFill>
                    <a:srgbClr val="9CA3AF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본문 예시</a:t>
              </a:r>
              <a:endParaRPr lang="en-US" sz="1000" dirty="0"/>
            </a:p>
          </p:txBody>
        </p:sp>
        <p:sp>
          <p:nvSpPr>
            <p:cNvPr id="23" name="Text 16"/>
            <p:cNvSpPr txBox="1"/>
            <p:nvPr/>
          </p:nvSpPr>
          <p:spPr>
            <a:xfrm>
              <a:off x="1304849" y="4661925"/>
              <a:ext cx="4048963" cy="47640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200" dirty="0">
                  <a:solidFill>
                    <a:srgbClr val="E2E8F0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역사는 과거와 현재의 끊임없는 대화이다1. 이러한 관점은 현대 역사학의 기초가 되었다.</a:t>
              </a:r>
              <a:endParaRPr lang="en-US" sz="1200" dirty="0"/>
            </a:p>
          </p:txBody>
        </p:sp>
        <p:sp>
          <p:nvSpPr>
            <p:cNvPr id="24" name="Shape 17"/>
            <p:cNvSpPr/>
            <p:nvPr/>
          </p:nvSpPr>
          <p:spPr>
            <a:xfrm>
              <a:off x="1104595" y="5492201"/>
              <a:ext cx="4457700" cy="1133856"/>
            </a:xfrm>
            <a:prstGeom prst="roundRect">
              <a:avLst>
                <a:gd name="adj" fmla="val 5422"/>
              </a:avLst>
            </a:prstGeom>
            <a:solidFill>
              <a:srgbClr val="38BDF8">
                <a:alpha val="5000"/>
              </a:srgbClr>
            </a:solidFill>
            <a:ln w="12700">
              <a:solidFill>
                <a:srgbClr val="38BDF8">
                  <a:alpha val="20000"/>
                </a:srgbClr>
              </a:solidFill>
              <a:prstDash val="solid"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5" name="Shape 18"/>
            <p:cNvSpPr/>
            <p:nvPr/>
          </p:nvSpPr>
          <p:spPr>
            <a:xfrm>
              <a:off x="1304849" y="5959459"/>
              <a:ext cx="4058107" cy="9144"/>
            </a:xfrm>
            <a:prstGeom prst="rect">
              <a:avLst/>
            </a:prstGeom>
            <a:solidFill>
              <a:srgbClr val="374151"/>
            </a:solidFill>
            <a:ln/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6" name="Text 19"/>
            <p:cNvSpPr txBox="1"/>
            <p:nvPr/>
          </p:nvSpPr>
          <p:spPr>
            <a:xfrm>
              <a:off x="1304849" y="5692454"/>
              <a:ext cx="919886" cy="19111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000" dirty="0">
                  <a:solidFill>
                    <a:srgbClr val="9CA3AF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하단 각주 예시</a:t>
              </a:r>
              <a:endParaRPr lang="en-US" sz="1000" dirty="0"/>
            </a:p>
          </p:txBody>
        </p:sp>
        <p:sp>
          <p:nvSpPr>
            <p:cNvPr id="27" name="Text 20"/>
            <p:cNvSpPr txBox="1"/>
            <p:nvPr/>
          </p:nvSpPr>
          <p:spPr>
            <a:xfrm>
              <a:off x="1304849" y="6044498"/>
              <a:ext cx="3910889" cy="381305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000" dirty="0">
                  <a:solidFill>
                    <a:srgbClr val="E2E8F0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1. Jin Hong and Soo Kim, Title of the Book (Seoul: Publisher, 2026), 15.</a:t>
              </a:r>
              <a:endParaRPr lang="en-US" sz="1000" dirty="0"/>
            </a:p>
          </p:txBody>
        </p:sp>
        <p:sp>
          <p:nvSpPr>
            <p:cNvPr id="40" name="Shape 28"/>
            <p:cNvSpPr/>
            <p:nvPr/>
          </p:nvSpPr>
          <p:spPr>
            <a:xfrm>
              <a:off x="6629400" y="4109628"/>
              <a:ext cx="4457700" cy="1886407"/>
            </a:xfrm>
            <a:prstGeom prst="roundRect">
              <a:avLst>
                <a:gd name="adj" fmla="val 1959"/>
              </a:avLst>
            </a:prstGeom>
            <a:solidFill>
              <a:srgbClr val="0F172A">
                <a:alpha val="60000"/>
              </a:srgbClr>
            </a:solidFill>
            <a:ln w="12700">
              <a:solidFill>
                <a:srgbClr val="FFFFFF">
                  <a:alpha val="20000"/>
                </a:srgbClr>
              </a:solidFill>
              <a:prstDash val="solid"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41" name="Shape 29"/>
            <p:cNvSpPr/>
            <p:nvPr/>
          </p:nvSpPr>
          <p:spPr>
            <a:xfrm>
              <a:off x="6829654" y="4576886"/>
              <a:ext cx="4058107" cy="9144"/>
            </a:xfrm>
            <a:prstGeom prst="rect">
              <a:avLst/>
            </a:prstGeom>
            <a:solidFill>
              <a:srgbClr val="374151"/>
            </a:solidFill>
            <a:ln/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42" name="Text 30"/>
            <p:cNvSpPr txBox="1"/>
            <p:nvPr/>
          </p:nvSpPr>
          <p:spPr>
            <a:xfrm>
              <a:off x="6829654" y="4309881"/>
              <a:ext cx="1709928" cy="19111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000" dirty="0">
                  <a:solidFill>
                    <a:srgbClr val="9CA3AF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참고문헌 리스트 예시 (2026)</a:t>
              </a:r>
              <a:endParaRPr lang="en-US" sz="1000" dirty="0"/>
            </a:p>
          </p:txBody>
        </p:sp>
        <p:sp>
          <p:nvSpPr>
            <p:cNvPr id="43" name="Text 31"/>
            <p:cNvSpPr txBox="1"/>
            <p:nvPr/>
          </p:nvSpPr>
          <p:spPr>
            <a:xfrm>
              <a:off x="7134149" y="4661925"/>
              <a:ext cx="3610051" cy="47640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200" dirty="0">
                  <a:solidFill>
                    <a:srgbClr val="E2E8F0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Hong, Jin, and Soo Kim. Title of the Book. Seoul: Publisher, 2026.</a:t>
              </a:r>
              <a:endParaRPr lang="en-US" sz="1200" dirty="0"/>
            </a:p>
          </p:txBody>
        </p:sp>
        <p:sp>
          <p:nvSpPr>
            <p:cNvPr id="44" name="Text 32"/>
            <p:cNvSpPr txBox="1"/>
            <p:nvPr/>
          </p:nvSpPr>
          <p:spPr>
            <a:xfrm>
              <a:off x="7134149" y="5302005"/>
              <a:ext cx="3743554" cy="47640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200" dirty="0">
                  <a:solidFill>
                    <a:srgbClr val="E2E8F0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Lee, Min-Su. "Article Title." Journal Name 15, no. 2 (2026): 45–67.</a:t>
              </a:r>
              <a:endParaRPr lang="en-US" sz="1200" dirty="0"/>
            </a:p>
          </p:txBody>
        </p:sp>
        <p:sp>
          <p:nvSpPr>
            <p:cNvPr id="45" name="Shape 33"/>
            <p:cNvSpPr/>
            <p:nvPr/>
          </p:nvSpPr>
          <p:spPr>
            <a:xfrm>
              <a:off x="6629400" y="6142339"/>
              <a:ext cx="4457700" cy="552298"/>
            </a:xfrm>
            <a:prstGeom prst="roundRect">
              <a:avLst>
                <a:gd name="adj" fmla="val 11418"/>
              </a:avLst>
            </a:prstGeom>
            <a:solidFill>
              <a:srgbClr val="7F1D1D">
                <a:alpha val="20000"/>
              </a:srgbClr>
            </a:solidFill>
            <a:ln w="12700">
              <a:solidFill>
                <a:srgbClr val="EF4444">
                  <a:alpha val="30000"/>
                </a:srgbClr>
              </a:solidFill>
              <a:prstDash val="solid"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46" name="Text 34"/>
            <p:cNvSpPr txBox="1"/>
            <p:nvPr/>
          </p:nvSpPr>
          <p:spPr>
            <a:xfrm>
              <a:off x="6752844" y="6256639"/>
              <a:ext cx="4210812" cy="31455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900" dirty="0">
                  <a:solidFill>
                    <a:srgbClr val="FFFFFF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주의: 각주와 참고문헌은 저자명 순서와 구두점(콤마 vs 마침표) 형식이 다르므로 혼동하지 않도록 주의하세요.</a:t>
              </a:r>
              <a:endParaRPr lang="en-US" sz="900" dirty="0"/>
            </a:p>
          </p:txBody>
        </p:sp>
        <p:sp>
          <p:nvSpPr>
            <p:cNvPr id="47" name="Shape 35"/>
            <p:cNvSpPr/>
            <p:nvPr/>
          </p:nvSpPr>
          <p:spPr>
            <a:xfrm>
              <a:off x="5857646" y="4026417"/>
              <a:ext cx="476402" cy="476402"/>
            </a:xfrm>
            <a:prstGeom prst="ellipse">
              <a:avLst/>
            </a:prstGeom>
            <a:solidFill>
              <a:srgbClr val="0F172A"/>
            </a:solidFill>
            <a:ln w="25400">
              <a:solidFill>
                <a:srgbClr val="FFFFFF">
                  <a:alpha val="10000"/>
                </a:srgbClr>
              </a:solidFill>
              <a:prstDash val="solid"/>
            </a:ln>
            <a:effectLst>
              <a:outerShdw blurRad="12700" dist="12700" dir="16200000" algn="bl" rotWithShape="0">
                <a:srgbClr val="0F172A">
                  <a:alpha val="100000"/>
                </a:srgbClr>
              </a:outerShdw>
            </a:effectLst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48" name="Text 36"/>
            <p:cNvSpPr txBox="1"/>
            <p:nvPr/>
          </p:nvSpPr>
          <p:spPr>
            <a:xfrm>
              <a:off x="6011266" y="4150776"/>
              <a:ext cx="286207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200" b="1" dirty="0">
                  <a:solidFill>
                    <a:srgbClr val="94A3B8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vs</a:t>
              </a:r>
              <a:endParaRPr lang="en-US" sz="1200" dirty="0"/>
            </a:p>
          </p:txBody>
        </p:sp>
      </p:grpSp>
      <p:sp>
        <p:nvSpPr>
          <p:cNvPr id="51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이애본(드림아이티비즈) · useful-ai.dreamitbiz.com · 교육 목적 비영리 이용 · 출처 표기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25518" y="0"/>
            <a:ext cx="12435088" cy="6858000"/>
          </a:xfrm>
          <a:prstGeom prst="rect">
            <a:avLst/>
          </a:prstGeom>
          <a:solidFill>
            <a:srgbClr val="0F172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" name="Shape 2"/>
          <p:cNvSpPr/>
          <p:nvPr/>
        </p:nvSpPr>
        <p:spPr>
          <a:xfrm>
            <a:off x="8382305" y="-1904695"/>
            <a:ext cx="5715000" cy="5715000"/>
          </a:xfrm>
          <a:prstGeom prst="ellipse">
            <a:avLst/>
          </a:prstGeom>
          <a:solidFill>
            <a:srgbClr val="38BDF8">
              <a:alpha val="3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" name="Shape 3"/>
          <p:cNvSpPr/>
          <p:nvPr/>
        </p:nvSpPr>
        <p:spPr>
          <a:xfrm>
            <a:off x="761695" y="476402"/>
            <a:ext cx="571500" cy="57607"/>
          </a:xfrm>
          <a:prstGeom prst="roundRect">
            <a:avLst>
              <a:gd name="adj" fmla="val 793654"/>
            </a:avLst>
          </a:prstGeom>
          <a:solidFill>
            <a:srgbClr val="38BDF8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6" name="Shape 4"/>
          <p:cNvSpPr/>
          <p:nvPr/>
        </p:nvSpPr>
        <p:spPr>
          <a:xfrm>
            <a:off x="761695" y="1719881"/>
            <a:ext cx="5323594" cy="1190549"/>
          </a:xfrm>
          <a:prstGeom prst="roundRect">
            <a:avLst>
              <a:gd name="adj" fmla="val 7373"/>
            </a:avLst>
          </a:prstGeom>
          <a:solidFill>
            <a:srgbClr val="1E293B">
              <a:alpha val="50000"/>
            </a:srgbClr>
          </a:solidFill>
          <a:ln w="12700">
            <a:solidFill>
              <a:srgbClr val="FFFFFF">
                <a:alpha val="8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" name="Shape 5"/>
          <p:cNvSpPr/>
          <p:nvPr/>
        </p:nvSpPr>
        <p:spPr>
          <a:xfrm>
            <a:off x="1000354" y="1957625"/>
            <a:ext cx="304495" cy="304495"/>
          </a:xfrm>
          <a:prstGeom prst="roundRect">
            <a:avLst>
              <a:gd name="adj" fmla="val 75075"/>
            </a:avLst>
          </a:prstGeom>
          <a:solidFill>
            <a:srgbClr val="38BDF8">
              <a:alpha val="15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8" name="Image 0" descr="preencoded.png"/>
          <p:cNvPicPr>
            <a:picLocks noChangeAspect="1"/>
          </p:cNvPicPr>
          <p:nvPr/>
        </p:nvPicPr>
        <p:blipFill>
          <a:blip r:embed="rId3"/>
          <a:srcRect t="-43" b="-43"/>
          <a:stretch/>
        </p:blipFill>
        <p:spPr>
          <a:xfrm>
            <a:off x="1086307" y="2034435"/>
            <a:ext cx="133502" cy="152705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6236123" y="1719881"/>
            <a:ext cx="5323594" cy="1190549"/>
          </a:xfrm>
          <a:prstGeom prst="roundRect">
            <a:avLst>
              <a:gd name="adj" fmla="val 7373"/>
            </a:avLst>
          </a:prstGeom>
          <a:solidFill>
            <a:srgbClr val="1E293B">
              <a:alpha val="50000"/>
            </a:srgbClr>
          </a:solidFill>
          <a:ln w="12700">
            <a:solidFill>
              <a:srgbClr val="FFFFFF">
                <a:alpha val="8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0" name="Shape 7"/>
          <p:cNvSpPr/>
          <p:nvPr/>
        </p:nvSpPr>
        <p:spPr>
          <a:xfrm>
            <a:off x="6448349" y="1957625"/>
            <a:ext cx="304495" cy="304495"/>
          </a:xfrm>
          <a:prstGeom prst="roundRect">
            <a:avLst>
              <a:gd name="adj" fmla="val 75075"/>
            </a:avLst>
          </a:prstGeom>
          <a:solidFill>
            <a:srgbClr val="38BDF8">
              <a:alpha val="15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11" name="Image 1" descr="preencoded.png"/>
          <p:cNvPicPr>
            <a:picLocks noChangeAspect="1"/>
          </p:cNvPicPr>
          <p:nvPr/>
        </p:nvPicPr>
        <p:blipFill>
          <a:blip r:embed="rId3"/>
          <a:srcRect t="-43" b="-43"/>
          <a:stretch/>
        </p:blipFill>
        <p:spPr>
          <a:xfrm>
            <a:off x="6534302" y="2034435"/>
            <a:ext cx="133502" cy="152705"/>
          </a:xfrm>
          <a:prstGeom prst="rect">
            <a:avLst/>
          </a:prstGeom>
        </p:spPr>
      </p:pic>
      <p:sp>
        <p:nvSpPr>
          <p:cNvPr id="12" name="Shape 8"/>
          <p:cNvSpPr/>
          <p:nvPr/>
        </p:nvSpPr>
        <p:spPr>
          <a:xfrm>
            <a:off x="761695" y="2994705"/>
            <a:ext cx="5323594" cy="1190549"/>
          </a:xfrm>
          <a:prstGeom prst="roundRect">
            <a:avLst>
              <a:gd name="adj" fmla="val 7373"/>
            </a:avLst>
          </a:prstGeom>
          <a:solidFill>
            <a:srgbClr val="1E293B">
              <a:alpha val="50000"/>
            </a:srgbClr>
          </a:solidFill>
          <a:ln w="12700">
            <a:solidFill>
              <a:srgbClr val="FFFFFF">
                <a:alpha val="8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3" name="Shape 9"/>
          <p:cNvSpPr/>
          <p:nvPr/>
        </p:nvSpPr>
        <p:spPr>
          <a:xfrm>
            <a:off x="1000354" y="3233363"/>
            <a:ext cx="304495" cy="304495"/>
          </a:xfrm>
          <a:prstGeom prst="roundRect">
            <a:avLst>
              <a:gd name="adj" fmla="val 75075"/>
            </a:avLst>
          </a:prstGeom>
          <a:solidFill>
            <a:srgbClr val="38BDF8">
              <a:alpha val="15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14" name="Image 2" descr="preencoded.png"/>
          <p:cNvPicPr>
            <a:picLocks noChangeAspect="1"/>
          </p:cNvPicPr>
          <p:nvPr/>
        </p:nvPicPr>
        <p:blipFill>
          <a:blip r:embed="rId3"/>
          <a:srcRect t="-43" b="-43"/>
          <a:stretch/>
        </p:blipFill>
        <p:spPr>
          <a:xfrm>
            <a:off x="1086307" y="3309258"/>
            <a:ext cx="133502" cy="152705"/>
          </a:xfrm>
          <a:prstGeom prst="rect">
            <a:avLst/>
          </a:prstGeom>
        </p:spPr>
      </p:pic>
      <p:sp>
        <p:nvSpPr>
          <p:cNvPr id="15" name="Shape 10"/>
          <p:cNvSpPr/>
          <p:nvPr/>
        </p:nvSpPr>
        <p:spPr>
          <a:xfrm>
            <a:off x="6236123" y="2994705"/>
            <a:ext cx="5323594" cy="1190549"/>
          </a:xfrm>
          <a:prstGeom prst="roundRect">
            <a:avLst>
              <a:gd name="adj" fmla="val 7373"/>
            </a:avLst>
          </a:prstGeom>
          <a:solidFill>
            <a:srgbClr val="1E293B">
              <a:alpha val="50000"/>
            </a:srgbClr>
          </a:solidFill>
          <a:ln w="12700">
            <a:solidFill>
              <a:srgbClr val="FFFFFF">
                <a:alpha val="8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6" name="Shape 11"/>
          <p:cNvSpPr/>
          <p:nvPr/>
        </p:nvSpPr>
        <p:spPr>
          <a:xfrm>
            <a:off x="6448349" y="3233363"/>
            <a:ext cx="304495" cy="304495"/>
          </a:xfrm>
          <a:prstGeom prst="roundRect">
            <a:avLst>
              <a:gd name="adj" fmla="val 75075"/>
            </a:avLst>
          </a:prstGeom>
          <a:solidFill>
            <a:srgbClr val="38BDF8">
              <a:alpha val="15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17" name="Image 3" descr="preencoded.png"/>
          <p:cNvPicPr>
            <a:picLocks noChangeAspect="1"/>
          </p:cNvPicPr>
          <p:nvPr/>
        </p:nvPicPr>
        <p:blipFill>
          <a:blip r:embed="rId3"/>
          <a:srcRect t="-43" b="-43"/>
          <a:stretch/>
        </p:blipFill>
        <p:spPr>
          <a:xfrm>
            <a:off x="6534302" y="3309258"/>
            <a:ext cx="133502" cy="152705"/>
          </a:xfrm>
          <a:prstGeom prst="rect">
            <a:avLst/>
          </a:prstGeom>
        </p:spPr>
      </p:pic>
      <p:sp>
        <p:nvSpPr>
          <p:cNvPr id="18" name="Shape 12"/>
          <p:cNvSpPr/>
          <p:nvPr/>
        </p:nvSpPr>
        <p:spPr>
          <a:xfrm>
            <a:off x="761695" y="4291707"/>
            <a:ext cx="5323594" cy="1190549"/>
          </a:xfrm>
          <a:prstGeom prst="roundRect">
            <a:avLst>
              <a:gd name="adj" fmla="val 7373"/>
            </a:avLst>
          </a:prstGeom>
          <a:solidFill>
            <a:srgbClr val="1E293B">
              <a:alpha val="50000"/>
            </a:srgbClr>
          </a:solidFill>
          <a:ln w="12700">
            <a:solidFill>
              <a:srgbClr val="FFFFFF">
                <a:alpha val="8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9" name="Shape 13"/>
          <p:cNvSpPr/>
          <p:nvPr/>
        </p:nvSpPr>
        <p:spPr>
          <a:xfrm>
            <a:off x="1000354" y="4529451"/>
            <a:ext cx="304495" cy="304495"/>
          </a:xfrm>
          <a:prstGeom prst="roundRect">
            <a:avLst>
              <a:gd name="adj" fmla="val 75075"/>
            </a:avLst>
          </a:prstGeom>
          <a:solidFill>
            <a:srgbClr val="38BDF8">
              <a:alpha val="15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20" name="Image 4" descr="preencoded.png"/>
          <p:cNvPicPr>
            <a:picLocks noChangeAspect="1"/>
          </p:cNvPicPr>
          <p:nvPr/>
        </p:nvPicPr>
        <p:blipFill>
          <a:blip r:embed="rId3"/>
          <a:srcRect t="-43" b="-43"/>
          <a:stretch/>
        </p:blipFill>
        <p:spPr>
          <a:xfrm>
            <a:off x="1086307" y="4605346"/>
            <a:ext cx="133502" cy="152705"/>
          </a:xfrm>
          <a:prstGeom prst="rect">
            <a:avLst/>
          </a:prstGeom>
        </p:spPr>
      </p:pic>
      <p:sp>
        <p:nvSpPr>
          <p:cNvPr id="21" name="Shape 14"/>
          <p:cNvSpPr/>
          <p:nvPr/>
        </p:nvSpPr>
        <p:spPr>
          <a:xfrm>
            <a:off x="6236123" y="4291707"/>
            <a:ext cx="5323594" cy="1190549"/>
          </a:xfrm>
          <a:prstGeom prst="roundRect">
            <a:avLst>
              <a:gd name="adj" fmla="val 7373"/>
            </a:avLst>
          </a:prstGeom>
          <a:solidFill>
            <a:srgbClr val="1E293B">
              <a:alpha val="50000"/>
            </a:srgbClr>
          </a:solidFill>
          <a:ln w="12700">
            <a:solidFill>
              <a:srgbClr val="FFFFFF">
                <a:alpha val="8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2" name="Shape 15"/>
          <p:cNvSpPr/>
          <p:nvPr/>
        </p:nvSpPr>
        <p:spPr>
          <a:xfrm>
            <a:off x="6448349" y="4529451"/>
            <a:ext cx="304495" cy="304495"/>
          </a:xfrm>
          <a:prstGeom prst="roundRect">
            <a:avLst>
              <a:gd name="adj" fmla="val 75075"/>
            </a:avLst>
          </a:prstGeom>
          <a:solidFill>
            <a:srgbClr val="38BDF8">
              <a:alpha val="15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23" name="Image 5" descr="preencoded.png"/>
          <p:cNvPicPr>
            <a:picLocks noChangeAspect="1"/>
          </p:cNvPicPr>
          <p:nvPr/>
        </p:nvPicPr>
        <p:blipFill>
          <a:blip r:embed="rId3"/>
          <a:srcRect t="-43" b="-43"/>
          <a:stretch/>
        </p:blipFill>
        <p:spPr>
          <a:xfrm>
            <a:off x="6534302" y="4605346"/>
            <a:ext cx="133502" cy="152705"/>
          </a:xfrm>
          <a:prstGeom prst="rect">
            <a:avLst/>
          </a:prstGeom>
        </p:spPr>
      </p:pic>
      <p:sp>
        <p:nvSpPr>
          <p:cNvPr id="24" name="Shape 16"/>
          <p:cNvSpPr/>
          <p:nvPr/>
        </p:nvSpPr>
        <p:spPr>
          <a:xfrm>
            <a:off x="761695" y="5590114"/>
            <a:ext cx="10798022" cy="838505"/>
          </a:xfrm>
          <a:prstGeom prst="roundRect">
            <a:avLst>
              <a:gd name="adj" fmla="val 14871"/>
            </a:avLst>
          </a:prstGeom>
          <a:solidFill>
            <a:srgbClr val="0EA5E9"/>
          </a:solidFill>
          <a:ln/>
          <a:effectLst>
            <a:outerShdw blurRad="241300" dist="101600" dir="5400000" algn="bl" rotWithShape="0">
              <a:srgbClr val="0EA5E9">
                <a:alpha val="4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25" name="Shape 17"/>
          <p:cNvSpPr/>
          <p:nvPr/>
        </p:nvSpPr>
        <p:spPr>
          <a:xfrm>
            <a:off x="1047902" y="5780309"/>
            <a:ext cx="457200" cy="457200"/>
          </a:xfrm>
          <a:prstGeom prst="ellipse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26" name="Image 6" descr="preencoded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1138428" y="5870834"/>
            <a:ext cx="276149" cy="276149"/>
          </a:xfrm>
          <a:prstGeom prst="rect">
            <a:avLst/>
          </a:prstGeom>
        </p:spPr>
      </p:pic>
      <p:sp>
        <p:nvSpPr>
          <p:cNvPr id="27" name="Shape 18"/>
          <p:cNvSpPr/>
          <p:nvPr/>
        </p:nvSpPr>
        <p:spPr>
          <a:xfrm>
            <a:off x="9511589" y="5829686"/>
            <a:ext cx="1638605" cy="362102"/>
          </a:xfrm>
          <a:prstGeom prst="roundRect">
            <a:avLst>
              <a:gd name="adj" fmla="val 252526"/>
            </a:avLst>
          </a:prstGeom>
          <a:solidFill>
            <a:srgbClr val="FFFFFF">
              <a:alpha val="2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8" name="Text 19"/>
          <p:cNvSpPr txBox="1"/>
          <p:nvPr/>
        </p:nvSpPr>
        <p:spPr>
          <a:xfrm>
            <a:off x="761695" y="676656"/>
            <a:ext cx="6201461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6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참고문헌 공통 규칙 체크리스트</a:t>
            </a:r>
            <a:endParaRPr lang="en-US" sz="3600" dirty="0"/>
          </a:p>
        </p:txBody>
      </p:sp>
      <p:sp>
        <p:nvSpPr>
          <p:cNvPr id="29" name="Text 20"/>
          <p:cNvSpPr txBox="1"/>
          <p:nvPr/>
        </p:nvSpPr>
        <p:spPr>
          <a:xfrm>
            <a:off x="761695" y="1399946"/>
            <a:ext cx="6134710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dirty="0">
                <a:solidFill>
                  <a:srgbClr val="D1D5D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제출 전, 아래 6가지 필수 항목을 확인하여 표절 리스크를 사전에 차단하세요.</a:t>
            </a:r>
            <a:endParaRPr lang="en-US" sz="1500" dirty="0"/>
          </a:p>
        </p:txBody>
      </p:sp>
      <p:sp>
        <p:nvSpPr>
          <p:cNvPr id="30" name="Text 21"/>
          <p:cNvSpPr txBox="1"/>
          <p:nvPr/>
        </p:nvSpPr>
        <p:spPr>
          <a:xfrm>
            <a:off x="1457554" y="1957625"/>
            <a:ext cx="2122322" cy="2478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본문 인용 ↔ 참고문헌 일치</a:t>
            </a:r>
            <a:endParaRPr lang="en-US" sz="1300" dirty="0"/>
          </a:p>
        </p:txBody>
      </p:sp>
      <p:sp>
        <p:nvSpPr>
          <p:cNvPr id="31" name="Text 22"/>
          <p:cNvSpPr txBox="1"/>
          <p:nvPr/>
        </p:nvSpPr>
        <p:spPr>
          <a:xfrm>
            <a:off x="1457554" y="2249319"/>
            <a:ext cx="4271162" cy="4197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본문 내 인용된 자료와 참고문헌 목록이 1:1로 정확히 매칭되는지 확인했나요?</a:t>
            </a:r>
            <a:endParaRPr lang="en-US" sz="1100" dirty="0"/>
          </a:p>
        </p:txBody>
      </p:sp>
      <p:sp>
        <p:nvSpPr>
          <p:cNvPr id="32" name="Text 23"/>
          <p:cNvSpPr txBox="1"/>
          <p:nvPr/>
        </p:nvSpPr>
        <p:spPr>
          <a:xfrm>
            <a:off x="6905549" y="1957625"/>
            <a:ext cx="1570025" cy="2478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필수 서지 정보 포함</a:t>
            </a:r>
            <a:endParaRPr lang="en-US" sz="1300" dirty="0"/>
          </a:p>
        </p:txBody>
      </p:sp>
      <p:sp>
        <p:nvSpPr>
          <p:cNvPr id="33" name="Text 24"/>
          <p:cNvSpPr txBox="1"/>
          <p:nvPr/>
        </p:nvSpPr>
        <p:spPr>
          <a:xfrm>
            <a:off x="6905549" y="2249319"/>
            <a:ext cx="4271162" cy="4197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저자, 연도, 제목, 출판사 등 학과 지정 스타일의 필수 정보가 모두 기재되었나요?</a:t>
            </a:r>
            <a:endParaRPr lang="en-US" sz="1100" dirty="0"/>
          </a:p>
        </p:txBody>
      </p:sp>
      <p:sp>
        <p:nvSpPr>
          <p:cNvPr id="34" name="Text 25"/>
          <p:cNvSpPr txBox="1"/>
          <p:nvPr/>
        </p:nvSpPr>
        <p:spPr>
          <a:xfrm>
            <a:off x="1457554" y="3233363"/>
            <a:ext cx="1503274" cy="2478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DOI / URL 유효성</a:t>
            </a:r>
            <a:endParaRPr lang="en-US" sz="1300" dirty="0"/>
          </a:p>
        </p:txBody>
      </p:sp>
      <p:sp>
        <p:nvSpPr>
          <p:cNvPr id="35" name="Text 26"/>
          <p:cNvSpPr txBox="1"/>
          <p:nvPr/>
        </p:nvSpPr>
        <p:spPr>
          <a:xfrm>
            <a:off x="1457554" y="3525057"/>
            <a:ext cx="4357116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온라인 자료의 DOI 또는 URL이 정확하며 유효한 링크인지 점검했나요?</a:t>
            </a:r>
            <a:endParaRPr lang="en-US" sz="1100" dirty="0"/>
          </a:p>
        </p:txBody>
      </p:sp>
      <p:sp>
        <p:nvSpPr>
          <p:cNvPr id="36" name="Text 27"/>
          <p:cNvSpPr txBox="1"/>
          <p:nvPr/>
        </p:nvSpPr>
        <p:spPr>
          <a:xfrm>
            <a:off x="6905549" y="3233363"/>
            <a:ext cx="1522476" cy="2478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인용 스타일 일관성</a:t>
            </a:r>
            <a:endParaRPr lang="en-US" sz="1300" dirty="0"/>
          </a:p>
        </p:txBody>
      </p:sp>
      <p:sp>
        <p:nvSpPr>
          <p:cNvPr id="37" name="Text 28"/>
          <p:cNvSpPr txBox="1"/>
          <p:nvPr/>
        </p:nvSpPr>
        <p:spPr>
          <a:xfrm>
            <a:off x="6905549" y="3525057"/>
            <a:ext cx="4281221" cy="4197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구두점, 이탤릭체, 괄호 등 지정 양식의 규칙이 문서 전체에 일관적으로 적용되었나요?</a:t>
            </a:r>
            <a:endParaRPr lang="en-US" sz="1100" dirty="0"/>
          </a:p>
        </p:txBody>
      </p:sp>
      <p:sp>
        <p:nvSpPr>
          <p:cNvPr id="38" name="Text 29"/>
          <p:cNvSpPr txBox="1"/>
          <p:nvPr/>
        </p:nvSpPr>
        <p:spPr>
          <a:xfrm>
            <a:off x="1457554" y="4529451"/>
            <a:ext cx="1198778" cy="2478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직접 인용 표기</a:t>
            </a:r>
            <a:endParaRPr lang="en-US" sz="1300" dirty="0"/>
          </a:p>
        </p:txBody>
      </p:sp>
      <p:sp>
        <p:nvSpPr>
          <p:cNvPr id="39" name="Text 30"/>
          <p:cNvSpPr txBox="1"/>
          <p:nvPr/>
        </p:nvSpPr>
        <p:spPr>
          <a:xfrm>
            <a:off x="1457553" y="4821145"/>
            <a:ext cx="4458401" cy="4197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짧은 인용은 따옴표("")로, 긴 인용은 블록(들여쓰기)으로 명확히 구분했나요?</a:t>
            </a:r>
            <a:endParaRPr lang="en-US" sz="1100" dirty="0"/>
          </a:p>
        </p:txBody>
      </p:sp>
      <p:sp>
        <p:nvSpPr>
          <p:cNvPr id="40" name="Text 31"/>
          <p:cNvSpPr txBox="1"/>
          <p:nvPr/>
        </p:nvSpPr>
        <p:spPr>
          <a:xfrm>
            <a:off x="6905549" y="4529451"/>
            <a:ext cx="1360627" cy="2478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재인용 표기 준수</a:t>
            </a:r>
            <a:endParaRPr lang="en-US" sz="1300" dirty="0"/>
          </a:p>
        </p:txBody>
      </p:sp>
      <p:sp>
        <p:nvSpPr>
          <p:cNvPr id="41" name="Text 32"/>
          <p:cNvSpPr txBox="1"/>
          <p:nvPr/>
        </p:nvSpPr>
        <p:spPr>
          <a:xfrm>
            <a:off x="6905549" y="4821145"/>
            <a:ext cx="4458529" cy="4197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불가피한 재인용 시, 원전과 재인용 출처를 양식 규칙에 맞게 모두 표기했나요?</a:t>
            </a:r>
            <a:endParaRPr lang="en-US" sz="1100" dirty="0"/>
          </a:p>
        </p:txBody>
      </p:sp>
      <p:sp>
        <p:nvSpPr>
          <p:cNvPr id="42" name="Text 33"/>
          <p:cNvSpPr txBox="1"/>
          <p:nvPr/>
        </p:nvSpPr>
        <p:spPr>
          <a:xfrm>
            <a:off x="1657807" y="5757449"/>
            <a:ext cx="2895905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표절 예방의 핵심은 '성실함'입니다</a:t>
            </a:r>
            <a:endParaRPr lang="en-US" sz="1500" dirty="0"/>
          </a:p>
        </p:txBody>
      </p:sp>
      <p:sp>
        <p:nvSpPr>
          <p:cNvPr id="43" name="Text 34"/>
          <p:cNvSpPr txBox="1"/>
          <p:nvPr/>
        </p:nvSpPr>
        <p:spPr>
          <a:xfrm>
            <a:off x="9664294" y="5905582"/>
            <a:ext cx="1436522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CHECK COMPLETE</a:t>
            </a:r>
            <a:endParaRPr lang="en-US" sz="1000" dirty="0"/>
          </a:p>
        </p:txBody>
      </p:sp>
      <p:sp>
        <p:nvSpPr>
          <p:cNvPr id="44" name="Text 35"/>
          <p:cNvSpPr txBox="1"/>
          <p:nvPr/>
        </p:nvSpPr>
        <p:spPr>
          <a:xfrm>
            <a:off x="1657807" y="6014395"/>
            <a:ext cx="5480914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FFFFFF">
                    <a:alpha val="90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사소한 실수라도 반복되면 표절로 오해받을 수 있습니다. 마지막까지 꼼꼼하게 점검하세요.</a:t>
            </a:r>
            <a:endParaRPr lang="en-US" sz="1100" dirty="0"/>
          </a:p>
        </p:txBody>
      </p:sp>
      <p:sp>
        <p:nvSpPr>
          <p:cNvPr id="45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이애본(드림아이티비즈) · useful-ai.dreamitbiz.com · 교육 목적 비영리 이용 · 출처 표기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CACF01-8D6C-C8E7-B020-8802771624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55F04CBE-8EA4-C026-782B-D53B3EA992DE}"/>
              </a:ext>
            </a:extLst>
          </p:cNvPr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4" name="Image 0" descr="preencoded.png">
            <a:extLst>
              <a:ext uri="{FF2B5EF4-FFF2-40B4-BE49-F238E27FC236}">
                <a16:creationId xmlns:a16="http://schemas.microsoft.com/office/drawing/2014/main" id="{4EEEDAFA-0049-FEF1-A7BF-2972242A5321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-3" r="-3"/>
          <a:stretch/>
        </p:blipFill>
        <p:spPr>
          <a:xfrm>
            <a:off x="6096305" y="0"/>
            <a:ext cx="6096305" cy="6858000"/>
          </a:xfrm>
          <a:prstGeom prst="rect">
            <a:avLst/>
          </a:prstGeom>
        </p:spPr>
      </p:pic>
      <p:sp>
        <p:nvSpPr>
          <p:cNvPr id="5" name="Shape 2">
            <a:extLst>
              <a:ext uri="{FF2B5EF4-FFF2-40B4-BE49-F238E27FC236}">
                <a16:creationId xmlns:a16="http://schemas.microsoft.com/office/drawing/2014/main" id="{941B6172-3774-76F8-3856-14A05871DF0C}"/>
              </a:ext>
            </a:extLst>
          </p:cNvPr>
          <p:cNvSpPr/>
          <p:nvPr/>
        </p:nvSpPr>
        <p:spPr>
          <a:xfrm>
            <a:off x="761695" y="1098194"/>
            <a:ext cx="761695" cy="57607"/>
          </a:xfrm>
          <a:prstGeom prst="rect">
            <a:avLst/>
          </a:prstGeom>
          <a:solidFill>
            <a:srgbClr val="38BDF8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4" name="Text 8">
            <a:extLst>
              <a:ext uri="{FF2B5EF4-FFF2-40B4-BE49-F238E27FC236}">
                <a16:creationId xmlns:a16="http://schemas.microsoft.com/office/drawing/2014/main" id="{624B5387-1103-6130-F201-BA93CFF80307}"/>
              </a:ext>
            </a:extLst>
          </p:cNvPr>
          <p:cNvSpPr txBox="1"/>
          <p:nvPr/>
        </p:nvSpPr>
        <p:spPr>
          <a:xfrm>
            <a:off x="761695" y="1459382"/>
            <a:ext cx="8458200" cy="10003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54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대학생을 위한 인용·출처관리</a:t>
            </a:r>
            <a:endParaRPr lang="en-US" sz="5400" dirty="0"/>
          </a:p>
        </p:txBody>
      </p:sp>
      <p:sp>
        <p:nvSpPr>
          <p:cNvPr id="15" name="Text 9">
            <a:extLst>
              <a:ext uri="{FF2B5EF4-FFF2-40B4-BE49-F238E27FC236}">
                <a16:creationId xmlns:a16="http://schemas.microsoft.com/office/drawing/2014/main" id="{8434E6D2-9920-EBC9-20F3-8F6254A0CBD4}"/>
              </a:ext>
            </a:extLst>
          </p:cNvPr>
          <p:cNvSpPr txBox="1"/>
          <p:nvPr/>
        </p:nvSpPr>
        <p:spPr>
          <a:xfrm>
            <a:off x="761695" y="2602382"/>
            <a:ext cx="8071912" cy="8193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200" dirty="0">
                <a:solidFill>
                  <a:srgbClr val="D1D5D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표절 예방과 설득력 있는 리포트를 위한 실전 가이드 및 도구 활용법</a:t>
            </a:r>
            <a:endParaRPr lang="en-US" sz="2200" dirty="0"/>
          </a:p>
        </p:txBody>
      </p:sp>
      <p:grpSp>
        <p:nvGrpSpPr>
          <p:cNvPr id="19" name="그룹 18">
            <a:extLst>
              <a:ext uri="{FF2B5EF4-FFF2-40B4-BE49-F238E27FC236}">
                <a16:creationId xmlns:a16="http://schemas.microsoft.com/office/drawing/2014/main" id="{3E03FF7F-6487-B5F5-B905-86F13F760696}"/>
              </a:ext>
            </a:extLst>
          </p:cNvPr>
          <p:cNvGrpSpPr/>
          <p:nvPr/>
        </p:nvGrpSpPr>
        <p:grpSpPr>
          <a:xfrm>
            <a:off x="6763359" y="4601302"/>
            <a:ext cx="4762195" cy="1666951"/>
            <a:chOff x="761695" y="4093769"/>
            <a:chExt cx="4762195" cy="1666951"/>
          </a:xfrm>
        </p:grpSpPr>
        <p:sp>
          <p:nvSpPr>
            <p:cNvPr id="6" name="Shape 3">
              <a:extLst>
                <a:ext uri="{FF2B5EF4-FFF2-40B4-BE49-F238E27FC236}">
                  <a16:creationId xmlns:a16="http://schemas.microsoft.com/office/drawing/2014/main" id="{110118E3-B5CA-2FDF-32DC-8043DBDFBA52}"/>
                </a:ext>
              </a:extLst>
            </p:cNvPr>
            <p:cNvSpPr/>
            <p:nvPr/>
          </p:nvSpPr>
          <p:spPr>
            <a:xfrm>
              <a:off x="761695" y="4093769"/>
              <a:ext cx="4762195" cy="1666951"/>
            </a:xfrm>
            <a:prstGeom prst="roundRect">
              <a:avLst>
                <a:gd name="adj" fmla="val 3761"/>
              </a:avLst>
            </a:prstGeom>
            <a:solidFill>
              <a:srgbClr val="FFFFFF">
                <a:alpha val="5000"/>
              </a:srgbClr>
            </a:solidFill>
            <a:ln w="12700">
              <a:solidFill>
                <a:srgbClr val="FFFFFF">
                  <a:alpha val="10000"/>
                </a:srgbClr>
              </a:solidFill>
              <a:prstDash val="solid"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9" name="Shape 5">
              <a:extLst>
                <a:ext uri="{FF2B5EF4-FFF2-40B4-BE49-F238E27FC236}">
                  <a16:creationId xmlns:a16="http://schemas.microsoft.com/office/drawing/2014/main" id="{937E00E1-FE8B-160A-7830-83C9911A4003}"/>
                </a:ext>
              </a:extLst>
            </p:cNvPr>
            <p:cNvSpPr/>
            <p:nvPr/>
          </p:nvSpPr>
          <p:spPr>
            <a:xfrm>
              <a:off x="1076249" y="4331513"/>
              <a:ext cx="381305" cy="381305"/>
            </a:xfrm>
            <a:prstGeom prst="ellipse">
              <a:avLst/>
            </a:prstGeom>
            <a:solidFill>
              <a:srgbClr val="38BDF8">
                <a:alpha val="10000"/>
              </a:srgbClr>
            </a:solidFill>
            <a:ln/>
          </p:spPr>
          <p:txBody>
            <a:bodyPr/>
            <a:lstStyle/>
            <a:p>
              <a:endParaRPr lang="ko-KR" altLang="en-US"/>
            </a:p>
          </p:txBody>
        </p:sp>
        <p:pic>
          <p:nvPicPr>
            <p:cNvPr id="10" name="Image 2" descr="preencoded.png">
              <a:extLst>
                <a:ext uri="{FF2B5EF4-FFF2-40B4-BE49-F238E27FC236}">
                  <a16:creationId xmlns:a16="http://schemas.microsoft.com/office/drawing/2014/main" id="{9947BFAF-165C-E61A-4766-55B657CDEF76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rcRect l="-1064" r="-1064"/>
            <a:stretch/>
          </p:blipFill>
          <p:spPr>
            <a:xfrm>
              <a:off x="1156717" y="4436669"/>
              <a:ext cx="219456" cy="171907"/>
            </a:xfrm>
            <a:prstGeom prst="rect">
              <a:avLst/>
            </a:prstGeom>
          </p:spPr>
        </p:pic>
        <p:sp>
          <p:nvSpPr>
            <p:cNvPr id="11" name="Shape 6">
              <a:extLst>
                <a:ext uri="{FF2B5EF4-FFF2-40B4-BE49-F238E27FC236}">
                  <a16:creationId xmlns:a16="http://schemas.microsoft.com/office/drawing/2014/main" id="{E94E3CF8-30C2-2A26-5635-C912853EBF2E}"/>
                </a:ext>
              </a:extLst>
            </p:cNvPr>
            <p:cNvSpPr/>
            <p:nvPr/>
          </p:nvSpPr>
          <p:spPr>
            <a:xfrm>
              <a:off x="1076249" y="4978908"/>
              <a:ext cx="4134002" cy="9144"/>
            </a:xfrm>
            <a:prstGeom prst="rect">
              <a:avLst/>
            </a:prstGeom>
            <a:solidFill>
              <a:srgbClr val="374151"/>
            </a:solidFill>
            <a:ln/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2" name="Shape 7">
              <a:extLst>
                <a:ext uri="{FF2B5EF4-FFF2-40B4-BE49-F238E27FC236}">
                  <a16:creationId xmlns:a16="http://schemas.microsoft.com/office/drawing/2014/main" id="{02BEA2E4-3857-E5E2-6D42-7D31BA71B4C4}"/>
                </a:ext>
              </a:extLst>
            </p:cNvPr>
            <p:cNvSpPr/>
            <p:nvPr/>
          </p:nvSpPr>
          <p:spPr>
            <a:xfrm>
              <a:off x="1076249" y="5140757"/>
              <a:ext cx="381305" cy="381305"/>
            </a:xfrm>
            <a:prstGeom prst="ellipse">
              <a:avLst/>
            </a:prstGeom>
            <a:solidFill>
              <a:srgbClr val="38BDF8">
                <a:alpha val="10000"/>
              </a:srgbClr>
            </a:solidFill>
            <a:ln/>
          </p:spPr>
          <p:txBody>
            <a:bodyPr/>
            <a:lstStyle/>
            <a:p>
              <a:endParaRPr lang="ko-KR" altLang="en-US"/>
            </a:p>
          </p:txBody>
        </p:sp>
        <p:pic>
          <p:nvPicPr>
            <p:cNvPr id="13" name="Image 3" descr="preencoded.png">
              <a:extLst>
                <a:ext uri="{FF2B5EF4-FFF2-40B4-BE49-F238E27FC236}">
                  <a16:creationId xmlns:a16="http://schemas.microsoft.com/office/drawing/2014/main" id="{48577B06-D0BC-E206-6F9D-0C5447395910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rcRect/>
            <a:stretch/>
          </p:blipFill>
          <p:spPr>
            <a:xfrm>
              <a:off x="1181405" y="5245913"/>
              <a:ext cx="171907" cy="171907"/>
            </a:xfrm>
            <a:prstGeom prst="rect">
              <a:avLst/>
            </a:prstGeom>
          </p:spPr>
        </p:pic>
        <p:sp>
          <p:nvSpPr>
            <p:cNvPr id="17" name="Text 11">
              <a:extLst>
                <a:ext uri="{FF2B5EF4-FFF2-40B4-BE49-F238E27FC236}">
                  <a16:creationId xmlns:a16="http://schemas.microsoft.com/office/drawing/2014/main" id="{0E76CC04-6B7A-11F0-5FA3-C47420C882DF}"/>
                </a:ext>
              </a:extLst>
            </p:cNvPr>
            <p:cNvSpPr txBox="1"/>
            <p:nvPr/>
          </p:nvSpPr>
          <p:spPr>
            <a:xfrm>
              <a:off x="1609802" y="4340657"/>
              <a:ext cx="3638397" cy="366675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>
                <a:lnSpc>
                  <a:spcPct val="150000"/>
                </a:lnSpc>
              </a:pPr>
              <a:r>
                <a:rPr lang="ko-KR" altLang="en-US" sz="2000" b="1" dirty="0">
                  <a:solidFill>
                    <a:srgbClr val="FFFFFF"/>
                  </a:solidFill>
                  <a:latin typeface="Noto Sans KR" pitchFamily="34" charset="0"/>
                  <a:ea typeface="Noto Sans KR" pitchFamily="34" charset="-122"/>
                </a:rPr>
                <a:t>이 애 본</a:t>
              </a:r>
              <a:br>
                <a:rPr lang="en-US" altLang="ko-KR" sz="1500" b="1" dirty="0">
                  <a:solidFill>
                    <a:srgbClr val="FFFFFF"/>
                  </a:solidFill>
                  <a:latin typeface="Noto Sans KR" pitchFamily="34" charset="0"/>
                  <a:ea typeface="Noto Sans KR" pitchFamily="34" charset="-122"/>
                </a:rPr>
              </a:br>
              <a:r>
                <a:rPr lang="ko-KR" altLang="en-US" sz="1500" b="1" dirty="0">
                  <a:solidFill>
                    <a:srgbClr val="FFFFFF"/>
                  </a:solidFill>
                  <a:latin typeface="Noto Sans KR" pitchFamily="34" charset="0"/>
                  <a:ea typeface="Noto Sans KR" pitchFamily="34" charset="-122"/>
                </a:rPr>
                <a:t>한신대학교 </a:t>
              </a:r>
              <a:r>
                <a:rPr lang="en-US" altLang="ko-KR" sz="1500" b="1" dirty="0">
                  <a:solidFill>
                    <a:srgbClr val="FFFFFF"/>
                  </a:solidFill>
                  <a:latin typeface="Noto Sans KR" pitchFamily="34" charset="0"/>
                  <a:ea typeface="Noto Sans KR" pitchFamily="34" charset="-122"/>
                </a:rPr>
                <a:t>AI.SW</a:t>
              </a:r>
              <a:r>
                <a:rPr lang="ko-KR" altLang="en-US" sz="1500" b="1" dirty="0">
                  <a:solidFill>
                    <a:srgbClr val="FFFFFF"/>
                  </a:solidFill>
                  <a:latin typeface="Noto Sans KR" pitchFamily="34" charset="0"/>
                  <a:ea typeface="Noto Sans KR" pitchFamily="34" charset="-122"/>
                </a:rPr>
                <a:t>대학 </a:t>
              </a:r>
              <a:r>
                <a:rPr lang="en-US" altLang="ko-KR" sz="1500" b="1" dirty="0">
                  <a:solidFill>
                    <a:srgbClr val="FFFFFF"/>
                  </a:solidFill>
                  <a:latin typeface="Noto Sans KR" pitchFamily="34" charset="0"/>
                  <a:ea typeface="Noto Sans KR" pitchFamily="34" charset="-122"/>
                  <a:hlinkClick r:id="rId6"/>
                </a:rPr>
                <a:t>aebon@hs.ac.kr</a:t>
              </a:r>
              <a:r>
                <a:rPr lang="ko-KR" altLang="en-US" sz="1500" b="1" dirty="0">
                  <a:solidFill>
                    <a:srgbClr val="FFFFFF"/>
                  </a:solidFill>
                  <a:latin typeface="Noto Sans KR" pitchFamily="34" charset="0"/>
                  <a:ea typeface="Noto Sans KR" pitchFamily="34" charset="-122"/>
                </a:rPr>
                <a:t> </a:t>
              </a:r>
              <a:endParaRPr lang="en-US" altLang="ko-KR" sz="1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</a:endParaRPr>
            </a:p>
          </p:txBody>
        </p:sp>
        <p:sp>
          <p:nvSpPr>
            <p:cNvPr id="18" name="Text 12">
              <a:extLst>
                <a:ext uri="{FF2B5EF4-FFF2-40B4-BE49-F238E27FC236}">
                  <a16:creationId xmlns:a16="http://schemas.microsoft.com/office/drawing/2014/main" id="{8103BA08-9CF3-13CE-C63D-B5CBA1BCC7F8}"/>
                </a:ext>
              </a:extLst>
            </p:cNvPr>
            <p:cNvSpPr txBox="1"/>
            <p:nvPr/>
          </p:nvSpPr>
          <p:spPr>
            <a:xfrm>
              <a:off x="1571854" y="5188306"/>
              <a:ext cx="1781251" cy="277063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500" b="1" dirty="0">
                  <a:solidFill>
                    <a:srgbClr val="FFFFFF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주제: 인용·출처관리</a:t>
              </a:r>
              <a:endParaRPr lang="en-US" sz="1500" dirty="0"/>
            </a:p>
          </p:txBody>
        </p:sp>
      </p:grpSp>
      <p:sp>
        <p:nvSpPr>
          <p:cNvPr id="20" name="Text 9">
            <a:extLst>
              <a:ext uri="{FF2B5EF4-FFF2-40B4-BE49-F238E27FC236}">
                <a16:creationId xmlns:a16="http://schemas.microsoft.com/office/drawing/2014/main" id="{2A30252B-8CCB-94ED-D8C0-87019171C334}"/>
              </a:ext>
            </a:extLst>
          </p:cNvPr>
          <p:cNvSpPr txBox="1"/>
          <p:nvPr/>
        </p:nvSpPr>
        <p:spPr>
          <a:xfrm>
            <a:off x="628676" y="5667156"/>
            <a:ext cx="4417109" cy="48447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ko-KR" altLang="en-US" b="1" dirty="0">
                <a:solidFill>
                  <a:srgbClr val="D1D5D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생성형 </a:t>
            </a:r>
            <a:r>
              <a:rPr lang="en-US" altLang="ko-KR" b="1" dirty="0">
                <a:solidFill>
                  <a:srgbClr val="D1D5D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AI</a:t>
            </a:r>
            <a:r>
              <a:rPr lang="ko-KR" altLang="en-US" b="1" dirty="0">
                <a:solidFill>
                  <a:srgbClr val="D1D5D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와 창의력</a:t>
            </a:r>
            <a:r>
              <a:rPr lang="en-US" altLang="ko-KR" b="1" dirty="0">
                <a:solidFill>
                  <a:srgbClr val="D1D5D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, </a:t>
            </a:r>
            <a:r>
              <a:rPr lang="ko-KR" altLang="en-US" b="1" dirty="0">
                <a:solidFill>
                  <a:srgbClr val="D1D5D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복합문제능력 향상 과정</a:t>
            </a:r>
            <a:endParaRPr lang="en-US" altLang="ko-KR" b="1" dirty="0">
              <a:solidFill>
                <a:srgbClr val="D1D5DB"/>
              </a:solidFill>
              <a:latin typeface="Noto Sans KR" pitchFamily="34" charset="0"/>
              <a:ea typeface="Noto Sans KR" pitchFamily="34" charset="-122"/>
              <a:cs typeface="Noto Sans KR" pitchFamily="34" charset="-120"/>
            </a:endParaRPr>
          </a:p>
          <a:p>
            <a:r>
              <a:rPr lang="ko-KR" altLang="en-US" b="1" dirty="0">
                <a:solidFill>
                  <a:srgbClr val="D1D5D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  <a:r>
              <a:rPr lang="en-US" altLang="ko-KR" b="1" dirty="0">
                <a:solidFill>
                  <a:srgbClr val="D1D5D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- https://padlet.com/aebon/create26</a:t>
            </a:r>
            <a:endParaRPr lang="en-US" b="1" dirty="0"/>
          </a:p>
        </p:txBody>
      </p:sp>
      <p:sp>
        <p:nvSpPr>
          <p:cNvPr id="21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이애본(드림아이티비즈) · useful-ai.dreamitbiz.com · 교육 목적 비영리 이용 · 출처 표기</a:t>
            </a:r>
          </a:p>
        </p:txBody>
      </p:sp>
    </p:spTree>
    <p:extLst>
      <p:ext uri="{BB962C8B-B14F-4D97-AF65-F5344CB8AC3E}">
        <p14:creationId xmlns:p14="http://schemas.microsoft.com/office/powerpoint/2010/main" val="185617220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" name="Shape 2"/>
          <p:cNvSpPr/>
          <p:nvPr/>
        </p:nvSpPr>
        <p:spPr>
          <a:xfrm>
            <a:off x="8382305" y="-1904695"/>
            <a:ext cx="5715000" cy="5715000"/>
          </a:xfrm>
          <a:prstGeom prst="ellipse">
            <a:avLst/>
          </a:prstGeom>
          <a:solidFill>
            <a:srgbClr val="38BDF8">
              <a:alpha val="3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" name="Shape 3"/>
          <p:cNvSpPr/>
          <p:nvPr/>
        </p:nvSpPr>
        <p:spPr>
          <a:xfrm>
            <a:off x="761695" y="476402"/>
            <a:ext cx="571500" cy="57607"/>
          </a:xfrm>
          <a:prstGeom prst="roundRect">
            <a:avLst>
              <a:gd name="adj" fmla="val 793654"/>
            </a:avLst>
          </a:prstGeom>
          <a:solidFill>
            <a:srgbClr val="38BDF8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6" name="Shape 4"/>
          <p:cNvSpPr/>
          <p:nvPr/>
        </p:nvSpPr>
        <p:spPr>
          <a:xfrm>
            <a:off x="761695" y="1791417"/>
            <a:ext cx="5229454" cy="1114654"/>
          </a:xfrm>
          <a:prstGeom prst="roundRect">
            <a:avLst>
              <a:gd name="adj" fmla="val 8414"/>
            </a:avLst>
          </a:prstGeom>
          <a:solidFill>
            <a:srgbClr val="1E293B">
              <a:alpha val="50000"/>
            </a:srgbClr>
          </a:solidFill>
          <a:ln w="12700">
            <a:solidFill>
              <a:srgbClr val="FFFFFF">
                <a:alpha val="8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" name="Shape 5"/>
          <p:cNvSpPr/>
          <p:nvPr/>
        </p:nvSpPr>
        <p:spPr>
          <a:xfrm>
            <a:off x="981151" y="2009958"/>
            <a:ext cx="286207" cy="286207"/>
          </a:xfrm>
          <a:prstGeom prst="roundRect">
            <a:avLst>
              <a:gd name="adj" fmla="val 85197"/>
            </a:avLst>
          </a:prstGeom>
          <a:solidFill>
            <a:srgbClr val="38BDF8">
              <a:alpha val="15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8" name="Image 0" descr="preencoded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1090879" y="2086768"/>
            <a:ext cx="66751" cy="133502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6200546" y="1791417"/>
            <a:ext cx="5229454" cy="1114654"/>
          </a:xfrm>
          <a:prstGeom prst="roundRect">
            <a:avLst>
              <a:gd name="adj" fmla="val 8414"/>
            </a:avLst>
          </a:prstGeom>
          <a:solidFill>
            <a:srgbClr val="1E293B">
              <a:alpha val="50000"/>
            </a:srgbClr>
          </a:solidFill>
          <a:ln w="12700">
            <a:solidFill>
              <a:srgbClr val="FFFFFF">
                <a:alpha val="8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0" name="Shape 7"/>
          <p:cNvSpPr/>
          <p:nvPr/>
        </p:nvSpPr>
        <p:spPr>
          <a:xfrm>
            <a:off x="6420002" y="2009958"/>
            <a:ext cx="286207" cy="286207"/>
          </a:xfrm>
          <a:prstGeom prst="roundRect">
            <a:avLst>
              <a:gd name="adj" fmla="val 85197"/>
            </a:avLst>
          </a:prstGeom>
          <a:solidFill>
            <a:srgbClr val="38BDF8">
              <a:alpha val="15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11" name="Image 1" descr="preencoded.png"/>
          <p:cNvPicPr>
            <a:picLocks noChangeAspect="1"/>
          </p:cNvPicPr>
          <p:nvPr/>
        </p:nvPicPr>
        <p:blipFill>
          <a:blip r:embed="rId4"/>
          <a:srcRect l="-1507" r="-1507"/>
          <a:stretch/>
        </p:blipFill>
        <p:spPr>
          <a:xfrm>
            <a:off x="6519672" y="2086768"/>
            <a:ext cx="85954" cy="133502"/>
          </a:xfrm>
          <a:prstGeom prst="rect">
            <a:avLst/>
          </a:prstGeom>
        </p:spPr>
      </p:pic>
      <p:sp>
        <p:nvSpPr>
          <p:cNvPr id="12" name="Shape 8"/>
          <p:cNvSpPr/>
          <p:nvPr/>
        </p:nvSpPr>
        <p:spPr>
          <a:xfrm>
            <a:off x="761695" y="3112725"/>
            <a:ext cx="5229454" cy="1114654"/>
          </a:xfrm>
          <a:prstGeom prst="roundRect">
            <a:avLst>
              <a:gd name="adj" fmla="val 8414"/>
            </a:avLst>
          </a:prstGeom>
          <a:solidFill>
            <a:srgbClr val="1E293B">
              <a:alpha val="50000"/>
            </a:srgbClr>
          </a:solidFill>
          <a:ln w="12700">
            <a:solidFill>
              <a:srgbClr val="FFFFFF">
                <a:alpha val="8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3" name="Shape 9"/>
          <p:cNvSpPr/>
          <p:nvPr/>
        </p:nvSpPr>
        <p:spPr>
          <a:xfrm>
            <a:off x="981151" y="3331266"/>
            <a:ext cx="286207" cy="286207"/>
          </a:xfrm>
          <a:prstGeom prst="roundRect">
            <a:avLst>
              <a:gd name="adj" fmla="val 85197"/>
            </a:avLst>
          </a:prstGeom>
          <a:solidFill>
            <a:srgbClr val="38BDF8">
              <a:alpha val="15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14" name="Image 2" descr="preencoded.png"/>
          <p:cNvPicPr>
            <a:picLocks noChangeAspect="1"/>
          </p:cNvPicPr>
          <p:nvPr/>
        </p:nvPicPr>
        <p:blipFill>
          <a:blip r:embed="rId5"/>
          <a:srcRect l="-1507" r="-1507"/>
          <a:stretch/>
        </p:blipFill>
        <p:spPr>
          <a:xfrm>
            <a:off x="1080821" y="3408076"/>
            <a:ext cx="85954" cy="133502"/>
          </a:xfrm>
          <a:prstGeom prst="rect">
            <a:avLst/>
          </a:prstGeom>
        </p:spPr>
      </p:pic>
      <p:sp>
        <p:nvSpPr>
          <p:cNvPr id="15" name="Shape 10"/>
          <p:cNvSpPr/>
          <p:nvPr/>
        </p:nvSpPr>
        <p:spPr>
          <a:xfrm>
            <a:off x="6200546" y="3112725"/>
            <a:ext cx="5229454" cy="1114654"/>
          </a:xfrm>
          <a:prstGeom prst="roundRect">
            <a:avLst>
              <a:gd name="adj" fmla="val 8414"/>
            </a:avLst>
          </a:prstGeom>
          <a:solidFill>
            <a:srgbClr val="1E293B">
              <a:alpha val="50000"/>
            </a:srgbClr>
          </a:solidFill>
          <a:ln w="12700">
            <a:solidFill>
              <a:srgbClr val="FFFFFF">
                <a:alpha val="8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6" name="Shape 11"/>
          <p:cNvSpPr/>
          <p:nvPr/>
        </p:nvSpPr>
        <p:spPr>
          <a:xfrm>
            <a:off x="6420002" y="3331266"/>
            <a:ext cx="286207" cy="286207"/>
          </a:xfrm>
          <a:prstGeom prst="roundRect">
            <a:avLst>
              <a:gd name="adj" fmla="val 85197"/>
            </a:avLst>
          </a:prstGeom>
          <a:solidFill>
            <a:srgbClr val="38BDF8">
              <a:alpha val="15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17" name="Image 3" descr="preencoded.png"/>
          <p:cNvPicPr>
            <a:picLocks noChangeAspect="1"/>
          </p:cNvPicPr>
          <p:nvPr/>
        </p:nvPicPr>
        <p:blipFill>
          <a:blip r:embed="rId6"/>
          <a:srcRect l="-2512" r="-2512"/>
          <a:stretch/>
        </p:blipFill>
        <p:spPr>
          <a:xfrm>
            <a:off x="6510528" y="3408076"/>
            <a:ext cx="105156" cy="133502"/>
          </a:xfrm>
          <a:prstGeom prst="rect">
            <a:avLst/>
          </a:prstGeom>
        </p:spPr>
      </p:pic>
      <p:sp>
        <p:nvSpPr>
          <p:cNvPr id="18" name="Shape 12"/>
          <p:cNvSpPr/>
          <p:nvPr/>
        </p:nvSpPr>
        <p:spPr>
          <a:xfrm>
            <a:off x="761695" y="4434033"/>
            <a:ext cx="5229454" cy="1114654"/>
          </a:xfrm>
          <a:prstGeom prst="roundRect">
            <a:avLst>
              <a:gd name="adj" fmla="val 8414"/>
            </a:avLst>
          </a:prstGeom>
          <a:solidFill>
            <a:srgbClr val="1E293B">
              <a:alpha val="50000"/>
            </a:srgbClr>
          </a:solidFill>
          <a:ln w="12700">
            <a:solidFill>
              <a:srgbClr val="FFFFFF">
                <a:alpha val="8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9" name="Shape 13"/>
          <p:cNvSpPr/>
          <p:nvPr/>
        </p:nvSpPr>
        <p:spPr>
          <a:xfrm>
            <a:off x="981151" y="4652574"/>
            <a:ext cx="286207" cy="286207"/>
          </a:xfrm>
          <a:prstGeom prst="roundRect">
            <a:avLst>
              <a:gd name="adj" fmla="val 85197"/>
            </a:avLst>
          </a:prstGeom>
          <a:solidFill>
            <a:srgbClr val="38BDF8">
              <a:alpha val="15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20" name="Image 4" descr="preencoded.png"/>
          <p:cNvPicPr>
            <a:picLocks noChangeAspect="1"/>
          </p:cNvPicPr>
          <p:nvPr/>
        </p:nvPicPr>
        <p:blipFill>
          <a:blip r:embed="rId7"/>
          <a:srcRect l="-1507" r="-1507"/>
          <a:stretch/>
        </p:blipFill>
        <p:spPr>
          <a:xfrm>
            <a:off x="1080821" y="4729384"/>
            <a:ext cx="85954" cy="133502"/>
          </a:xfrm>
          <a:prstGeom prst="rect">
            <a:avLst/>
          </a:prstGeom>
        </p:spPr>
      </p:pic>
      <p:sp>
        <p:nvSpPr>
          <p:cNvPr id="21" name="Shape 14"/>
          <p:cNvSpPr/>
          <p:nvPr/>
        </p:nvSpPr>
        <p:spPr>
          <a:xfrm>
            <a:off x="6200546" y="4434033"/>
            <a:ext cx="5229454" cy="1114654"/>
          </a:xfrm>
          <a:prstGeom prst="roundRect">
            <a:avLst>
              <a:gd name="adj" fmla="val 8414"/>
            </a:avLst>
          </a:prstGeom>
          <a:solidFill>
            <a:srgbClr val="1E293B">
              <a:alpha val="50000"/>
            </a:srgbClr>
          </a:solidFill>
          <a:ln w="12700">
            <a:solidFill>
              <a:srgbClr val="FFFFFF">
                <a:alpha val="8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2" name="Shape 15"/>
          <p:cNvSpPr/>
          <p:nvPr/>
        </p:nvSpPr>
        <p:spPr>
          <a:xfrm>
            <a:off x="6420002" y="4652574"/>
            <a:ext cx="286207" cy="286207"/>
          </a:xfrm>
          <a:prstGeom prst="roundRect">
            <a:avLst>
              <a:gd name="adj" fmla="val 85197"/>
            </a:avLst>
          </a:prstGeom>
          <a:solidFill>
            <a:srgbClr val="38BDF8">
              <a:alpha val="15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23" name="Image 5" descr="preencoded.png"/>
          <p:cNvPicPr>
            <a:picLocks noChangeAspect="1"/>
          </p:cNvPicPr>
          <p:nvPr/>
        </p:nvPicPr>
        <p:blipFill>
          <a:blip r:embed="rId8"/>
          <a:srcRect l="-1507" r="-1507"/>
          <a:stretch/>
        </p:blipFill>
        <p:spPr>
          <a:xfrm>
            <a:off x="6519672" y="4729384"/>
            <a:ext cx="85954" cy="133502"/>
          </a:xfrm>
          <a:prstGeom prst="rect">
            <a:avLst/>
          </a:prstGeom>
        </p:spPr>
      </p:pic>
      <p:sp>
        <p:nvSpPr>
          <p:cNvPr id="24" name="Shape 16"/>
          <p:cNvSpPr/>
          <p:nvPr/>
        </p:nvSpPr>
        <p:spPr>
          <a:xfrm>
            <a:off x="761695" y="5783687"/>
            <a:ext cx="10668305" cy="761695"/>
          </a:xfrm>
          <a:prstGeom prst="roundRect">
            <a:avLst>
              <a:gd name="adj" fmla="val 18007"/>
            </a:avLst>
          </a:prstGeom>
          <a:solidFill>
            <a:srgbClr val="0EA5E9"/>
          </a:solidFill>
          <a:ln/>
          <a:effectLst>
            <a:outerShdw blurRad="241300" dist="101600" dir="5400000" algn="bl" rotWithShape="0">
              <a:srgbClr val="0EA5E9">
                <a:alpha val="4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25" name="Shape 17"/>
          <p:cNvSpPr/>
          <p:nvPr/>
        </p:nvSpPr>
        <p:spPr>
          <a:xfrm>
            <a:off x="1000354" y="5954680"/>
            <a:ext cx="418795" cy="418795"/>
          </a:xfrm>
          <a:prstGeom prst="ellipse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26" name="Image 6" descr="preencoded.png"/>
          <p:cNvPicPr>
            <a:picLocks noChangeAspect="1"/>
          </p:cNvPicPr>
          <p:nvPr/>
        </p:nvPicPr>
        <p:blipFill>
          <a:blip r:embed="rId9"/>
          <a:srcRect/>
          <a:stretch/>
        </p:blipFill>
        <p:spPr>
          <a:xfrm>
            <a:off x="1086307" y="6040633"/>
            <a:ext cx="247802" cy="247802"/>
          </a:xfrm>
          <a:prstGeom prst="rect">
            <a:avLst/>
          </a:prstGeom>
        </p:spPr>
      </p:pic>
      <p:sp>
        <p:nvSpPr>
          <p:cNvPr id="27" name="Shape 18"/>
          <p:cNvSpPr/>
          <p:nvPr/>
        </p:nvSpPr>
        <p:spPr>
          <a:xfrm>
            <a:off x="10372954" y="5991256"/>
            <a:ext cx="819302" cy="352044"/>
          </a:xfrm>
          <a:prstGeom prst="roundRect">
            <a:avLst>
              <a:gd name="adj" fmla="val 259740"/>
            </a:avLst>
          </a:prstGeom>
          <a:solidFill>
            <a:srgbClr val="FFFFFF">
              <a:alpha val="2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8" name="Text 19"/>
          <p:cNvSpPr txBox="1"/>
          <p:nvPr/>
        </p:nvSpPr>
        <p:spPr>
          <a:xfrm>
            <a:off x="761695" y="676656"/>
            <a:ext cx="533461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6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인용의 10가지 원칙 (1/2)</a:t>
            </a:r>
            <a:endParaRPr lang="en-US" sz="3600" dirty="0"/>
          </a:p>
        </p:txBody>
      </p:sp>
      <p:sp>
        <p:nvSpPr>
          <p:cNvPr id="29" name="Text 20"/>
          <p:cNvSpPr txBox="1"/>
          <p:nvPr/>
        </p:nvSpPr>
        <p:spPr>
          <a:xfrm>
            <a:off x="761695" y="1399946"/>
            <a:ext cx="50484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dirty="0">
                <a:solidFill>
                  <a:srgbClr val="D1D5D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학술적 글쓰기의 품격을 높이는 6가지 기본 원칙을 확인하세요.</a:t>
            </a:r>
            <a:endParaRPr lang="en-US" sz="1500" dirty="0"/>
          </a:p>
        </p:txBody>
      </p:sp>
      <p:sp>
        <p:nvSpPr>
          <p:cNvPr id="30" name="Text 21"/>
          <p:cNvSpPr txBox="1"/>
          <p:nvPr/>
        </p:nvSpPr>
        <p:spPr>
          <a:xfrm>
            <a:off x="1419149" y="2009958"/>
            <a:ext cx="1859890" cy="2386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신뢰할 수 있는 자료 인용</a:t>
            </a:r>
            <a:endParaRPr lang="en-US" sz="1300" dirty="0"/>
          </a:p>
        </p:txBody>
      </p:sp>
      <p:sp>
        <p:nvSpPr>
          <p:cNvPr id="31" name="Text 22"/>
          <p:cNvSpPr txBox="1"/>
          <p:nvPr/>
        </p:nvSpPr>
        <p:spPr>
          <a:xfrm>
            <a:off x="1419149" y="2290679"/>
            <a:ext cx="4399178" cy="4005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학술적 가치가 충분한 자료만 인용하며, 신빙성이 낮거나 출처가 불분명한 부정확한 자료는 배제합니다.</a:t>
            </a:r>
            <a:endParaRPr lang="en-US" sz="1000" dirty="0"/>
          </a:p>
        </p:txBody>
      </p:sp>
      <p:sp>
        <p:nvSpPr>
          <p:cNvPr id="32" name="Text 23"/>
          <p:cNvSpPr txBox="1"/>
          <p:nvPr/>
        </p:nvSpPr>
        <p:spPr>
          <a:xfrm>
            <a:off x="6858000" y="2009958"/>
            <a:ext cx="1506931" cy="2386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모든 인용 출처 명시</a:t>
            </a:r>
            <a:endParaRPr lang="en-US" sz="1300" dirty="0"/>
          </a:p>
        </p:txBody>
      </p:sp>
      <p:sp>
        <p:nvSpPr>
          <p:cNvPr id="33" name="Text 24"/>
          <p:cNvSpPr txBox="1"/>
          <p:nvPr/>
        </p:nvSpPr>
        <p:spPr>
          <a:xfrm>
            <a:off x="6858000" y="2290679"/>
            <a:ext cx="4313225" cy="4005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상식에 해당하는 일반 지식이 아닌 한, 인용한 모든 아이디어와 문장에 대해 출처를 분명히 밝혀야 합니다.</a:t>
            </a:r>
            <a:endParaRPr lang="en-US" sz="1000" dirty="0"/>
          </a:p>
        </p:txBody>
      </p:sp>
      <p:sp>
        <p:nvSpPr>
          <p:cNvPr id="34" name="Text 25"/>
          <p:cNvSpPr txBox="1"/>
          <p:nvPr/>
        </p:nvSpPr>
        <p:spPr>
          <a:xfrm>
            <a:off x="1419149" y="3331266"/>
            <a:ext cx="1659636" cy="2386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다양한 자료 형태 표기</a:t>
            </a:r>
            <a:endParaRPr lang="en-US" sz="1300" dirty="0"/>
          </a:p>
        </p:txBody>
      </p:sp>
      <p:sp>
        <p:nvSpPr>
          <p:cNvPr id="35" name="Text 26"/>
          <p:cNvSpPr txBox="1"/>
          <p:nvPr/>
        </p:nvSpPr>
        <p:spPr>
          <a:xfrm>
            <a:off x="1419149" y="3611987"/>
            <a:ext cx="4427525" cy="4005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글뿐만 아니라 통계, 도표, 그림, 데이터 등 타인의 저작물을 활용한 모든 경우에 출처를 표기합니다.</a:t>
            </a:r>
            <a:endParaRPr lang="en-US" sz="1000" dirty="0"/>
          </a:p>
        </p:txBody>
      </p:sp>
      <p:sp>
        <p:nvSpPr>
          <p:cNvPr id="36" name="Text 27"/>
          <p:cNvSpPr txBox="1"/>
          <p:nvPr/>
        </p:nvSpPr>
        <p:spPr>
          <a:xfrm>
            <a:off x="6858000" y="3331266"/>
            <a:ext cx="1307592" cy="2386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직접 인용 최소화</a:t>
            </a:r>
            <a:endParaRPr lang="en-US" sz="1300" dirty="0"/>
          </a:p>
        </p:txBody>
      </p:sp>
      <p:sp>
        <p:nvSpPr>
          <p:cNvPr id="37" name="Text 28"/>
          <p:cNvSpPr txBox="1"/>
          <p:nvPr/>
        </p:nvSpPr>
        <p:spPr>
          <a:xfrm>
            <a:off x="6858000" y="3611987"/>
            <a:ext cx="4437583" cy="4005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직접 인용은 원문의 표현 가치가 높을 때만 제한적으로 사용하며, 단순히 요약의 수고를 덜기 위해 사용하지 않습니다.</a:t>
            </a:r>
            <a:endParaRPr lang="en-US" sz="1000" dirty="0"/>
          </a:p>
        </p:txBody>
      </p:sp>
      <p:sp>
        <p:nvSpPr>
          <p:cNvPr id="38" name="Text 29"/>
          <p:cNvSpPr txBox="1"/>
          <p:nvPr/>
        </p:nvSpPr>
        <p:spPr>
          <a:xfrm>
            <a:off x="1419149" y="4652574"/>
            <a:ext cx="1506931" cy="2386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긴 인용에 대한 해설</a:t>
            </a:r>
            <a:endParaRPr lang="en-US" sz="1300" dirty="0"/>
          </a:p>
        </p:txBody>
      </p:sp>
      <p:sp>
        <p:nvSpPr>
          <p:cNvPr id="39" name="Text 30"/>
          <p:cNvSpPr txBox="1"/>
          <p:nvPr/>
        </p:nvSpPr>
        <p:spPr>
          <a:xfrm>
            <a:off x="1419149" y="4933295"/>
            <a:ext cx="4427525" cy="4005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비교적 긴 블록 인용을 할 경우, 인용문 제시 전후에 인용의 맥락 설명과 해석, 논평을 충분히 덧붙입니다.</a:t>
            </a:r>
            <a:endParaRPr lang="en-US" sz="1000" dirty="0"/>
          </a:p>
        </p:txBody>
      </p:sp>
      <p:sp>
        <p:nvSpPr>
          <p:cNvPr id="40" name="Text 31"/>
          <p:cNvSpPr txBox="1"/>
          <p:nvPr/>
        </p:nvSpPr>
        <p:spPr>
          <a:xfrm>
            <a:off x="6858000" y="4652574"/>
            <a:ext cx="1659636" cy="2386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완전한 이해 후 재기술</a:t>
            </a:r>
            <a:endParaRPr lang="en-US" sz="1300" dirty="0"/>
          </a:p>
        </p:txBody>
      </p:sp>
      <p:sp>
        <p:nvSpPr>
          <p:cNvPr id="41" name="Text 32"/>
          <p:cNvSpPr txBox="1"/>
          <p:nvPr/>
        </p:nvSpPr>
        <p:spPr>
          <a:xfrm>
            <a:off x="6858000" y="4933295"/>
            <a:ext cx="4408322" cy="4005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바꿔쓰기(Paraphrasing)를 할 때는 원문의 내용을 충분히 이해한 후, 원문을 보지 않고 자신의 문장으로 새롭게 씁니다.</a:t>
            </a:r>
            <a:endParaRPr lang="en-US" sz="1000" dirty="0"/>
          </a:p>
        </p:txBody>
      </p:sp>
      <p:sp>
        <p:nvSpPr>
          <p:cNvPr id="42" name="Text 33"/>
          <p:cNvSpPr txBox="1"/>
          <p:nvPr/>
        </p:nvSpPr>
        <p:spPr>
          <a:xfrm>
            <a:off x="1571854" y="5937306"/>
            <a:ext cx="1846174" cy="2478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기본이 가장 중요합니다</a:t>
            </a:r>
            <a:endParaRPr lang="en-US" sz="1300" dirty="0"/>
          </a:p>
        </p:txBody>
      </p:sp>
      <p:sp>
        <p:nvSpPr>
          <p:cNvPr id="43" name="Text 34"/>
          <p:cNvSpPr txBox="1"/>
          <p:nvPr/>
        </p:nvSpPr>
        <p:spPr>
          <a:xfrm>
            <a:off x="10525658" y="6067151"/>
            <a:ext cx="611734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원칙 1-6</a:t>
            </a:r>
            <a:endParaRPr lang="en-US" sz="1000" dirty="0"/>
          </a:p>
        </p:txBody>
      </p:sp>
      <p:sp>
        <p:nvSpPr>
          <p:cNvPr id="44" name="Text 35"/>
          <p:cNvSpPr txBox="1"/>
          <p:nvPr/>
        </p:nvSpPr>
        <p:spPr>
          <a:xfrm>
            <a:off x="1571854" y="6166821"/>
            <a:ext cx="4561027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FFFFFF">
                    <a:alpha val="90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출처 표기는 단순한 규칙 준수를 넘어, 학문적 정직성을 증명하는 첫걸음입니다.</a:t>
            </a:r>
            <a:endParaRPr lang="en-US" sz="1000" dirty="0"/>
          </a:p>
        </p:txBody>
      </p:sp>
      <p:sp>
        <p:nvSpPr>
          <p:cNvPr id="45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이애본(드림아이티비즈) · useful-ai.dreamitbiz.com · 교육 목적 비영리 이용 · 출처 표기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" name="Shape 2"/>
          <p:cNvSpPr/>
          <p:nvPr/>
        </p:nvSpPr>
        <p:spPr>
          <a:xfrm>
            <a:off x="8539667" y="-1601571"/>
            <a:ext cx="5715000" cy="5715000"/>
          </a:xfrm>
          <a:prstGeom prst="ellipse">
            <a:avLst/>
          </a:prstGeom>
          <a:solidFill>
            <a:srgbClr val="38BDF8">
              <a:alpha val="3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" name="Shape 3"/>
          <p:cNvSpPr/>
          <p:nvPr/>
        </p:nvSpPr>
        <p:spPr>
          <a:xfrm>
            <a:off x="761695" y="476402"/>
            <a:ext cx="571500" cy="57607"/>
          </a:xfrm>
          <a:prstGeom prst="roundRect">
            <a:avLst>
              <a:gd name="adj" fmla="val 793654"/>
            </a:avLst>
          </a:prstGeom>
          <a:solidFill>
            <a:srgbClr val="38BDF8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6" name="Shape 4"/>
          <p:cNvSpPr/>
          <p:nvPr/>
        </p:nvSpPr>
        <p:spPr>
          <a:xfrm>
            <a:off x="761695" y="1719881"/>
            <a:ext cx="5219395" cy="1190549"/>
          </a:xfrm>
          <a:prstGeom prst="roundRect">
            <a:avLst>
              <a:gd name="adj" fmla="val 7373"/>
            </a:avLst>
          </a:prstGeom>
          <a:solidFill>
            <a:srgbClr val="1E293B">
              <a:alpha val="50000"/>
            </a:srgbClr>
          </a:solidFill>
          <a:ln w="12700">
            <a:solidFill>
              <a:srgbClr val="FFFFFF">
                <a:alpha val="8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" name="Shape 5"/>
          <p:cNvSpPr/>
          <p:nvPr/>
        </p:nvSpPr>
        <p:spPr>
          <a:xfrm>
            <a:off x="1000354" y="1957625"/>
            <a:ext cx="304495" cy="304495"/>
          </a:xfrm>
          <a:prstGeom prst="roundRect">
            <a:avLst>
              <a:gd name="adj" fmla="val 75075"/>
            </a:avLst>
          </a:prstGeom>
          <a:solidFill>
            <a:srgbClr val="38BDF8">
              <a:alpha val="15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8" name="Image 0" descr="preencoded.png"/>
          <p:cNvPicPr>
            <a:picLocks noChangeAspect="1"/>
          </p:cNvPicPr>
          <p:nvPr/>
        </p:nvPicPr>
        <p:blipFill>
          <a:blip r:embed="rId3"/>
          <a:srcRect t="-43" b="-43"/>
          <a:stretch/>
        </p:blipFill>
        <p:spPr>
          <a:xfrm>
            <a:off x="1086307" y="2034435"/>
            <a:ext cx="133502" cy="152705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6210605" y="1719881"/>
            <a:ext cx="5219395" cy="1190549"/>
          </a:xfrm>
          <a:prstGeom prst="roundRect">
            <a:avLst>
              <a:gd name="adj" fmla="val 7373"/>
            </a:avLst>
          </a:prstGeom>
          <a:solidFill>
            <a:srgbClr val="1E293B">
              <a:alpha val="50000"/>
            </a:srgbClr>
          </a:solidFill>
          <a:ln w="12700">
            <a:solidFill>
              <a:srgbClr val="FFFFFF">
                <a:alpha val="8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0" name="Shape 7"/>
          <p:cNvSpPr/>
          <p:nvPr/>
        </p:nvSpPr>
        <p:spPr>
          <a:xfrm>
            <a:off x="6448349" y="1957625"/>
            <a:ext cx="304495" cy="304495"/>
          </a:xfrm>
          <a:prstGeom prst="roundRect">
            <a:avLst>
              <a:gd name="adj" fmla="val 75075"/>
            </a:avLst>
          </a:prstGeom>
          <a:solidFill>
            <a:srgbClr val="38BDF8">
              <a:alpha val="15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11" name="Image 1" descr="preencoded.png"/>
          <p:cNvPicPr>
            <a:picLocks noChangeAspect="1"/>
          </p:cNvPicPr>
          <p:nvPr/>
        </p:nvPicPr>
        <p:blipFill>
          <a:blip r:embed="rId3"/>
          <a:srcRect t="-43" b="-43"/>
          <a:stretch/>
        </p:blipFill>
        <p:spPr>
          <a:xfrm>
            <a:off x="6534302" y="2034435"/>
            <a:ext cx="133502" cy="152705"/>
          </a:xfrm>
          <a:prstGeom prst="rect">
            <a:avLst/>
          </a:prstGeom>
        </p:spPr>
      </p:pic>
      <p:sp>
        <p:nvSpPr>
          <p:cNvPr id="12" name="Shape 8"/>
          <p:cNvSpPr/>
          <p:nvPr/>
        </p:nvSpPr>
        <p:spPr>
          <a:xfrm>
            <a:off x="761695" y="3015970"/>
            <a:ext cx="5219395" cy="1190549"/>
          </a:xfrm>
          <a:prstGeom prst="roundRect">
            <a:avLst>
              <a:gd name="adj" fmla="val 7373"/>
            </a:avLst>
          </a:prstGeom>
          <a:solidFill>
            <a:srgbClr val="1E293B">
              <a:alpha val="50000"/>
            </a:srgbClr>
          </a:solidFill>
          <a:ln w="12700">
            <a:solidFill>
              <a:srgbClr val="FFFFFF">
                <a:alpha val="8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3" name="Shape 9"/>
          <p:cNvSpPr/>
          <p:nvPr/>
        </p:nvSpPr>
        <p:spPr>
          <a:xfrm>
            <a:off x="1000354" y="3254628"/>
            <a:ext cx="304495" cy="304495"/>
          </a:xfrm>
          <a:prstGeom prst="roundRect">
            <a:avLst>
              <a:gd name="adj" fmla="val 75075"/>
            </a:avLst>
          </a:prstGeom>
          <a:solidFill>
            <a:srgbClr val="38BDF8">
              <a:alpha val="15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14" name="Image 2" descr="preencoded.png"/>
          <p:cNvPicPr>
            <a:picLocks noChangeAspect="1"/>
          </p:cNvPicPr>
          <p:nvPr/>
        </p:nvPicPr>
        <p:blipFill>
          <a:blip r:embed="rId3"/>
          <a:srcRect t="-43" b="-43"/>
          <a:stretch/>
        </p:blipFill>
        <p:spPr>
          <a:xfrm>
            <a:off x="1086307" y="3330523"/>
            <a:ext cx="133502" cy="152705"/>
          </a:xfrm>
          <a:prstGeom prst="rect">
            <a:avLst/>
          </a:prstGeom>
        </p:spPr>
      </p:pic>
      <p:sp>
        <p:nvSpPr>
          <p:cNvPr id="15" name="Shape 10"/>
          <p:cNvSpPr/>
          <p:nvPr/>
        </p:nvSpPr>
        <p:spPr>
          <a:xfrm>
            <a:off x="6210605" y="3015970"/>
            <a:ext cx="5219395" cy="1190549"/>
          </a:xfrm>
          <a:prstGeom prst="roundRect">
            <a:avLst>
              <a:gd name="adj" fmla="val 7373"/>
            </a:avLst>
          </a:prstGeom>
          <a:solidFill>
            <a:srgbClr val="1E293B">
              <a:alpha val="50000"/>
            </a:srgbClr>
          </a:solidFill>
          <a:ln w="12700">
            <a:solidFill>
              <a:srgbClr val="FFFFFF">
                <a:alpha val="8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6" name="Shape 11"/>
          <p:cNvSpPr/>
          <p:nvPr/>
        </p:nvSpPr>
        <p:spPr>
          <a:xfrm>
            <a:off x="6448349" y="3254628"/>
            <a:ext cx="304495" cy="304495"/>
          </a:xfrm>
          <a:prstGeom prst="roundRect">
            <a:avLst>
              <a:gd name="adj" fmla="val 75075"/>
            </a:avLst>
          </a:prstGeom>
          <a:solidFill>
            <a:srgbClr val="38BDF8">
              <a:alpha val="15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17" name="Image 3" descr="preencoded.png"/>
          <p:cNvPicPr>
            <a:picLocks noChangeAspect="1"/>
          </p:cNvPicPr>
          <p:nvPr/>
        </p:nvPicPr>
        <p:blipFill>
          <a:blip r:embed="rId3"/>
          <a:srcRect t="-43" b="-43"/>
          <a:stretch/>
        </p:blipFill>
        <p:spPr>
          <a:xfrm>
            <a:off x="6534302" y="3330523"/>
            <a:ext cx="133502" cy="152705"/>
          </a:xfrm>
          <a:prstGeom prst="rect">
            <a:avLst/>
          </a:prstGeom>
        </p:spPr>
      </p:pic>
      <p:sp>
        <p:nvSpPr>
          <p:cNvPr id="18" name="Shape 12"/>
          <p:cNvSpPr/>
          <p:nvPr/>
        </p:nvSpPr>
        <p:spPr>
          <a:xfrm>
            <a:off x="761695" y="4325731"/>
            <a:ext cx="5219395" cy="1190549"/>
          </a:xfrm>
          <a:prstGeom prst="roundRect">
            <a:avLst>
              <a:gd name="adj" fmla="val 7373"/>
            </a:avLst>
          </a:prstGeom>
          <a:solidFill>
            <a:srgbClr val="1E293B">
              <a:alpha val="50000"/>
            </a:srgbClr>
          </a:solidFill>
          <a:ln w="12700">
            <a:solidFill>
              <a:srgbClr val="FFFFFF">
                <a:alpha val="8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9" name="Shape 13"/>
          <p:cNvSpPr/>
          <p:nvPr/>
        </p:nvSpPr>
        <p:spPr>
          <a:xfrm>
            <a:off x="1000354" y="4563475"/>
            <a:ext cx="304495" cy="304495"/>
          </a:xfrm>
          <a:prstGeom prst="roundRect">
            <a:avLst>
              <a:gd name="adj" fmla="val 75075"/>
            </a:avLst>
          </a:prstGeom>
          <a:solidFill>
            <a:srgbClr val="38BDF8">
              <a:alpha val="15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20" name="Image 4" descr="preencoded.png"/>
          <p:cNvPicPr>
            <a:picLocks noChangeAspect="1"/>
          </p:cNvPicPr>
          <p:nvPr/>
        </p:nvPicPr>
        <p:blipFill>
          <a:blip r:embed="rId3"/>
          <a:srcRect t="-43" b="-43"/>
          <a:stretch/>
        </p:blipFill>
        <p:spPr>
          <a:xfrm>
            <a:off x="1086307" y="4639370"/>
            <a:ext cx="133502" cy="152705"/>
          </a:xfrm>
          <a:prstGeom prst="rect">
            <a:avLst/>
          </a:prstGeom>
        </p:spPr>
      </p:pic>
      <p:sp>
        <p:nvSpPr>
          <p:cNvPr id="21" name="Shape 14"/>
          <p:cNvSpPr/>
          <p:nvPr/>
        </p:nvSpPr>
        <p:spPr>
          <a:xfrm>
            <a:off x="6210605" y="4325731"/>
            <a:ext cx="5219395" cy="1190549"/>
          </a:xfrm>
          <a:prstGeom prst="roundRect">
            <a:avLst>
              <a:gd name="adj" fmla="val 7373"/>
            </a:avLst>
          </a:prstGeom>
          <a:solidFill>
            <a:srgbClr val="1E293B">
              <a:alpha val="50000"/>
            </a:srgbClr>
          </a:solidFill>
          <a:ln w="12700">
            <a:solidFill>
              <a:srgbClr val="FFFFFF">
                <a:alpha val="8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2" name="Shape 15"/>
          <p:cNvSpPr/>
          <p:nvPr/>
        </p:nvSpPr>
        <p:spPr>
          <a:xfrm>
            <a:off x="6448349" y="4563475"/>
            <a:ext cx="304495" cy="304495"/>
          </a:xfrm>
          <a:prstGeom prst="roundRect">
            <a:avLst>
              <a:gd name="adj" fmla="val 75075"/>
            </a:avLst>
          </a:prstGeom>
          <a:solidFill>
            <a:srgbClr val="38BDF8">
              <a:alpha val="15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23" name="Image 5" descr="preencoded.png"/>
          <p:cNvPicPr>
            <a:picLocks noChangeAspect="1"/>
          </p:cNvPicPr>
          <p:nvPr/>
        </p:nvPicPr>
        <p:blipFill>
          <a:blip r:embed="rId3"/>
          <a:srcRect t="-43" b="-43"/>
          <a:stretch/>
        </p:blipFill>
        <p:spPr>
          <a:xfrm>
            <a:off x="6534302" y="4639370"/>
            <a:ext cx="133502" cy="152705"/>
          </a:xfrm>
          <a:prstGeom prst="rect">
            <a:avLst/>
          </a:prstGeom>
        </p:spPr>
      </p:pic>
      <p:sp>
        <p:nvSpPr>
          <p:cNvPr id="24" name="Shape 16"/>
          <p:cNvSpPr/>
          <p:nvPr/>
        </p:nvSpPr>
        <p:spPr>
          <a:xfrm>
            <a:off x="761695" y="5615632"/>
            <a:ext cx="10668305" cy="838505"/>
          </a:xfrm>
          <a:prstGeom prst="roundRect">
            <a:avLst>
              <a:gd name="adj" fmla="val 14871"/>
            </a:avLst>
          </a:prstGeom>
          <a:solidFill>
            <a:srgbClr val="0EA5E9"/>
          </a:solidFill>
          <a:ln/>
          <a:effectLst>
            <a:outerShdw blurRad="241300" dist="101600" dir="5400000" algn="bl" rotWithShape="0">
              <a:srgbClr val="0EA5E9">
                <a:alpha val="4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25" name="Shape 17"/>
          <p:cNvSpPr/>
          <p:nvPr/>
        </p:nvSpPr>
        <p:spPr>
          <a:xfrm>
            <a:off x="1047902" y="5805827"/>
            <a:ext cx="457200" cy="457200"/>
          </a:xfrm>
          <a:prstGeom prst="ellipse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26" name="Image 6" descr="preencoded.png"/>
          <p:cNvPicPr>
            <a:picLocks noChangeAspect="1"/>
          </p:cNvPicPr>
          <p:nvPr/>
        </p:nvPicPr>
        <p:blipFill>
          <a:blip r:embed="rId4"/>
          <a:srcRect t="-333" b="-333"/>
          <a:stretch/>
        </p:blipFill>
        <p:spPr>
          <a:xfrm>
            <a:off x="1104595" y="5896352"/>
            <a:ext cx="342900" cy="276149"/>
          </a:xfrm>
          <a:prstGeom prst="rect">
            <a:avLst/>
          </a:prstGeom>
        </p:spPr>
      </p:pic>
      <p:sp>
        <p:nvSpPr>
          <p:cNvPr id="27" name="Shape 18"/>
          <p:cNvSpPr/>
          <p:nvPr/>
        </p:nvSpPr>
        <p:spPr>
          <a:xfrm>
            <a:off x="9513418" y="5855204"/>
            <a:ext cx="1638605" cy="362102"/>
          </a:xfrm>
          <a:prstGeom prst="roundRect">
            <a:avLst>
              <a:gd name="adj" fmla="val 252526"/>
            </a:avLst>
          </a:prstGeom>
          <a:solidFill>
            <a:srgbClr val="FFFFFF">
              <a:alpha val="2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8" name="Text 19"/>
          <p:cNvSpPr txBox="1"/>
          <p:nvPr/>
        </p:nvSpPr>
        <p:spPr>
          <a:xfrm>
            <a:off x="761695" y="676656"/>
            <a:ext cx="533461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6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인용의 10가지 원칙 (2/2)</a:t>
            </a:r>
            <a:endParaRPr lang="en-US" sz="3600" dirty="0"/>
          </a:p>
        </p:txBody>
      </p:sp>
      <p:sp>
        <p:nvSpPr>
          <p:cNvPr id="29" name="Text 20"/>
          <p:cNvSpPr txBox="1"/>
          <p:nvPr/>
        </p:nvSpPr>
        <p:spPr>
          <a:xfrm>
            <a:off x="761695" y="1340404"/>
            <a:ext cx="7420356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dirty="0">
                <a:solidFill>
                  <a:srgbClr val="D1D5D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맥락 왜곡 방지부터 재인용 최소화까지, 인용의 품격을 높이는 6가지 핵심 원칙을 확인하세요.</a:t>
            </a:r>
            <a:endParaRPr lang="en-US" sz="1500" dirty="0"/>
          </a:p>
        </p:txBody>
      </p:sp>
      <p:sp>
        <p:nvSpPr>
          <p:cNvPr id="30" name="Text 21"/>
          <p:cNvSpPr txBox="1"/>
          <p:nvPr/>
        </p:nvSpPr>
        <p:spPr>
          <a:xfrm>
            <a:off x="1457554" y="1957625"/>
            <a:ext cx="2398471" cy="2478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맥락 왜곡 금지 (견강부회 주의)</a:t>
            </a:r>
            <a:endParaRPr lang="en-US" sz="1300" dirty="0"/>
          </a:p>
        </p:txBody>
      </p:sp>
      <p:sp>
        <p:nvSpPr>
          <p:cNvPr id="31" name="Text 22"/>
          <p:cNvSpPr txBox="1"/>
          <p:nvPr/>
        </p:nvSpPr>
        <p:spPr>
          <a:xfrm>
            <a:off x="1457554" y="2249319"/>
            <a:ext cx="4242816" cy="4197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자신의 논리에 맞추기 위해 원문의 본래 의도를 비틀지 않아야 합니다. 원작자의 맥락을 존중하세요.</a:t>
            </a:r>
            <a:endParaRPr lang="en-US" sz="1100" dirty="0"/>
          </a:p>
        </p:txBody>
      </p:sp>
      <p:sp>
        <p:nvSpPr>
          <p:cNvPr id="32" name="Text 23"/>
          <p:cNvSpPr txBox="1"/>
          <p:nvPr/>
        </p:nvSpPr>
        <p:spPr>
          <a:xfrm>
            <a:off x="6905549" y="1957625"/>
            <a:ext cx="1313078" cy="2478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재인용의 최소화</a:t>
            </a:r>
            <a:endParaRPr lang="en-US" sz="1300" dirty="0"/>
          </a:p>
        </p:txBody>
      </p:sp>
      <p:sp>
        <p:nvSpPr>
          <p:cNvPr id="33" name="Text 24"/>
          <p:cNvSpPr txBox="1"/>
          <p:nvPr/>
        </p:nvSpPr>
        <p:spPr>
          <a:xfrm>
            <a:off x="6905549" y="2249319"/>
            <a:ext cx="4376318" cy="4197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가능한 한 원문을 직접 찾아 확인하고 인용해야 합니다. 재인용은 원문을 구할 수 없을 때만 제한적으로 허용됩니다.</a:t>
            </a:r>
            <a:endParaRPr lang="en-US" sz="1100" dirty="0"/>
          </a:p>
        </p:txBody>
      </p:sp>
      <p:sp>
        <p:nvSpPr>
          <p:cNvPr id="34" name="Text 25"/>
          <p:cNvSpPr txBox="1"/>
          <p:nvPr/>
        </p:nvSpPr>
        <p:spPr>
          <a:xfrm>
            <a:off x="1457554" y="3254628"/>
            <a:ext cx="1570025" cy="2478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긴 인용문 해설 첨부</a:t>
            </a:r>
            <a:endParaRPr lang="en-US" sz="1300" dirty="0"/>
          </a:p>
        </p:txBody>
      </p:sp>
      <p:sp>
        <p:nvSpPr>
          <p:cNvPr id="35" name="Text 26"/>
          <p:cNvSpPr txBox="1"/>
          <p:nvPr/>
        </p:nvSpPr>
        <p:spPr>
          <a:xfrm>
            <a:off x="1457554" y="3546322"/>
            <a:ext cx="4281221" cy="4197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긴 블록 인용을 사용할 경우, 인용문 전후에 인용자의 해석과 논평을 충분히 덧붙여 주장을 뒷받침해야 합니다.</a:t>
            </a:r>
            <a:endParaRPr lang="en-US" sz="1100" dirty="0"/>
          </a:p>
        </p:txBody>
      </p:sp>
      <p:sp>
        <p:nvSpPr>
          <p:cNvPr id="36" name="Text 27"/>
          <p:cNvSpPr txBox="1"/>
          <p:nvPr/>
        </p:nvSpPr>
        <p:spPr>
          <a:xfrm>
            <a:off x="6905549" y="3254628"/>
            <a:ext cx="1893722" cy="2478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출처 표기의 일관성 유지</a:t>
            </a:r>
            <a:endParaRPr lang="en-US" sz="1300" dirty="0"/>
          </a:p>
        </p:txBody>
      </p:sp>
      <p:sp>
        <p:nvSpPr>
          <p:cNvPr id="37" name="Text 28"/>
          <p:cNvSpPr txBox="1"/>
          <p:nvPr/>
        </p:nvSpPr>
        <p:spPr>
          <a:xfrm>
            <a:off x="6905549" y="3546322"/>
            <a:ext cx="4395521" cy="4197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문서 전체에 걸쳐 동일한 인용 스타일(APA, MLA 등)과 표기 방식을 처음부터 끝까지 일관되게 적용하세요.</a:t>
            </a:r>
            <a:endParaRPr lang="en-US" sz="1100" dirty="0"/>
          </a:p>
        </p:txBody>
      </p:sp>
      <p:sp>
        <p:nvSpPr>
          <p:cNvPr id="38" name="Text 29"/>
          <p:cNvSpPr txBox="1"/>
          <p:nvPr/>
        </p:nvSpPr>
        <p:spPr>
          <a:xfrm>
            <a:off x="1457554" y="4563475"/>
            <a:ext cx="1893722" cy="2478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무분별한 직접 인용 지양</a:t>
            </a:r>
            <a:endParaRPr lang="en-US" sz="1300" dirty="0"/>
          </a:p>
        </p:txBody>
      </p:sp>
      <p:sp>
        <p:nvSpPr>
          <p:cNvPr id="39" name="Text 30"/>
          <p:cNvSpPr txBox="1"/>
          <p:nvPr/>
        </p:nvSpPr>
        <p:spPr>
          <a:xfrm>
            <a:off x="1457554" y="4855169"/>
            <a:ext cx="4376318" cy="4197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요약이나 바꿔쓰기의 노고를 덜기 위한 단순 복사는 피하고, 표현적 가치가 높을 때만 직접 인용을 활용하세요.</a:t>
            </a:r>
            <a:endParaRPr lang="en-US" sz="1100" dirty="0"/>
          </a:p>
        </p:txBody>
      </p:sp>
      <p:sp>
        <p:nvSpPr>
          <p:cNvPr id="40" name="Text 31"/>
          <p:cNvSpPr txBox="1"/>
          <p:nvPr/>
        </p:nvSpPr>
        <p:spPr>
          <a:xfrm>
            <a:off x="6905549" y="4563475"/>
            <a:ext cx="1846174" cy="2478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참고문헌의 정확성 확보</a:t>
            </a:r>
            <a:endParaRPr lang="en-US" sz="1300" dirty="0"/>
          </a:p>
        </p:txBody>
      </p:sp>
      <p:sp>
        <p:nvSpPr>
          <p:cNvPr id="41" name="Text 32"/>
          <p:cNvSpPr txBox="1"/>
          <p:nvPr/>
        </p:nvSpPr>
        <p:spPr>
          <a:xfrm>
            <a:off x="6905549" y="4855169"/>
            <a:ext cx="4376318" cy="4197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본문에 인용된 모든 자료는 참고문헌에 빠짐없이, 정확한 서지 정보와 함께 기재되어야 합니다.</a:t>
            </a:r>
            <a:endParaRPr lang="en-US" sz="1100" dirty="0"/>
          </a:p>
        </p:txBody>
      </p:sp>
      <p:sp>
        <p:nvSpPr>
          <p:cNvPr id="42" name="Text 33"/>
          <p:cNvSpPr txBox="1"/>
          <p:nvPr/>
        </p:nvSpPr>
        <p:spPr>
          <a:xfrm>
            <a:off x="1657807" y="5782967"/>
            <a:ext cx="2628900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인용은 '소통'이자 '존중'입니다</a:t>
            </a:r>
            <a:endParaRPr lang="en-US" sz="1500" dirty="0"/>
          </a:p>
        </p:txBody>
      </p:sp>
      <p:sp>
        <p:nvSpPr>
          <p:cNvPr id="43" name="Text 34"/>
          <p:cNvSpPr txBox="1"/>
          <p:nvPr/>
        </p:nvSpPr>
        <p:spPr>
          <a:xfrm>
            <a:off x="9665208" y="5931100"/>
            <a:ext cx="1436522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PRINCIPLE CHECK</a:t>
            </a:r>
            <a:endParaRPr lang="en-US" sz="1000" dirty="0"/>
          </a:p>
        </p:txBody>
      </p:sp>
      <p:sp>
        <p:nvSpPr>
          <p:cNvPr id="44" name="Text 35"/>
          <p:cNvSpPr txBox="1"/>
          <p:nvPr/>
        </p:nvSpPr>
        <p:spPr>
          <a:xfrm>
            <a:off x="1657807" y="6039913"/>
            <a:ext cx="570037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FFFFFF">
                    <a:alpha val="90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올바른 인용은 선행 연구자에 대한 존중이자, 독자와의 신뢰를 쌓는 학술적 소통의 시작입니다.</a:t>
            </a:r>
            <a:endParaRPr lang="en-US" sz="1100" dirty="0"/>
          </a:p>
        </p:txBody>
      </p:sp>
      <p:sp>
        <p:nvSpPr>
          <p:cNvPr id="45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이애본(드림아이티비즈) · useful-ai.dreamitbiz.com · 교육 목적 비영리 이용 · 출처 표기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" name="Shape 2"/>
          <p:cNvSpPr/>
          <p:nvPr/>
        </p:nvSpPr>
        <p:spPr>
          <a:xfrm>
            <a:off x="7429500" y="-1904695"/>
            <a:ext cx="5715000" cy="5715000"/>
          </a:xfrm>
          <a:prstGeom prst="ellipse">
            <a:avLst/>
          </a:prstGeom>
          <a:solidFill>
            <a:srgbClr val="38BDF8">
              <a:alpha val="3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" name="Shape 3"/>
          <p:cNvSpPr/>
          <p:nvPr/>
        </p:nvSpPr>
        <p:spPr>
          <a:xfrm>
            <a:off x="-952805" y="4000500"/>
            <a:ext cx="3810305" cy="3810305"/>
          </a:xfrm>
          <a:prstGeom prst="ellipse">
            <a:avLst/>
          </a:prstGeom>
          <a:solidFill>
            <a:srgbClr val="6366F1">
              <a:alpha val="3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6" name="Text 4"/>
          <p:cNvSpPr txBox="1"/>
          <p:nvPr/>
        </p:nvSpPr>
        <p:spPr>
          <a:xfrm>
            <a:off x="190195" y="400507"/>
            <a:ext cx="943661" cy="8769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4800" b="1" dirty="0">
                <a:solidFill>
                  <a:srgbClr val="38BDF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Q</a:t>
            </a:r>
            <a:endParaRPr lang="en-US" sz="4800" dirty="0"/>
          </a:p>
        </p:txBody>
      </p:sp>
      <p:sp>
        <p:nvSpPr>
          <p:cNvPr id="7" name="Shape 5"/>
          <p:cNvSpPr/>
          <p:nvPr/>
        </p:nvSpPr>
        <p:spPr>
          <a:xfrm>
            <a:off x="761695" y="571500"/>
            <a:ext cx="571500" cy="57607"/>
          </a:xfrm>
          <a:prstGeom prst="roundRect">
            <a:avLst>
              <a:gd name="adj" fmla="val 793654"/>
            </a:avLst>
          </a:prstGeom>
          <a:solidFill>
            <a:srgbClr val="38BDF8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8" name="Text 6"/>
          <p:cNvSpPr txBox="1"/>
          <p:nvPr/>
        </p:nvSpPr>
        <p:spPr>
          <a:xfrm>
            <a:off x="761695" y="819302"/>
            <a:ext cx="367589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퀴즈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761695" y="1086307"/>
            <a:ext cx="6667805" cy="4956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7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Q1. 다음 중 올바른 인용 방식은 무엇일까요?</a:t>
            </a:r>
            <a:endParaRPr lang="en-US" sz="2700" dirty="0"/>
          </a:p>
        </p:txBody>
      </p:sp>
      <p:sp>
        <p:nvSpPr>
          <p:cNvPr id="10" name="Text 8"/>
          <p:cNvSpPr txBox="1"/>
          <p:nvPr/>
        </p:nvSpPr>
        <p:spPr>
          <a:xfrm>
            <a:off x="761695" y="1619402"/>
            <a:ext cx="5306263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dirty="0">
                <a:solidFill>
                  <a:srgbClr val="9CA3A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표절을 피하고 학문적 정직성을 지키는 최선의 방법을 골라보세요.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761695" y="2371954"/>
            <a:ext cx="3353105" cy="3914546"/>
          </a:xfrm>
          <a:prstGeom prst="roundRect">
            <a:avLst>
              <a:gd name="adj" fmla="val 1549"/>
            </a:avLst>
          </a:prstGeom>
          <a:solidFill>
            <a:srgbClr val="1E293B"/>
          </a:solidFill>
          <a:ln w="25400">
            <a:solidFill>
              <a:srgbClr val="334155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2" name="Shape 10"/>
          <p:cNvSpPr/>
          <p:nvPr/>
        </p:nvSpPr>
        <p:spPr>
          <a:xfrm>
            <a:off x="1086307" y="2695651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0F172A"/>
          </a:solidFill>
          <a:ln w="12700">
            <a:solidFill>
              <a:srgbClr val="334155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3" name="Text 11"/>
          <p:cNvSpPr txBox="1"/>
          <p:nvPr/>
        </p:nvSpPr>
        <p:spPr>
          <a:xfrm>
            <a:off x="1240841" y="2752344"/>
            <a:ext cx="324612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</a:t>
            </a:r>
            <a:endParaRPr lang="en-US" sz="1800" dirty="0"/>
          </a:p>
        </p:txBody>
      </p:sp>
      <p:sp>
        <p:nvSpPr>
          <p:cNvPr id="14" name="Text 12"/>
          <p:cNvSpPr txBox="1"/>
          <p:nvPr/>
        </p:nvSpPr>
        <p:spPr>
          <a:xfrm>
            <a:off x="1086307" y="3372307"/>
            <a:ext cx="2830982" cy="2953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원문의 단어를 2~3개만 바꾸고,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1086306" y="3659429"/>
            <a:ext cx="2788197" cy="5907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출처 표기 없이 그대로 사용한다.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4419295" y="2371954"/>
            <a:ext cx="3353105" cy="3914546"/>
          </a:xfrm>
          <a:prstGeom prst="roundRect">
            <a:avLst>
              <a:gd name="adj" fmla="val 1549"/>
            </a:avLst>
          </a:prstGeom>
          <a:solidFill>
            <a:srgbClr val="1E293B"/>
          </a:solidFill>
          <a:ln w="25400">
            <a:solidFill>
              <a:srgbClr val="334155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7" name="Shape 15"/>
          <p:cNvSpPr/>
          <p:nvPr/>
        </p:nvSpPr>
        <p:spPr>
          <a:xfrm>
            <a:off x="4743907" y="2695651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0F172A"/>
          </a:solidFill>
          <a:ln w="12700">
            <a:solidFill>
              <a:srgbClr val="334155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8" name="Text 16"/>
          <p:cNvSpPr txBox="1"/>
          <p:nvPr/>
        </p:nvSpPr>
        <p:spPr>
          <a:xfrm>
            <a:off x="4893869" y="2752344"/>
            <a:ext cx="333756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B</a:t>
            </a:r>
            <a:endParaRPr lang="en-US" sz="1800" dirty="0"/>
          </a:p>
        </p:txBody>
      </p:sp>
      <p:sp>
        <p:nvSpPr>
          <p:cNvPr id="19" name="Text 17"/>
          <p:cNvSpPr txBox="1"/>
          <p:nvPr/>
        </p:nvSpPr>
        <p:spPr>
          <a:xfrm>
            <a:off x="4743907" y="3372307"/>
            <a:ext cx="2412187" cy="2953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긴 문단을 직접 인용하면서</a:t>
            </a:r>
            <a:endParaRPr lang="en-US" sz="1600" dirty="0"/>
          </a:p>
        </p:txBody>
      </p:sp>
      <p:sp>
        <p:nvSpPr>
          <p:cNvPr id="20" name="Text 18"/>
          <p:cNvSpPr txBox="1"/>
          <p:nvPr/>
        </p:nvSpPr>
        <p:spPr>
          <a:xfrm>
            <a:off x="4743907" y="3659429"/>
            <a:ext cx="2843486" cy="5907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맥락 설명 없이 따옴표만 붙인다.</a:t>
            </a:r>
            <a:endParaRPr lang="en-US" sz="1600" dirty="0"/>
          </a:p>
        </p:txBody>
      </p:sp>
      <p:sp>
        <p:nvSpPr>
          <p:cNvPr id="21" name="Shape 19"/>
          <p:cNvSpPr/>
          <p:nvPr/>
        </p:nvSpPr>
        <p:spPr>
          <a:xfrm>
            <a:off x="8076895" y="2371954"/>
            <a:ext cx="3353105" cy="3914546"/>
          </a:xfrm>
          <a:prstGeom prst="roundRect">
            <a:avLst>
              <a:gd name="adj" fmla="val 1549"/>
            </a:avLst>
          </a:prstGeom>
          <a:solidFill>
            <a:srgbClr val="1E293B"/>
          </a:solidFill>
          <a:ln w="25400">
            <a:solidFill>
              <a:srgbClr val="334155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2" name="Shape 20"/>
          <p:cNvSpPr/>
          <p:nvPr/>
        </p:nvSpPr>
        <p:spPr>
          <a:xfrm>
            <a:off x="8401507" y="2695651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0F172A"/>
          </a:solidFill>
          <a:ln w="12700">
            <a:solidFill>
              <a:srgbClr val="334155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3" name="Text 21"/>
          <p:cNvSpPr txBox="1"/>
          <p:nvPr/>
        </p:nvSpPr>
        <p:spPr>
          <a:xfrm>
            <a:off x="8554212" y="2752344"/>
            <a:ext cx="324612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</a:t>
            </a:r>
            <a:endParaRPr lang="en-US" sz="1800" dirty="0"/>
          </a:p>
        </p:txBody>
      </p:sp>
      <p:sp>
        <p:nvSpPr>
          <p:cNvPr id="24" name="Text 22"/>
          <p:cNvSpPr txBox="1"/>
          <p:nvPr/>
        </p:nvSpPr>
        <p:spPr>
          <a:xfrm>
            <a:off x="8401507" y="3372307"/>
            <a:ext cx="2850185" cy="2953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원문의 의미를 완전히 이해한 후</a:t>
            </a:r>
            <a:endParaRPr lang="en-US" sz="1600" dirty="0"/>
          </a:p>
        </p:txBody>
      </p:sp>
      <p:sp>
        <p:nvSpPr>
          <p:cNvPr id="25" name="Text 23"/>
          <p:cNvSpPr txBox="1"/>
          <p:nvPr/>
        </p:nvSpPr>
        <p:spPr>
          <a:xfrm>
            <a:off x="8401507" y="3693453"/>
            <a:ext cx="2850185" cy="5907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6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나의 언어로 </a:t>
            </a:r>
            <a:r>
              <a:rPr lang="en-US" sz="1600" dirty="0" err="1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요약하고</a:t>
            </a:r>
            <a:r>
              <a:rPr lang="en-US" sz="16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</a:p>
          <a:p>
            <a:pPr marL="0" indent="0" algn="l">
              <a:lnSpc>
                <a:spcPct val="150000"/>
              </a:lnSpc>
              <a:buNone/>
            </a:pPr>
            <a:r>
              <a:rPr lang="en-US" sz="1600" dirty="0" err="1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출처를</a:t>
            </a:r>
            <a:r>
              <a:rPr lang="en-US" sz="16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밝힌다.</a:t>
            </a:r>
            <a:endParaRPr lang="en-US" sz="1600" dirty="0"/>
          </a:p>
        </p:txBody>
      </p:sp>
      <p:sp>
        <p:nvSpPr>
          <p:cNvPr id="26" name="Shape 24"/>
          <p:cNvSpPr/>
          <p:nvPr/>
        </p:nvSpPr>
        <p:spPr>
          <a:xfrm>
            <a:off x="10411358" y="571500"/>
            <a:ext cx="1019556" cy="466344"/>
          </a:xfrm>
          <a:prstGeom prst="roundRect">
            <a:avLst>
              <a:gd name="adj" fmla="val 196078"/>
            </a:avLst>
          </a:prstGeom>
          <a:solidFill>
            <a:srgbClr val="0F172A">
              <a:alpha val="60000"/>
            </a:srgbClr>
          </a:solidFill>
          <a:ln w="12700">
            <a:solidFill>
              <a:srgbClr val="38BDF8"/>
            </a:solidFill>
            <a:prstDash val="solid"/>
          </a:ln>
          <a:effectLst>
            <a:outerShdw blurRad="63500" dist="38100" dir="5400000" algn="bl" rotWithShape="0">
              <a:srgbClr val="000000">
                <a:alpha val="2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pic>
        <p:nvPicPr>
          <p:cNvPr id="27" name="Image 0" descr="preencoded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10611612" y="715975"/>
            <a:ext cx="171907" cy="171907"/>
          </a:xfrm>
          <a:prstGeom prst="rect">
            <a:avLst/>
          </a:prstGeom>
        </p:spPr>
      </p:pic>
      <p:sp>
        <p:nvSpPr>
          <p:cNvPr id="28" name="Text 25"/>
          <p:cNvSpPr txBox="1"/>
          <p:nvPr/>
        </p:nvSpPr>
        <p:spPr>
          <a:xfrm>
            <a:off x="10877702" y="676656"/>
            <a:ext cx="478231" cy="2386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38BDF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30초</a:t>
            </a:r>
            <a:endParaRPr lang="en-US" sz="1300" dirty="0"/>
          </a:p>
        </p:txBody>
      </p:sp>
      <p:sp>
        <p:nvSpPr>
          <p:cNvPr id="29" name="Shape 26"/>
          <p:cNvSpPr/>
          <p:nvPr/>
        </p:nvSpPr>
        <p:spPr>
          <a:xfrm>
            <a:off x="9214409" y="1181405"/>
            <a:ext cx="2219249" cy="457200"/>
          </a:xfrm>
          <a:prstGeom prst="roundRect">
            <a:avLst>
              <a:gd name="adj" fmla="val 50000"/>
            </a:avLst>
          </a:prstGeom>
          <a:solidFill>
            <a:srgbClr val="F43F5E"/>
          </a:solidFill>
          <a:ln/>
          <a:effectLst>
            <a:outerShdw blurRad="139700" dist="101600" dir="5400000" algn="bl" rotWithShape="0">
              <a:srgbClr val="F43F5E">
                <a:alpha val="3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pic>
        <p:nvPicPr>
          <p:cNvPr id="30" name="Image 1" descr="preencoded.png"/>
          <p:cNvPicPr>
            <a:picLocks noChangeAspect="1"/>
          </p:cNvPicPr>
          <p:nvPr/>
        </p:nvPicPr>
        <p:blipFill>
          <a:blip r:embed="rId4"/>
          <a:srcRect t="-43" b="-43"/>
          <a:stretch/>
        </p:blipFill>
        <p:spPr>
          <a:xfrm>
            <a:off x="9443009" y="1334110"/>
            <a:ext cx="133502" cy="152705"/>
          </a:xfrm>
          <a:prstGeom prst="rect">
            <a:avLst/>
          </a:prstGeom>
        </p:spPr>
      </p:pic>
      <p:sp>
        <p:nvSpPr>
          <p:cNvPr id="31" name="Text 27"/>
          <p:cNvSpPr txBox="1"/>
          <p:nvPr/>
        </p:nvSpPr>
        <p:spPr>
          <a:xfrm>
            <a:off x="9671609" y="1295705"/>
            <a:ext cx="164866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 err="1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정답은</a:t>
            </a: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? …………… C</a:t>
            </a:r>
            <a:endParaRPr lang="en-US" sz="1200" dirty="0"/>
          </a:p>
        </p:txBody>
      </p:sp>
      <p:sp>
        <p:nvSpPr>
          <p:cNvPr id="32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이애본(드림아이티비즈) · useful-ai.dreamitbiz.com · 교육 목적 비영리 이용 · 출처 표기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rcRect t="-1" b="-1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10126980" y="2952598"/>
            <a:ext cx="5401361" cy="55156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</a:t>
            </a:r>
            <a:endParaRPr lang="en-US" sz="30000" dirty="0"/>
          </a:p>
        </p:txBody>
      </p:sp>
      <p:sp>
        <p:nvSpPr>
          <p:cNvPr id="6" name="Shape 3"/>
          <p:cNvSpPr/>
          <p:nvPr/>
        </p:nvSpPr>
        <p:spPr>
          <a:xfrm>
            <a:off x="8324698" y="1028700"/>
            <a:ext cx="1429207" cy="1429207"/>
          </a:xfrm>
          <a:prstGeom prst="ellipse">
            <a:avLst/>
          </a:prstGeom>
          <a:noFill/>
          <a:ln w="12700">
            <a:solidFill>
              <a:srgbClr val="38BDF8">
                <a:alpha val="2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" name="Shape 4"/>
          <p:cNvSpPr/>
          <p:nvPr/>
        </p:nvSpPr>
        <p:spPr>
          <a:xfrm>
            <a:off x="1218895" y="4724705"/>
            <a:ext cx="761695" cy="761695"/>
          </a:xfrm>
          <a:prstGeom prst="rect">
            <a:avLst/>
          </a:prstGeom>
          <a:noFill/>
          <a:ln w="12700">
            <a:solidFill>
              <a:srgbClr val="38BDF8">
                <a:alpha val="2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" name="Shape 5"/>
          <p:cNvSpPr/>
          <p:nvPr/>
        </p:nvSpPr>
        <p:spPr>
          <a:xfrm>
            <a:off x="952805" y="1988820"/>
            <a:ext cx="933602" cy="428854"/>
          </a:xfrm>
          <a:prstGeom prst="roundRect">
            <a:avLst>
              <a:gd name="adj" fmla="val 18953"/>
            </a:avLst>
          </a:prstGeom>
          <a:solidFill>
            <a:srgbClr val="38BDF8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9" name="Shape 6"/>
          <p:cNvSpPr/>
          <p:nvPr/>
        </p:nvSpPr>
        <p:spPr>
          <a:xfrm>
            <a:off x="2031797" y="2192731"/>
            <a:ext cx="952805" cy="19202"/>
          </a:xfrm>
          <a:prstGeom prst="rect">
            <a:avLst/>
          </a:prstGeom>
          <a:solidFill>
            <a:srgbClr val="38BDF8">
              <a:alpha val="5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0" name="Shape 7"/>
          <p:cNvSpPr/>
          <p:nvPr/>
        </p:nvSpPr>
        <p:spPr>
          <a:xfrm>
            <a:off x="952805" y="3954780"/>
            <a:ext cx="38405" cy="914400"/>
          </a:xfrm>
          <a:prstGeom prst="rect">
            <a:avLst/>
          </a:prstGeom>
          <a:solidFill>
            <a:srgbClr val="334155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1" name="Text 8"/>
          <p:cNvSpPr txBox="1"/>
          <p:nvPr/>
        </p:nvSpPr>
        <p:spPr>
          <a:xfrm>
            <a:off x="1143000" y="2064715"/>
            <a:ext cx="690372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0F172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파트 C</a:t>
            </a:r>
            <a:endParaRPr lang="en-US" sz="1400" dirty="0"/>
          </a:p>
        </p:txBody>
      </p:sp>
      <p:sp>
        <p:nvSpPr>
          <p:cNvPr id="12" name="Text 9"/>
          <p:cNvSpPr txBox="1"/>
          <p:nvPr/>
        </p:nvSpPr>
        <p:spPr>
          <a:xfrm>
            <a:off x="952805" y="2558491"/>
            <a:ext cx="7515454" cy="13240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서지관리도구 실습</a:t>
            </a:r>
            <a:endParaRPr lang="en-US" sz="7200" dirty="0"/>
          </a:p>
        </p:txBody>
      </p:sp>
      <p:sp>
        <p:nvSpPr>
          <p:cNvPr id="13" name="Text 10"/>
          <p:cNvSpPr txBox="1"/>
          <p:nvPr/>
        </p:nvSpPr>
        <p:spPr>
          <a:xfrm>
            <a:off x="1218895" y="3963924"/>
            <a:ext cx="8477402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4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Zotero로 수집 · 정리 · 인용 · 서지 작성까지 완벽한 참고문헌 관리 프로세스를 실습합니다.</a:t>
            </a:r>
            <a:endParaRPr lang="en-US" sz="2400" dirty="0"/>
          </a:p>
        </p:txBody>
      </p:sp>
      <p:sp>
        <p:nvSpPr>
          <p:cNvPr id="14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이애본(드림아이티비즈) · useful-ai.dreamitbiz.com · 교육 목적 비영리 이용 · 출처 표기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" name="Shape 2"/>
          <p:cNvSpPr/>
          <p:nvPr/>
        </p:nvSpPr>
        <p:spPr>
          <a:xfrm>
            <a:off x="761695" y="476402"/>
            <a:ext cx="571500" cy="57607"/>
          </a:xfrm>
          <a:prstGeom prst="rect">
            <a:avLst/>
          </a:prstGeom>
          <a:solidFill>
            <a:srgbClr val="38BDF8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" name="Shape 3"/>
          <p:cNvSpPr/>
          <p:nvPr/>
        </p:nvSpPr>
        <p:spPr>
          <a:xfrm>
            <a:off x="6992417" y="1299362"/>
            <a:ext cx="1181405" cy="381305"/>
          </a:xfrm>
          <a:prstGeom prst="roundRect">
            <a:avLst>
              <a:gd name="adj" fmla="val 239808"/>
            </a:avLst>
          </a:prstGeom>
          <a:solidFill>
            <a:srgbClr val="38BDF8">
              <a:alpha val="15000"/>
            </a:srgbClr>
          </a:solidFill>
          <a:ln w="12700">
            <a:solidFill>
              <a:srgbClr val="38BDF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rcRect l="-1507" r="-1507"/>
          <a:stretch/>
        </p:blipFill>
        <p:spPr>
          <a:xfrm>
            <a:off x="7154266" y="1420978"/>
            <a:ext cx="171907" cy="13350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7402068" y="1385316"/>
            <a:ext cx="71323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38BDF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PC/노트북</a:t>
            </a:r>
            <a:endParaRPr lang="en-US" sz="1000" dirty="0"/>
          </a:p>
        </p:txBody>
      </p:sp>
      <p:sp>
        <p:nvSpPr>
          <p:cNvPr id="8" name="Shape 5"/>
          <p:cNvSpPr/>
          <p:nvPr/>
        </p:nvSpPr>
        <p:spPr>
          <a:xfrm>
            <a:off x="8288122" y="1299362"/>
            <a:ext cx="1638605" cy="381305"/>
          </a:xfrm>
          <a:prstGeom prst="roundRect">
            <a:avLst>
              <a:gd name="adj" fmla="val 239808"/>
            </a:avLst>
          </a:prstGeom>
          <a:solidFill>
            <a:srgbClr val="38BDF8">
              <a:alpha val="15000"/>
            </a:srgbClr>
          </a:solidFill>
          <a:ln w="12700">
            <a:solidFill>
              <a:srgbClr val="38BDF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9" name="Image 1" descr="preencoded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8449970" y="1420978"/>
            <a:ext cx="133502" cy="133502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8659368" y="1385316"/>
            <a:ext cx="120792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38BDF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크롬/엣지 브라우저</a:t>
            </a:r>
            <a:endParaRPr lang="en-US" sz="1000" dirty="0"/>
          </a:p>
        </p:txBody>
      </p:sp>
      <p:sp>
        <p:nvSpPr>
          <p:cNvPr id="11" name="Shape 7"/>
          <p:cNvSpPr/>
          <p:nvPr/>
        </p:nvSpPr>
        <p:spPr>
          <a:xfrm>
            <a:off x="10036454" y="1299362"/>
            <a:ext cx="1399946" cy="381305"/>
          </a:xfrm>
          <a:prstGeom prst="roundRect">
            <a:avLst>
              <a:gd name="adj" fmla="val 239808"/>
            </a:avLst>
          </a:prstGeom>
          <a:solidFill>
            <a:srgbClr val="38BDF8">
              <a:alpha val="15000"/>
            </a:srgbClr>
          </a:solidFill>
          <a:ln w="12700">
            <a:solidFill>
              <a:srgbClr val="38BDF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5"/>
          <a:srcRect l="-2512" r="-2512"/>
          <a:stretch/>
        </p:blipFill>
        <p:spPr>
          <a:xfrm>
            <a:off x="10198303" y="1420978"/>
            <a:ext cx="105156" cy="133502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10379354" y="1385316"/>
            <a:ext cx="998525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38BDF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MS Word/한글</a:t>
            </a:r>
            <a:endParaRPr lang="en-US" sz="1000" dirty="0"/>
          </a:p>
        </p:txBody>
      </p:sp>
      <p:pic>
        <p:nvPicPr>
          <p:cNvPr id="14" name="Image 3" descr="preencoded.png"/>
          <p:cNvPicPr>
            <a:picLocks noChangeAspect="1"/>
          </p:cNvPicPr>
          <p:nvPr/>
        </p:nvPicPr>
        <p:blipFill>
          <a:blip r:embed="rId6"/>
          <a:srcRect/>
          <a:stretch/>
        </p:blipFill>
        <p:spPr>
          <a:xfrm>
            <a:off x="3427171" y="6219749"/>
            <a:ext cx="133502" cy="133502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761695" y="676656"/>
            <a:ext cx="5306263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6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Zotero 설치 및 기본 세팅</a:t>
            </a:r>
            <a:endParaRPr lang="en-US" sz="3600" dirty="0"/>
          </a:p>
        </p:txBody>
      </p:sp>
      <p:sp>
        <p:nvSpPr>
          <p:cNvPr id="16" name="Text 10"/>
          <p:cNvSpPr txBox="1"/>
          <p:nvPr/>
        </p:nvSpPr>
        <p:spPr>
          <a:xfrm>
            <a:off x="761695" y="1399946"/>
            <a:ext cx="4372661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dirty="0">
                <a:solidFill>
                  <a:srgbClr val="D1D5D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연구 자료를 체계적으로 관리하기 위한 첫 걸음입니다.</a:t>
            </a:r>
            <a:endParaRPr lang="en-US" sz="1500" dirty="0"/>
          </a:p>
        </p:txBody>
      </p:sp>
      <p:sp>
        <p:nvSpPr>
          <p:cNvPr id="17" name="Text 11"/>
          <p:cNvSpPr txBox="1"/>
          <p:nvPr/>
        </p:nvSpPr>
        <p:spPr>
          <a:xfrm>
            <a:off x="11061497" y="994867"/>
            <a:ext cx="471830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준비물</a:t>
            </a:r>
            <a:endParaRPr lang="en-US" sz="1000" dirty="0"/>
          </a:p>
        </p:txBody>
      </p:sp>
      <p:sp>
        <p:nvSpPr>
          <p:cNvPr id="18" name="Text 12"/>
          <p:cNvSpPr txBox="1"/>
          <p:nvPr/>
        </p:nvSpPr>
        <p:spPr>
          <a:xfrm>
            <a:off x="3637483" y="6191402"/>
            <a:ext cx="5234026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학교 계정이 아닌 개인 계정으로 가입해도 무료 용량(300MB) 내에서 충분히 실습 가능합니다.</a:t>
            </a:r>
            <a:endParaRPr lang="en-US" sz="1000" dirty="0"/>
          </a:p>
        </p:txBody>
      </p:sp>
      <p:sp>
        <p:nvSpPr>
          <p:cNvPr id="19" name="Shape 13"/>
          <p:cNvSpPr/>
          <p:nvPr/>
        </p:nvSpPr>
        <p:spPr>
          <a:xfrm>
            <a:off x="1524305" y="4048049"/>
            <a:ext cx="9144000" cy="38405"/>
          </a:xfrm>
          <a:prstGeom prst="rect">
            <a:avLst/>
          </a:prstGeom>
          <a:solidFill>
            <a:srgbClr val="334155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0" name="Shape 14"/>
          <p:cNvSpPr/>
          <p:nvPr/>
        </p:nvSpPr>
        <p:spPr>
          <a:xfrm>
            <a:off x="761695" y="2542946"/>
            <a:ext cx="3258007" cy="3047695"/>
          </a:xfrm>
          <a:prstGeom prst="roundRect">
            <a:avLst>
              <a:gd name="adj" fmla="val 1500"/>
            </a:avLst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  <a:effectLst>
            <a:outerShdw blurRad="292100" dist="101600" dir="54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21" name="Shape 15"/>
          <p:cNvSpPr/>
          <p:nvPr/>
        </p:nvSpPr>
        <p:spPr>
          <a:xfrm>
            <a:off x="1958645" y="2933395"/>
            <a:ext cx="857707" cy="685800"/>
          </a:xfrm>
          <a:prstGeom prst="ellipse">
            <a:avLst/>
          </a:prstGeom>
          <a:solidFill>
            <a:srgbClr val="38BDF8">
              <a:alpha val="1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22" name="Image 4" descr="preencoded.png"/>
          <p:cNvPicPr>
            <a:picLocks noChangeAspect="1"/>
          </p:cNvPicPr>
          <p:nvPr/>
        </p:nvPicPr>
        <p:blipFill>
          <a:blip r:embed="rId7"/>
          <a:srcRect/>
          <a:stretch/>
        </p:blipFill>
        <p:spPr>
          <a:xfrm>
            <a:off x="2197303" y="3081528"/>
            <a:ext cx="381305" cy="381305"/>
          </a:xfrm>
          <a:prstGeom prst="rect">
            <a:avLst/>
          </a:prstGeom>
        </p:spPr>
      </p:pic>
      <p:sp>
        <p:nvSpPr>
          <p:cNvPr id="23" name="Text 16"/>
          <p:cNvSpPr txBox="1"/>
          <p:nvPr/>
        </p:nvSpPr>
        <p:spPr>
          <a:xfrm>
            <a:off x="1697126" y="3877970"/>
            <a:ext cx="1564538" cy="3529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9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프로그램 설치</a:t>
            </a:r>
            <a:endParaRPr lang="en-US" sz="1900" dirty="0"/>
          </a:p>
        </p:txBody>
      </p:sp>
      <p:sp>
        <p:nvSpPr>
          <p:cNvPr id="24" name="Text 17"/>
          <p:cNvSpPr txBox="1"/>
          <p:nvPr/>
        </p:nvSpPr>
        <p:spPr>
          <a:xfrm>
            <a:off x="1521562" y="4405579"/>
            <a:ext cx="1859890" cy="2386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Zotero 홈페이지 접속 후</a:t>
            </a:r>
            <a:endParaRPr lang="en-US" sz="1300" dirty="0"/>
          </a:p>
        </p:txBody>
      </p:sp>
      <p:sp>
        <p:nvSpPr>
          <p:cNvPr id="25" name="Text 18"/>
          <p:cNvSpPr txBox="1"/>
          <p:nvPr/>
        </p:nvSpPr>
        <p:spPr>
          <a:xfrm>
            <a:off x="1439266" y="4673498"/>
            <a:ext cx="2030882" cy="2386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데스크탑 앱(Zotero 6/7)을</a:t>
            </a:r>
            <a:endParaRPr lang="en-US" sz="1300" dirty="0"/>
          </a:p>
        </p:txBody>
      </p:sp>
      <p:sp>
        <p:nvSpPr>
          <p:cNvPr id="26" name="Text 19"/>
          <p:cNvSpPr txBox="1"/>
          <p:nvPr/>
        </p:nvSpPr>
        <p:spPr>
          <a:xfrm>
            <a:off x="1546250" y="4942332"/>
            <a:ext cx="1812341" cy="2386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다운로드 및 설치합니다.</a:t>
            </a:r>
            <a:endParaRPr lang="en-US" sz="1300" dirty="0"/>
          </a:p>
        </p:txBody>
      </p:sp>
      <p:sp>
        <p:nvSpPr>
          <p:cNvPr id="27" name="Shape 20"/>
          <p:cNvSpPr/>
          <p:nvPr/>
        </p:nvSpPr>
        <p:spPr>
          <a:xfrm>
            <a:off x="4470502" y="2542946"/>
            <a:ext cx="3258007" cy="3047695"/>
          </a:xfrm>
          <a:prstGeom prst="roundRect">
            <a:avLst>
              <a:gd name="adj" fmla="val 1500"/>
            </a:avLst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  <a:effectLst>
            <a:outerShdw blurRad="292100" dist="101600" dir="54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28" name="Shape 21"/>
          <p:cNvSpPr/>
          <p:nvPr/>
        </p:nvSpPr>
        <p:spPr>
          <a:xfrm>
            <a:off x="5667451" y="2933395"/>
            <a:ext cx="857707" cy="685800"/>
          </a:xfrm>
          <a:prstGeom prst="ellipse">
            <a:avLst/>
          </a:prstGeom>
          <a:solidFill>
            <a:srgbClr val="38BDF8">
              <a:alpha val="1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29" name="Image 5" descr="preencoded.png"/>
          <p:cNvPicPr>
            <a:picLocks noChangeAspect="1"/>
          </p:cNvPicPr>
          <p:nvPr/>
        </p:nvPicPr>
        <p:blipFill>
          <a:blip r:embed="rId8"/>
          <a:srcRect/>
          <a:stretch/>
        </p:blipFill>
        <p:spPr>
          <a:xfrm>
            <a:off x="5905195" y="3081528"/>
            <a:ext cx="381305" cy="381305"/>
          </a:xfrm>
          <a:prstGeom prst="rect">
            <a:avLst/>
          </a:prstGeom>
        </p:spPr>
      </p:pic>
      <p:sp>
        <p:nvSpPr>
          <p:cNvPr id="30" name="Text 22"/>
          <p:cNvSpPr txBox="1"/>
          <p:nvPr/>
        </p:nvSpPr>
        <p:spPr>
          <a:xfrm>
            <a:off x="5515661" y="3877970"/>
            <a:ext cx="1345082" cy="3529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9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커넥터 추가</a:t>
            </a:r>
            <a:endParaRPr lang="en-US" sz="1900" dirty="0"/>
          </a:p>
        </p:txBody>
      </p:sp>
      <p:sp>
        <p:nvSpPr>
          <p:cNvPr id="31" name="Text 23"/>
          <p:cNvSpPr txBox="1"/>
          <p:nvPr/>
        </p:nvSpPr>
        <p:spPr>
          <a:xfrm>
            <a:off x="5177333" y="4405579"/>
            <a:ext cx="1964131" cy="2386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웹 브라우저 확장 프로그램</a:t>
            </a:r>
            <a:endParaRPr lang="en-US" sz="1300" dirty="0"/>
          </a:p>
        </p:txBody>
      </p:sp>
      <p:sp>
        <p:nvSpPr>
          <p:cNvPr id="32" name="Text 24"/>
          <p:cNvSpPr txBox="1"/>
          <p:nvPr/>
        </p:nvSpPr>
        <p:spPr>
          <a:xfrm>
            <a:off x="5020056" y="4673498"/>
            <a:ext cx="2278685" cy="2386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(Zotero Connector)를 설치해</a:t>
            </a:r>
            <a:endParaRPr lang="en-US" sz="1300" dirty="0"/>
          </a:p>
        </p:txBody>
      </p:sp>
      <p:sp>
        <p:nvSpPr>
          <p:cNvPr id="33" name="Text 25"/>
          <p:cNvSpPr txBox="1"/>
          <p:nvPr/>
        </p:nvSpPr>
        <p:spPr>
          <a:xfrm>
            <a:off x="5076749" y="4942332"/>
            <a:ext cx="2164385" cy="2386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원클릭 수집 환경을 만듭니다.</a:t>
            </a:r>
            <a:endParaRPr lang="en-US" sz="1300" dirty="0"/>
          </a:p>
        </p:txBody>
      </p:sp>
      <p:sp>
        <p:nvSpPr>
          <p:cNvPr id="34" name="Shape 26"/>
          <p:cNvSpPr/>
          <p:nvPr/>
        </p:nvSpPr>
        <p:spPr>
          <a:xfrm>
            <a:off x="8178394" y="2542946"/>
            <a:ext cx="3258007" cy="3047695"/>
          </a:xfrm>
          <a:prstGeom prst="roundRect">
            <a:avLst>
              <a:gd name="adj" fmla="val 1500"/>
            </a:avLst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  <a:effectLst>
            <a:outerShdw blurRad="292100" dist="101600" dir="54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35" name="Shape 27"/>
          <p:cNvSpPr/>
          <p:nvPr/>
        </p:nvSpPr>
        <p:spPr>
          <a:xfrm>
            <a:off x="9375343" y="2933395"/>
            <a:ext cx="857707" cy="685800"/>
          </a:xfrm>
          <a:prstGeom prst="ellipse">
            <a:avLst/>
          </a:prstGeom>
          <a:solidFill>
            <a:srgbClr val="38BDF8">
              <a:alpha val="1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36" name="Image 6" descr="preencoded.png"/>
          <p:cNvPicPr>
            <a:picLocks noChangeAspect="1"/>
          </p:cNvPicPr>
          <p:nvPr/>
        </p:nvPicPr>
        <p:blipFill>
          <a:blip r:embed="rId9"/>
          <a:srcRect/>
          <a:stretch/>
        </p:blipFill>
        <p:spPr>
          <a:xfrm>
            <a:off x="9614002" y="3081528"/>
            <a:ext cx="381305" cy="381305"/>
          </a:xfrm>
          <a:prstGeom prst="rect">
            <a:avLst/>
          </a:prstGeom>
        </p:spPr>
      </p:pic>
      <p:sp>
        <p:nvSpPr>
          <p:cNvPr id="37" name="Text 28"/>
          <p:cNvSpPr txBox="1"/>
          <p:nvPr/>
        </p:nvSpPr>
        <p:spPr>
          <a:xfrm>
            <a:off x="9224467" y="3877970"/>
            <a:ext cx="1345082" cy="3529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9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스타일 설정</a:t>
            </a:r>
            <a:endParaRPr lang="en-US" sz="1900" dirty="0"/>
          </a:p>
        </p:txBody>
      </p:sp>
      <p:sp>
        <p:nvSpPr>
          <p:cNvPr id="38" name="Text 29"/>
          <p:cNvSpPr txBox="1"/>
          <p:nvPr/>
        </p:nvSpPr>
        <p:spPr>
          <a:xfrm>
            <a:off x="8916314" y="4405579"/>
            <a:ext cx="1907438" cy="2386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환경설정 &gt; 인용 메뉴에서</a:t>
            </a:r>
            <a:endParaRPr lang="en-US" sz="1300" dirty="0"/>
          </a:p>
        </p:txBody>
      </p:sp>
      <p:sp>
        <p:nvSpPr>
          <p:cNvPr id="39" name="Text 30"/>
          <p:cNvSpPr txBox="1"/>
          <p:nvPr/>
        </p:nvSpPr>
        <p:spPr>
          <a:xfrm>
            <a:off x="8699602" y="4673498"/>
            <a:ext cx="2345436" cy="2386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필요한 인용 양식(APA, MLA 등)</a:t>
            </a:r>
            <a:endParaRPr lang="en-US" sz="1300" dirty="0"/>
          </a:p>
        </p:txBody>
      </p:sp>
      <p:sp>
        <p:nvSpPr>
          <p:cNvPr id="40" name="Text 31"/>
          <p:cNvSpPr txBox="1"/>
          <p:nvPr/>
        </p:nvSpPr>
        <p:spPr>
          <a:xfrm>
            <a:off x="9039758" y="4942332"/>
            <a:ext cx="1659636" cy="2386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을 미리 추가해둡니다.</a:t>
            </a:r>
            <a:endParaRPr lang="en-US" sz="1300" dirty="0"/>
          </a:p>
        </p:txBody>
      </p:sp>
      <p:pic>
        <p:nvPicPr>
          <p:cNvPr id="41" name="Image 7" descr="preencoded.png"/>
          <p:cNvPicPr>
            <a:picLocks noChangeAspect="1"/>
          </p:cNvPicPr>
          <p:nvPr/>
        </p:nvPicPr>
        <p:blipFill>
          <a:blip r:embed="rId10"/>
          <a:srcRect t="-80" b="-80"/>
          <a:stretch/>
        </p:blipFill>
        <p:spPr>
          <a:xfrm>
            <a:off x="4166006" y="3952951"/>
            <a:ext cx="142646" cy="228600"/>
          </a:xfrm>
          <a:prstGeom prst="rect">
            <a:avLst/>
          </a:prstGeom>
        </p:spPr>
      </p:pic>
      <p:pic>
        <p:nvPicPr>
          <p:cNvPr id="42" name="Image 8" descr="preencoded.png"/>
          <p:cNvPicPr>
            <a:picLocks noChangeAspect="1"/>
          </p:cNvPicPr>
          <p:nvPr/>
        </p:nvPicPr>
        <p:blipFill>
          <a:blip r:embed="rId10"/>
          <a:srcRect t="-80" b="-80"/>
          <a:stretch/>
        </p:blipFill>
        <p:spPr>
          <a:xfrm>
            <a:off x="7873898" y="3952951"/>
            <a:ext cx="142646" cy="228600"/>
          </a:xfrm>
          <a:prstGeom prst="rect">
            <a:avLst/>
          </a:prstGeom>
        </p:spPr>
      </p:pic>
      <p:sp>
        <p:nvSpPr>
          <p:cNvPr id="43" name="Shape 32"/>
          <p:cNvSpPr/>
          <p:nvPr/>
        </p:nvSpPr>
        <p:spPr>
          <a:xfrm>
            <a:off x="2158898" y="2361895"/>
            <a:ext cx="457200" cy="457200"/>
          </a:xfrm>
          <a:prstGeom prst="ellipse">
            <a:avLst/>
          </a:prstGeom>
          <a:solidFill>
            <a:srgbClr val="0F172A"/>
          </a:solidFill>
          <a:ln w="25400">
            <a:solidFill>
              <a:srgbClr val="38BDF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4" name="Text 33"/>
          <p:cNvSpPr txBox="1"/>
          <p:nvPr/>
        </p:nvSpPr>
        <p:spPr>
          <a:xfrm>
            <a:off x="2322576" y="2430475"/>
            <a:ext cx="293522" cy="3246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38BDF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</a:t>
            </a:r>
            <a:endParaRPr lang="en-US" sz="1600" dirty="0"/>
          </a:p>
        </p:txBody>
      </p:sp>
      <p:sp>
        <p:nvSpPr>
          <p:cNvPr id="45" name="Shape 34"/>
          <p:cNvSpPr/>
          <p:nvPr/>
        </p:nvSpPr>
        <p:spPr>
          <a:xfrm>
            <a:off x="5867705" y="2361895"/>
            <a:ext cx="457200" cy="457200"/>
          </a:xfrm>
          <a:prstGeom prst="ellipse">
            <a:avLst/>
          </a:prstGeom>
          <a:solidFill>
            <a:srgbClr val="0F172A"/>
          </a:solidFill>
          <a:ln w="25400">
            <a:solidFill>
              <a:srgbClr val="38BDF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6" name="Text 35"/>
          <p:cNvSpPr txBox="1"/>
          <p:nvPr/>
        </p:nvSpPr>
        <p:spPr>
          <a:xfrm>
            <a:off x="6030468" y="2430475"/>
            <a:ext cx="293522" cy="3246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38BDF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</a:t>
            </a:r>
            <a:endParaRPr lang="en-US" sz="1600" dirty="0"/>
          </a:p>
        </p:txBody>
      </p:sp>
      <p:sp>
        <p:nvSpPr>
          <p:cNvPr id="47" name="Shape 36"/>
          <p:cNvSpPr/>
          <p:nvPr/>
        </p:nvSpPr>
        <p:spPr>
          <a:xfrm>
            <a:off x="9575597" y="2361895"/>
            <a:ext cx="457200" cy="457200"/>
          </a:xfrm>
          <a:prstGeom prst="ellipse">
            <a:avLst/>
          </a:prstGeom>
          <a:solidFill>
            <a:srgbClr val="0F172A"/>
          </a:solidFill>
          <a:ln w="25400">
            <a:solidFill>
              <a:srgbClr val="38BDF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8" name="Text 37"/>
          <p:cNvSpPr txBox="1"/>
          <p:nvPr/>
        </p:nvSpPr>
        <p:spPr>
          <a:xfrm>
            <a:off x="9739274" y="2430475"/>
            <a:ext cx="293522" cy="3246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38BDF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3</a:t>
            </a:r>
            <a:endParaRPr lang="en-US" sz="1600" dirty="0"/>
          </a:p>
        </p:txBody>
      </p:sp>
      <p:sp>
        <p:nvSpPr>
          <p:cNvPr id="49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이애본(드림아이티비즈) · useful-ai.dreamitbiz.com · 교육 목적 비영리 이용 · 출처 표기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 t="21874" b="21874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761695" y="476402"/>
            <a:ext cx="571500" cy="57607"/>
          </a:xfrm>
          <a:prstGeom prst="rect">
            <a:avLst/>
          </a:prstGeom>
          <a:solidFill>
            <a:srgbClr val="38BDF8"/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6" name="Image 1" descr="preencoded.png"/>
          <p:cNvPicPr>
            <a:picLocks noChangeAspect="1"/>
          </p:cNvPicPr>
          <p:nvPr/>
        </p:nvPicPr>
        <p:blipFill>
          <a:blip r:embed="rId5"/>
          <a:srcRect l="-2512" r="-2512"/>
          <a:stretch/>
        </p:blipFill>
        <p:spPr>
          <a:xfrm>
            <a:off x="3441802" y="6219749"/>
            <a:ext cx="105156" cy="133502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761695" y="676656"/>
            <a:ext cx="6153912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6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Zotero 수집 및 정리 프로세스</a:t>
            </a:r>
            <a:endParaRPr lang="en-US" sz="3600" dirty="0"/>
          </a:p>
        </p:txBody>
      </p:sp>
      <p:sp>
        <p:nvSpPr>
          <p:cNvPr id="8" name="Text 4"/>
          <p:cNvSpPr txBox="1"/>
          <p:nvPr/>
        </p:nvSpPr>
        <p:spPr>
          <a:xfrm>
            <a:off x="761695" y="1399946"/>
            <a:ext cx="558241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dirty="0">
                <a:solidFill>
                  <a:srgbClr val="D1D5D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단 한 번의 클릭으로 자료를 저장하고, 태그로 스마트하게 관리하세요.</a:t>
            </a:r>
            <a:endParaRPr lang="en-US" sz="1500" dirty="0"/>
          </a:p>
        </p:txBody>
      </p:sp>
      <p:sp>
        <p:nvSpPr>
          <p:cNvPr id="9" name="Text 5"/>
          <p:cNvSpPr txBox="1"/>
          <p:nvPr/>
        </p:nvSpPr>
        <p:spPr>
          <a:xfrm>
            <a:off x="3622853" y="6191402"/>
            <a:ext cx="5234026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Tip: 학술논문(DOI 포함)과 뉴스 기사 1건씩 수집해보세요. 아이콘 모양이 다르게 표시됩니다.</a:t>
            </a:r>
            <a:endParaRPr lang="en-US" sz="1000" dirty="0"/>
          </a:p>
        </p:txBody>
      </p:sp>
      <p:sp>
        <p:nvSpPr>
          <p:cNvPr id="10" name="Shape 6"/>
          <p:cNvSpPr/>
          <p:nvPr/>
        </p:nvSpPr>
        <p:spPr>
          <a:xfrm>
            <a:off x="1238098" y="4000500"/>
            <a:ext cx="9715500" cy="38405"/>
          </a:xfrm>
          <a:prstGeom prst="rect">
            <a:avLst/>
          </a:prstGeom>
          <a:solidFill>
            <a:srgbClr val="334155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1" name="Shape 7"/>
          <p:cNvSpPr/>
          <p:nvPr/>
        </p:nvSpPr>
        <p:spPr>
          <a:xfrm>
            <a:off x="1238098" y="4000500"/>
            <a:ext cx="10668305" cy="38405"/>
          </a:xfrm>
          <a:prstGeom prst="rect">
            <a:avLst/>
          </a:prstGeom>
          <a:solidFill>
            <a:srgbClr val="0EA5E9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2" name="Shape 8"/>
          <p:cNvSpPr/>
          <p:nvPr/>
        </p:nvSpPr>
        <p:spPr>
          <a:xfrm>
            <a:off x="761695" y="2480767"/>
            <a:ext cx="3258007" cy="3086100"/>
          </a:xfrm>
          <a:prstGeom prst="roundRect">
            <a:avLst>
              <a:gd name="adj" fmla="val 1463"/>
            </a:avLst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  <a:effectLst>
            <a:outerShdw blurRad="292100" dist="101600" dir="54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3" name="Shape 9"/>
          <p:cNvSpPr/>
          <p:nvPr/>
        </p:nvSpPr>
        <p:spPr>
          <a:xfrm>
            <a:off x="1958645" y="2966314"/>
            <a:ext cx="857707" cy="857707"/>
          </a:xfrm>
          <a:prstGeom prst="ellipse">
            <a:avLst/>
          </a:prstGeom>
          <a:solidFill>
            <a:srgbClr val="38BDF8">
              <a:alpha val="1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14" name="Image 2" descr="preencoded.png"/>
          <p:cNvPicPr>
            <a:picLocks noChangeAspect="1"/>
          </p:cNvPicPr>
          <p:nvPr/>
        </p:nvPicPr>
        <p:blipFill>
          <a:blip r:embed="rId6"/>
          <a:srcRect/>
          <a:stretch/>
        </p:blipFill>
        <p:spPr>
          <a:xfrm>
            <a:off x="2221078" y="3228746"/>
            <a:ext cx="333756" cy="333756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2004365" y="4090111"/>
            <a:ext cx="966521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웹 캡처</a:t>
            </a:r>
            <a:endParaRPr lang="en-US" sz="2000" dirty="0"/>
          </a:p>
        </p:txBody>
      </p:sp>
      <p:sp>
        <p:nvSpPr>
          <p:cNvPr id="16" name="Text 11"/>
          <p:cNvSpPr txBox="1"/>
          <p:nvPr/>
        </p:nvSpPr>
        <p:spPr>
          <a:xfrm>
            <a:off x="1391717" y="4640580"/>
            <a:ext cx="2125980" cy="2386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브라우저 커넥터 아이콘 클릭</a:t>
            </a:r>
            <a:endParaRPr lang="en-US" sz="1300" dirty="0"/>
          </a:p>
        </p:txBody>
      </p:sp>
      <p:sp>
        <p:nvSpPr>
          <p:cNvPr id="17" name="Text 12"/>
          <p:cNvSpPr txBox="1"/>
          <p:nvPr/>
        </p:nvSpPr>
        <p:spPr>
          <a:xfrm>
            <a:off x="1265530" y="4909414"/>
            <a:ext cx="2373782" cy="2386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(논문, 기사, 웹페이지 자동 인식)</a:t>
            </a:r>
            <a:endParaRPr lang="en-US" sz="1300" dirty="0"/>
          </a:p>
        </p:txBody>
      </p:sp>
      <p:sp>
        <p:nvSpPr>
          <p:cNvPr id="18" name="Shape 13"/>
          <p:cNvSpPr/>
          <p:nvPr/>
        </p:nvSpPr>
        <p:spPr>
          <a:xfrm>
            <a:off x="4470502" y="2480767"/>
            <a:ext cx="3258007" cy="3086100"/>
          </a:xfrm>
          <a:prstGeom prst="roundRect">
            <a:avLst>
              <a:gd name="adj" fmla="val 1463"/>
            </a:avLst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  <a:effectLst>
            <a:outerShdw blurRad="292100" dist="101600" dir="54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9" name="Shape 14"/>
          <p:cNvSpPr/>
          <p:nvPr/>
        </p:nvSpPr>
        <p:spPr>
          <a:xfrm>
            <a:off x="5667451" y="2966314"/>
            <a:ext cx="857707" cy="857707"/>
          </a:xfrm>
          <a:prstGeom prst="ellipse">
            <a:avLst/>
          </a:prstGeom>
          <a:solidFill>
            <a:srgbClr val="38BDF8">
              <a:alpha val="1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20" name="Image 3" descr="preencoded.png"/>
          <p:cNvPicPr>
            <a:picLocks noChangeAspect="1"/>
          </p:cNvPicPr>
          <p:nvPr/>
        </p:nvPicPr>
        <p:blipFill>
          <a:blip r:embed="rId7"/>
          <a:srcRect/>
          <a:stretch/>
        </p:blipFill>
        <p:spPr>
          <a:xfrm>
            <a:off x="5928970" y="3228746"/>
            <a:ext cx="333756" cy="333756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5246827" y="4090111"/>
            <a:ext cx="1900123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메타데이터 정리</a:t>
            </a:r>
            <a:endParaRPr lang="en-US" sz="2000" dirty="0"/>
          </a:p>
        </p:txBody>
      </p:sp>
      <p:sp>
        <p:nvSpPr>
          <p:cNvPr id="22" name="Text 16"/>
          <p:cNvSpPr txBox="1"/>
          <p:nvPr/>
        </p:nvSpPr>
        <p:spPr>
          <a:xfrm>
            <a:off x="5174590" y="4640580"/>
            <a:ext cx="1974190" cy="2386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PDF를 드래그 앤 드롭하면</a:t>
            </a:r>
            <a:endParaRPr lang="en-US" sz="1300" dirty="0"/>
          </a:p>
        </p:txBody>
      </p:sp>
      <p:sp>
        <p:nvSpPr>
          <p:cNvPr id="23" name="Text 17"/>
          <p:cNvSpPr txBox="1"/>
          <p:nvPr/>
        </p:nvSpPr>
        <p:spPr>
          <a:xfrm>
            <a:off x="5100523" y="4909414"/>
            <a:ext cx="2125980" cy="2386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서지 정보가 자동으로 추출됨</a:t>
            </a:r>
            <a:endParaRPr lang="en-US" sz="1300" dirty="0"/>
          </a:p>
        </p:txBody>
      </p:sp>
      <p:sp>
        <p:nvSpPr>
          <p:cNvPr id="24" name="Shape 18"/>
          <p:cNvSpPr/>
          <p:nvPr/>
        </p:nvSpPr>
        <p:spPr>
          <a:xfrm>
            <a:off x="8178394" y="2480767"/>
            <a:ext cx="3258007" cy="3086100"/>
          </a:xfrm>
          <a:prstGeom prst="roundRect">
            <a:avLst>
              <a:gd name="adj" fmla="val 1463"/>
            </a:avLst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  <a:effectLst>
            <a:outerShdw blurRad="292100" dist="101600" dir="54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25" name="Shape 19"/>
          <p:cNvSpPr/>
          <p:nvPr/>
        </p:nvSpPr>
        <p:spPr>
          <a:xfrm>
            <a:off x="9375343" y="2966314"/>
            <a:ext cx="857707" cy="857707"/>
          </a:xfrm>
          <a:prstGeom prst="ellipse">
            <a:avLst/>
          </a:prstGeom>
          <a:solidFill>
            <a:srgbClr val="38BDF8">
              <a:alpha val="1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26" name="Image 4" descr="preencoded.png"/>
          <p:cNvPicPr>
            <a:picLocks noChangeAspect="1"/>
          </p:cNvPicPr>
          <p:nvPr/>
        </p:nvPicPr>
        <p:blipFill>
          <a:blip r:embed="rId8"/>
          <a:srcRect/>
          <a:stretch/>
        </p:blipFill>
        <p:spPr>
          <a:xfrm>
            <a:off x="9637776" y="3228746"/>
            <a:ext cx="333756" cy="333756"/>
          </a:xfrm>
          <a:prstGeom prst="rect">
            <a:avLst/>
          </a:prstGeom>
        </p:spPr>
      </p:pic>
      <p:sp>
        <p:nvSpPr>
          <p:cNvPr id="27" name="Text 20"/>
          <p:cNvSpPr txBox="1"/>
          <p:nvPr/>
        </p:nvSpPr>
        <p:spPr>
          <a:xfrm>
            <a:off x="9298534" y="4090111"/>
            <a:ext cx="1214323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태그·노트</a:t>
            </a:r>
            <a:endParaRPr lang="en-US" sz="2000" dirty="0"/>
          </a:p>
        </p:txBody>
      </p:sp>
      <p:sp>
        <p:nvSpPr>
          <p:cNvPr id="28" name="Text 21"/>
          <p:cNvSpPr txBox="1"/>
          <p:nvPr/>
        </p:nvSpPr>
        <p:spPr>
          <a:xfrm>
            <a:off x="8691372" y="4640580"/>
            <a:ext cx="2354580" cy="2386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주제별 태그(#AI, #윤리) 추가 및</a:t>
            </a:r>
            <a:endParaRPr lang="en-US" sz="1300" dirty="0"/>
          </a:p>
        </p:txBody>
      </p:sp>
      <p:sp>
        <p:nvSpPr>
          <p:cNvPr id="29" name="Text 22"/>
          <p:cNvSpPr txBox="1"/>
          <p:nvPr/>
        </p:nvSpPr>
        <p:spPr>
          <a:xfrm>
            <a:off x="8785555" y="4909414"/>
            <a:ext cx="2164385" cy="2386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중요 내용 메모로 체계적 관리</a:t>
            </a:r>
            <a:endParaRPr lang="en-US" sz="1300" dirty="0"/>
          </a:p>
        </p:txBody>
      </p:sp>
      <p:pic>
        <p:nvPicPr>
          <p:cNvPr id="30" name="Image 5" descr="preencoded.png"/>
          <p:cNvPicPr>
            <a:picLocks noChangeAspect="1"/>
          </p:cNvPicPr>
          <p:nvPr/>
        </p:nvPicPr>
        <p:blipFill>
          <a:blip r:embed="rId9"/>
          <a:srcRect t="-80" b="-80"/>
          <a:stretch/>
        </p:blipFill>
        <p:spPr>
          <a:xfrm>
            <a:off x="4166006" y="3905402"/>
            <a:ext cx="142646" cy="228600"/>
          </a:xfrm>
          <a:prstGeom prst="rect">
            <a:avLst/>
          </a:prstGeom>
        </p:spPr>
      </p:pic>
      <p:pic>
        <p:nvPicPr>
          <p:cNvPr id="31" name="Image 6" descr="preencoded.png"/>
          <p:cNvPicPr>
            <a:picLocks noChangeAspect="1"/>
          </p:cNvPicPr>
          <p:nvPr/>
        </p:nvPicPr>
        <p:blipFill>
          <a:blip r:embed="rId9"/>
          <a:srcRect t="-80" b="-80"/>
          <a:stretch/>
        </p:blipFill>
        <p:spPr>
          <a:xfrm>
            <a:off x="7873898" y="3905402"/>
            <a:ext cx="142646" cy="228600"/>
          </a:xfrm>
          <a:prstGeom prst="rect">
            <a:avLst/>
          </a:prstGeom>
        </p:spPr>
      </p:pic>
      <p:sp>
        <p:nvSpPr>
          <p:cNvPr id="32" name="Shape 23"/>
          <p:cNvSpPr/>
          <p:nvPr/>
        </p:nvSpPr>
        <p:spPr>
          <a:xfrm>
            <a:off x="2158898" y="2299716"/>
            <a:ext cx="457200" cy="457200"/>
          </a:xfrm>
          <a:prstGeom prst="ellipse">
            <a:avLst/>
          </a:prstGeom>
          <a:solidFill>
            <a:srgbClr val="0F172A"/>
          </a:solidFill>
          <a:ln w="25400">
            <a:solidFill>
              <a:srgbClr val="38BDF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3" name="Text 24"/>
          <p:cNvSpPr txBox="1"/>
          <p:nvPr/>
        </p:nvSpPr>
        <p:spPr>
          <a:xfrm>
            <a:off x="2322576" y="2368296"/>
            <a:ext cx="293522" cy="3246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38BDF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</a:t>
            </a:r>
            <a:endParaRPr lang="en-US" sz="1600" dirty="0"/>
          </a:p>
        </p:txBody>
      </p:sp>
      <p:sp>
        <p:nvSpPr>
          <p:cNvPr id="34" name="Shape 25"/>
          <p:cNvSpPr/>
          <p:nvPr/>
        </p:nvSpPr>
        <p:spPr>
          <a:xfrm>
            <a:off x="5867705" y="2299716"/>
            <a:ext cx="457200" cy="457200"/>
          </a:xfrm>
          <a:prstGeom prst="ellipse">
            <a:avLst/>
          </a:prstGeom>
          <a:solidFill>
            <a:srgbClr val="0F172A"/>
          </a:solidFill>
          <a:ln w="25400">
            <a:solidFill>
              <a:srgbClr val="38BDF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5" name="Text 26"/>
          <p:cNvSpPr txBox="1"/>
          <p:nvPr/>
        </p:nvSpPr>
        <p:spPr>
          <a:xfrm>
            <a:off x="6030468" y="2368296"/>
            <a:ext cx="293522" cy="3246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38BDF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</a:t>
            </a:r>
            <a:endParaRPr lang="en-US" sz="1600" dirty="0"/>
          </a:p>
        </p:txBody>
      </p:sp>
      <p:sp>
        <p:nvSpPr>
          <p:cNvPr id="36" name="Shape 27"/>
          <p:cNvSpPr/>
          <p:nvPr/>
        </p:nvSpPr>
        <p:spPr>
          <a:xfrm>
            <a:off x="9575597" y="2299716"/>
            <a:ext cx="457200" cy="457200"/>
          </a:xfrm>
          <a:prstGeom prst="ellipse">
            <a:avLst/>
          </a:prstGeom>
          <a:solidFill>
            <a:srgbClr val="0F172A"/>
          </a:solidFill>
          <a:ln w="25400">
            <a:solidFill>
              <a:srgbClr val="38BDF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7" name="Text 28"/>
          <p:cNvSpPr txBox="1"/>
          <p:nvPr/>
        </p:nvSpPr>
        <p:spPr>
          <a:xfrm>
            <a:off x="9739274" y="2368296"/>
            <a:ext cx="293522" cy="3246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38BDF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3</a:t>
            </a:r>
            <a:endParaRPr lang="en-US" sz="1600" dirty="0"/>
          </a:p>
        </p:txBody>
      </p:sp>
      <p:sp>
        <p:nvSpPr>
          <p:cNvPr id="38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이애본(드림아이티비즈) · useful-ai.dreamitbiz.com · 교육 목적 비영리 이용 · 출처 표기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" name="Shap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>
              <a:alpha val="3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" name="Shape 3"/>
          <p:cNvSpPr/>
          <p:nvPr/>
        </p:nvSpPr>
        <p:spPr>
          <a:xfrm>
            <a:off x="761695" y="476402"/>
            <a:ext cx="571500" cy="57607"/>
          </a:xfrm>
          <a:prstGeom prst="rect">
            <a:avLst/>
          </a:prstGeom>
          <a:solidFill>
            <a:srgbClr val="38BDF8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6" name="Shape 4"/>
          <p:cNvSpPr/>
          <p:nvPr/>
        </p:nvSpPr>
        <p:spPr>
          <a:xfrm>
            <a:off x="1429207" y="5699455"/>
            <a:ext cx="4572000" cy="685800"/>
          </a:xfrm>
          <a:prstGeom prst="roundRect">
            <a:avLst>
              <a:gd name="adj" fmla="val 18519"/>
            </a:avLst>
          </a:prstGeom>
          <a:solidFill>
            <a:srgbClr val="0F172A">
              <a:alpha val="60000"/>
            </a:srgbClr>
          </a:solidFill>
          <a:ln w="12700">
            <a:solidFill>
              <a:srgbClr val="475569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rcRect t="-2222" b="-2222"/>
          <a:stretch/>
        </p:blipFill>
        <p:spPr>
          <a:xfrm>
            <a:off x="1666951" y="5955487"/>
            <a:ext cx="123444" cy="171907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6191402" y="5699455"/>
            <a:ext cx="4572000" cy="685800"/>
          </a:xfrm>
          <a:prstGeom prst="roundRect">
            <a:avLst>
              <a:gd name="adj" fmla="val 18519"/>
            </a:avLst>
          </a:prstGeom>
          <a:solidFill>
            <a:srgbClr val="0F172A">
              <a:alpha val="60000"/>
            </a:srgbClr>
          </a:solidFill>
          <a:ln w="12700">
            <a:solidFill>
              <a:srgbClr val="475569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9" name="Image 1" descr="preencoded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6429146" y="5955487"/>
            <a:ext cx="171907" cy="171907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761695" y="724205"/>
            <a:ext cx="986638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워드/한글 연동</a:t>
            </a:r>
            <a:endParaRPr lang="en-US" sz="1000" dirty="0"/>
          </a:p>
        </p:txBody>
      </p:sp>
      <p:sp>
        <p:nvSpPr>
          <p:cNvPr id="11" name="Text 7"/>
          <p:cNvSpPr txBox="1"/>
          <p:nvPr/>
        </p:nvSpPr>
        <p:spPr>
          <a:xfrm>
            <a:off x="761695" y="942746"/>
            <a:ext cx="7115861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6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Zotero 인용 및 워드 연동 프로세스</a:t>
            </a:r>
            <a:endParaRPr lang="en-US" sz="3600" dirty="0"/>
          </a:p>
        </p:txBody>
      </p:sp>
      <p:sp>
        <p:nvSpPr>
          <p:cNvPr id="12" name="Text 8"/>
          <p:cNvSpPr txBox="1"/>
          <p:nvPr/>
        </p:nvSpPr>
        <p:spPr>
          <a:xfrm>
            <a:off x="761695" y="1666951"/>
            <a:ext cx="6182258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dirty="0">
                <a:solidFill>
                  <a:srgbClr val="D1D5D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워드 프로세서와 연동하여 자동으로 인용을 삽입하고 참고문헌을 생성합니다.</a:t>
            </a:r>
            <a:endParaRPr lang="en-US" sz="1500" dirty="0"/>
          </a:p>
        </p:txBody>
      </p:sp>
      <p:sp>
        <p:nvSpPr>
          <p:cNvPr id="13" name="Text 9"/>
          <p:cNvSpPr txBox="1"/>
          <p:nvPr/>
        </p:nvSpPr>
        <p:spPr>
          <a:xfrm>
            <a:off x="1904695" y="5823814"/>
            <a:ext cx="3871570" cy="4288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실수 방지 팁 1 : Zotero 프로그램이 실행 중이어야 워드 연동 기능이 정상 작동합니다.</a:t>
            </a:r>
            <a:endParaRPr lang="en-US" sz="1100" dirty="0"/>
          </a:p>
        </p:txBody>
      </p:sp>
      <p:sp>
        <p:nvSpPr>
          <p:cNvPr id="14" name="Text 10"/>
          <p:cNvSpPr txBox="1"/>
          <p:nvPr/>
        </p:nvSpPr>
        <p:spPr>
          <a:xfrm>
            <a:off x="6715354" y="5823814"/>
            <a:ext cx="3919118" cy="4288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실수 방지 팁 2 : 인용 수정 시 워드에서 직접 지우지 말고 Zotero 툴바를 이용하세요.</a:t>
            </a:r>
            <a:endParaRPr lang="en-US" sz="1100" dirty="0"/>
          </a:p>
        </p:txBody>
      </p:sp>
      <p:sp>
        <p:nvSpPr>
          <p:cNvPr id="15" name="Shape 11"/>
          <p:cNvSpPr/>
          <p:nvPr/>
        </p:nvSpPr>
        <p:spPr>
          <a:xfrm>
            <a:off x="1238098" y="3802075"/>
            <a:ext cx="9715500" cy="38405"/>
          </a:xfrm>
          <a:prstGeom prst="rect">
            <a:avLst/>
          </a:prstGeom>
          <a:solidFill>
            <a:srgbClr val="334155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6" name="Shape 12"/>
          <p:cNvSpPr/>
          <p:nvPr/>
        </p:nvSpPr>
        <p:spPr>
          <a:xfrm>
            <a:off x="1238098" y="3802075"/>
            <a:ext cx="9601200" cy="38405"/>
          </a:xfrm>
          <a:prstGeom prst="rect">
            <a:avLst/>
          </a:prstGeom>
          <a:solidFill>
            <a:srgbClr val="0EA5E9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7" name="Shape 13"/>
          <p:cNvSpPr/>
          <p:nvPr/>
        </p:nvSpPr>
        <p:spPr>
          <a:xfrm>
            <a:off x="761695" y="2488082"/>
            <a:ext cx="2467051" cy="2667305"/>
          </a:xfrm>
          <a:prstGeom prst="roundRect">
            <a:avLst>
              <a:gd name="adj" fmla="val 2290"/>
            </a:avLst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  <a:effectLst>
            <a:outerShdw blurRad="292100" dist="101600" dir="54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8" name="Shape 14"/>
          <p:cNvSpPr/>
          <p:nvPr/>
        </p:nvSpPr>
        <p:spPr>
          <a:xfrm>
            <a:off x="1662379" y="2840126"/>
            <a:ext cx="666598" cy="590702"/>
          </a:xfrm>
          <a:prstGeom prst="ellipse">
            <a:avLst/>
          </a:prstGeom>
          <a:solidFill>
            <a:srgbClr val="38BDF8">
              <a:alpha val="1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19" name="Image 2" descr="preencoded.png"/>
          <p:cNvPicPr>
            <a:picLocks noChangeAspect="1"/>
          </p:cNvPicPr>
          <p:nvPr/>
        </p:nvPicPr>
        <p:blipFill>
          <a:blip r:embed="rId5"/>
          <a:srcRect l="-552" r="-552"/>
          <a:stretch/>
        </p:blipFill>
        <p:spPr>
          <a:xfrm>
            <a:off x="1890979" y="2995574"/>
            <a:ext cx="209398" cy="276149"/>
          </a:xfrm>
          <a:prstGeom prst="rect">
            <a:avLst/>
          </a:prstGeom>
        </p:spPr>
      </p:pic>
      <p:sp>
        <p:nvSpPr>
          <p:cNvPr id="20" name="Text 15"/>
          <p:cNvSpPr txBox="1"/>
          <p:nvPr/>
        </p:nvSpPr>
        <p:spPr>
          <a:xfrm>
            <a:off x="1638605" y="3598164"/>
            <a:ext cx="863194" cy="2862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플러그인</a:t>
            </a:r>
            <a:endParaRPr lang="en-US" sz="1500" dirty="0"/>
          </a:p>
        </p:txBody>
      </p:sp>
      <p:sp>
        <p:nvSpPr>
          <p:cNvPr id="21" name="Text 16"/>
          <p:cNvSpPr txBox="1"/>
          <p:nvPr/>
        </p:nvSpPr>
        <p:spPr>
          <a:xfrm>
            <a:off x="1613002" y="3855110"/>
            <a:ext cx="920801" cy="2862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설치 확인</a:t>
            </a:r>
            <a:endParaRPr lang="en-US" sz="1500" dirty="0"/>
          </a:p>
        </p:txBody>
      </p:sp>
      <p:sp>
        <p:nvSpPr>
          <p:cNvPr id="22" name="Text 17"/>
          <p:cNvSpPr txBox="1"/>
          <p:nvPr/>
        </p:nvSpPr>
        <p:spPr>
          <a:xfrm>
            <a:off x="1460297" y="4227271"/>
            <a:ext cx="118506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워드/한글 실행 시</a:t>
            </a:r>
            <a:endParaRPr lang="en-US" sz="1100" dirty="0"/>
          </a:p>
        </p:txBody>
      </p:sp>
      <p:sp>
        <p:nvSpPr>
          <p:cNvPr id="23" name="Text 18"/>
          <p:cNvSpPr txBox="1"/>
          <p:nvPr/>
        </p:nvSpPr>
        <p:spPr>
          <a:xfrm>
            <a:off x="1094537" y="4444898"/>
            <a:ext cx="1918411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Zotero 탭 생성을 확인합니다.</a:t>
            </a:r>
            <a:endParaRPr lang="en-US" sz="1100" dirty="0"/>
          </a:p>
        </p:txBody>
      </p:sp>
      <p:sp>
        <p:nvSpPr>
          <p:cNvPr id="24" name="Text 19"/>
          <p:cNvSpPr txBox="1"/>
          <p:nvPr/>
        </p:nvSpPr>
        <p:spPr>
          <a:xfrm>
            <a:off x="1353312" y="4661611"/>
            <a:ext cx="1395374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(설치 시 자동 추가됨)</a:t>
            </a:r>
            <a:endParaRPr lang="en-US" sz="1100" dirty="0"/>
          </a:p>
        </p:txBody>
      </p:sp>
      <p:sp>
        <p:nvSpPr>
          <p:cNvPr id="25" name="Shape 20"/>
          <p:cNvSpPr/>
          <p:nvPr/>
        </p:nvSpPr>
        <p:spPr>
          <a:xfrm>
            <a:off x="3495751" y="2488082"/>
            <a:ext cx="2467051" cy="2667305"/>
          </a:xfrm>
          <a:prstGeom prst="roundRect">
            <a:avLst>
              <a:gd name="adj" fmla="val 2290"/>
            </a:avLst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  <a:effectLst>
            <a:outerShdw blurRad="292100" dist="101600" dir="54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26" name="Shape 21"/>
          <p:cNvSpPr/>
          <p:nvPr/>
        </p:nvSpPr>
        <p:spPr>
          <a:xfrm>
            <a:off x="4395521" y="2840126"/>
            <a:ext cx="666598" cy="590702"/>
          </a:xfrm>
          <a:prstGeom prst="ellipse">
            <a:avLst/>
          </a:prstGeom>
          <a:solidFill>
            <a:srgbClr val="38BDF8">
              <a:alpha val="1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27" name="Image 3" descr="preencoded.png"/>
          <p:cNvPicPr>
            <a:picLocks noChangeAspect="1"/>
          </p:cNvPicPr>
          <p:nvPr/>
        </p:nvPicPr>
        <p:blipFill>
          <a:blip r:embed="rId6"/>
          <a:srcRect t="-817" b="-817"/>
          <a:stretch/>
        </p:blipFill>
        <p:spPr>
          <a:xfrm>
            <a:off x="4610405" y="2995574"/>
            <a:ext cx="237744" cy="276149"/>
          </a:xfrm>
          <a:prstGeom prst="rect">
            <a:avLst/>
          </a:prstGeom>
        </p:spPr>
      </p:pic>
      <p:sp>
        <p:nvSpPr>
          <p:cNvPr id="28" name="Text 22"/>
          <p:cNvSpPr txBox="1"/>
          <p:nvPr/>
        </p:nvSpPr>
        <p:spPr>
          <a:xfrm>
            <a:off x="4347058" y="3598164"/>
            <a:ext cx="920801" cy="2862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본문 인용</a:t>
            </a:r>
            <a:endParaRPr lang="en-US" sz="1500" dirty="0"/>
          </a:p>
        </p:txBody>
      </p:sp>
      <p:sp>
        <p:nvSpPr>
          <p:cNvPr id="29" name="Text 23"/>
          <p:cNvSpPr txBox="1"/>
          <p:nvPr/>
        </p:nvSpPr>
        <p:spPr>
          <a:xfrm>
            <a:off x="4550969" y="3855110"/>
            <a:ext cx="511150" cy="2862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삽입</a:t>
            </a:r>
            <a:endParaRPr lang="en-US" sz="1500" dirty="0"/>
          </a:p>
        </p:txBody>
      </p:sp>
      <p:sp>
        <p:nvSpPr>
          <p:cNvPr id="30" name="Text 24"/>
          <p:cNvSpPr txBox="1"/>
          <p:nvPr/>
        </p:nvSpPr>
        <p:spPr>
          <a:xfrm>
            <a:off x="3817620" y="4227271"/>
            <a:ext cx="1937614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'인용 추가(Add/Edit)' 클릭 후</a:t>
            </a:r>
            <a:endParaRPr lang="en-US" sz="1100" dirty="0"/>
          </a:p>
        </p:txBody>
      </p:sp>
      <p:sp>
        <p:nvSpPr>
          <p:cNvPr id="31" name="Text 25"/>
          <p:cNvSpPr txBox="1"/>
          <p:nvPr/>
        </p:nvSpPr>
        <p:spPr>
          <a:xfrm>
            <a:off x="4015130" y="4444898"/>
            <a:ext cx="1538021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저자명/제목을 검색하여</a:t>
            </a:r>
            <a:endParaRPr lang="en-US" sz="1100" dirty="0"/>
          </a:p>
        </p:txBody>
      </p:sp>
      <p:sp>
        <p:nvSpPr>
          <p:cNvPr id="32" name="Text 26"/>
          <p:cNvSpPr txBox="1"/>
          <p:nvPr/>
        </p:nvSpPr>
        <p:spPr>
          <a:xfrm>
            <a:off x="4155948" y="4661611"/>
            <a:ext cx="126187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인용을 삽입합니다.</a:t>
            </a:r>
            <a:endParaRPr lang="en-US" sz="1100" dirty="0"/>
          </a:p>
        </p:txBody>
      </p:sp>
      <p:sp>
        <p:nvSpPr>
          <p:cNvPr id="33" name="Shape 27"/>
          <p:cNvSpPr/>
          <p:nvPr/>
        </p:nvSpPr>
        <p:spPr>
          <a:xfrm>
            <a:off x="6229807" y="2488082"/>
            <a:ext cx="2467051" cy="2667305"/>
          </a:xfrm>
          <a:prstGeom prst="roundRect">
            <a:avLst>
              <a:gd name="adj" fmla="val 2290"/>
            </a:avLst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  <a:effectLst>
            <a:outerShdw blurRad="292100" dist="101600" dir="54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34" name="Shape 28"/>
          <p:cNvSpPr/>
          <p:nvPr/>
        </p:nvSpPr>
        <p:spPr>
          <a:xfrm>
            <a:off x="7129577" y="2840126"/>
            <a:ext cx="666598" cy="590702"/>
          </a:xfrm>
          <a:prstGeom prst="ellipse">
            <a:avLst/>
          </a:prstGeom>
          <a:solidFill>
            <a:srgbClr val="38BDF8">
              <a:alpha val="1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35" name="Image 4" descr="preencoded.png"/>
          <p:cNvPicPr>
            <a:picLocks noChangeAspect="1"/>
          </p:cNvPicPr>
          <p:nvPr/>
        </p:nvPicPr>
        <p:blipFill>
          <a:blip r:embed="rId7"/>
          <a:srcRect t="-1013" b="-1013"/>
          <a:stretch/>
        </p:blipFill>
        <p:spPr>
          <a:xfrm>
            <a:off x="7310628" y="2995574"/>
            <a:ext cx="304495" cy="276149"/>
          </a:xfrm>
          <a:prstGeom prst="rect">
            <a:avLst/>
          </a:prstGeom>
        </p:spPr>
      </p:pic>
      <p:sp>
        <p:nvSpPr>
          <p:cNvPr id="36" name="Text 29"/>
          <p:cNvSpPr txBox="1"/>
          <p:nvPr/>
        </p:nvSpPr>
        <p:spPr>
          <a:xfrm>
            <a:off x="7195414" y="3598164"/>
            <a:ext cx="692201" cy="2862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스타일</a:t>
            </a:r>
            <a:endParaRPr lang="en-US" sz="1500" dirty="0"/>
          </a:p>
        </p:txBody>
      </p:sp>
      <p:sp>
        <p:nvSpPr>
          <p:cNvPr id="37" name="Text 30"/>
          <p:cNvSpPr txBox="1"/>
          <p:nvPr/>
        </p:nvSpPr>
        <p:spPr>
          <a:xfrm>
            <a:off x="7284110" y="3855110"/>
            <a:ext cx="511150" cy="2862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변경</a:t>
            </a:r>
            <a:endParaRPr lang="en-US" sz="1500" dirty="0"/>
          </a:p>
        </p:txBody>
      </p:sp>
      <p:sp>
        <p:nvSpPr>
          <p:cNvPr id="38" name="Text 31"/>
          <p:cNvSpPr txBox="1"/>
          <p:nvPr/>
        </p:nvSpPr>
        <p:spPr>
          <a:xfrm>
            <a:off x="6558991" y="4227271"/>
            <a:ext cx="1918411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'문서 설정(Preferences)'에서</a:t>
            </a:r>
            <a:endParaRPr lang="en-US" sz="1100" dirty="0"/>
          </a:p>
        </p:txBody>
      </p:sp>
      <p:sp>
        <p:nvSpPr>
          <p:cNvPr id="39" name="Text 32"/>
          <p:cNvSpPr txBox="1"/>
          <p:nvPr/>
        </p:nvSpPr>
        <p:spPr>
          <a:xfrm>
            <a:off x="6508699" y="4444898"/>
            <a:ext cx="2023567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원하는 인용 양식(APA, MLA 등)</a:t>
            </a:r>
            <a:endParaRPr lang="en-US" sz="1100" dirty="0"/>
          </a:p>
        </p:txBody>
      </p:sp>
      <p:sp>
        <p:nvSpPr>
          <p:cNvPr id="40" name="Text 33"/>
          <p:cNvSpPr txBox="1"/>
          <p:nvPr/>
        </p:nvSpPr>
        <p:spPr>
          <a:xfrm>
            <a:off x="6803136" y="4661611"/>
            <a:ext cx="1432865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으로 일괄 변경합니다.</a:t>
            </a:r>
            <a:endParaRPr lang="en-US" sz="1100" dirty="0"/>
          </a:p>
        </p:txBody>
      </p:sp>
      <p:sp>
        <p:nvSpPr>
          <p:cNvPr id="41" name="Shape 34"/>
          <p:cNvSpPr/>
          <p:nvPr/>
        </p:nvSpPr>
        <p:spPr>
          <a:xfrm>
            <a:off x="8962949" y="2488082"/>
            <a:ext cx="2467051" cy="2667305"/>
          </a:xfrm>
          <a:prstGeom prst="roundRect">
            <a:avLst>
              <a:gd name="adj" fmla="val 2290"/>
            </a:avLst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  <a:effectLst>
            <a:outerShdw blurRad="292100" dist="101600" dir="54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42" name="Shape 35"/>
          <p:cNvSpPr/>
          <p:nvPr/>
        </p:nvSpPr>
        <p:spPr>
          <a:xfrm>
            <a:off x="9862718" y="2840126"/>
            <a:ext cx="666598" cy="590702"/>
          </a:xfrm>
          <a:prstGeom prst="ellipse">
            <a:avLst/>
          </a:prstGeom>
          <a:solidFill>
            <a:srgbClr val="38BDF8">
              <a:alpha val="1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43" name="Image 5" descr="preencoded.png"/>
          <p:cNvPicPr>
            <a:picLocks noChangeAspect="1"/>
          </p:cNvPicPr>
          <p:nvPr/>
        </p:nvPicPr>
        <p:blipFill>
          <a:blip r:embed="rId8"/>
          <a:srcRect/>
          <a:stretch/>
        </p:blipFill>
        <p:spPr>
          <a:xfrm>
            <a:off x="10058400" y="2995574"/>
            <a:ext cx="276149" cy="276149"/>
          </a:xfrm>
          <a:prstGeom prst="rect">
            <a:avLst/>
          </a:prstGeom>
        </p:spPr>
      </p:pic>
      <p:sp>
        <p:nvSpPr>
          <p:cNvPr id="44" name="Text 36"/>
          <p:cNvSpPr txBox="1"/>
          <p:nvPr/>
        </p:nvSpPr>
        <p:spPr>
          <a:xfrm>
            <a:off x="9839858" y="3598164"/>
            <a:ext cx="863194" cy="2862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참고문헌</a:t>
            </a:r>
            <a:endParaRPr lang="en-US" sz="1500" dirty="0"/>
          </a:p>
        </p:txBody>
      </p:sp>
      <p:sp>
        <p:nvSpPr>
          <p:cNvPr id="45" name="Text 37"/>
          <p:cNvSpPr txBox="1"/>
          <p:nvPr/>
        </p:nvSpPr>
        <p:spPr>
          <a:xfrm>
            <a:off x="9814255" y="3855110"/>
            <a:ext cx="920801" cy="2862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자동 생성</a:t>
            </a:r>
            <a:endParaRPr lang="en-US" sz="1500" dirty="0"/>
          </a:p>
        </p:txBody>
      </p:sp>
      <p:sp>
        <p:nvSpPr>
          <p:cNvPr id="46" name="Text 38"/>
          <p:cNvSpPr txBox="1"/>
          <p:nvPr/>
        </p:nvSpPr>
        <p:spPr>
          <a:xfrm>
            <a:off x="9710014" y="4227271"/>
            <a:ext cx="1089965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문서 마지막에서</a:t>
            </a:r>
            <a:endParaRPr lang="en-US" sz="1100" dirty="0"/>
          </a:p>
        </p:txBody>
      </p:sp>
      <p:sp>
        <p:nvSpPr>
          <p:cNvPr id="47" name="Text 39"/>
          <p:cNvSpPr txBox="1"/>
          <p:nvPr/>
        </p:nvSpPr>
        <p:spPr>
          <a:xfrm>
            <a:off x="9508846" y="4444898"/>
            <a:ext cx="149047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'참고문헌 추가/편집'을</a:t>
            </a:r>
            <a:endParaRPr lang="en-US" sz="1100" dirty="0"/>
          </a:p>
        </p:txBody>
      </p:sp>
      <p:sp>
        <p:nvSpPr>
          <p:cNvPr id="48" name="Text 40"/>
          <p:cNvSpPr txBox="1"/>
          <p:nvPr/>
        </p:nvSpPr>
        <p:spPr>
          <a:xfrm>
            <a:off x="9470441" y="4661611"/>
            <a:ext cx="1566367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눌러 목록을 생성합니다.</a:t>
            </a:r>
            <a:endParaRPr lang="en-US" sz="1100" dirty="0"/>
          </a:p>
        </p:txBody>
      </p:sp>
      <p:pic>
        <p:nvPicPr>
          <p:cNvPr id="49" name="Image 6" descr="preencoded.png"/>
          <p:cNvPicPr>
            <a:picLocks noChangeAspect="1"/>
          </p:cNvPicPr>
          <p:nvPr/>
        </p:nvPicPr>
        <p:blipFill>
          <a:blip r:embed="rId9"/>
          <a:srcRect l="-505" r="-505"/>
          <a:stretch/>
        </p:blipFill>
        <p:spPr>
          <a:xfrm>
            <a:off x="3295498" y="3730752"/>
            <a:ext cx="114300" cy="181051"/>
          </a:xfrm>
          <a:prstGeom prst="rect">
            <a:avLst/>
          </a:prstGeom>
        </p:spPr>
      </p:pic>
      <p:pic>
        <p:nvPicPr>
          <p:cNvPr id="50" name="Image 7" descr="preencoded.png"/>
          <p:cNvPicPr>
            <a:picLocks noChangeAspect="1"/>
          </p:cNvPicPr>
          <p:nvPr/>
        </p:nvPicPr>
        <p:blipFill>
          <a:blip r:embed="rId9"/>
          <a:srcRect l="-505" r="-505"/>
          <a:stretch/>
        </p:blipFill>
        <p:spPr>
          <a:xfrm>
            <a:off x="6029554" y="3730752"/>
            <a:ext cx="114300" cy="181051"/>
          </a:xfrm>
          <a:prstGeom prst="rect">
            <a:avLst/>
          </a:prstGeom>
        </p:spPr>
      </p:pic>
      <p:pic>
        <p:nvPicPr>
          <p:cNvPr id="51" name="Image 8" descr="preencoded.png"/>
          <p:cNvPicPr>
            <a:picLocks noChangeAspect="1"/>
          </p:cNvPicPr>
          <p:nvPr/>
        </p:nvPicPr>
        <p:blipFill>
          <a:blip r:embed="rId9"/>
          <a:srcRect l="-505" r="-505"/>
          <a:stretch/>
        </p:blipFill>
        <p:spPr>
          <a:xfrm>
            <a:off x="8762695" y="3730752"/>
            <a:ext cx="114300" cy="181051"/>
          </a:xfrm>
          <a:prstGeom prst="rect">
            <a:avLst/>
          </a:prstGeom>
        </p:spPr>
      </p:pic>
      <p:sp>
        <p:nvSpPr>
          <p:cNvPr id="52" name="Shape 41"/>
          <p:cNvSpPr/>
          <p:nvPr/>
        </p:nvSpPr>
        <p:spPr>
          <a:xfrm>
            <a:off x="1824228" y="2307031"/>
            <a:ext cx="342900" cy="342900"/>
          </a:xfrm>
          <a:prstGeom prst="ellipse">
            <a:avLst/>
          </a:prstGeom>
          <a:solidFill>
            <a:srgbClr val="0F172A"/>
          </a:solidFill>
          <a:ln w="25400">
            <a:solidFill>
              <a:srgbClr val="38BDF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3" name="Text 42"/>
          <p:cNvSpPr txBox="1"/>
          <p:nvPr/>
        </p:nvSpPr>
        <p:spPr>
          <a:xfrm>
            <a:off x="1944014" y="2352751"/>
            <a:ext cx="231343" cy="2578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38BDF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</a:t>
            </a:r>
            <a:endParaRPr lang="en-US" sz="1300" dirty="0"/>
          </a:p>
        </p:txBody>
      </p:sp>
      <p:sp>
        <p:nvSpPr>
          <p:cNvPr id="54" name="Shape 43"/>
          <p:cNvSpPr/>
          <p:nvPr/>
        </p:nvSpPr>
        <p:spPr>
          <a:xfrm>
            <a:off x="4557370" y="2307031"/>
            <a:ext cx="342900" cy="342900"/>
          </a:xfrm>
          <a:prstGeom prst="ellipse">
            <a:avLst/>
          </a:prstGeom>
          <a:solidFill>
            <a:srgbClr val="0F172A"/>
          </a:solidFill>
          <a:ln w="25400">
            <a:solidFill>
              <a:srgbClr val="38BDF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5" name="Text 44"/>
          <p:cNvSpPr txBox="1"/>
          <p:nvPr/>
        </p:nvSpPr>
        <p:spPr>
          <a:xfrm>
            <a:off x="4678070" y="2352751"/>
            <a:ext cx="231343" cy="2578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38BDF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</a:t>
            </a:r>
            <a:endParaRPr lang="en-US" sz="1300" dirty="0"/>
          </a:p>
        </p:txBody>
      </p:sp>
      <p:sp>
        <p:nvSpPr>
          <p:cNvPr id="56" name="Shape 45"/>
          <p:cNvSpPr/>
          <p:nvPr/>
        </p:nvSpPr>
        <p:spPr>
          <a:xfrm>
            <a:off x="7291426" y="2307031"/>
            <a:ext cx="342900" cy="342900"/>
          </a:xfrm>
          <a:prstGeom prst="ellipse">
            <a:avLst/>
          </a:prstGeom>
          <a:solidFill>
            <a:srgbClr val="0F172A"/>
          </a:solidFill>
          <a:ln w="25400">
            <a:solidFill>
              <a:srgbClr val="38BDF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7" name="Text 46"/>
          <p:cNvSpPr txBox="1"/>
          <p:nvPr/>
        </p:nvSpPr>
        <p:spPr>
          <a:xfrm>
            <a:off x="7412126" y="2352751"/>
            <a:ext cx="231343" cy="2578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38BDF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3</a:t>
            </a:r>
            <a:endParaRPr lang="en-US" sz="1300" dirty="0"/>
          </a:p>
        </p:txBody>
      </p:sp>
      <p:sp>
        <p:nvSpPr>
          <p:cNvPr id="58" name="Shape 47"/>
          <p:cNvSpPr/>
          <p:nvPr/>
        </p:nvSpPr>
        <p:spPr>
          <a:xfrm>
            <a:off x="10025482" y="2307031"/>
            <a:ext cx="342900" cy="342900"/>
          </a:xfrm>
          <a:prstGeom prst="ellipse">
            <a:avLst/>
          </a:prstGeom>
          <a:solidFill>
            <a:srgbClr val="0F172A"/>
          </a:solidFill>
          <a:ln w="25400">
            <a:solidFill>
              <a:srgbClr val="38BDF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9" name="Text 48"/>
          <p:cNvSpPr txBox="1"/>
          <p:nvPr/>
        </p:nvSpPr>
        <p:spPr>
          <a:xfrm>
            <a:off x="10145268" y="2352751"/>
            <a:ext cx="231343" cy="2578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38BDF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4</a:t>
            </a:r>
            <a:endParaRPr lang="en-US" sz="1300" dirty="0"/>
          </a:p>
        </p:txBody>
      </p:sp>
      <p:sp>
        <p:nvSpPr>
          <p:cNvPr id="60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이애본(드림아이티비즈) · useful-ai.dreamitbiz.com · 교육 목적 비영리 이용 · 출처 표기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" name="Shap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>
              <a:alpha val="15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" name="Shape 3"/>
          <p:cNvSpPr/>
          <p:nvPr/>
        </p:nvSpPr>
        <p:spPr>
          <a:xfrm>
            <a:off x="571500" y="1210666"/>
            <a:ext cx="11048695" cy="9144"/>
          </a:xfrm>
          <a:prstGeom prst="rect">
            <a:avLst/>
          </a:prstGeom>
          <a:solidFill>
            <a:srgbClr val="FFFFFF">
              <a:alpha val="1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6" name="Shape 4"/>
          <p:cNvSpPr/>
          <p:nvPr/>
        </p:nvSpPr>
        <p:spPr>
          <a:xfrm>
            <a:off x="10484510" y="643738"/>
            <a:ext cx="1143000" cy="428854"/>
          </a:xfrm>
          <a:prstGeom prst="roundRect">
            <a:avLst>
              <a:gd name="adj" fmla="val 213219"/>
            </a:avLst>
          </a:prstGeom>
          <a:solidFill>
            <a:srgbClr val="F43F5E">
              <a:alpha val="10000"/>
            </a:srgbClr>
          </a:solidFill>
          <a:ln w="12700">
            <a:solidFill>
              <a:srgbClr val="F43F5E"/>
            </a:solidFill>
            <a:prstDash val="solid"/>
          </a:ln>
          <a:effectLst>
            <a:outerShdw blurRad="139700" dist="12700" dir="16200000" algn="bl" rotWithShape="0">
              <a:srgbClr val="F43F5E">
                <a:alpha val="2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10684764" y="769925"/>
            <a:ext cx="171907" cy="171907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8033004" y="1457554"/>
            <a:ext cx="3590849" cy="5020056"/>
          </a:xfrm>
          <a:prstGeom prst="roundRect">
            <a:avLst>
              <a:gd name="adj" fmla="val 811"/>
            </a:avLst>
          </a:prstGeom>
          <a:solidFill>
            <a:srgbClr val="38BDF8">
              <a:alpha val="5000"/>
            </a:srgbClr>
          </a:solidFill>
          <a:ln w="12700">
            <a:solidFill>
              <a:srgbClr val="38BDF8">
                <a:alpha val="3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9" name="Shape 6"/>
          <p:cNvSpPr/>
          <p:nvPr/>
        </p:nvSpPr>
        <p:spPr>
          <a:xfrm>
            <a:off x="8280806" y="2872130"/>
            <a:ext cx="3095244" cy="9144"/>
          </a:xfrm>
          <a:prstGeom prst="rect">
            <a:avLst/>
          </a:prstGeom>
          <a:solidFill>
            <a:srgbClr val="E5E7E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0" name="Shape 7"/>
          <p:cNvSpPr/>
          <p:nvPr/>
        </p:nvSpPr>
        <p:spPr>
          <a:xfrm>
            <a:off x="8280806" y="3548786"/>
            <a:ext cx="3095244" cy="9144"/>
          </a:xfrm>
          <a:prstGeom prst="rect">
            <a:avLst/>
          </a:prstGeom>
          <a:solidFill>
            <a:srgbClr val="FFFFFF">
              <a:alpha val="1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1" name="Shape 8"/>
          <p:cNvSpPr/>
          <p:nvPr/>
        </p:nvSpPr>
        <p:spPr>
          <a:xfrm>
            <a:off x="8280806" y="3134563"/>
            <a:ext cx="190195" cy="190195"/>
          </a:xfrm>
          <a:prstGeom prst="roundRect">
            <a:avLst>
              <a:gd name="adj" fmla="val 120192"/>
            </a:avLst>
          </a:prstGeom>
          <a:noFill/>
          <a:ln w="25400">
            <a:solidFill>
              <a:srgbClr val="38BDF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2" name="Shape 9"/>
          <p:cNvSpPr/>
          <p:nvPr/>
        </p:nvSpPr>
        <p:spPr>
          <a:xfrm>
            <a:off x="8280806" y="4178808"/>
            <a:ext cx="3095244" cy="9144"/>
          </a:xfrm>
          <a:prstGeom prst="rect">
            <a:avLst/>
          </a:prstGeom>
          <a:solidFill>
            <a:srgbClr val="FFFFFF">
              <a:alpha val="1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3" name="Shape 10"/>
          <p:cNvSpPr/>
          <p:nvPr/>
        </p:nvSpPr>
        <p:spPr>
          <a:xfrm>
            <a:off x="8280806" y="3765499"/>
            <a:ext cx="190195" cy="190195"/>
          </a:xfrm>
          <a:prstGeom prst="roundRect">
            <a:avLst>
              <a:gd name="adj" fmla="val 120192"/>
            </a:avLst>
          </a:prstGeom>
          <a:noFill/>
          <a:ln w="25400">
            <a:solidFill>
              <a:srgbClr val="38BDF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4" name="Shape 11"/>
          <p:cNvSpPr/>
          <p:nvPr/>
        </p:nvSpPr>
        <p:spPr>
          <a:xfrm>
            <a:off x="8280806" y="5047488"/>
            <a:ext cx="3095244" cy="9144"/>
          </a:xfrm>
          <a:prstGeom prst="rect">
            <a:avLst/>
          </a:prstGeom>
          <a:solidFill>
            <a:srgbClr val="FFFFFF">
              <a:alpha val="1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5" name="Shape 12"/>
          <p:cNvSpPr/>
          <p:nvPr/>
        </p:nvSpPr>
        <p:spPr>
          <a:xfrm>
            <a:off x="8280806" y="4515307"/>
            <a:ext cx="190195" cy="190195"/>
          </a:xfrm>
          <a:prstGeom prst="roundRect">
            <a:avLst>
              <a:gd name="adj" fmla="val 120192"/>
            </a:avLst>
          </a:prstGeom>
          <a:noFill/>
          <a:ln w="25400">
            <a:solidFill>
              <a:srgbClr val="38BDF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6" name="Shape 13"/>
          <p:cNvSpPr/>
          <p:nvPr/>
        </p:nvSpPr>
        <p:spPr>
          <a:xfrm>
            <a:off x="8280806" y="5266030"/>
            <a:ext cx="190195" cy="190195"/>
          </a:xfrm>
          <a:prstGeom prst="roundRect">
            <a:avLst>
              <a:gd name="adj" fmla="val 120192"/>
            </a:avLst>
          </a:prstGeom>
          <a:noFill/>
          <a:ln w="25400">
            <a:solidFill>
              <a:srgbClr val="38BDF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7" name="Text 14"/>
          <p:cNvSpPr txBox="1"/>
          <p:nvPr/>
        </p:nvSpPr>
        <p:spPr>
          <a:xfrm>
            <a:off x="647395" y="409651"/>
            <a:ext cx="400507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실습 2</a:t>
            </a:r>
            <a:endParaRPr lang="en-US" sz="900" dirty="0"/>
          </a:p>
        </p:txBody>
      </p:sp>
      <p:sp>
        <p:nvSpPr>
          <p:cNvPr id="18" name="Text 15"/>
          <p:cNvSpPr txBox="1"/>
          <p:nvPr/>
        </p:nvSpPr>
        <p:spPr>
          <a:xfrm>
            <a:off x="1148486" y="400507"/>
            <a:ext cx="1624889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ZOTERO 실습 워크시트</a:t>
            </a:r>
            <a:endParaRPr lang="en-US" sz="1000" dirty="0"/>
          </a:p>
        </p:txBody>
      </p:sp>
      <p:sp>
        <p:nvSpPr>
          <p:cNvPr id="19" name="Text 16"/>
          <p:cNvSpPr txBox="1"/>
          <p:nvPr/>
        </p:nvSpPr>
        <p:spPr>
          <a:xfrm>
            <a:off x="571500" y="629107"/>
            <a:ext cx="3600907" cy="4956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7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실습 2: DOI 및 웹 캡처</a:t>
            </a:r>
            <a:endParaRPr lang="en-US" sz="2700" dirty="0"/>
          </a:p>
        </p:txBody>
      </p:sp>
      <p:sp>
        <p:nvSpPr>
          <p:cNvPr id="20" name="Text 17"/>
          <p:cNvSpPr txBox="1"/>
          <p:nvPr/>
        </p:nvSpPr>
        <p:spPr>
          <a:xfrm>
            <a:off x="10970057" y="729691"/>
            <a:ext cx="583387" cy="2386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43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07:00</a:t>
            </a:r>
            <a:endParaRPr lang="en-US" sz="1300" dirty="0"/>
          </a:p>
        </p:txBody>
      </p:sp>
      <p:pic>
        <p:nvPicPr>
          <p:cNvPr id="21" name="Image 1" descr="preencoded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8280806" y="2495398"/>
            <a:ext cx="190195" cy="190195"/>
          </a:xfrm>
          <a:prstGeom prst="rect">
            <a:avLst/>
          </a:prstGeom>
        </p:spPr>
      </p:pic>
      <p:sp>
        <p:nvSpPr>
          <p:cNvPr id="22" name="Text 18"/>
          <p:cNvSpPr txBox="1"/>
          <p:nvPr/>
        </p:nvSpPr>
        <p:spPr>
          <a:xfrm>
            <a:off x="8546897" y="2443277"/>
            <a:ext cx="1133856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제출 전 확인</a:t>
            </a:r>
            <a:endParaRPr lang="en-US" sz="1500" dirty="0"/>
          </a:p>
        </p:txBody>
      </p:sp>
      <p:sp>
        <p:nvSpPr>
          <p:cNvPr id="23" name="Text 19"/>
          <p:cNvSpPr txBox="1"/>
          <p:nvPr/>
        </p:nvSpPr>
        <p:spPr>
          <a:xfrm>
            <a:off x="8585302" y="3109874"/>
            <a:ext cx="264444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메타데이터(저자/연도) 자동 입력 확인</a:t>
            </a:r>
            <a:endParaRPr lang="en-US" sz="1200" dirty="0"/>
          </a:p>
        </p:txBody>
      </p:sp>
      <p:sp>
        <p:nvSpPr>
          <p:cNvPr id="24" name="Text 20"/>
          <p:cNvSpPr txBox="1"/>
          <p:nvPr/>
        </p:nvSpPr>
        <p:spPr>
          <a:xfrm>
            <a:off x="8585302" y="3739896"/>
            <a:ext cx="22631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기사 본문 스냅샷 저장 여부 확인</a:t>
            </a:r>
            <a:endParaRPr lang="en-US" sz="1200" dirty="0"/>
          </a:p>
        </p:txBody>
      </p:sp>
      <p:sp>
        <p:nvSpPr>
          <p:cNvPr id="25" name="Text 21"/>
          <p:cNvSpPr txBox="1"/>
          <p:nvPr/>
        </p:nvSpPr>
        <p:spPr>
          <a:xfrm>
            <a:off x="8585302" y="4370832"/>
            <a:ext cx="2883103" cy="4764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워드 내 인용 스타일(APA/Chicago) 변경 확인</a:t>
            </a:r>
            <a:endParaRPr lang="en-US" sz="1200" dirty="0"/>
          </a:p>
        </p:txBody>
      </p:sp>
      <p:sp>
        <p:nvSpPr>
          <p:cNvPr id="26" name="Text 22"/>
          <p:cNvSpPr txBox="1"/>
          <p:nvPr/>
        </p:nvSpPr>
        <p:spPr>
          <a:xfrm>
            <a:off x="8585302" y="5241341"/>
            <a:ext cx="289224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참고문헌 목록 자동 생성 및 업데이트 확인</a:t>
            </a:r>
            <a:endParaRPr lang="en-US" sz="1200" dirty="0"/>
          </a:p>
        </p:txBody>
      </p:sp>
      <p:sp>
        <p:nvSpPr>
          <p:cNvPr id="27" name="Shape 23"/>
          <p:cNvSpPr/>
          <p:nvPr/>
        </p:nvSpPr>
        <p:spPr>
          <a:xfrm>
            <a:off x="571500" y="1457554"/>
            <a:ext cx="7181698" cy="705002"/>
          </a:xfrm>
          <a:prstGeom prst="roundRect">
            <a:avLst>
              <a:gd name="adj" fmla="val 21033"/>
            </a:avLst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8" name="Shape 24"/>
          <p:cNvSpPr/>
          <p:nvPr/>
        </p:nvSpPr>
        <p:spPr>
          <a:xfrm>
            <a:off x="771754" y="1371600"/>
            <a:ext cx="666598" cy="228600"/>
          </a:xfrm>
          <a:prstGeom prst="roundRect">
            <a:avLst>
              <a:gd name="adj" fmla="val 66667"/>
            </a:avLst>
          </a:prstGeom>
          <a:solidFill>
            <a:srgbClr val="38BDF8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9" name="Text 25"/>
          <p:cNvSpPr txBox="1"/>
          <p:nvPr/>
        </p:nvSpPr>
        <p:spPr>
          <a:xfrm>
            <a:off x="866851" y="1390802"/>
            <a:ext cx="567842" cy="1810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0F172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TASK A</a:t>
            </a:r>
            <a:endParaRPr lang="en-US" sz="900" dirty="0"/>
          </a:p>
        </p:txBody>
      </p:sp>
      <p:pic>
        <p:nvPicPr>
          <p:cNvPr id="30" name="Image 2" descr="preencoded.png"/>
          <p:cNvPicPr>
            <a:picLocks noChangeAspect="1"/>
          </p:cNvPicPr>
          <p:nvPr/>
        </p:nvPicPr>
        <p:blipFill>
          <a:blip r:embed="rId5"/>
          <a:srcRect t="-842" b="-842"/>
          <a:stretch/>
        </p:blipFill>
        <p:spPr>
          <a:xfrm>
            <a:off x="866851" y="1723644"/>
            <a:ext cx="190195" cy="171907"/>
          </a:xfrm>
          <a:prstGeom prst="rect">
            <a:avLst/>
          </a:prstGeom>
        </p:spPr>
      </p:pic>
      <p:sp>
        <p:nvSpPr>
          <p:cNvPr id="31" name="Text 26"/>
          <p:cNvSpPr txBox="1"/>
          <p:nvPr/>
        </p:nvSpPr>
        <p:spPr>
          <a:xfrm>
            <a:off x="1209751" y="1682496"/>
            <a:ext cx="4717390" cy="2386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Zotero 마술봉 아이콘 클릭 후 DOI 입력: 10.1038/nature12345</a:t>
            </a:r>
            <a:endParaRPr lang="en-US" sz="1300" dirty="0"/>
          </a:p>
        </p:txBody>
      </p:sp>
      <p:sp>
        <p:nvSpPr>
          <p:cNvPr id="32" name="Shape 27"/>
          <p:cNvSpPr/>
          <p:nvPr/>
        </p:nvSpPr>
        <p:spPr>
          <a:xfrm>
            <a:off x="571500" y="2476195"/>
            <a:ext cx="7181698" cy="705002"/>
          </a:xfrm>
          <a:prstGeom prst="roundRect">
            <a:avLst>
              <a:gd name="adj" fmla="val 21033"/>
            </a:avLst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3" name="Shape 28"/>
          <p:cNvSpPr/>
          <p:nvPr/>
        </p:nvSpPr>
        <p:spPr>
          <a:xfrm>
            <a:off x="771754" y="2391156"/>
            <a:ext cx="666598" cy="228600"/>
          </a:xfrm>
          <a:prstGeom prst="roundRect">
            <a:avLst>
              <a:gd name="adj" fmla="val 66667"/>
            </a:avLst>
          </a:prstGeom>
          <a:solidFill>
            <a:srgbClr val="38BDF8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4" name="Text 29"/>
          <p:cNvSpPr txBox="1"/>
          <p:nvPr/>
        </p:nvSpPr>
        <p:spPr>
          <a:xfrm>
            <a:off x="866851" y="2409444"/>
            <a:ext cx="567842" cy="1810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0F172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TASK B</a:t>
            </a:r>
            <a:endParaRPr lang="en-US" sz="900" dirty="0"/>
          </a:p>
        </p:txBody>
      </p:sp>
      <p:pic>
        <p:nvPicPr>
          <p:cNvPr id="35" name="Image 3" descr="preencoded.png"/>
          <p:cNvPicPr>
            <a:picLocks noChangeAspect="1"/>
          </p:cNvPicPr>
          <p:nvPr/>
        </p:nvPicPr>
        <p:blipFill>
          <a:blip r:embed="rId6"/>
          <a:srcRect/>
          <a:stretch/>
        </p:blipFill>
        <p:spPr>
          <a:xfrm>
            <a:off x="875995" y="2743200"/>
            <a:ext cx="171907" cy="171907"/>
          </a:xfrm>
          <a:prstGeom prst="rect">
            <a:avLst/>
          </a:prstGeom>
        </p:spPr>
      </p:pic>
      <p:sp>
        <p:nvSpPr>
          <p:cNvPr id="36" name="Text 30"/>
          <p:cNvSpPr txBox="1"/>
          <p:nvPr/>
        </p:nvSpPr>
        <p:spPr>
          <a:xfrm>
            <a:off x="1209751" y="2702052"/>
            <a:ext cx="4460443" cy="2386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뉴스 페이지에서 브라우저 커넥터 클릭 후 #표절예방 태그 추가</a:t>
            </a:r>
            <a:endParaRPr lang="en-US" sz="1300" dirty="0"/>
          </a:p>
        </p:txBody>
      </p:sp>
      <p:sp>
        <p:nvSpPr>
          <p:cNvPr id="37" name="Shape 31"/>
          <p:cNvSpPr/>
          <p:nvPr/>
        </p:nvSpPr>
        <p:spPr>
          <a:xfrm>
            <a:off x="571500" y="3495751"/>
            <a:ext cx="7181698" cy="705002"/>
          </a:xfrm>
          <a:prstGeom prst="roundRect">
            <a:avLst>
              <a:gd name="adj" fmla="val 21033"/>
            </a:avLst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8" name="Shape 32"/>
          <p:cNvSpPr/>
          <p:nvPr/>
        </p:nvSpPr>
        <p:spPr>
          <a:xfrm>
            <a:off x="771754" y="3409798"/>
            <a:ext cx="666598" cy="228600"/>
          </a:xfrm>
          <a:prstGeom prst="roundRect">
            <a:avLst>
              <a:gd name="adj" fmla="val 66667"/>
            </a:avLst>
          </a:prstGeom>
          <a:solidFill>
            <a:srgbClr val="38BDF8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9" name="Text 33"/>
          <p:cNvSpPr txBox="1"/>
          <p:nvPr/>
        </p:nvSpPr>
        <p:spPr>
          <a:xfrm>
            <a:off x="866851" y="3429000"/>
            <a:ext cx="567842" cy="1810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0F172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TASK C</a:t>
            </a:r>
            <a:endParaRPr lang="en-US" sz="900" dirty="0"/>
          </a:p>
        </p:txBody>
      </p:sp>
      <p:pic>
        <p:nvPicPr>
          <p:cNvPr id="40" name="Image 4" descr="preencoded.png"/>
          <p:cNvPicPr>
            <a:picLocks noChangeAspect="1"/>
          </p:cNvPicPr>
          <p:nvPr/>
        </p:nvPicPr>
        <p:blipFill>
          <a:blip r:embed="rId7"/>
          <a:srcRect t="-2222" b="-2222"/>
          <a:stretch/>
        </p:blipFill>
        <p:spPr>
          <a:xfrm>
            <a:off x="899770" y="3762756"/>
            <a:ext cx="123444" cy="171907"/>
          </a:xfrm>
          <a:prstGeom prst="rect">
            <a:avLst/>
          </a:prstGeom>
        </p:spPr>
      </p:pic>
      <p:sp>
        <p:nvSpPr>
          <p:cNvPr id="41" name="Text 34"/>
          <p:cNvSpPr txBox="1"/>
          <p:nvPr/>
        </p:nvSpPr>
        <p:spPr>
          <a:xfrm>
            <a:off x="1209751" y="3720694"/>
            <a:ext cx="4411980" cy="2386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워드에서 수집한 자료 2건을 인용하고 참고문헌 목록 생성하기</a:t>
            </a:r>
            <a:endParaRPr lang="en-US" sz="1300" dirty="0"/>
          </a:p>
        </p:txBody>
      </p:sp>
      <p:pic>
        <p:nvPicPr>
          <p:cNvPr id="42" name="Image 5" descr="preencoded.png"/>
          <p:cNvPicPr>
            <a:picLocks noChangeAspect="1"/>
          </p:cNvPicPr>
          <p:nvPr/>
        </p:nvPicPr>
        <p:blipFill>
          <a:blip r:embed="rId8"/>
          <a:srcRect t="-856" b="-856"/>
          <a:stretch/>
        </p:blipFill>
        <p:spPr>
          <a:xfrm>
            <a:off x="4092854" y="2229307"/>
            <a:ext cx="133502" cy="181051"/>
          </a:xfrm>
          <a:prstGeom prst="rect">
            <a:avLst/>
          </a:prstGeom>
        </p:spPr>
      </p:pic>
      <p:pic>
        <p:nvPicPr>
          <p:cNvPr id="43" name="Image 6" descr="preencoded.png"/>
          <p:cNvPicPr>
            <a:picLocks noChangeAspect="1"/>
          </p:cNvPicPr>
          <p:nvPr/>
        </p:nvPicPr>
        <p:blipFill>
          <a:blip r:embed="rId8"/>
          <a:srcRect t="-856" b="-856"/>
          <a:stretch/>
        </p:blipFill>
        <p:spPr>
          <a:xfrm>
            <a:off x="4092854" y="3247949"/>
            <a:ext cx="133502" cy="181051"/>
          </a:xfrm>
          <a:prstGeom prst="rect">
            <a:avLst/>
          </a:prstGeom>
        </p:spPr>
      </p:pic>
      <p:sp>
        <p:nvSpPr>
          <p:cNvPr id="44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이애본(드림아이티비즈) · useful-ai.dreamitbiz.com · 교육 목적 비영리 이용 · 출처 표기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rcRect t="-1" b="-1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9891065" y="2952598"/>
            <a:ext cx="5639105" cy="55156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D</a:t>
            </a:r>
            <a:endParaRPr lang="en-US" sz="30000" dirty="0"/>
          </a:p>
        </p:txBody>
      </p:sp>
      <p:sp>
        <p:nvSpPr>
          <p:cNvPr id="6" name="Shape 3"/>
          <p:cNvSpPr/>
          <p:nvPr/>
        </p:nvSpPr>
        <p:spPr>
          <a:xfrm>
            <a:off x="8324698" y="1028700"/>
            <a:ext cx="1429207" cy="1429207"/>
          </a:xfrm>
          <a:prstGeom prst="ellipse">
            <a:avLst/>
          </a:prstGeom>
          <a:noFill/>
          <a:ln w="12700">
            <a:solidFill>
              <a:srgbClr val="38BDF8">
                <a:alpha val="2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" name="Shape 4"/>
          <p:cNvSpPr/>
          <p:nvPr/>
        </p:nvSpPr>
        <p:spPr>
          <a:xfrm>
            <a:off x="1218895" y="4724705"/>
            <a:ext cx="761695" cy="761695"/>
          </a:xfrm>
          <a:prstGeom prst="rect">
            <a:avLst/>
          </a:prstGeom>
          <a:noFill/>
          <a:ln w="12700">
            <a:solidFill>
              <a:srgbClr val="38BDF8">
                <a:alpha val="2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" name="Shape 5"/>
          <p:cNvSpPr/>
          <p:nvPr/>
        </p:nvSpPr>
        <p:spPr>
          <a:xfrm>
            <a:off x="952805" y="1988820"/>
            <a:ext cx="942746" cy="428854"/>
          </a:xfrm>
          <a:prstGeom prst="roundRect">
            <a:avLst>
              <a:gd name="adj" fmla="val 18953"/>
            </a:avLst>
          </a:prstGeom>
          <a:solidFill>
            <a:srgbClr val="38BDF8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9" name="Shape 6"/>
          <p:cNvSpPr/>
          <p:nvPr/>
        </p:nvSpPr>
        <p:spPr>
          <a:xfrm>
            <a:off x="2043684" y="2192731"/>
            <a:ext cx="952805" cy="19202"/>
          </a:xfrm>
          <a:prstGeom prst="rect">
            <a:avLst/>
          </a:prstGeom>
          <a:solidFill>
            <a:srgbClr val="38BDF8">
              <a:alpha val="5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0" name="Shape 7"/>
          <p:cNvSpPr/>
          <p:nvPr/>
        </p:nvSpPr>
        <p:spPr>
          <a:xfrm>
            <a:off x="952805" y="3954780"/>
            <a:ext cx="38405" cy="914400"/>
          </a:xfrm>
          <a:prstGeom prst="rect">
            <a:avLst/>
          </a:prstGeom>
          <a:solidFill>
            <a:srgbClr val="334155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1" name="Text 8"/>
          <p:cNvSpPr txBox="1"/>
          <p:nvPr/>
        </p:nvSpPr>
        <p:spPr>
          <a:xfrm>
            <a:off x="1143000" y="2064715"/>
            <a:ext cx="699516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0F172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파트 D</a:t>
            </a:r>
            <a:endParaRPr lang="en-US" sz="1400" dirty="0"/>
          </a:p>
        </p:txBody>
      </p:sp>
      <p:sp>
        <p:nvSpPr>
          <p:cNvPr id="12" name="Text 9"/>
          <p:cNvSpPr txBox="1"/>
          <p:nvPr/>
        </p:nvSpPr>
        <p:spPr>
          <a:xfrm>
            <a:off x="952805" y="2558491"/>
            <a:ext cx="6172200" cy="13240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생성형 AI 활용</a:t>
            </a:r>
            <a:endParaRPr lang="en-US" sz="7200" dirty="0"/>
          </a:p>
        </p:txBody>
      </p:sp>
      <p:sp>
        <p:nvSpPr>
          <p:cNvPr id="13" name="Text 10"/>
          <p:cNvSpPr txBox="1"/>
          <p:nvPr/>
        </p:nvSpPr>
        <p:spPr>
          <a:xfrm>
            <a:off x="1218895" y="3963924"/>
            <a:ext cx="8468258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4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AI는 보조도구: 초안 · 검증 · 재작성 · 인용의 </a:t>
            </a:r>
            <a:r>
              <a:rPr lang="en-US" sz="2400" dirty="0" err="1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안전하고</a:t>
            </a:r>
            <a:r>
              <a:rPr lang="en-US" sz="24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</a:p>
          <a:p>
            <a:pPr marL="0" indent="0" algn="l">
              <a:buNone/>
            </a:pPr>
            <a:r>
              <a:rPr lang="en-US" sz="2400" dirty="0" err="1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윤리적인</a:t>
            </a:r>
            <a:r>
              <a:rPr lang="en-US" sz="24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활용 프로세스를 학습합니다.</a:t>
            </a:r>
            <a:endParaRPr lang="en-US" sz="2400" dirty="0"/>
          </a:p>
        </p:txBody>
      </p:sp>
      <p:sp>
        <p:nvSpPr>
          <p:cNvPr id="14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이애본(드림아이티비즈) · useful-ai.dreamitbiz.com · 교육 목적 비영리 이용 · 출처 표기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" name="Shape 2"/>
          <p:cNvSpPr/>
          <p:nvPr/>
        </p:nvSpPr>
        <p:spPr>
          <a:xfrm>
            <a:off x="8382305" y="-1904695"/>
            <a:ext cx="5715000" cy="5715000"/>
          </a:xfrm>
          <a:prstGeom prst="ellipse">
            <a:avLst/>
          </a:prstGeom>
          <a:solidFill>
            <a:srgbClr val="38BDF8">
              <a:alpha val="3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" name="Shape 3"/>
          <p:cNvSpPr/>
          <p:nvPr/>
        </p:nvSpPr>
        <p:spPr>
          <a:xfrm>
            <a:off x="761695" y="381305"/>
            <a:ext cx="571500" cy="57607"/>
          </a:xfrm>
          <a:prstGeom prst="roundRect">
            <a:avLst>
              <a:gd name="adj" fmla="val 793654"/>
            </a:avLst>
          </a:prstGeom>
          <a:solidFill>
            <a:srgbClr val="38BDF8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6" name="Shape 4"/>
          <p:cNvSpPr/>
          <p:nvPr/>
        </p:nvSpPr>
        <p:spPr>
          <a:xfrm>
            <a:off x="761695" y="1417321"/>
            <a:ext cx="5238598" cy="1057046"/>
          </a:xfrm>
          <a:prstGeom prst="roundRect">
            <a:avLst>
              <a:gd name="adj" fmla="val 7793"/>
            </a:avLst>
          </a:prstGeom>
          <a:solidFill>
            <a:srgbClr val="1E293B">
              <a:alpha val="50000"/>
            </a:srgbClr>
          </a:solidFill>
          <a:ln w="12700">
            <a:solidFill>
              <a:srgbClr val="FFFFFF">
                <a:alpha val="8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" name="Shape 5"/>
          <p:cNvSpPr/>
          <p:nvPr/>
        </p:nvSpPr>
        <p:spPr>
          <a:xfrm>
            <a:off x="961949" y="1617575"/>
            <a:ext cx="267005" cy="267005"/>
          </a:xfrm>
          <a:prstGeom prst="roundRect">
            <a:avLst>
              <a:gd name="adj" fmla="val 73385"/>
            </a:avLst>
          </a:prstGeom>
          <a:solidFill>
            <a:srgbClr val="38BDF8">
              <a:alpha val="15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8" name="Image 0" descr="preencoded.png"/>
          <p:cNvPicPr>
            <a:picLocks noChangeAspect="1"/>
          </p:cNvPicPr>
          <p:nvPr/>
        </p:nvPicPr>
        <p:blipFill>
          <a:blip r:embed="rId3"/>
          <a:srcRect l="-1507" r="-1507"/>
          <a:stretch/>
        </p:blipFill>
        <p:spPr>
          <a:xfrm>
            <a:off x="1009498" y="1684326"/>
            <a:ext cx="171907" cy="133502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6191402" y="1417321"/>
            <a:ext cx="5238598" cy="1057046"/>
          </a:xfrm>
          <a:prstGeom prst="roundRect">
            <a:avLst>
              <a:gd name="adj" fmla="val 7793"/>
            </a:avLst>
          </a:prstGeom>
          <a:solidFill>
            <a:srgbClr val="1E293B">
              <a:alpha val="50000"/>
            </a:srgbClr>
          </a:solidFill>
          <a:ln w="12700">
            <a:solidFill>
              <a:srgbClr val="FFFFFF">
                <a:alpha val="8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0" name="Shape 7"/>
          <p:cNvSpPr/>
          <p:nvPr/>
        </p:nvSpPr>
        <p:spPr>
          <a:xfrm>
            <a:off x="6391656" y="1617575"/>
            <a:ext cx="267005" cy="267005"/>
          </a:xfrm>
          <a:prstGeom prst="roundRect">
            <a:avLst>
              <a:gd name="adj" fmla="val 73385"/>
            </a:avLst>
          </a:prstGeom>
          <a:solidFill>
            <a:srgbClr val="38BDF8">
              <a:alpha val="15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11" name="Image 1" descr="preencoded.png"/>
          <p:cNvPicPr>
            <a:picLocks noChangeAspect="1"/>
          </p:cNvPicPr>
          <p:nvPr/>
        </p:nvPicPr>
        <p:blipFill>
          <a:blip r:embed="rId4"/>
          <a:srcRect l="-1507" r="-1507"/>
          <a:stretch/>
        </p:blipFill>
        <p:spPr>
          <a:xfrm>
            <a:off x="6439205" y="1684326"/>
            <a:ext cx="171907" cy="133502"/>
          </a:xfrm>
          <a:prstGeom prst="rect">
            <a:avLst/>
          </a:prstGeom>
        </p:spPr>
      </p:pic>
      <p:sp>
        <p:nvSpPr>
          <p:cNvPr id="12" name="Shape 8"/>
          <p:cNvSpPr/>
          <p:nvPr/>
        </p:nvSpPr>
        <p:spPr>
          <a:xfrm>
            <a:off x="761695" y="2579779"/>
            <a:ext cx="5238598" cy="1057046"/>
          </a:xfrm>
          <a:prstGeom prst="roundRect">
            <a:avLst>
              <a:gd name="adj" fmla="val 7793"/>
            </a:avLst>
          </a:prstGeom>
          <a:solidFill>
            <a:srgbClr val="1E293B">
              <a:alpha val="50000"/>
            </a:srgbClr>
          </a:solidFill>
          <a:ln w="12700">
            <a:solidFill>
              <a:srgbClr val="FFFFFF">
                <a:alpha val="8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3" name="Shape 9"/>
          <p:cNvSpPr/>
          <p:nvPr/>
        </p:nvSpPr>
        <p:spPr>
          <a:xfrm>
            <a:off x="961949" y="2780033"/>
            <a:ext cx="267005" cy="267005"/>
          </a:xfrm>
          <a:prstGeom prst="roundRect">
            <a:avLst>
              <a:gd name="adj" fmla="val 73385"/>
            </a:avLst>
          </a:prstGeom>
          <a:solidFill>
            <a:srgbClr val="38BDF8">
              <a:alpha val="15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14" name="Image 2" descr="preencoded.png"/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1028700" y="2846784"/>
            <a:ext cx="133502" cy="133502"/>
          </a:xfrm>
          <a:prstGeom prst="rect">
            <a:avLst/>
          </a:prstGeom>
        </p:spPr>
      </p:pic>
      <p:sp>
        <p:nvSpPr>
          <p:cNvPr id="15" name="Shape 10"/>
          <p:cNvSpPr/>
          <p:nvPr/>
        </p:nvSpPr>
        <p:spPr>
          <a:xfrm>
            <a:off x="6191402" y="2579779"/>
            <a:ext cx="5238598" cy="1057046"/>
          </a:xfrm>
          <a:prstGeom prst="roundRect">
            <a:avLst>
              <a:gd name="adj" fmla="val 7793"/>
            </a:avLst>
          </a:prstGeom>
          <a:solidFill>
            <a:srgbClr val="1E293B">
              <a:alpha val="50000"/>
            </a:srgbClr>
          </a:solidFill>
          <a:ln w="12700">
            <a:solidFill>
              <a:srgbClr val="FFFFFF">
                <a:alpha val="8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6" name="Shape 11"/>
          <p:cNvSpPr/>
          <p:nvPr/>
        </p:nvSpPr>
        <p:spPr>
          <a:xfrm>
            <a:off x="6391656" y="2780033"/>
            <a:ext cx="267005" cy="267005"/>
          </a:xfrm>
          <a:prstGeom prst="roundRect">
            <a:avLst>
              <a:gd name="adj" fmla="val 73385"/>
            </a:avLst>
          </a:prstGeom>
          <a:solidFill>
            <a:srgbClr val="38BDF8">
              <a:alpha val="15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17" name="Image 3" descr="preencoded.png"/>
          <p:cNvPicPr>
            <a:picLocks noChangeAspect="1"/>
          </p:cNvPicPr>
          <p:nvPr/>
        </p:nvPicPr>
        <p:blipFill>
          <a:blip r:embed="rId6"/>
          <a:srcRect l="-2838" r="-2838"/>
          <a:stretch/>
        </p:blipFill>
        <p:spPr>
          <a:xfrm>
            <a:off x="6462979" y="2846784"/>
            <a:ext cx="123444" cy="133502"/>
          </a:xfrm>
          <a:prstGeom prst="rect">
            <a:avLst/>
          </a:prstGeom>
        </p:spPr>
      </p:pic>
      <p:sp>
        <p:nvSpPr>
          <p:cNvPr id="18" name="Shape 12"/>
          <p:cNvSpPr/>
          <p:nvPr/>
        </p:nvSpPr>
        <p:spPr>
          <a:xfrm>
            <a:off x="761695" y="3746490"/>
            <a:ext cx="5238598" cy="1057046"/>
          </a:xfrm>
          <a:prstGeom prst="roundRect">
            <a:avLst>
              <a:gd name="adj" fmla="val 7793"/>
            </a:avLst>
          </a:prstGeom>
          <a:solidFill>
            <a:srgbClr val="1E293B">
              <a:alpha val="50000"/>
            </a:srgbClr>
          </a:solidFill>
          <a:ln w="12700">
            <a:solidFill>
              <a:srgbClr val="FFFFFF">
                <a:alpha val="8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9" name="Shape 13"/>
          <p:cNvSpPr/>
          <p:nvPr/>
        </p:nvSpPr>
        <p:spPr>
          <a:xfrm>
            <a:off x="961949" y="3946744"/>
            <a:ext cx="267005" cy="267005"/>
          </a:xfrm>
          <a:prstGeom prst="roundRect">
            <a:avLst>
              <a:gd name="adj" fmla="val 73385"/>
            </a:avLst>
          </a:prstGeom>
          <a:solidFill>
            <a:srgbClr val="38BDF8">
              <a:alpha val="15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20" name="Image 4" descr="preencoded.png"/>
          <p:cNvPicPr>
            <a:picLocks noChangeAspect="1"/>
          </p:cNvPicPr>
          <p:nvPr/>
        </p:nvPicPr>
        <p:blipFill>
          <a:blip r:embed="rId7"/>
          <a:srcRect/>
          <a:stretch/>
        </p:blipFill>
        <p:spPr>
          <a:xfrm>
            <a:off x="1028700" y="4013495"/>
            <a:ext cx="133502" cy="133502"/>
          </a:xfrm>
          <a:prstGeom prst="rect">
            <a:avLst/>
          </a:prstGeom>
        </p:spPr>
      </p:pic>
      <p:sp>
        <p:nvSpPr>
          <p:cNvPr id="21" name="Shape 14"/>
          <p:cNvSpPr/>
          <p:nvPr/>
        </p:nvSpPr>
        <p:spPr>
          <a:xfrm>
            <a:off x="6191402" y="3746490"/>
            <a:ext cx="5238598" cy="1057046"/>
          </a:xfrm>
          <a:prstGeom prst="roundRect">
            <a:avLst>
              <a:gd name="adj" fmla="val 7793"/>
            </a:avLst>
          </a:prstGeom>
          <a:solidFill>
            <a:srgbClr val="1E293B">
              <a:alpha val="50000"/>
            </a:srgbClr>
          </a:solidFill>
          <a:ln w="12700">
            <a:solidFill>
              <a:srgbClr val="FFFFFF">
                <a:alpha val="8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2" name="Shape 15"/>
          <p:cNvSpPr/>
          <p:nvPr/>
        </p:nvSpPr>
        <p:spPr>
          <a:xfrm>
            <a:off x="6391656" y="3946744"/>
            <a:ext cx="267005" cy="267005"/>
          </a:xfrm>
          <a:prstGeom prst="roundRect">
            <a:avLst>
              <a:gd name="adj" fmla="val 73385"/>
            </a:avLst>
          </a:prstGeom>
          <a:solidFill>
            <a:srgbClr val="38BDF8">
              <a:alpha val="15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23" name="Image 5" descr="preencoded.png"/>
          <p:cNvPicPr>
            <a:picLocks noChangeAspect="1"/>
          </p:cNvPicPr>
          <p:nvPr/>
        </p:nvPicPr>
        <p:blipFill>
          <a:blip r:embed="rId8"/>
          <a:srcRect l="-837" r="-837"/>
          <a:stretch/>
        </p:blipFill>
        <p:spPr>
          <a:xfrm>
            <a:off x="6448349" y="4013495"/>
            <a:ext cx="152705" cy="133502"/>
          </a:xfrm>
          <a:prstGeom prst="rect">
            <a:avLst/>
          </a:prstGeom>
        </p:spPr>
      </p:pic>
      <p:sp>
        <p:nvSpPr>
          <p:cNvPr id="24" name="Shape 16"/>
          <p:cNvSpPr/>
          <p:nvPr/>
        </p:nvSpPr>
        <p:spPr>
          <a:xfrm>
            <a:off x="761695" y="4892702"/>
            <a:ext cx="10668305" cy="1561795"/>
          </a:xfrm>
          <a:prstGeom prst="roundRect">
            <a:avLst>
              <a:gd name="adj" fmla="val 4284"/>
            </a:avLst>
          </a:prstGeom>
          <a:solidFill>
            <a:srgbClr val="0F172A">
              <a:alpha val="60000"/>
            </a:srgbClr>
          </a:solidFill>
          <a:ln w="12700">
            <a:solidFill>
              <a:srgbClr val="38BDF8">
                <a:alpha val="3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25" name="Image 6" descr="preencoded.png"/>
          <p:cNvPicPr>
            <a:picLocks noChangeAspect="1"/>
          </p:cNvPicPr>
          <p:nvPr/>
        </p:nvPicPr>
        <p:blipFill>
          <a:blip r:embed="rId9"/>
          <a:srcRect l="-33" r="-33"/>
          <a:stretch/>
        </p:blipFill>
        <p:spPr>
          <a:xfrm>
            <a:off x="1000354" y="5092955"/>
            <a:ext cx="171907" cy="152705"/>
          </a:xfrm>
          <a:prstGeom prst="rect">
            <a:avLst/>
          </a:prstGeom>
        </p:spPr>
      </p:pic>
      <p:sp>
        <p:nvSpPr>
          <p:cNvPr id="26" name="Shape 17"/>
          <p:cNvSpPr/>
          <p:nvPr/>
        </p:nvSpPr>
        <p:spPr>
          <a:xfrm>
            <a:off x="1000354" y="5416653"/>
            <a:ext cx="5020056" cy="875995"/>
          </a:xfrm>
          <a:prstGeom prst="roundRect">
            <a:avLst>
              <a:gd name="adj" fmla="val 6808"/>
            </a:avLst>
          </a:prstGeom>
          <a:solidFill>
            <a:srgbClr val="000000">
              <a:alpha val="3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7" name="Shape 18"/>
          <p:cNvSpPr/>
          <p:nvPr/>
        </p:nvSpPr>
        <p:spPr>
          <a:xfrm>
            <a:off x="1000354" y="5416653"/>
            <a:ext cx="28346" cy="875995"/>
          </a:xfrm>
          <a:prstGeom prst="rect">
            <a:avLst/>
          </a:prstGeom>
          <a:solidFill>
            <a:srgbClr val="38BDF8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8" name="Shape 19"/>
          <p:cNvSpPr/>
          <p:nvPr/>
        </p:nvSpPr>
        <p:spPr>
          <a:xfrm>
            <a:off x="6172200" y="5416653"/>
            <a:ext cx="5020056" cy="875995"/>
          </a:xfrm>
          <a:prstGeom prst="roundRect">
            <a:avLst>
              <a:gd name="adj" fmla="val 6808"/>
            </a:avLst>
          </a:prstGeom>
          <a:solidFill>
            <a:srgbClr val="000000">
              <a:alpha val="3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9" name="Shape 20"/>
          <p:cNvSpPr/>
          <p:nvPr/>
        </p:nvSpPr>
        <p:spPr>
          <a:xfrm>
            <a:off x="6172200" y="5416653"/>
            <a:ext cx="28346" cy="875995"/>
          </a:xfrm>
          <a:prstGeom prst="rect">
            <a:avLst/>
          </a:prstGeom>
          <a:solidFill>
            <a:srgbClr val="38BDF8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0" name="Text 21"/>
          <p:cNvSpPr txBox="1"/>
          <p:nvPr/>
        </p:nvSpPr>
        <p:spPr>
          <a:xfrm>
            <a:off x="761695" y="552298"/>
            <a:ext cx="3762756" cy="4956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7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AI 인용·검증 체크리스트</a:t>
            </a:r>
            <a:endParaRPr lang="en-US" sz="2700" dirty="0"/>
          </a:p>
        </p:txBody>
      </p:sp>
      <p:sp>
        <p:nvSpPr>
          <p:cNvPr id="31" name="Text 22"/>
          <p:cNvSpPr txBox="1"/>
          <p:nvPr/>
        </p:nvSpPr>
        <p:spPr>
          <a:xfrm>
            <a:off x="761695" y="1104595"/>
            <a:ext cx="7025335" cy="2478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D1D5D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생성형 AI는 훌륭한 도구지만 출처가 아닙니다. 안전한 활용을 위한 6가지 핵심 수칙을 확인하세요.</a:t>
            </a:r>
            <a:endParaRPr lang="en-US" sz="1300" dirty="0"/>
          </a:p>
        </p:txBody>
      </p:sp>
      <p:sp>
        <p:nvSpPr>
          <p:cNvPr id="32" name="Text 23"/>
          <p:cNvSpPr txBox="1"/>
          <p:nvPr/>
        </p:nvSpPr>
        <p:spPr>
          <a:xfrm>
            <a:off x="1362456" y="1617575"/>
            <a:ext cx="125364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AI는 출처가 아님</a:t>
            </a:r>
            <a:endParaRPr lang="en-US" sz="1200" dirty="0"/>
          </a:p>
        </p:txBody>
      </p:sp>
      <p:sp>
        <p:nvSpPr>
          <p:cNvPr id="33" name="Text 24"/>
          <p:cNvSpPr txBox="1"/>
          <p:nvPr/>
        </p:nvSpPr>
        <p:spPr>
          <a:xfrm>
            <a:off x="1362456" y="1886408"/>
            <a:ext cx="4313225" cy="3913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AI 답변을 참고문헌으로 쓰지 마세요. 원문 출처를 직접 찾아 읽고 인용해야 합니다.</a:t>
            </a:r>
            <a:endParaRPr lang="en-US" sz="1000" dirty="0"/>
          </a:p>
        </p:txBody>
      </p:sp>
      <p:sp>
        <p:nvSpPr>
          <p:cNvPr id="34" name="Text 25"/>
          <p:cNvSpPr txBox="1"/>
          <p:nvPr/>
        </p:nvSpPr>
        <p:spPr>
          <a:xfrm>
            <a:off x="6791249" y="1617575"/>
            <a:ext cx="145389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원문 링크/DOI 확인</a:t>
            </a:r>
            <a:endParaRPr lang="en-US" sz="1200" dirty="0"/>
          </a:p>
        </p:txBody>
      </p:sp>
      <p:sp>
        <p:nvSpPr>
          <p:cNvPr id="35" name="Text 26"/>
          <p:cNvSpPr txBox="1"/>
          <p:nvPr/>
        </p:nvSpPr>
        <p:spPr>
          <a:xfrm>
            <a:off x="6791249" y="1886408"/>
            <a:ext cx="4351630" cy="3913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제공된 URL이나 DOI가 실존하는지, 해당 자료로 연결되는지 반드시 클릭해 확인하세요.</a:t>
            </a:r>
            <a:endParaRPr lang="en-US" sz="1000" dirty="0"/>
          </a:p>
        </p:txBody>
      </p:sp>
      <p:sp>
        <p:nvSpPr>
          <p:cNvPr id="36" name="Text 27"/>
          <p:cNvSpPr txBox="1"/>
          <p:nvPr/>
        </p:nvSpPr>
        <p:spPr>
          <a:xfrm>
            <a:off x="1362456" y="2780033"/>
            <a:ext cx="177759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사실 검증 (Fact Check)</a:t>
            </a:r>
            <a:endParaRPr lang="en-US" sz="1200" dirty="0"/>
          </a:p>
        </p:txBody>
      </p:sp>
      <p:sp>
        <p:nvSpPr>
          <p:cNvPr id="37" name="Text 28"/>
          <p:cNvSpPr txBox="1"/>
          <p:nvPr/>
        </p:nvSpPr>
        <p:spPr>
          <a:xfrm>
            <a:off x="1362456" y="3048866"/>
            <a:ext cx="3970325" cy="3913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통계나 사실은 '환각' 가능성이 있으므로, 신뢰할 수 있는 소스로 교차 검증하세요.</a:t>
            </a:r>
            <a:endParaRPr lang="en-US" sz="1000" dirty="0"/>
          </a:p>
        </p:txBody>
      </p:sp>
      <p:sp>
        <p:nvSpPr>
          <p:cNvPr id="38" name="Text 29"/>
          <p:cNvSpPr txBox="1"/>
          <p:nvPr/>
        </p:nvSpPr>
        <p:spPr>
          <a:xfrm>
            <a:off x="6791249" y="2780033"/>
            <a:ext cx="143469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직접 인용 금지 권장</a:t>
            </a:r>
            <a:endParaRPr lang="en-US" sz="1200" dirty="0"/>
          </a:p>
        </p:txBody>
      </p:sp>
      <p:sp>
        <p:nvSpPr>
          <p:cNvPr id="39" name="Text 30"/>
          <p:cNvSpPr txBox="1"/>
          <p:nvPr/>
        </p:nvSpPr>
        <p:spPr>
          <a:xfrm>
            <a:off x="6791249" y="3048866"/>
            <a:ext cx="3931920" cy="3913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AI 텍스트 저작권은 불명확합니다. 내용을 이해한 후 내 언어로 요약·재구성하세요.</a:t>
            </a:r>
            <a:endParaRPr lang="en-US" sz="1000" dirty="0"/>
          </a:p>
        </p:txBody>
      </p:sp>
      <p:sp>
        <p:nvSpPr>
          <p:cNvPr id="40" name="Text 31"/>
          <p:cNvSpPr txBox="1"/>
          <p:nvPr/>
        </p:nvSpPr>
        <p:spPr>
          <a:xfrm>
            <a:off x="1362456" y="3946744"/>
            <a:ext cx="164409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프롬프트에 '출처 제한'</a:t>
            </a:r>
            <a:endParaRPr lang="en-US" sz="1200" dirty="0"/>
          </a:p>
        </p:txBody>
      </p:sp>
      <p:sp>
        <p:nvSpPr>
          <p:cNvPr id="41" name="Text 32"/>
          <p:cNvSpPr txBox="1"/>
          <p:nvPr/>
        </p:nvSpPr>
        <p:spPr>
          <a:xfrm>
            <a:off x="1362456" y="4214663"/>
            <a:ext cx="4503420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질문 시 "학술 DB 내에서만 답변해줘"와 같이 출처 범위를 한정해 요청하세요.</a:t>
            </a:r>
            <a:endParaRPr lang="en-US" sz="1000" dirty="0"/>
          </a:p>
        </p:txBody>
      </p:sp>
      <p:sp>
        <p:nvSpPr>
          <p:cNvPr id="42" name="Text 33"/>
          <p:cNvSpPr txBox="1"/>
          <p:nvPr/>
        </p:nvSpPr>
        <p:spPr>
          <a:xfrm>
            <a:off x="6791249" y="3946744"/>
            <a:ext cx="11018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표절 검사 필수</a:t>
            </a:r>
            <a:endParaRPr lang="en-US" sz="1200" dirty="0"/>
          </a:p>
        </p:txBody>
      </p:sp>
      <p:sp>
        <p:nvSpPr>
          <p:cNvPr id="43" name="Text 34"/>
          <p:cNvSpPr txBox="1"/>
          <p:nvPr/>
        </p:nvSpPr>
        <p:spPr>
          <a:xfrm>
            <a:off x="6791249" y="4214663"/>
            <a:ext cx="4189781" cy="3913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학습 데이터가 그대로 출력될 위험이 있습니다. 제출 전 표절 검사 도구를 활용하세요.</a:t>
            </a:r>
            <a:endParaRPr lang="en-US" sz="1000" dirty="0"/>
          </a:p>
        </p:txBody>
      </p:sp>
      <p:sp>
        <p:nvSpPr>
          <p:cNvPr id="44" name="Text 35"/>
          <p:cNvSpPr txBox="1"/>
          <p:nvPr/>
        </p:nvSpPr>
        <p:spPr>
          <a:xfrm>
            <a:off x="1266444" y="5054551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38BDF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검증을 돕는 추천 프롬프트</a:t>
            </a:r>
            <a:endParaRPr lang="en-US" sz="1200" dirty="0"/>
          </a:p>
        </p:txBody>
      </p:sp>
      <p:sp>
        <p:nvSpPr>
          <p:cNvPr id="45" name="Text 36"/>
          <p:cNvSpPr txBox="1"/>
          <p:nvPr/>
        </p:nvSpPr>
        <p:spPr>
          <a:xfrm>
            <a:off x="1181405" y="5578502"/>
            <a:ext cx="781812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64748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출처 한정 요약</a:t>
            </a:r>
            <a:endParaRPr lang="en-US" sz="900" dirty="0"/>
          </a:p>
        </p:txBody>
      </p:sp>
      <p:sp>
        <p:nvSpPr>
          <p:cNvPr id="46" name="Text 37"/>
          <p:cNvSpPr txBox="1"/>
          <p:nvPr/>
        </p:nvSpPr>
        <p:spPr>
          <a:xfrm>
            <a:off x="1181405" y="5778755"/>
            <a:ext cx="4684471" cy="4005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"아래 제공된 링크(URL)의 내용만을 근거로 요약하고, </a:t>
            </a:r>
          </a:p>
          <a:p>
            <a:pPr marL="0" indent="0" algn="l">
              <a:buNone/>
            </a:pPr>
            <a:r>
              <a:rPr lang="en-US" sz="10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APA 양식으로 인용 출처를 함께 표기해줘."</a:t>
            </a:r>
            <a:endParaRPr lang="en-US" sz="1000" dirty="0"/>
          </a:p>
        </p:txBody>
      </p:sp>
      <p:sp>
        <p:nvSpPr>
          <p:cNvPr id="47" name="Text 38"/>
          <p:cNvSpPr txBox="1"/>
          <p:nvPr/>
        </p:nvSpPr>
        <p:spPr>
          <a:xfrm>
            <a:off x="6353251" y="5578502"/>
            <a:ext cx="781812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64748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교차 검증 요청</a:t>
            </a:r>
            <a:endParaRPr lang="en-US" sz="900" dirty="0"/>
          </a:p>
        </p:txBody>
      </p:sp>
      <p:sp>
        <p:nvSpPr>
          <p:cNvPr id="48" name="Text 39"/>
          <p:cNvSpPr txBox="1"/>
          <p:nvPr/>
        </p:nvSpPr>
        <p:spPr>
          <a:xfrm>
            <a:off x="6353251" y="5778755"/>
            <a:ext cx="4703674" cy="4005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"이 텍스트의 사실 여부를 검증하고 싶은데, </a:t>
            </a:r>
          </a:p>
          <a:p>
            <a:pPr marL="0" indent="0" algn="l">
              <a:buNone/>
            </a:pPr>
            <a:r>
              <a:rPr lang="en-US" sz="1000" dirty="0" err="1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내용을</a:t>
            </a:r>
            <a:r>
              <a:rPr lang="en-US" sz="10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교차 확인할 수 있는 신뢰할 만한 웹 출처(뉴스, 논문)를 알려줘."</a:t>
            </a:r>
            <a:endParaRPr lang="en-US" sz="1000" dirty="0"/>
          </a:p>
        </p:txBody>
      </p:sp>
      <p:sp>
        <p:nvSpPr>
          <p:cNvPr id="49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이애본(드림아이티비즈) · useful-ai.dreamitbiz.com · 교육 목적 비영리 이용 · 출처 표기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" name="Shap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>
              <a:alpha val="5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" name="Shape 3"/>
          <p:cNvSpPr/>
          <p:nvPr/>
        </p:nvSpPr>
        <p:spPr>
          <a:xfrm>
            <a:off x="571500" y="1077163"/>
            <a:ext cx="11048695" cy="9144"/>
          </a:xfrm>
          <a:prstGeom prst="rect">
            <a:avLst/>
          </a:prstGeom>
          <a:solidFill>
            <a:srgbClr val="FFFFFF">
              <a:alpha val="1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6" name="Shape 4"/>
          <p:cNvSpPr/>
          <p:nvPr/>
        </p:nvSpPr>
        <p:spPr>
          <a:xfrm>
            <a:off x="571500" y="286207"/>
            <a:ext cx="466344" cy="228600"/>
          </a:xfrm>
          <a:prstGeom prst="roundRect">
            <a:avLst>
              <a:gd name="adj" fmla="val 66667"/>
            </a:avLst>
          </a:prstGeom>
          <a:solidFill>
            <a:srgbClr val="6366F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7" name="Shape 5"/>
          <p:cNvSpPr/>
          <p:nvPr/>
        </p:nvSpPr>
        <p:spPr>
          <a:xfrm>
            <a:off x="10484510" y="510235"/>
            <a:ext cx="1143000" cy="428854"/>
          </a:xfrm>
          <a:prstGeom prst="roundRect">
            <a:avLst>
              <a:gd name="adj" fmla="val 213219"/>
            </a:avLst>
          </a:prstGeom>
          <a:solidFill>
            <a:srgbClr val="F43F5E">
              <a:alpha val="10000"/>
            </a:srgbClr>
          </a:solidFill>
          <a:ln w="12700">
            <a:solidFill>
              <a:srgbClr val="F43F5E"/>
            </a:solidFill>
            <a:prstDash val="solid"/>
          </a:ln>
          <a:effectLst>
            <a:outerShdw blurRad="139700" dist="12700" dir="16200000" algn="bl" rotWithShape="0">
              <a:srgbClr val="F43F5E">
                <a:alpha val="2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pic>
        <p:nvPicPr>
          <p:cNvPr id="8" name="Image 0" descr="preencoded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10684764" y="636422"/>
            <a:ext cx="171907" cy="171907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8016545" y="1276502"/>
            <a:ext cx="3610051" cy="5296205"/>
          </a:xfrm>
          <a:prstGeom prst="roundRect">
            <a:avLst>
              <a:gd name="adj" fmla="val 802"/>
            </a:avLst>
          </a:prstGeom>
          <a:solidFill>
            <a:srgbClr val="818CF8">
              <a:alpha val="5000"/>
            </a:srgbClr>
          </a:solidFill>
          <a:ln w="12700">
            <a:solidFill>
              <a:srgbClr val="818CF8">
                <a:alpha val="3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0" name="Shape 7"/>
          <p:cNvSpPr/>
          <p:nvPr/>
        </p:nvSpPr>
        <p:spPr>
          <a:xfrm>
            <a:off x="8216798" y="1858061"/>
            <a:ext cx="3209544" cy="9144"/>
          </a:xfrm>
          <a:prstGeom prst="rect">
            <a:avLst/>
          </a:prstGeom>
          <a:solidFill>
            <a:srgbClr val="E5E7EB"/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11" name="Image 1" descr="preencoded.png"/>
          <p:cNvPicPr>
            <a:picLocks noChangeAspect="1"/>
          </p:cNvPicPr>
          <p:nvPr/>
        </p:nvPicPr>
        <p:blipFill>
          <a:blip r:embed="rId4"/>
          <a:srcRect l="-1773" r="-1773"/>
          <a:stretch/>
        </p:blipFill>
        <p:spPr>
          <a:xfrm>
            <a:off x="8216798" y="1524305"/>
            <a:ext cx="133502" cy="171907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8426196" y="1476756"/>
            <a:ext cx="967435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점검 포인트</a:t>
            </a:r>
            <a:endParaRPr lang="en-US" sz="1300" dirty="0"/>
          </a:p>
        </p:txBody>
      </p:sp>
      <p:sp>
        <p:nvSpPr>
          <p:cNvPr id="13" name="Shape 9"/>
          <p:cNvSpPr/>
          <p:nvPr/>
        </p:nvSpPr>
        <p:spPr>
          <a:xfrm>
            <a:off x="8216798" y="2610612"/>
            <a:ext cx="3209544" cy="9144"/>
          </a:xfrm>
          <a:prstGeom prst="rect">
            <a:avLst/>
          </a:prstGeom>
          <a:solidFill>
            <a:srgbClr val="FFFFFF">
              <a:alpha val="1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4" name="Shape 10"/>
          <p:cNvSpPr/>
          <p:nvPr/>
        </p:nvSpPr>
        <p:spPr>
          <a:xfrm>
            <a:off x="8216798" y="2085746"/>
            <a:ext cx="171907" cy="171907"/>
          </a:xfrm>
          <a:prstGeom prst="roundRect">
            <a:avLst>
              <a:gd name="adj" fmla="val 118203"/>
            </a:avLst>
          </a:prstGeom>
          <a:noFill/>
          <a:ln w="25400">
            <a:solidFill>
              <a:srgbClr val="818CF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5" name="Shape 11"/>
          <p:cNvSpPr/>
          <p:nvPr/>
        </p:nvSpPr>
        <p:spPr>
          <a:xfrm>
            <a:off x="8216798" y="3306470"/>
            <a:ext cx="3209544" cy="9144"/>
          </a:xfrm>
          <a:prstGeom prst="rect">
            <a:avLst/>
          </a:prstGeom>
          <a:solidFill>
            <a:srgbClr val="FFFFFF">
              <a:alpha val="1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6" name="Shape 12"/>
          <p:cNvSpPr/>
          <p:nvPr/>
        </p:nvSpPr>
        <p:spPr>
          <a:xfrm>
            <a:off x="8216798" y="2781605"/>
            <a:ext cx="171907" cy="171907"/>
          </a:xfrm>
          <a:prstGeom prst="roundRect">
            <a:avLst>
              <a:gd name="adj" fmla="val 118203"/>
            </a:avLst>
          </a:prstGeom>
          <a:noFill/>
          <a:ln w="25400">
            <a:solidFill>
              <a:srgbClr val="818CF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7" name="Shape 13"/>
          <p:cNvSpPr/>
          <p:nvPr/>
        </p:nvSpPr>
        <p:spPr>
          <a:xfrm>
            <a:off x="8216798" y="4002329"/>
            <a:ext cx="3209544" cy="9144"/>
          </a:xfrm>
          <a:prstGeom prst="rect">
            <a:avLst/>
          </a:prstGeom>
          <a:solidFill>
            <a:srgbClr val="FFFFFF">
              <a:alpha val="1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8" name="Shape 14"/>
          <p:cNvSpPr/>
          <p:nvPr/>
        </p:nvSpPr>
        <p:spPr>
          <a:xfrm>
            <a:off x="8216798" y="3478378"/>
            <a:ext cx="171907" cy="171907"/>
          </a:xfrm>
          <a:prstGeom prst="roundRect">
            <a:avLst>
              <a:gd name="adj" fmla="val 118203"/>
            </a:avLst>
          </a:prstGeom>
          <a:noFill/>
          <a:ln w="25400">
            <a:solidFill>
              <a:srgbClr val="818CF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9" name="Shape 15"/>
          <p:cNvSpPr/>
          <p:nvPr/>
        </p:nvSpPr>
        <p:spPr>
          <a:xfrm>
            <a:off x="8216798" y="4174236"/>
            <a:ext cx="171907" cy="171907"/>
          </a:xfrm>
          <a:prstGeom prst="roundRect">
            <a:avLst>
              <a:gd name="adj" fmla="val 118203"/>
            </a:avLst>
          </a:prstGeom>
          <a:noFill/>
          <a:ln w="25400">
            <a:solidFill>
              <a:srgbClr val="818CF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0" name="Text 16"/>
          <p:cNvSpPr txBox="1"/>
          <p:nvPr/>
        </p:nvSpPr>
        <p:spPr>
          <a:xfrm>
            <a:off x="647395" y="314554"/>
            <a:ext cx="400507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실습 3</a:t>
            </a:r>
            <a:endParaRPr lang="en-US" sz="900" dirty="0"/>
          </a:p>
        </p:txBody>
      </p:sp>
      <p:sp>
        <p:nvSpPr>
          <p:cNvPr id="21" name="Text 17"/>
          <p:cNvSpPr txBox="1"/>
          <p:nvPr/>
        </p:nvSpPr>
        <p:spPr>
          <a:xfrm>
            <a:off x="1148486" y="304495"/>
            <a:ext cx="967435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818CF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실습 워크시트</a:t>
            </a:r>
            <a:endParaRPr lang="en-US" sz="1000" dirty="0"/>
          </a:p>
        </p:txBody>
      </p:sp>
      <p:sp>
        <p:nvSpPr>
          <p:cNvPr id="22" name="Text 18"/>
          <p:cNvSpPr txBox="1"/>
          <p:nvPr/>
        </p:nvSpPr>
        <p:spPr>
          <a:xfrm>
            <a:off x="571500" y="552298"/>
            <a:ext cx="3300984" cy="4197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AI 초안 → 내 글로 재작성</a:t>
            </a:r>
            <a:endParaRPr lang="en-US" sz="2200" dirty="0"/>
          </a:p>
        </p:txBody>
      </p:sp>
      <p:sp>
        <p:nvSpPr>
          <p:cNvPr id="23" name="Text 19"/>
          <p:cNvSpPr txBox="1"/>
          <p:nvPr/>
        </p:nvSpPr>
        <p:spPr>
          <a:xfrm>
            <a:off x="10970057" y="596189"/>
            <a:ext cx="583387" cy="2386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43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06:00</a:t>
            </a:r>
            <a:endParaRPr lang="en-US" sz="1300" dirty="0"/>
          </a:p>
        </p:txBody>
      </p:sp>
      <p:sp>
        <p:nvSpPr>
          <p:cNvPr id="24" name="Text 20"/>
          <p:cNvSpPr txBox="1"/>
          <p:nvPr/>
        </p:nvSpPr>
        <p:spPr>
          <a:xfrm>
            <a:off x="8503006" y="2057400"/>
            <a:ext cx="908914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할루시네이션</a:t>
            </a:r>
            <a:endParaRPr lang="en-US" sz="1100" dirty="0"/>
          </a:p>
        </p:txBody>
      </p:sp>
      <p:sp>
        <p:nvSpPr>
          <p:cNvPr id="25" name="Text 21"/>
          <p:cNvSpPr txBox="1"/>
          <p:nvPr/>
        </p:nvSpPr>
        <p:spPr>
          <a:xfrm>
            <a:off x="8503006" y="2284171"/>
            <a:ext cx="2339950" cy="1810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원문에 없는 내용을 AI가 생성하지 않았는가?</a:t>
            </a:r>
            <a:endParaRPr lang="en-US" sz="900" dirty="0"/>
          </a:p>
        </p:txBody>
      </p:sp>
      <p:sp>
        <p:nvSpPr>
          <p:cNvPr id="26" name="Text 22"/>
          <p:cNvSpPr txBox="1"/>
          <p:nvPr/>
        </p:nvSpPr>
        <p:spPr>
          <a:xfrm>
            <a:off x="8503006" y="2753258"/>
            <a:ext cx="69037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문체 변경</a:t>
            </a:r>
            <a:endParaRPr lang="en-US" sz="1100" dirty="0"/>
          </a:p>
        </p:txBody>
      </p:sp>
      <p:sp>
        <p:nvSpPr>
          <p:cNvPr id="27" name="Text 23"/>
          <p:cNvSpPr txBox="1"/>
          <p:nvPr/>
        </p:nvSpPr>
        <p:spPr>
          <a:xfrm>
            <a:off x="8503006" y="2980030"/>
            <a:ext cx="2797150" cy="1810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번역투 문장을 자연스러운 학술적 문체로 수정했는가?</a:t>
            </a:r>
            <a:endParaRPr lang="en-US" sz="900" dirty="0"/>
          </a:p>
        </p:txBody>
      </p:sp>
      <p:sp>
        <p:nvSpPr>
          <p:cNvPr id="28" name="Text 24"/>
          <p:cNvSpPr txBox="1"/>
          <p:nvPr/>
        </p:nvSpPr>
        <p:spPr>
          <a:xfrm>
            <a:off x="8503006" y="3449117"/>
            <a:ext cx="82296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출처 정확성</a:t>
            </a:r>
            <a:endParaRPr lang="en-US" sz="1100" dirty="0"/>
          </a:p>
        </p:txBody>
      </p:sp>
      <p:sp>
        <p:nvSpPr>
          <p:cNvPr id="29" name="Text 25"/>
          <p:cNvSpPr txBox="1"/>
          <p:nvPr/>
        </p:nvSpPr>
        <p:spPr>
          <a:xfrm>
            <a:off x="8503006" y="3675888"/>
            <a:ext cx="2682850" cy="1810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제시된 출처의 링크/DOI가 실재하는지 확인했는가?</a:t>
            </a:r>
            <a:endParaRPr lang="en-US" sz="900" dirty="0"/>
          </a:p>
        </p:txBody>
      </p:sp>
      <p:sp>
        <p:nvSpPr>
          <p:cNvPr id="30" name="Text 26"/>
          <p:cNvSpPr txBox="1"/>
          <p:nvPr/>
        </p:nvSpPr>
        <p:spPr>
          <a:xfrm>
            <a:off x="8503006" y="4145890"/>
            <a:ext cx="82296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윤리적 책임</a:t>
            </a:r>
            <a:endParaRPr lang="en-US" sz="1100" dirty="0"/>
          </a:p>
        </p:txBody>
      </p:sp>
      <p:sp>
        <p:nvSpPr>
          <p:cNvPr id="31" name="Text 27"/>
          <p:cNvSpPr txBox="1"/>
          <p:nvPr/>
        </p:nvSpPr>
        <p:spPr>
          <a:xfrm>
            <a:off x="8503006" y="4372661"/>
            <a:ext cx="2883103" cy="3529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최종 결과물의 책임이 작성자 본인에게 있음을 인지했는가?</a:t>
            </a:r>
            <a:endParaRPr lang="en-US" sz="900" dirty="0"/>
          </a:p>
        </p:txBody>
      </p:sp>
      <p:sp>
        <p:nvSpPr>
          <p:cNvPr id="32" name="Shape 28"/>
          <p:cNvSpPr/>
          <p:nvPr/>
        </p:nvSpPr>
        <p:spPr>
          <a:xfrm>
            <a:off x="571500" y="1276502"/>
            <a:ext cx="7210044" cy="1162202"/>
          </a:xfrm>
          <a:prstGeom prst="roundRect">
            <a:avLst>
              <a:gd name="adj" fmla="val 7739"/>
            </a:avLst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33" name="Image 2" descr="preencoded.png"/>
          <p:cNvPicPr>
            <a:picLocks noChangeAspect="1"/>
          </p:cNvPicPr>
          <p:nvPr/>
        </p:nvPicPr>
        <p:blipFill>
          <a:blip r:embed="rId5"/>
          <a:srcRect l="-837" r="-837"/>
          <a:stretch/>
        </p:blipFill>
        <p:spPr>
          <a:xfrm>
            <a:off x="771754" y="1539850"/>
            <a:ext cx="152705" cy="133502"/>
          </a:xfrm>
          <a:prstGeom prst="rect">
            <a:avLst/>
          </a:prstGeom>
        </p:spPr>
      </p:pic>
      <p:sp>
        <p:nvSpPr>
          <p:cNvPr id="34" name="Text 29"/>
          <p:cNvSpPr txBox="1"/>
          <p:nvPr/>
        </p:nvSpPr>
        <p:spPr>
          <a:xfrm>
            <a:off x="1000354" y="1505102"/>
            <a:ext cx="1021385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2줄 템플릿 입력</a:t>
            </a:r>
            <a:endParaRPr lang="en-US" sz="1000" dirty="0"/>
          </a:p>
        </p:txBody>
      </p:sp>
      <p:sp>
        <p:nvSpPr>
          <p:cNvPr id="35" name="Shape 30"/>
          <p:cNvSpPr/>
          <p:nvPr/>
        </p:nvSpPr>
        <p:spPr>
          <a:xfrm>
            <a:off x="771754" y="1752905"/>
            <a:ext cx="6810451" cy="523951"/>
          </a:xfrm>
          <a:prstGeom prst="rect">
            <a:avLst/>
          </a:prstGeom>
          <a:solidFill>
            <a:srgbClr val="0F172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6" name="Shape 31"/>
          <p:cNvSpPr/>
          <p:nvPr/>
        </p:nvSpPr>
        <p:spPr>
          <a:xfrm>
            <a:off x="771754" y="1752905"/>
            <a:ext cx="28346" cy="523951"/>
          </a:xfrm>
          <a:prstGeom prst="rect">
            <a:avLst/>
          </a:prstGeom>
          <a:solidFill>
            <a:srgbClr val="38BDF8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7" name="Text 32"/>
          <p:cNvSpPr txBox="1"/>
          <p:nvPr/>
        </p:nvSpPr>
        <p:spPr>
          <a:xfrm>
            <a:off x="914400" y="1848002"/>
            <a:ext cx="3101645" cy="1435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CBD5E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 [자료]의 내용만 사용하여 요약해줘 (출처 제한)</a:t>
            </a:r>
            <a:endParaRPr lang="en-US" sz="900" dirty="0"/>
          </a:p>
        </p:txBody>
      </p:sp>
      <p:sp>
        <p:nvSpPr>
          <p:cNvPr id="38" name="Text 33"/>
          <p:cNvSpPr txBox="1"/>
          <p:nvPr/>
        </p:nvSpPr>
        <p:spPr>
          <a:xfrm>
            <a:off x="914400" y="2030882"/>
            <a:ext cx="3215945" cy="1435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CBD5E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- 3문장 내외의 학술적 문체로 작성해줘 (형식 지정)</a:t>
            </a:r>
            <a:endParaRPr lang="en-US" sz="900" dirty="0"/>
          </a:p>
        </p:txBody>
      </p:sp>
      <p:sp>
        <p:nvSpPr>
          <p:cNvPr id="39" name="Shape 34"/>
          <p:cNvSpPr/>
          <p:nvPr/>
        </p:nvSpPr>
        <p:spPr>
          <a:xfrm>
            <a:off x="571500" y="2661818"/>
            <a:ext cx="7210044" cy="1152144"/>
          </a:xfrm>
          <a:prstGeom prst="roundRect">
            <a:avLst>
              <a:gd name="adj" fmla="val 7871"/>
            </a:avLst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0" name="Shape 35"/>
          <p:cNvSpPr/>
          <p:nvPr/>
        </p:nvSpPr>
        <p:spPr>
          <a:xfrm>
            <a:off x="771754" y="2862072"/>
            <a:ext cx="6810451" cy="790956"/>
          </a:xfrm>
          <a:prstGeom prst="roundRect">
            <a:avLst>
              <a:gd name="adj" fmla="val 11143"/>
            </a:avLst>
          </a:prstGeom>
          <a:solidFill>
            <a:srgbClr val="FFFFFF">
              <a:alpha val="5000"/>
            </a:srgbClr>
          </a:solidFill>
          <a:ln w="12700">
            <a:solidFill>
              <a:srgbClr val="475569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41" name="Image 3" descr="preencoded.png"/>
          <p:cNvPicPr>
            <a:picLocks noChangeAspect="1"/>
          </p:cNvPicPr>
          <p:nvPr/>
        </p:nvPicPr>
        <p:blipFill>
          <a:blip r:embed="rId6"/>
          <a:srcRect/>
          <a:stretch/>
        </p:blipFill>
        <p:spPr>
          <a:xfrm>
            <a:off x="914400" y="3081528"/>
            <a:ext cx="114300" cy="114300"/>
          </a:xfrm>
          <a:prstGeom prst="rect">
            <a:avLst/>
          </a:prstGeom>
        </p:spPr>
      </p:pic>
      <p:sp>
        <p:nvSpPr>
          <p:cNvPr id="42" name="Text 36"/>
          <p:cNvSpPr txBox="1"/>
          <p:nvPr/>
        </p:nvSpPr>
        <p:spPr>
          <a:xfrm>
            <a:off x="1104595" y="3048610"/>
            <a:ext cx="543154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A5B4F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팩트 체크</a:t>
            </a:r>
            <a:endParaRPr lang="en-US" sz="900" dirty="0"/>
          </a:p>
        </p:txBody>
      </p:sp>
      <p:sp>
        <p:nvSpPr>
          <p:cNvPr id="43" name="Text 37"/>
          <p:cNvSpPr txBox="1"/>
          <p:nvPr/>
        </p:nvSpPr>
        <p:spPr>
          <a:xfrm>
            <a:off x="914400" y="3248863"/>
            <a:ext cx="4304081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AI 요약문과 원문을 대조하여 환각(Hallucination) 및 수치 왜곡 여부 확인</a:t>
            </a:r>
            <a:endParaRPr lang="en-US" sz="1000" dirty="0"/>
          </a:p>
        </p:txBody>
      </p:sp>
      <p:sp>
        <p:nvSpPr>
          <p:cNvPr id="44" name="Shape 38"/>
          <p:cNvSpPr/>
          <p:nvPr/>
        </p:nvSpPr>
        <p:spPr>
          <a:xfrm>
            <a:off x="571500" y="4041648"/>
            <a:ext cx="7210044" cy="1152144"/>
          </a:xfrm>
          <a:prstGeom prst="roundRect">
            <a:avLst>
              <a:gd name="adj" fmla="val 7871"/>
            </a:avLst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5" name="Shape 39"/>
          <p:cNvSpPr/>
          <p:nvPr/>
        </p:nvSpPr>
        <p:spPr>
          <a:xfrm>
            <a:off x="771754" y="4241902"/>
            <a:ext cx="6810451" cy="790956"/>
          </a:xfrm>
          <a:prstGeom prst="roundRect">
            <a:avLst>
              <a:gd name="adj" fmla="val 11143"/>
            </a:avLst>
          </a:prstGeom>
          <a:solidFill>
            <a:srgbClr val="FFFFFF">
              <a:alpha val="5000"/>
            </a:srgbClr>
          </a:solidFill>
          <a:ln w="12700">
            <a:solidFill>
              <a:srgbClr val="475569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46" name="Image 4" descr="preencoded.png"/>
          <p:cNvPicPr>
            <a:picLocks noChangeAspect="1"/>
          </p:cNvPicPr>
          <p:nvPr/>
        </p:nvPicPr>
        <p:blipFill>
          <a:blip r:embed="rId7"/>
          <a:srcRect/>
          <a:stretch/>
        </p:blipFill>
        <p:spPr>
          <a:xfrm>
            <a:off x="914400" y="4461358"/>
            <a:ext cx="114300" cy="114300"/>
          </a:xfrm>
          <a:prstGeom prst="rect">
            <a:avLst/>
          </a:prstGeom>
        </p:spPr>
      </p:pic>
      <p:sp>
        <p:nvSpPr>
          <p:cNvPr id="47" name="Text 40"/>
          <p:cNvSpPr txBox="1"/>
          <p:nvPr/>
        </p:nvSpPr>
        <p:spPr>
          <a:xfrm>
            <a:off x="1104595" y="4428439"/>
            <a:ext cx="781812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재작성 및 출처</a:t>
            </a:r>
            <a:endParaRPr lang="en-US" sz="900" dirty="0"/>
          </a:p>
        </p:txBody>
      </p:sp>
      <p:sp>
        <p:nvSpPr>
          <p:cNvPr id="48" name="Text 41"/>
          <p:cNvSpPr txBox="1"/>
          <p:nvPr/>
        </p:nvSpPr>
        <p:spPr>
          <a:xfrm>
            <a:off x="914400" y="4628693"/>
            <a:ext cx="3646627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검증된 내용을 내 문장으로 다듬고, 문장 끝에 (저자, 연도) 표기</a:t>
            </a:r>
            <a:endParaRPr lang="en-US" sz="1000" dirty="0"/>
          </a:p>
        </p:txBody>
      </p:sp>
      <p:sp>
        <p:nvSpPr>
          <p:cNvPr id="49" name="Shape 42"/>
          <p:cNvSpPr/>
          <p:nvPr/>
        </p:nvSpPr>
        <p:spPr>
          <a:xfrm>
            <a:off x="571500" y="5421478"/>
            <a:ext cx="7210044" cy="1152144"/>
          </a:xfrm>
          <a:prstGeom prst="roundRect">
            <a:avLst>
              <a:gd name="adj" fmla="val 7871"/>
            </a:avLst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0" name="Shape 43"/>
          <p:cNvSpPr/>
          <p:nvPr/>
        </p:nvSpPr>
        <p:spPr>
          <a:xfrm>
            <a:off x="771754" y="5620817"/>
            <a:ext cx="6810451" cy="790956"/>
          </a:xfrm>
          <a:prstGeom prst="roundRect">
            <a:avLst>
              <a:gd name="adj" fmla="val 11143"/>
            </a:avLst>
          </a:prstGeom>
          <a:solidFill>
            <a:srgbClr val="FFFFFF">
              <a:alpha val="5000"/>
            </a:srgbClr>
          </a:solidFill>
          <a:ln w="12700">
            <a:solidFill>
              <a:srgbClr val="475569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51" name="Image 5" descr="preencoded.png"/>
          <p:cNvPicPr>
            <a:picLocks noChangeAspect="1"/>
          </p:cNvPicPr>
          <p:nvPr/>
        </p:nvPicPr>
        <p:blipFill>
          <a:blip r:embed="rId8"/>
          <a:srcRect/>
          <a:stretch/>
        </p:blipFill>
        <p:spPr>
          <a:xfrm>
            <a:off x="914400" y="5841187"/>
            <a:ext cx="114300" cy="114300"/>
          </a:xfrm>
          <a:prstGeom prst="rect">
            <a:avLst/>
          </a:prstGeom>
        </p:spPr>
      </p:pic>
      <p:sp>
        <p:nvSpPr>
          <p:cNvPr id="52" name="Text 44"/>
          <p:cNvSpPr txBox="1"/>
          <p:nvPr/>
        </p:nvSpPr>
        <p:spPr>
          <a:xfrm>
            <a:off x="1104595" y="5808269"/>
            <a:ext cx="543154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서지 정보</a:t>
            </a:r>
            <a:endParaRPr lang="en-US" sz="900" dirty="0"/>
          </a:p>
        </p:txBody>
      </p:sp>
      <p:sp>
        <p:nvSpPr>
          <p:cNvPr id="53" name="Text 45"/>
          <p:cNvSpPr txBox="1"/>
          <p:nvPr/>
        </p:nvSpPr>
        <p:spPr>
          <a:xfrm>
            <a:off x="914400" y="6007608"/>
            <a:ext cx="3465576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AI 플랫폼이 아닌, 실제 참고한 '원문 자료'의 서지 정보 작성</a:t>
            </a:r>
            <a:endParaRPr lang="en-US" sz="1000" dirty="0"/>
          </a:p>
        </p:txBody>
      </p:sp>
      <p:pic>
        <p:nvPicPr>
          <p:cNvPr id="54" name="Image 6" descr="preencoded.png"/>
          <p:cNvPicPr>
            <a:picLocks noChangeAspect="1"/>
          </p:cNvPicPr>
          <p:nvPr/>
        </p:nvPicPr>
        <p:blipFill>
          <a:blip r:embed="rId9"/>
          <a:srcRect t="-100" b="-100"/>
          <a:stretch/>
        </p:blipFill>
        <p:spPr>
          <a:xfrm>
            <a:off x="4117543" y="2471623"/>
            <a:ext cx="114300" cy="152705"/>
          </a:xfrm>
          <a:prstGeom prst="rect">
            <a:avLst/>
          </a:prstGeom>
        </p:spPr>
      </p:pic>
      <p:pic>
        <p:nvPicPr>
          <p:cNvPr id="55" name="Image 7" descr="preencoded.png"/>
          <p:cNvPicPr>
            <a:picLocks noChangeAspect="1"/>
          </p:cNvPicPr>
          <p:nvPr/>
        </p:nvPicPr>
        <p:blipFill>
          <a:blip r:embed="rId9"/>
          <a:srcRect t="-100" b="-100"/>
          <a:stretch/>
        </p:blipFill>
        <p:spPr>
          <a:xfrm>
            <a:off x="4117543" y="3850538"/>
            <a:ext cx="114300" cy="152705"/>
          </a:xfrm>
          <a:prstGeom prst="rect">
            <a:avLst/>
          </a:prstGeom>
        </p:spPr>
      </p:pic>
      <p:pic>
        <p:nvPicPr>
          <p:cNvPr id="56" name="Image 8" descr="preencoded.png"/>
          <p:cNvPicPr>
            <a:picLocks noChangeAspect="1"/>
          </p:cNvPicPr>
          <p:nvPr/>
        </p:nvPicPr>
        <p:blipFill>
          <a:blip r:embed="rId9"/>
          <a:srcRect t="-100" b="-100"/>
          <a:stretch/>
        </p:blipFill>
        <p:spPr>
          <a:xfrm>
            <a:off x="4117543" y="5230368"/>
            <a:ext cx="114300" cy="152705"/>
          </a:xfrm>
          <a:prstGeom prst="rect">
            <a:avLst/>
          </a:prstGeom>
        </p:spPr>
      </p:pic>
      <p:sp>
        <p:nvSpPr>
          <p:cNvPr id="57" name="Shape 46"/>
          <p:cNvSpPr/>
          <p:nvPr/>
        </p:nvSpPr>
        <p:spPr>
          <a:xfrm>
            <a:off x="771754" y="1190549"/>
            <a:ext cx="1276502" cy="228600"/>
          </a:xfrm>
          <a:prstGeom prst="roundRect">
            <a:avLst>
              <a:gd name="adj" fmla="val 66667"/>
            </a:avLst>
          </a:prstGeom>
          <a:solidFill>
            <a:srgbClr val="38BDF8"/>
          </a:solidFill>
          <a:ln/>
          <a:effectLst>
            <a:outerShdw blurRad="38100" dist="25400" dir="5400000" algn="bl" rotWithShape="0">
              <a:srgbClr val="000000">
                <a:alpha val="2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58" name="Text 47"/>
          <p:cNvSpPr txBox="1"/>
          <p:nvPr/>
        </p:nvSpPr>
        <p:spPr>
          <a:xfrm>
            <a:off x="866851" y="1218895"/>
            <a:ext cx="1172261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0F172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1단계. 프롬프트 작성</a:t>
            </a:r>
            <a:endParaRPr lang="en-US" sz="900" dirty="0"/>
          </a:p>
        </p:txBody>
      </p:sp>
      <p:sp>
        <p:nvSpPr>
          <p:cNvPr id="59" name="Shape 48"/>
          <p:cNvSpPr/>
          <p:nvPr/>
        </p:nvSpPr>
        <p:spPr>
          <a:xfrm>
            <a:off x="771754" y="2575865"/>
            <a:ext cx="1057046" cy="228600"/>
          </a:xfrm>
          <a:prstGeom prst="roundRect">
            <a:avLst>
              <a:gd name="adj" fmla="val 66667"/>
            </a:avLst>
          </a:prstGeom>
          <a:solidFill>
            <a:srgbClr val="818CF8"/>
          </a:solidFill>
          <a:ln/>
          <a:effectLst>
            <a:outerShdw blurRad="38100" dist="25400" dir="5400000" algn="bl" rotWithShape="0">
              <a:srgbClr val="000000">
                <a:alpha val="2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60" name="Text 49"/>
          <p:cNvSpPr txBox="1"/>
          <p:nvPr/>
        </p:nvSpPr>
        <p:spPr>
          <a:xfrm>
            <a:off x="866851" y="2604211"/>
            <a:ext cx="952805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0F172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2단계. 결과 검증</a:t>
            </a:r>
            <a:endParaRPr lang="en-US" sz="900" dirty="0"/>
          </a:p>
        </p:txBody>
      </p:sp>
      <p:sp>
        <p:nvSpPr>
          <p:cNvPr id="61" name="Shape 50"/>
          <p:cNvSpPr/>
          <p:nvPr/>
        </p:nvSpPr>
        <p:spPr>
          <a:xfrm>
            <a:off x="771754" y="3955694"/>
            <a:ext cx="1057046" cy="228600"/>
          </a:xfrm>
          <a:prstGeom prst="roundRect">
            <a:avLst>
              <a:gd name="adj" fmla="val 66667"/>
            </a:avLst>
          </a:prstGeom>
          <a:solidFill>
            <a:srgbClr val="F43F5E"/>
          </a:solidFill>
          <a:ln/>
          <a:effectLst>
            <a:outerShdw blurRad="38100" dist="25400" dir="5400000" algn="bl" rotWithShape="0">
              <a:srgbClr val="000000">
                <a:alpha val="2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62" name="Text 51"/>
          <p:cNvSpPr txBox="1"/>
          <p:nvPr/>
        </p:nvSpPr>
        <p:spPr>
          <a:xfrm>
            <a:off x="866851" y="3984041"/>
            <a:ext cx="952805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0F172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3단계. 인용 삽입</a:t>
            </a:r>
            <a:endParaRPr lang="en-US" sz="900" dirty="0"/>
          </a:p>
        </p:txBody>
      </p:sp>
      <p:sp>
        <p:nvSpPr>
          <p:cNvPr id="63" name="Shape 52"/>
          <p:cNvSpPr/>
          <p:nvPr/>
        </p:nvSpPr>
        <p:spPr>
          <a:xfrm>
            <a:off x="771754" y="5335524"/>
            <a:ext cx="1019556" cy="228600"/>
          </a:xfrm>
          <a:prstGeom prst="roundRect">
            <a:avLst>
              <a:gd name="adj" fmla="val 66667"/>
            </a:avLst>
          </a:prstGeom>
          <a:solidFill>
            <a:srgbClr val="34D399"/>
          </a:solidFill>
          <a:ln/>
          <a:effectLst>
            <a:outerShdw blurRad="38100" dist="25400" dir="5400000" algn="bl" rotWithShape="0">
              <a:srgbClr val="000000">
                <a:alpha val="2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64" name="Text 53"/>
          <p:cNvSpPr txBox="1"/>
          <p:nvPr/>
        </p:nvSpPr>
        <p:spPr>
          <a:xfrm>
            <a:off x="866851" y="5363870"/>
            <a:ext cx="914400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0F172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4단계. 참고문헌</a:t>
            </a:r>
            <a:endParaRPr lang="en-US" sz="900" dirty="0"/>
          </a:p>
        </p:txBody>
      </p:sp>
      <p:sp>
        <p:nvSpPr>
          <p:cNvPr id="65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이애본(드림아이티비즈) · useful-ai.dreamitbiz.com · 교육 목적 비영리 이용 · 출처 표기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" name="Shape 2"/>
          <p:cNvSpPr/>
          <p:nvPr/>
        </p:nvSpPr>
        <p:spPr>
          <a:xfrm>
            <a:off x="8382305" y="-1904695"/>
            <a:ext cx="5715000" cy="5715000"/>
          </a:xfrm>
          <a:prstGeom prst="ellipse">
            <a:avLst/>
          </a:prstGeom>
          <a:solidFill>
            <a:srgbClr val="38BDF8">
              <a:alpha val="3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" name="Shape 3"/>
          <p:cNvSpPr/>
          <p:nvPr/>
        </p:nvSpPr>
        <p:spPr>
          <a:xfrm>
            <a:off x="761695" y="476402"/>
            <a:ext cx="571500" cy="57607"/>
          </a:xfrm>
          <a:prstGeom prst="roundRect">
            <a:avLst>
              <a:gd name="adj" fmla="val 793654"/>
            </a:avLst>
          </a:prstGeom>
          <a:solidFill>
            <a:srgbClr val="38BDF8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6" name="Shape 4"/>
          <p:cNvSpPr/>
          <p:nvPr/>
        </p:nvSpPr>
        <p:spPr>
          <a:xfrm>
            <a:off x="761695" y="1733702"/>
            <a:ext cx="5238598" cy="1143000"/>
          </a:xfrm>
          <a:prstGeom prst="roundRect">
            <a:avLst>
              <a:gd name="adj" fmla="val 8000"/>
            </a:avLst>
          </a:prstGeom>
          <a:solidFill>
            <a:srgbClr val="1E293B">
              <a:alpha val="50000"/>
            </a:srgbClr>
          </a:solidFill>
          <a:ln w="12700">
            <a:solidFill>
              <a:srgbClr val="FFFFFF">
                <a:alpha val="8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" name="Shape 5"/>
          <p:cNvSpPr/>
          <p:nvPr/>
        </p:nvSpPr>
        <p:spPr>
          <a:xfrm>
            <a:off x="961949" y="1933956"/>
            <a:ext cx="267005" cy="267005"/>
          </a:xfrm>
          <a:prstGeom prst="roundRect">
            <a:avLst>
              <a:gd name="adj" fmla="val 73385"/>
            </a:avLst>
          </a:prstGeom>
          <a:solidFill>
            <a:srgbClr val="38BDF8">
              <a:alpha val="20000"/>
            </a:srgbClr>
          </a:solidFill>
          <a:ln w="12700">
            <a:solidFill>
              <a:srgbClr val="38BDF8">
                <a:alpha val="3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" name="Text 6"/>
          <p:cNvSpPr txBox="1"/>
          <p:nvPr/>
        </p:nvSpPr>
        <p:spPr>
          <a:xfrm>
            <a:off x="1018642" y="1969618"/>
            <a:ext cx="259690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38BDF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01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1362456" y="1933956"/>
            <a:ext cx="1145743" cy="2578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자료 수집 단계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191402" y="1733702"/>
            <a:ext cx="5238598" cy="1143000"/>
          </a:xfrm>
          <a:prstGeom prst="roundRect">
            <a:avLst>
              <a:gd name="adj" fmla="val 8000"/>
            </a:avLst>
          </a:prstGeom>
          <a:solidFill>
            <a:srgbClr val="1E293B">
              <a:alpha val="50000"/>
            </a:srgbClr>
          </a:solidFill>
          <a:ln w="12700">
            <a:solidFill>
              <a:srgbClr val="FFFFFF">
                <a:alpha val="8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1" name="Shape 9"/>
          <p:cNvSpPr/>
          <p:nvPr/>
        </p:nvSpPr>
        <p:spPr>
          <a:xfrm>
            <a:off x="6391656" y="1933956"/>
            <a:ext cx="267005" cy="267005"/>
          </a:xfrm>
          <a:prstGeom prst="roundRect">
            <a:avLst>
              <a:gd name="adj" fmla="val 73385"/>
            </a:avLst>
          </a:prstGeom>
          <a:solidFill>
            <a:srgbClr val="38BDF8">
              <a:alpha val="20000"/>
            </a:srgbClr>
          </a:solidFill>
          <a:ln w="12700">
            <a:solidFill>
              <a:srgbClr val="38BDF8">
                <a:alpha val="3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2" name="Text 10"/>
          <p:cNvSpPr txBox="1"/>
          <p:nvPr/>
        </p:nvSpPr>
        <p:spPr>
          <a:xfrm>
            <a:off x="6448349" y="1969618"/>
            <a:ext cx="259690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38BDF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02</a:t>
            </a:r>
            <a:endParaRPr lang="en-US" sz="1000" dirty="0"/>
          </a:p>
        </p:txBody>
      </p:sp>
      <p:sp>
        <p:nvSpPr>
          <p:cNvPr id="13" name="Text 11"/>
          <p:cNvSpPr txBox="1"/>
          <p:nvPr/>
        </p:nvSpPr>
        <p:spPr>
          <a:xfrm>
            <a:off x="6791249" y="1933956"/>
            <a:ext cx="1316736" cy="2578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노트 &amp; 정리 단계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761695" y="3058668"/>
            <a:ext cx="5238598" cy="1143000"/>
          </a:xfrm>
          <a:prstGeom prst="roundRect">
            <a:avLst>
              <a:gd name="adj" fmla="val 8000"/>
            </a:avLst>
          </a:prstGeom>
          <a:solidFill>
            <a:srgbClr val="1E293B">
              <a:alpha val="50000"/>
            </a:srgbClr>
          </a:solidFill>
          <a:ln w="12700">
            <a:solidFill>
              <a:srgbClr val="FFFFFF">
                <a:alpha val="8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5" name="Shape 13"/>
          <p:cNvSpPr/>
          <p:nvPr/>
        </p:nvSpPr>
        <p:spPr>
          <a:xfrm>
            <a:off x="961949" y="3258922"/>
            <a:ext cx="267005" cy="267005"/>
          </a:xfrm>
          <a:prstGeom prst="roundRect">
            <a:avLst>
              <a:gd name="adj" fmla="val 73385"/>
            </a:avLst>
          </a:prstGeom>
          <a:solidFill>
            <a:srgbClr val="38BDF8">
              <a:alpha val="20000"/>
            </a:srgbClr>
          </a:solidFill>
          <a:ln w="12700">
            <a:solidFill>
              <a:srgbClr val="38BDF8">
                <a:alpha val="3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6" name="Text 14"/>
          <p:cNvSpPr txBox="1"/>
          <p:nvPr/>
        </p:nvSpPr>
        <p:spPr>
          <a:xfrm>
            <a:off x="1018642" y="3294583"/>
            <a:ext cx="259690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38BDF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03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1362456" y="3258922"/>
            <a:ext cx="1145743" cy="2578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초안 작성 단계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6191402" y="3058668"/>
            <a:ext cx="5238598" cy="1143000"/>
          </a:xfrm>
          <a:prstGeom prst="roundRect">
            <a:avLst>
              <a:gd name="adj" fmla="val 8000"/>
            </a:avLst>
          </a:prstGeom>
          <a:solidFill>
            <a:srgbClr val="1E293B">
              <a:alpha val="50000"/>
            </a:srgbClr>
          </a:solidFill>
          <a:ln w="12700">
            <a:solidFill>
              <a:srgbClr val="FFFFFF">
                <a:alpha val="8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9" name="Shape 17"/>
          <p:cNvSpPr/>
          <p:nvPr/>
        </p:nvSpPr>
        <p:spPr>
          <a:xfrm>
            <a:off x="6391656" y="3258922"/>
            <a:ext cx="267005" cy="267005"/>
          </a:xfrm>
          <a:prstGeom prst="roundRect">
            <a:avLst>
              <a:gd name="adj" fmla="val 73385"/>
            </a:avLst>
          </a:prstGeom>
          <a:solidFill>
            <a:srgbClr val="38BDF8">
              <a:alpha val="20000"/>
            </a:srgbClr>
          </a:solidFill>
          <a:ln w="12700">
            <a:solidFill>
              <a:srgbClr val="38BDF8">
                <a:alpha val="3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0" name="Text 18"/>
          <p:cNvSpPr txBox="1"/>
          <p:nvPr/>
        </p:nvSpPr>
        <p:spPr>
          <a:xfrm>
            <a:off x="6448349" y="3294583"/>
            <a:ext cx="259690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38BDF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04</a:t>
            </a:r>
            <a:endParaRPr lang="en-US" sz="1000" dirty="0"/>
          </a:p>
        </p:txBody>
      </p:sp>
      <p:sp>
        <p:nvSpPr>
          <p:cNvPr id="21" name="Text 19"/>
          <p:cNvSpPr txBox="1"/>
          <p:nvPr/>
        </p:nvSpPr>
        <p:spPr>
          <a:xfrm>
            <a:off x="6791249" y="3258922"/>
            <a:ext cx="1145743" cy="2578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인용 삽입 단계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761695" y="4383634"/>
            <a:ext cx="5238598" cy="1143000"/>
          </a:xfrm>
          <a:prstGeom prst="roundRect">
            <a:avLst>
              <a:gd name="adj" fmla="val 8000"/>
            </a:avLst>
          </a:prstGeom>
          <a:solidFill>
            <a:srgbClr val="1E293B">
              <a:alpha val="50000"/>
            </a:srgbClr>
          </a:solidFill>
          <a:ln w="12700">
            <a:solidFill>
              <a:srgbClr val="FFFFFF">
                <a:alpha val="8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3" name="Shape 21"/>
          <p:cNvSpPr/>
          <p:nvPr/>
        </p:nvSpPr>
        <p:spPr>
          <a:xfrm>
            <a:off x="961949" y="4583887"/>
            <a:ext cx="267005" cy="267005"/>
          </a:xfrm>
          <a:prstGeom prst="roundRect">
            <a:avLst>
              <a:gd name="adj" fmla="val 73385"/>
            </a:avLst>
          </a:prstGeom>
          <a:solidFill>
            <a:srgbClr val="38BDF8">
              <a:alpha val="20000"/>
            </a:srgbClr>
          </a:solidFill>
          <a:ln w="12700">
            <a:solidFill>
              <a:srgbClr val="38BDF8">
                <a:alpha val="3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4" name="Text 22"/>
          <p:cNvSpPr txBox="1"/>
          <p:nvPr/>
        </p:nvSpPr>
        <p:spPr>
          <a:xfrm>
            <a:off x="1018642" y="4620463"/>
            <a:ext cx="259690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38BDF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05</a:t>
            </a:r>
            <a:endParaRPr lang="en-US" sz="1000" dirty="0"/>
          </a:p>
        </p:txBody>
      </p:sp>
      <p:sp>
        <p:nvSpPr>
          <p:cNvPr id="25" name="Text 23"/>
          <p:cNvSpPr txBox="1"/>
          <p:nvPr/>
        </p:nvSpPr>
        <p:spPr>
          <a:xfrm>
            <a:off x="1362456" y="4583887"/>
            <a:ext cx="1145743" cy="2578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서지 생성 단계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6191402" y="4383634"/>
            <a:ext cx="5238598" cy="1143000"/>
          </a:xfrm>
          <a:prstGeom prst="roundRect">
            <a:avLst>
              <a:gd name="adj" fmla="val 8000"/>
            </a:avLst>
          </a:prstGeom>
          <a:solidFill>
            <a:srgbClr val="1E293B">
              <a:alpha val="50000"/>
            </a:srgbClr>
          </a:solidFill>
          <a:ln w="12700">
            <a:solidFill>
              <a:srgbClr val="FFFFFF">
                <a:alpha val="8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7" name="Shape 25"/>
          <p:cNvSpPr/>
          <p:nvPr/>
        </p:nvSpPr>
        <p:spPr>
          <a:xfrm>
            <a:off x="6391656" y="4583887"/>
            <a:ext cx="267005" cy="267005"/>
          </a:xfrm>
          <a:prstGeom prst="roundRect">
            <a:avLst>
              <a:gd name="adj" fmla="val 73385"/>
            </a:avLst>
          </a:prstGeom>
          <a:solidFill>
            <a:srgbClr val="38BDF8">
              <a:alpha val="20000"/>
            </a:srgbClr>
          </a:solidFill>
          <a:ln w="12700">
            <a:solidFill>
              <a:srgbClr val="38BDF8">
                <a:alpha val="3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8" name="Text 26"/>
          <p:cNvSpPr txBox="1"/>
          <p:nvPr/>
        </p:nvSpPr>
        <p:spPr>
          <a:xfrm>
            <a:off x="6448349" y="4620463"/>
            <a:ext cx="259690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38BDF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06</a:t>
            </a:r>
            <a:endParaRPr lang="en-US" sz="1000" dirty="0"/>
          </a:p>
        </p:txBody>
      </p:sp>
      <p:sp>
        <p:nvSpPr>
          <p:cNvPr id="29" name="Text 27"/>
          <p:cNvSpPr txBox="1"/>
          <p:nvPr/>
        </p:nvSpPr>
        <p:spPr>
          <a:xfrm>
            <a:off x="6791249" y="4583887"/>
            <a:ext cx="1145743" cy="2578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최종 검수 단계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761695" y="5757062"/>
            <a:ext cx="10668305" cy="629107"/>
          </a:xfrm>
          <a:prstGeom prst="roundRect">
            <a:avLst>
              <a:gd name="adj" fmla="val 26427"/>
            </a:avLst>
          </a:prstGeom>
          <a:solidFill>
            <a:srgbClr val="0EA5E9"/>
          </a:solidFill>
          <a:ln/>
          <a:effectLst>
            <a:outerShdw blurRad="241300" dist="101600" dir="5400000" algn="bl" rotWithShape="0">
              <a:srgbClr val="0EA5E9">
                <a:alpha val="4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pic>
        <p:nvPicPr>
          <p:cNvPr id="31" name="Image 0" descr="preencoded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990295" y="5983834"/>
            <a:ext cx="171907" cy="171907"/>
          </a:xfrm>
          <a:prstGeom prst="rect">
            <a:avLst/>
          </a:prstGeom>
        </p:spPr>
      </p:pic>
      <p:sp>
        <p:nvSpPr>
          <p:cNvPr id="32" name="Text 29"/>
          <p:cNvSpPr txBox="1"/>
          <p:nvPr/>
        </p:nvSpPr>
        <p:spPr>
          <a:xfrm>
            <a:off x="1238098" y="5943600"/>
            <a:ext cx="1297534" cy="2578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제출 전 3분 점검</a:t>
            </a:r>
            <a:endParaRPr lang="en-US" sz="1300" dirty="0"/>
          </a:p>
        </p:txBody>
      </p:sp>
      <p:sp>
        <p:nvSpPr>
          <p:cNvPr id="33" name="Shape 30"/>
          <p:cNvSpPr/>
          <p:nvPr/>
        </p:nvSpPr>
        <p:spPr>
          <a:xfrm>
            <a:off x="2730398" y="5908853"/>
            <a:ext cx="2115007" cy="323698"/>
          </a:xfrm>
          <a:prstGeom prst="roundRect">
            <a:avLst>
              <a:gd name="adj" fmla="val 49850"/>
            </a:avLst>
          </a:prstGeom>
          <a:solidFill>
            <a:srgbClr val="FFFFFF">
              <a:alpha val="15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34" name="Image 1" descr="preencoded.png"/>
          <p:cNvPicPr>
            <a:picLocks noChangeAspect="1"/>
          </p:cNvPicPr>
          <p:nvPr/>
        </p:nvPicPr>
        <p:blipFill>
          <a:blip r:embed="rId4"/>
          <a:srcRect t="-1359" b="-1359"/>
          <a:stretch/>
        </p:blipFill>
        <p:spPr>
          <a:xfrm>
            <a:off x="2844698" y="6007608"/>
            <a:ext cx="105156" cy="123444"/>
          </a:xfrm>
          <a:prstGeom prst="rect">
            <a:avLst/>
          </a:prstGeom>
        </p:spPr>
      </p:pic>
      <p:sp>
        <p:nvSpPr>
          <p:cNvPr id="35" name="Shape 31"/>
          <p:cNvSpPr/>
          <p:nvPr/>
        </p:nvSpPr>
        <p:spPr>
          <a:xfrm>
            <a:off x="5072177" y="5908853"/>
            <a:ext cx="1591056" cy="323698"/>
          </a:xfrm>
          <a:prstGeom prst="roundRect">
            <a:avLst>
              <a:gd name="adj" fmla="val 49850"/>
            </a:avLst>
          </a:prstGeom>
          <a:solidFill>
            <a:srgbClr val="FFFFFF">
              <a:alpha val="15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36" name="Image 2" descr="preencoded.png"/>
          <p:cNvPicPr>
            <a:picLocks noChangeAspect="1"/>
          </p:cNvPicPr>
          <p:nvPr/>
        </p:nvPicPr>
        <p:blipFill>
          <a:blip r:embed="rId4"/>
          <a:srcRect t="-1359" b="-1359"/>
          <a:stretch/>
        </p:blipFill>
        <p:spPr>
          <a:xfrm>
            <a:off x="5186477" y="6007608"/>
            <a:ext cx="105156" cy="123444"/>
          </a:xfrm>
          <a:prstGeom prst="rect">
            <a:avLst/>
          </a:prstGeom>
        </p:spPr>
      </p:pic>
      <p:sp>
        <p:nvSpPr>
          <p:cNvPr id="37" name="Shape 32"/>
          <p:cNvSpPr/>
          <p:nvPr/>
        </p:nvSpPr>
        <p:spPr>
          <a:xfrm>
            <a:off x="6884518" y="5908853"/>
            <a:ext cx="1609344" cy="323698"/>
          </a:xfrm>
          <a:prstGeom prst="roundRect">
            <a:avLst>
              <a:gd name="adj" fmla="val 49850"/>
            </a:avLst>
          </a:prstGeom>
          <a:solidFill>
            <a:srgbClr val="FFFFFF">
              <a:alpha val="15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38" name="Image 3" descr="preencoded.png"/>
          <p:cNvPicPr>
            <a:picLocks noChangeAspect="1"/>
          </p:cNvPicPr>
          <p:nvPr/>
        </p:nvPicPr>
        <p:blipFill>
          <a:blip r:embed="rId4"/>
          <a:srcRect t="-1359" b="-1359"/>
          <a:stretch/>
        </p:blipFill>
        <p:spPr>
          <a:xfrm>
            <a:off x="6998818" y="6007608"/>
            <a:ext cx="105156" cy="123444"/>
          </a:xfrm>
          <a:prstGeom prst="rect">
            <a:avLst/>
          </a:prstGeom>
        </p:spPr>
      </p:pic>
      <p:sp>
        <p:nvSpPr>
          <p:cNvPr id="39" name="Text 33"/>
          <p:cNvSpPr txBox="1"/>
          <p:nvPr/>
        </p:nvSpPr>
        <p:spPr>
          <a:xfrm>
            <a:off x="761695" y="685800"/>
            <a:ext cx="3296412" cy="4956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7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표절 예방 워크플로우</a:t>
            </a:r>
            <a:endParaRPr lang="en-US" sz="2700" dirty="0"/>
          </a:p>
        </p:txBody>
      </p:sp>
      <p:sp>
        <p:nvSpPr>
          <p:cNvPr id="40" name="Text 34"/>
          <p:cNvSpPr txBox="1"/>
          <p:nvPr/>
        </p:nvSpPr>
        <p:spPr>
          <a:xfrm>
            <a:off x="761695" y="1238098"/>
            <a:ext cx="5119726" cy="2478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D1D5D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리포트 작성의 시작부터 끝까지, 단계별로 확인해야 할 필수 항목 6가지</a:t>
            </a:r>
            <a:endParaRPr lang="en-US" sz="1300" dirty="0"/>
          </a:p>
        </p:txBody>
      </p:sp>
      <p:sp>
        <p:nvSpPr>
          <p:cNvPr id="41" name="Text 35"/>
          <p:cNvSpPr txBox="1"/>
          <p:nvPr/>
        </p:nvSpPr>
        <p:spPr>
          <a:xfrm>
            <a:off x="1362456" y="2213762"/>
            <a:ext cx="4300423" cy="4197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학술 DB 원문 확보 시, 서지 정보(저자, 연도, 출처)를 파일과 함께 즉시 저장했나요?</a:t>
            </a:r>
            <a:endParaRPr lang="en-US" sz="1100" dirty="0"/>
          </a:p>
        </p:txBody>
      </p:sp>
      <p:sp>
        <p:nvSpPr>
          <p:cNvPr id="42" name="Text 36"/>
          <p:cNvSpPr txBox="1"/>
          <p:nvPr/>
        </p:nvSpPr>
        <p:spPr>
          <a:xfrm>
            <a:off x="6791249" y="2213762"/>
            <a:ext cx="4433011" cy="4197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수집한 자료를 주제별로 분류하고, 핵심 내용을 나만의 언어로 요약(메모)해 두었나요?</a:t>
            </a:r>
            <a:endParaRPr lang="en-US" sz="1100" dirty="0"/>
          </a:p>
        </p:txBody>
      </p:sp>
      <p:sp>
        <p:nvSpPr>
          <p:cNvPr id="43" name="Text 37"/>
          <p:cNvSpPr txBox="1"/>
          <p:nvPr/>
        </p:nvSpPr>
        <p:spPr>
          <a:xfrm>
            <a:off x="1362456" y="3538728"/>
            <a:ext cx="3947465" cy="4197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타인의 아이디어를 차용할 때, 문장 끝에 즉시 출처(저자, 연도)를 표기했나요?</a:t>
            </a:r>
            <a:endParaRPr lang="en-US" sz="1100" dirty="0"/>
          </a:p>
        </p:txBody>
      </p:sp>
      <p:sp>
        <p:nvSpPr>
          <p:cNvPr id="44" name="Text 38"/>
          <p:cNvSpPr txBox="1"/>
          <p:nvPr/>
        </p:nvSpPr>
        <p:spPr>
          <a:xfrm>
            <a:off x="6791249" y="3538728"/>
            <a:ext cx="3690518" cy="4197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직접 인용은 따옴표("")로, 간접 인용은 자연스러운 문장으로 재구성했나요?</a:t>
            </a:r>
            <a:endParaRPr lang="en-US" sz="1100" dirty="0"/>
          </a:p>
        </p:txBody>
      </p:sp>
      <p:sp>
        <p:nvSpPr>
          <p:cNvPr id="45" name="Text 39"/>
          <p:cNvSpPr txBox="1"/>
          <p:nvPr/>
        </p:nvSpPr>
        <p:spPr>
          <a:xfrm>
            <a:off x="1362456" y="4863694"/>
            <a:ext cx="432877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본문에 인용된 모든 문헌이 참고문헌 리스트에 빠짐없이 포함되었나요?</a:t>
            </a:r>
            <a:endParaRPr lang="en-US" sz="1100" dirty="0"/>
          </a:p>
        </p:txBody>
      </p:sp>
      <p:sp>
        <p:nvSpPr>
          <p:cNvPr id="46" name="Text 40"/>
          <p:cNvSpPr txBox="1"/>
          <p:nvPr/>
        </p:nvSpPr>
        <p:spPr>
          <a:xfrm>
            <a:off x="6791249" y="4863694"/>
            <a:ext cx="3995014" cy="4197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표절 검사(카피킬러 등)를 수행하고, 인용이 누락된 부분이 없는지 점검했나요?</a:t>
            </a:r>
            <a:endParaRPr lang="en-US" sz="1100" dirty="0"/>
          </a:p>
        </p:txBody>
      </p:sp>
      <p:sp>
        <p:nvSpPr>
          <p:cNvPr id="47" name="Text 41"/>
          <p:cNvSpPr txBox="1"/>
          <p:nvPr/>
        </p:nvSpPr>
        <p:spPr>
          <a:xfrm>
            <a:off x="2948940" y="5966460"/>
            <a:ext cx="1884578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본문 인용 ↔ 참고문헌 1:1 매칭</a:t>
            </a:r>
            <a:endParaRPr lang="en-US" sz="1000" dirty="0"/>
          </a:p>
        </p:txBody>
      </p:sp>
      <p:sp>
        <p:nvSpPr>
          <p:cNvPr id="48" name="Text 42"/>
          <p:cNvSpPr txBox="1"/>
          <p:nvPr/>
        </p:nvSpPr>
        <p:spPr>
          <a:xfrm>
            <a:off x="5291633" y="5966460"/>
            <a:ext cx="1360627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직접 인용 따옴표 확인</a:t>
            </a:r>
            <a:endParaRPr lang="en-US" sz="1000" dirty="0"/>
          </a:p>
        </p:txBody>
      </p:sp>
      <p:sp>
        <p:nvSpPr>
          <p:cNvPr id="49" name="Text 43"/>
          <p:cNvSpPr txBox="1"/>
          <p:nvPr/>
        </p:nvSpPr>
        <p:spPr>
          <a:xfrm>
            <a:off x="7103974" y="5966460"/>
            <a:ext cx="1379830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표절률 15% 미만 권장</a:t>
            </a:r>
            <a:endParaRPr lang="en-US" sz="1000" dirty="0"/>
          </a:p>
        </p:txBody>
      </p:sp>
      <p:sp>
        <p:nvSpPr>
          <p:cNvPr id="50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이애본(드림아이티비즈) · useful-ai.dreamitbiz.com · 교육 목적 비영리 이용 · 출처 표기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" name="Shape 2"/>
          <p:cNvSpPr/>
          <p:nvPr/>
        </p:nvSpPr>
        <p:spPr>
          <a:xfrm>
            <a:off x="-1904695" y="-1904695"/>
            <a:ext cx="7619695" cy="7619695"/>
          </a:xfrm>
          <a:prstGeom prst="ellipse">
            <a:avLst/>
          </a:prstGeom>
          <a:solidFill>
            <a:srgbClr val="38BDF8">
              <a:alpha val="2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" name="Shape 3"/>
          <p:cNvSpPr/>
          <p:nvPr/>
        </p:nvSpPr>
        <p:spPr>
          <a:xfrm>
            <a:off x="8382305" y="3047695"/>
            <a:ext cx="4762195" cy="4762195"/>
          </a:xfrm>
          <a:prstGeom prst="ellipse">
            <a:avLst/>
          </a:prstGeom>
          <a:solidFill>
            <a:srgbClr val="38BDF8">
              <a:alpha val="2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6" name="Shape 4"/>
          <p:cNvSpPr/>
          <p:nvPr/>
        </p:nvSpPr>
        <p:spPr>
          <a:xfrm>
            <a:off x="0" y="0"/>
            <a:ext cx="4267505" cy="6858000"/>
          </a:xfrm>
          <a:prstGeom prst="rect">
            <a:avLst/>
          </a:prstGeom>
          <a:solidFill>
            <a:srgbClr val="0F172A">
              <a:alpha val="5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7" name="Shape 5"/>
          <p:cNvSpPr/>
          <p:nvPr/>
        </p:nvSpPr>
        <p:spPr>
          <a:xfrm>
            <a:off x="4258361" y="0"/>
            <a:ext cx="9144" cy="6858000"/>
          </a:xfrm>
          <a:prstGeom prst="rect">
            <a:avLst/>
          </a:prstGeom>
          <a:solidFill>
            <a:srgbClr val="FFFFFF">
              <a:alpha val="1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8" name="Shape 6"/>
          <p:cNvSpPr/>
          <p:nvPr/>
        </p:nvSpPr>
        <p:spPr>
          <a:xfrm>
            <a:off x="476402" y="2464308"/>
            <a:ext cx="571500" cy="57607"/>
          </a:xfrm>
          <a:prstGeom prst="rect">
            <a:avLst/>
          </a:prstGeom>
          <a:solidFill>
            <a:srgbClr val="38BDF8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9" name="Text 7"/>
          <p:cNvSpPr txBox="1"/>
          <p:nvPr/>
        </p:nvSpPr>
        <p:spPr>
          <a:xfrm>
            <a:off x="476402" y="2712110"/>
            <a:ext cx="1972361" cy="4956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7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마무리/요약</a:t>
            </a:r>
            <a:endParaRPr lang="en-US" sz="2700" dirty="0"/>
          </a:p>
        </p:txBody>
      </p:sp>
      <p:sp>
        <p:nvSpPr>
          <p:cNvPr id="10" name="Text 8"/>
          <p:cNvSpPr txBox="1"/>
          <p:nvPr/>
        </p:nvSpPr>
        <p:spPr>
          <a:xfrm>
            <a:off x="476402" y="3140964"/>
            <a:ext cx="1981505" cy="4956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7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&amp; 추가 자료</a:t>
            </a:r>
            <a:endParaRPr lang="en-US" sz="2700" dirty="0"/>
          </a:p>
        </p:txBody>
      </p:sp>
      <p:sp>
        <p:nvSpPr>
          <p:cNvPr id="11" name="Text 9"/>
          <p:cNvSpPr txBox="1"/>
          <p:nvPr/>
        </p:nvSpPr>
        <p:spPr>
          <a:xfrm>
            <a:off x="476402" y="3845966"/>
            <a:ext cx="3405226" cy="5340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300" dirty="0">
                <a:solidFill>
                  <a:srgbClr val="9CA3A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오늘 배운 핵심 내용 3가지를 다시 한번 확인하고, 실전 과제로 내 것으로 만드세요.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4839005" y="1533449"/>
            <a:ext cx="6782105" cy="495605"/>
          </a:xfrm>
          <a:prstGeom prst="roundRect">
            <a:avLst>
              <a:gd name="adj" fmla="val 28385"/>
            </a:avLst>
          </a:prstGeom>
          <a:solidFill>
            <a:srgbClr val="FFFFFF">
              <a:alpha val="3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3" name="Shape 11"/>
          <p:cNvSpPr/>
          <p:nvPr/>
        </p:nvSpPr>
        <p:spPr>
          <a:xfrm>
            <a:off x="4839005" y="1533449"/>
            <a:ext cx="38405" cy="495605"/>
          </a:xfrm>
          <a:prstGeom prst="rect">
            <a:avLst/>
          </a:prstGeom>
          <a:solidFill>
            <a:srgbClr val="38BDF8"/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14" name="Image 0" descr="preencoded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5067605" y="1693469"/>
            <a:ext cx="171907" cy="171907"/>
          </a:xfrm>
          <a:prstGeom prst="rect">
            <a:avLst/>
          </a:prstGeom>
        </p:spPr>
      </p:pic>
      <p:sp>
        <p:nvSpPr>
          <p:cNvPr id="15" name="Shape 12"/>
          <p:cNvSpPr/>
          <p:nvPr/>
        </p:nvSpPr>
        <p:spPr>
          <a:xfrm>
            <a:off x="4839005" y="2177186"/>
            <a:ext cx="6782105" cy="495605"/>
          </a:xfrm>
          <a:prstGeom prst="roundRect">
            <a:avLst>
              <a:gd name="adj" fmla="val 28385"/>
            </a:avLst>
          </a:prstGeom>
          <a:solidFill>
            <a:srgbClr val="FFFFFF">
              <a:alpha val="3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6" name="Shape 13"/>
          <p:cNvSpPr/>
          <p:nvPr/>
        </p:nvSpPr>
        <p:spPr>
          <a:xfrm>
            <a:off x="4839005" y="2177186"/>
            <a:ext cx="38405" cy="495605"/>
          </a:xfrm>
          <a:prstGeom prst="rect">
            <a:avLst/>
          </a:prstGeom>
          <a:solidFill>
            <a:srgbClr val="38BDF8"/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17" name="Image 1" descr="preencoded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5067605" y="2336292"/>
            <a:ext cx="171907" cy="171907"/>
          </a:xfrm>
          <a:prstGeom prst="rect">
            <a:avLst/>
          </a:prstGeom>
        </p:spPr>
      </p:pic>
      <p:sp>
        <p:nvSpPr>
          <p:cNvPr id="18" name="Shape 14"/>
          <p:cNvSpPr/>
          <p:nvPr/>
        </p:nvSpPr>
        <p:spPr>
          <a:xfrm>
            <a:off x="4839005" y="2820010"/>
            <a:ext cx="6782105" cy="495605"/>
          </a:xfrm>
          <a:prstGeom prst="roundRect">
            <a:avLst>
              <a:gd name="adj" fmla="val 28385"/>
            </a:avLst>
          </a:prstGeom>
          <a:solidFill>
            <a:srgbClr val="FFFFFF">
              <a:alpha val="3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9" name="Shape 15"/>
          <p:cNvSpPr/>
          <p:nvPr/>
        </p:nvSpPr>
        <p:spPr>
          <a:xfrm>
            <a:off x="4839005" y="2820010"/>
            <a:ext cx="38405" cy="495605"/>
          </a:xfrm>
          <a:prstGeom prst="rect">
            <a:avLst/>
          </a:prstGeom>
          <a:solidFill>
            <a:srgbClr val="38BDF8"/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20" name="Image 2" descr="preencoded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5067605" y="2979115"/>
            <a:ext cx="171907" cy="171907"/>
          </a:xfrm>
          <a:prstGeom prst="rect">
            <a:avLst/>
          </a:prstGeom>
        </p:spPr>
      </p:pic>
      <p:sp>
        <p:nvSpPr>
          <p:cNvPr id="21" name="Shape 16"/>
          <p:cNvSpPr/>
          <p:nvPr/>
        </p:nvSpPr>
        <p:spPr>
          <a:xfrm>
            <a:off x="4839005" y="3876142"/>
            <a:ext cx="2190902" cy="418795"/>
          </a:xfrm>
          <a:prstGeom prst="roundRect">
            <a:avLst>
              <a:gd name="adj" fmla="val 29774"/>
            </a:avLst>
          </a:prstGeom>
          <a:solidFill>
            <a:srgbClr val="38BDF8">
              <a:alpha val="5000"/>
            </a:srgbClr>
          </a:solidFill>
          <a:ln w="12700">
            <a:solidFill>
              <a:srgbClr val="38BDF8">
                <a:alpha val="1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22" name="Image 3" descr="preencoded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5330038" y="4016959"/>
            <a:ext cx="133502" cy="133502"/>
          </a:xfrm>
          <a:prstGeom prst="rect">
            <a:avLst/>
          </a:prstGeom>
        </p:spPr>
      </p:pic>
      <p:sp>
        <p:nvSpPr>
          <p:cNvPr id="23" name="Shape 17"/>
          <p:cNvSpPr/>
          <p:nvPr/>
        </p:nvSpPr>
        <p:spPr>
          <a:xfrm>
            <a:off x="7137806" y="3876142"/>
            <a:ext cx="2190902" cy="418795"/>
          </a:xfrm>
          <a:prstGeom prst="roundRect">
            <a:avLst>
              <a:gd name="adj" fmla="val 29774"/>
            </a:avLst>
          </a:prstGeom>
          <a:solidFill>
            <a:srgbClr val="38BDF8">
              <a:alpha val="5000"/>
            </a:srgbClr>
          </a:solidFill>
          <a:ln w="12700">
            <a:solidFill>
              <a:srgbClr val="38BDF8">
                <a:alpha val="1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24" name="Image 4" descr="preencoded.png"/>
          <p:cNvPicPr>
            <a:picLocks noChangeAspect="1"/>
          </p:cNvPicPr>
          <p:nvPr/>
        </p:nvPicPr>
        <p:blipFill>
          <a:blip r:embed="rId5"/>
          <a:srcRect l="-2838" r="-2838"/>
          <a:stretch/>
        </p:blipFill>
        <p:spPr>
          <a:xfrm>
            <a:off x="7613294" y="4016959"/>
            <a:ext cx="123444" cy="133502"/>
          </a:xfrm>
          <a:prstGeom prst="rect">
            <a:avLst/>
          </a:prstGeom>
        </p:spPr>
      </p:pic>
      <p:sp>
        <p:nvSpPr>
          <p:cNvPr id="25" name="Shape 18"/>
          <p:cNvSpPr/>
          <p:nvPr/>
        </p:nvSpPr>
        <p:spPr>
          <a:xfrm>
            <a:off x="9435694" y="3876142"/>
            <a:ext cx="2190902" cy="418795"/>
          </a:xfrm>
          <a:prstGeom prst="roundRect">
            <a:avLst>
              <a:gd name="adj" fmla="val 29774"/>
            </a:avLst>
          </a:prstGeom>
          <a:solidFill>
            <a:srgbClr val="38BDF8">
              <a:alpha val="5000"/>
            </a:srgbClr>
          </a:solidFill>
          <a:ln w="12700">
            <a:solidFill>
              <a:srgbClr val="38BDF8">
                <a:alpha val="1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26" name="Image 5" descr="preencoded.png"/>
          <p:cNvPicPr>
            <a:picLocks noChangeAspect="1"/>
          </p:cNvPicPr>
          <p:nvPr/>
        </p:nvPicPr>
        <p:blipFill>
          <a:blip r:embed="rId6"/>
          <a:srcRect l="-837" r="-837"/>
          <a:stretch/>
        </p:blipFill>
        <p:spPr>
          <a:xfrm>
            <a:off x="9991649" y="4016959"/>
            <a:ext cx="152705" cy="133502"/>
          </a:xfrm>
          <a:prstGeom prst="rect">
            <a:avLst/>
          </a:prstGeom>
        </p:spPr>
      </p:pic>
      <p:sp>
        <p:nvSpPr>
          <p:cNvPr id="27" name="Shape 19"/>
          <p:cNvSpPr/>
          <p:nvPr/>
        </p:nvSpPr>
        <p:spPr>
          <a:xfrm>
            <a:off x="4839005" y="4772254"/>
            <a:ext cx="6782105" cy="552298"/>
          </a:xfrm>
          <a:prstGeom prst="roundRect">
            <a:avLst>
              <a:gd name="adj" fmla="val 22836"/>
            </a:avLst>
          </a:prstGeom>
          <a:solidFill>
            <a:srgbClr val="FFFFFF">
              <a:alpha val="5000"/>
            </a:srgbClr>
          </a:solidFill>
          <a:ln w="12700">
            <a:solidFill>
              <a:srgbClr val="FFFFFF">
                <a:alpha val="2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8" name="Shape 20"/>
          <p:cNvSpPr/>
          <p:nvPr/>
        </p:nvSpPr>
        <p:spPr>
          <a:xfrm>
            <a:off x="5020056" y="4927702"/>
            <a:ext cx="381305" cy="247802"/>
          </a:xfrm>
          <a:prstGeom prst="roundRect">
            <a:avLst>
              <a:gd name="adj" fmla="val 56770"/>
            </a:avLst>
          </a:prstGeom>
          <a:solidFill>
            <a:srgbClr val="38BDF8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9" name="Text 21"/>
          <p:cNvSpPr txBox="1"/>
          <p:nvPr/>
        </p:nvSpPr>
        <p:spPr>
          <a:xfrm>
            <a:off x="5372100" y="1657807"/>
            <a:ext cx="468264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F1F5F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인용은 내 주장의 신뢰성을 높이고 연구 윤리를 지키는 필수 과정입니다.</a:t>
            </a:r>
            <a:endParaRPr lang="en-US" sz="1200" dirty="0"/>
          </a:p>
        </p:txBody>
      </p:sp>
      <p:sp>
        <p:nvSpPr>
          <p:cNvPr id="30" name="Text 22"/>
          <p:cNvSpPr txBox="1"/>
          <p:nvPr/>
        </p:nvSpPr>
        <p:spPr>
          <a:xfrm>
            <a:off x="5372100" y="2300630"/>
            <a:ext cx="476859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F1F5F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간접 인용, 직접 인용, 재인용의 차이를 이해하고 상황에 맞게 적용하세요.</a:t>
            </a:r>
            <a:endParaRPr lang="en-US" sz="1200" dirty="0"/>
          </a:p>
        </p:txBody>
      </p:sp>
      <p:sp>
        <p:nvSpPr>
          <p:cNvPr id="31" name="Text 23"/>
          <p:cNvSpPr txBox="1"/>
          <p:nvPr/>
        </p:nvSpPr>
        <p:spPr>
          <a:xfrm>
            <a:off x="5372100" y="2943454"/>
            <a:ext cx="49688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F1F5F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Zotero 등 서지관리도구와 AI 검증 프로세스를 활용하여 표절을 차단하세요.</a:t>
            </a:r>
            <a:endParaRPr lang="en-US" sz="1200" dirty="0"/>
          </a:p>
        </p:txBody>
      </p:sp>
      <p:sp>
        <p:nvSpPr>
          <p:cNvPr id="32" name="Text 24"/>
          <p:cNvSpPr txBox="1"/>
          <p:nvPr/>
        </p:nvSpPr>
        <p:spPr>
          <a:xfrm>
            <a:off x="4839005" y="3587191"/>
            <a:ext cx="945490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추천 참고 자료</a:t>
            </a:r>
            <a:endParaRPr lang="en-US" sz="1000" dirty="0"/>
          </a:p>
        </p:txBody>
      </p:sp>
      <p:sp>
        <p:nvSpPr>
          <p:cNvPr id="33" name="Text 25"/>
          <p:cNvSpPr txBox="1"/>
          <p:nvPr/>
        </p:nvSpPr>
        <p:spPr>
          <a:xfrm>
            <a:off x="5539435" y="3981298"/>
            <a:ext cx="1103681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SNU 글쓰기 교실</a:t>
            </a:r>
            <a:endParaRPr lang="en-US" sz="1000" dirty="0"/>
          </a:p>
        </p:txBody>
      </p:sp>
      <p:sp>
        <p:nvSpPr>
          <p:cNvPr id="34" name="Text 26"/>
          <p:cNvSpPr txBox="1"/>
          <p:nvPr/>
        </p:nvSpPr>
        <p:spPr>
          <a:xfrm>
            <a:off x="7813548" y="3981298"/>
            <a:ext cx="1141171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APA Style 가이드</a:t>
            </a:r>
            <a:endParaRPr lang="en-US" sz="1000" dirty="0"/>
          </a:p>
        </p:txBody>
      </p:sp>
      <p:sp>
        <p:nvSpPr>
          <p:cNvPr id="35" name="Text 27"/>
          <p:cNvSpPr txBox="1"/>
          <p:nvPr/>
        </p:nvSpPr>
        <p:spPr>
          <a:xfrm>
            <a:off x="10220249" y="3981298"/>
            <a:ext cx="950976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Zotero 매뉴얼</a:t>
            </a:r>
            <a:endParaRPr lang="en-US" sz="1000" dirty="0"/>
          </a:p>
        </p:txBody>
      </p:sp>
      <p:sp>
        <p:nvSpPr>
          <p:cNvPr id="36" name="Text 28"/>
          <p:cNvSpPr txBox="1"/>
          <p:nvPr/>
        </p:nvSpPr>
        <p:spPr>
          <a:xfrm>
            <a:off x="4839005" y="4482389"/>
            <a:ext cx="650138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다음 과제</a:t>
            </a:r>
            <a:endParaRPr lang="en-US" sz="1000" dirty="0"/>
          </a:p>
        </p:txBody>
      </p:sp>
      <p:sp>
        <p:nvSpPr>
          <p:cNvPr id="37" name="Text 29"/>
          <p:cNvSpPr txBox="1"/>
          <p:nvPr/>
        </p:nvSpPr>
        <p:spPr>
          <a:xfrm>
            <a:off x="5095951" y="4956962"/>
            <a:ext cx="320954" cy="1810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0F172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과제</a:t>
            </a:r>
            <a:endParaRPr lang="en-US" sz="900" dirty="0"/>
          </a:p>
        </p:txBody>
      </p:sp>
      <p:sp>
        <p:nvSpPr>
          <p:cNvPr id="38" name="Text 30"/>
          <p:cNvSpPr txBox="1"/>
          <p:nvPr/>
        </p:nvSpPr>
        <p:spPr>
          <a:xfrm>
            <a:off x="5529377" y="4924044"/>
            <a:ext cx="3948379" cy="2478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E5E7E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내 리포트 1페이지 작성 후 인용/서지 리스트 첨부하기</a:t>
            </a:r>
            <a:endParaRPr lang="en-US" sz="1300" dirty="0"/>
          </a:p>
        </p:txBody>
      </p:sp>
      <p:sp>
        <p:nvSpPr>
          <p:cNvPr id="39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이애본(드림아이티비즈) · useful-ai.dreamitbiz.com · 교육 목적 비영리 이용 · 출처 표기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wrap:bg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deckgen:wrap:side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deckgen:wrap:rule"/>
          <p:cNvSpPr/>
          <p:nvPr/>
        </p:nvSpPr>
        <p:spPr>
          <a:xfrm>
            <a:off x="853440" y="2057400"/>
            <a:ext cx="975360" cy="38100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deckgen:wrap:eyebrow"/>
          <p:cNvSpPr txBox="1"/>
          <p:nvPr/>
        </p:nvSpPr>
        <p:spPr>
          <a:xfrm>
            <a:off x="853440" y="1165860"/>
            <a:ext cx="10485120" cy="3429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0072CE"/>
                </a:solidFill>
                <a:latin typeface="Pretendard"/>
              </a:rPr>
              <a:t>HOW TO USE</a:t>
            </a:r>
          </a:p>
        </p:txBody>
      </p:sp>
      <p:sp>
        <p:nvSpPr>
          <p:cNvPr id="6" name="deckgen:wrap:title"/>
          <p:cNvSpPr txBox="1"/>
          <p:nvPr/>
        </p:nvSpPr>
        <p:spPr>
          <a:xfrm>
            <a:off x="853440" y="1440180"/>
            <a:ext cx="10485120" cy="6172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>
                <a:solidFill>
                  <a:srgbClr val="1A2A5E"/>
                </a:solidFill>
                <a:latin typeface="Pretendard"/>
              </a:rPr>
              <a:t>이 자료 사용 방법</a:t>
            </a:r>
          </a:p>
        </p:txBody>
      </p:sp>
      <p:sp>
        <p:nvSpPr>
          <p:cNvPr id="7" name="deckgen:wrap:body"/>
          <p:cNvSpPr txBox="1"/>
          <p:nvPr/>
        </p:nvSpPr>
        <p:spPr>
          <a:xfrm>
            <a:off x="853440" y="2400300"/>
            <a:ext cx="10485120" cy="3566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>
                <a:solidFill>
                  <a:srgbClr val="333333"/>
                </a:solidFill>
                <a:latin typeface="Pretendard"/>
              </a:rPr>
              <a:t>1.  수업·강의·자습에 그대로 쓰셔도 됩니다. 출처만 남겨 주세요.</a:t>
            </a:r>
          </a:p>
          <a:p>
            <a:pPr algn="l">
              <a:lnSpc>
                <a:spcPct val="130000"/>
              </a:lnSpc>
              <a:spcBef>
                <a:spcPts val="900"/>
              </a:spcBef>
            </a:pPr>
            <a:r>
              <a:rPr sz="1500" b="0">
                <a:solidFill>
                  <a:srgbClr val="333333"/>
                </a:solidFill>
                <a:latin typeface="Pretendard"/>
              </a:rPr>
              <a:t>2.  PDF 는 화면으로 읽는 용도, PPTX 는 발표용입니다. PPTX 는 Pretendard 글꼴이 설치된 컴퓨터에서 가장 똑같이 보입니다.</a:t>
            </a:r>
          </a:p>
          <a:p>
            <a:pPr algn="l">
              <a:lnSpc>
                <a:spcPct val="130000"/>
              </a:lnSpc>
              <a:spcBef>
                <a:spcPts val="900"/>
              </a:spcBef>
            </a:pPr>
            <a:r>
              <a:rPr sz="1500" b="0">
                <a:solidFill>
                  <a:srgbClr val="333333"/>
                </a:solidFill>
                <a:latin typeface="Pretendard"/>
              </a:rPr>
              <a:t>3.  출처 표기 예: 이애본(드림아이티비즈), 「자료 제목」, useful-ai.dreamitbiz.com</a:t>
            </a:r>
          </a:p>
          <a:p>
            <a:pPr algn="l">
              <a:lnSpc>
                <a:spcPct val="130000"/>
              </a:lnSpc>
              <a:spcBef>
                <a:spcPts val="900"/>
              </a:spcBef>
            </a:pPr>
            <a:r>
              <a:rPr sz="1500" b="0">
                <a:solidFill>
                  <a:srgbClr val="333333"/>
                </a:solidFill>
                <a:latin typeface="Pretendard"/>
              </a:rPr>
              <a:t>4.  자료 안의 프롬프트는 복사해 바로 쓸 수 있습니다. [대괄호]만 내 상황으로 바꾸세요.</a:t>
            </a:r>
          </a:p>
          <a:p>
            <a:pPr algn="l">
              <a:lnSpc>
                <a:spcPct val="130000"/>
              </a:lnSpc>
              <a:spcBef>
                <a:spcPts val="900"/>
              </a:spcBef>
            </a:pPr>
            <a:r>
              <a:rPr sz="1500" b="0">
                <a:solidFill>
                  <a:srgbClr val="333333"/>
                </a:solidFill>
                <a:latin typeface="Pretendard"/>
              </a:rPr>
              <a:t>5.  모든 자료와 영상 강의는 useful-ai.dreamitbiz.com 에서 다시 받을 수 있습니다.</a:t>
            </a:r>
          </a:p>
        </p:txBody>
      </p:sp>
      <p:sp>
        <p:nvSpPr>
          <p:cNvPr id="8" name="deckgen:wrap:footer"/>
          <p:cNvSpPr txBox="1"/>
          <p:nvPr/>
        </p:nvSpPr>
        <p:spPr>
          <a:xfrm>
            <a:off x="853440" y="6240780"/>
            <a:ext cx="10485120" cy="3429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88888"/>
                </a:solidFill>
                <a:latin typeface="Pretendard"/>
              </a:rPr>
              <a:t>© 2026 이애본(드림아이티비즈) · useful-ai.dreamitbiz.com · 교육 목적 비영리 이용 · 출처 표기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wrap:bg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deckgen:wrap:side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deckgen:wrap:rule"/>
          <p:cNvSpPr/>
          <p:nvPr/>
        </p:nvSpPr>
        <p:spPr>
          <a:xfrm>
            <a:off x="853440" y="2057400"/>
            <a:ext cx="975360" cy="38100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deckgen:wrap:eyebrow"/>
          <p:cNvSpPr txBox="1"/>
          <p:nvPr/>
        </p:nvSpPr>
        <p:spPr>
          <a:xfrm>
            <a:off x="853440" y="1165860"/>
            <a:ext cx="10485120" cy="3429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0072CE"/>
                </a:solidFill>
                <a:latin typeface="Pretendard"/>
              </a:rPr>
              <a:t>COPYRIGHT · LICENSE</a:t>
            </a:r>
          </a:p>
        </p:txBody>
      </p:sp>
      <p:sp>
        <p:nvSpPr>
          <p:cNvPr id="6" name="deckgen:wrap:title"/>
          <p:cNvSpPr txBox="1"/>
          <p:nvPr/>
        </p:nvSpPr>
        <p:spPr>
          <a:xfrm>
            <a:off x="853440" y="1440180"/>
            <a:ext cx="10485120" cy="6172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>
                <a:solidFill>
                  <a:srgbClr val="1A2A5E"/>
                </a:solidFill>
                <a:latin typeface="Pretendard"/>
              </a:rPr>
              <a:t>저작권 · 이용 조건</a:t>
            </a:r>
          </a:p>
        </p:txBody>
      </p:sp>
      <p:sp>
        <p:nvSpPr>
          <p:cNvPr id="7" name="deckgen:wrap:body"/>
          <p:cNvSpPr txBox="1"/>
          <p:nvPr/>
        </p:nvSpPr>
        <p:spPr>
          <a:xfrm>
            <a:off x="853440" y="2400300"/>
            <a:ext cx="10485120" cy="3566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>
                <a:solidFill>
                  <a:srgbClr val="333333"/>
                </a:solidFill>
                <a:latin typeface="Pretendard"/>
              </a:rPr>
              <a:t>1.  저작권 © 2026 이애본(드림아이티비즈 DreamIT Biz). 2026년 1월 「생성형 AI와 창의력·복합문제능력 향상 과정」 강의안을 공개용으로 다시 묶은 것입니다.</a:t>
            </a:r>
          </a:p>
          <a:p>
            <a:pPr algn="l">
              <a:lnSpc>
                <a:spcPct val="130000"/>
              </a:lnSpc>
              <a:spcBef>
                <a:spcPts val="900"/>
              </a:spcBef>
            </a:pPr>
            <a:r>
              <a:rPr sz="1500" b="0">
                <a:solidFill>
                  <a:srgbClr val="333333"/>
                </a:solidFill>
                <a:latin typeface="Pretendard"/>
              </a:rPr>
              <a:t>2.  교육 목적의 비영리 이용을 허용합니다 — 출처를 표기해 주세요.</a:t>
            </a:r>
          </a:p>
          <a:p>
            <a:pPr algn="l">
              <a:lnSpc>
                <a:spcPct val="130000"/>
              </a:lnSpc>
              <a:spcBef>
                <a:spcPts val="900"/>
              </a:spcBef>
            </a:pPr>
            <a:r>
              <a:rPr sz="1500" b="0">
                <a:solidFill>
                  <a:srgbClr val="333333"/>
                </a:solidFill>
                <a:latin typeface="Pretendard"/>
              </a:rPr>
              <a:t>3.  재배포·판매·변형(내용 수정 후 배포)은 허용하지 않습니다. 필요하면 먼저 문의해 주세요.</a:t>
            </a:r>
          </a:p>
          <a:p>
            <a:pPr algn="l">
              <a:lnSpc>
                <a:spcPct val="130000"/>
              </a:lnSpc>
              <a:spcBef>
                <a:spcPts val="900"/>
              </a:spcBef>
            </a:pPr>
            <a:r>
              <a:rPr sz="1500" b="0">
                <a:solidFill>
                  <a:srgbClr val="333333"/>
                </a:solidFill>
                <a:latin typeface="Pretendard"/>
              </a:rPr>
              <a:t>4.  자료 안의 외부 서비스 화면 캡처와 상표는 교육 목적 인용이며 각 서비스의 소유입니다. AI 생성 이미지는 생성 도구의 이용 약관을 따릅니다.</a:t>
            </a:r>
          </a:p>
          <a:p>
            <a:pPr algn="l">
              <a:lnSpc>
                <a:spcPct val="130000"/>
              </a:lnSpc>
              <a:spcBef>
                <a:spcPts val="900"/>
              </a:spcBef>
            </a:pPr>
            <a:r>
              <a:rPr sz="1500" b="0">
                <a:solidFill>
                  <a:srgbClr val="333333"/>
                </a:solidFill>
                <a:latin typeface="Pretendard"/>
              </a:rPr>
              <a:t>5.  문의 aebon@dreamitbiz.com · 카카오톡 ID aebon</a:t>
            </a:r>
          </a:p>
        </p:txBody>
      </p:sp>
      <p:sp>
        <p:nvSpPr>
          <p:cNvPr id="8" name="deckgen:wrap:footer"/>
          <p:cNvSpPr txBox="1"/>
          <p:nvPr/>
        </p:nvSpPr>
        <p:spPr>
          <a:xfrm>
            <a:off x="853440" y="6240780"/>
            <a:ext cx="10485120" cy="3429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88888"/>
                </a:solidFill>
                <a:latin typeface="Pretendard"/>
              </a:rPr>
              <a:t>© 2026 이애본(드림아이티비즈) · useful-ai.dreamitbiz.com · 교육 목적 비영리 이용 · 출처 표기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wrap:bg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deckgen:wrap:side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deckgen:wrap:rule"/>
          <p:cNvSpPr/>
          <p:nvPr/>
        </p:nvSpPr>
        <p:spPr>
          <a:xfrm>
            <a:off x="853440" y="2057400"/>
            <a:ext cx="975360" cy="38100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deckgen:wrap:eyebrow"/>
          <p:cNvSpPr txBox="1"/>
          <p:nvPr/>
        </p:nvSpPr>
        <p:spPr>
          <a:xfrm>
            <a:off x="853440" y="1165860"/>
            <a:ext cx="10485120" cy="3429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0072CE"/>
                </a:solidFill>
                <a:latin typeface="Pretendard"/>
              </a:rPr>
              <a:t>CREDITS · CONTACT</a:t>
            </a:r>
          </a:p>
        </p:txBody>
      </p:sp>
      <p:sp>
        <p:nvSpPr>
          <p:cNvPr id="6" name="deckgen:wrap:title"/>
          <p:cNvSpPr txBox="1"/>
          <p:nvPr/>
        </p:nvSpPr>
        <p:spPr>
          <a:xfrm>
            <a:off x="853440" y="1440180"/>
            <a:ext cx="10485120" cy="6172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>
                <a:solidFill>
                  <a:srgbClr val="1A2A5E"/>
                </a:solidFill>
                <a:latin typeface="Pretendard"/>
              </a:rPr>
              <a:t>출처 · 문의</a:t>
            </a:r>
          </a:p>
        </p:txBody>
      </p:sp>
      <p:sp>
        <p:nvSpPr>
          <p:cNvPr id="7" name="deckgen:wrap:body"/>
          <p:cNvSpPr txBox="1"/>
          <p:nvPr/>
        </p:nvSpPr>
        <p:spPr>
          <a:xfrm>
            <a:off x="853440" y="2400300"/>
            <a:ext cx="10485120" cy="3566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>
                <a:solidFill>
                  <a:srgbClr val="333333"/>
                </a:solidFill>
                <a:latin typeface="Pretendard"/>
              </a:rPr>
              <a:t>이애본 (Aebon Lee, Ph.D) — 드림아이티비즈 대표 · 한신대학교 AI·SW대학 겸임교수</a:t>
            </a:r>
          </a:p>
          <a:p>
            <a:pPr algn="l">
              <a:lnSpc>
                <a:spcPct val="130000"/>
              </a:lnSpc>
              <a:spcBef>
                <a:spcPts val="900"/>
              </a:spcBef>
            </a:pPr>
            <a:r>
              <a:rPr sz="1500" b="0">
                <a:solidFill>
                  <a:srgbClr val="333333"/>
                </a:solidFill>
                <a:latin typeface="Pretendard"/>
              </a:rPr>
              <a:t>useful-ai.dreamitbiz.com — 강의안·영상 강의 라이브러리</a:t>
            </a:r>
          </a:p>
          <a:p>
            <a:pPr algn="l">
              <a:lnSpc>
                <a:spcPct val="130000"/>
              </a:lnSpc>
              <a:spcBef>
                <a:spcPts val="900"/>
              </a:spcBef>
            </a:pPr>
            <a:r>
              <a:rPr sz="1500" b="0">
                <a:solidFill>
                  <a:srgbClr val="333333"/>
                </a:solidFill>
                <a:latin typeface="Pretendard"/>
              </a:rPr>
              <a:t>aebon@dreamitbiz.com · 카카오톡 ID aebon</a:t>
            </a:r>
          </a:p>
          <a:p>
            <a:pPr algn="l">
              <a:lnSpc>
                <a:spcPct val="130000"/>
              </a:lnSpc>
              <a:spcBef>
                <a:spcPts val="900"/>
              </a:spcBef>
            </a:pPr>
            <a:r>
              <a:rPr sz="1500" b="0">
                <a:solidFill>
                  <a:srgbClr val="333333"/>
                </a:solidFill>
                <a:latin typeface="Pretendard"/>
              </a:rPr>
              <a:t>© 2026 이애본(드림아이티비즈). 교육 목적 비영리 이용 · 출처 표기</a:t>
            </a:r>
          </a:p>
        </p:txBody>
      </p:sp>
      <p:sp>
        <p:nvSpPr>
          <p:cNvPr id="8" name="deckgen:wrap:footer"/>
          <p:cNvSpPr txBox="1"/>
          <p:nvPr/>
        </p:nvSpPr>
        <p:spPr>
          <a:xfrm>
            <a:off x="853440" y="6240780"/>
            <a:ext cx="10485120" cy="3429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88888"/>
                </a:solidFill>
                <a:latin typeface="Pretendard"/>
              </a:rPr>
              <a:t>© 2026 이애본(드림아이티비즈) · useful-ai.dreamitbiz.com · 교육 목적 비영리 이용 · 출처 표기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326</TotalTime>
  <Words>4679</Words>
  <Application>Microsoft Office PowerPoint</Application>
  <PresentationFormat>와이드스크린</PresentationFormat>
  <Paragraphs>744</Paragraphs>
  <Slides>42</Slides>
  <Notes>42</Notes>
  <HiddenSlides>0</HiddenSlides>
  <MMClips>0</MMClips>
  <ScaleCrop>false</ScaleCrop>
  <HeadingPairs>
    <vt:vector size="6" baseType="variant">
      <vt:variant>
        <vt:lpstr>사용한 글꼴</vt:lpstr>
      </vt:variant>
      <vt:variant>
        <vt:i4>4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42</vt:i4>
      </vt:variant>
    </vt:vector>
  </HeadingPairs>
  <TitlesOfParts>
    <vt:vector size="47" baseType="lpstr">
      <vt:lpstr>Noto Sans KR</vt:lpstr>
      <vt:lpstr>ui-monospace</vt:lpstr>
      <vt:lpstr>Arial</vt:lpstr>
      <vt:lpstr>Courier New</vt:lpstr>
      <vt:lpstr>Office Theme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>Generated by Gen-Spark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Multi-page HTML Content</dc:title>
  <dc:subject>PptxGenJS Presentation</dc:subject>
  <dc:creator>Visual Extract to PPTX Converter</dc:creator>
  <cp:lastModifiedBy>이애본</cp:lastModifiedBy>
  <cp:revision>5</cp:revision>
  <dcterms:created xsi:type="dcterms:W3CDTF">2026-01-19T07:31:57Z</dcterms:created>
  <dcterms:modified xsi:type="dcterms:W3CDTF">2026-01-25T13:15:22Z</dcterms:modified>
</cp:coreProperties>
</file>