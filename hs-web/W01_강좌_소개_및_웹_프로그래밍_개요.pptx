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4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1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D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9/3(목)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383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700" b="1" spc="-324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강좌 소개 및 웹 프로그래밍 개요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498592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[온라인 : 실시간 Zoom] 웹의 개념, 웹 프로그래밍의 흐름 이해 · 실습환경 구축 · Git 사용법 안내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AI·SW계열 · 웹프로그래밍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 hs-web.dreamitbiz.com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주소창에 주소를 치고 엔터를 누른 뒤 화면이 뜨기까지 무슨 일이 일어나는지 설명할 수 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인터넷과 웹의 차이, 클라이언트와 서버의 역할을 구분해 설명할 수 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HTML·CSS·JavaScript가 각각 무엇을 담당하는지 비유를 들어 설명할 수 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VS Code와 크롬 개발자도구를 설치하고, 첫 HTML 파일을 만들어 브라우저로 열 수 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학습사이트에 가입하고 한 학기 학습 흐름(강의→실습→퀴즈→시험→프로젝트)을 이해한다.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핵심 키워드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781300"/>
            <a:ext cx="447797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47797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86047" y="2781300"/>
            <a:ext cx="809991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86047" y="2781300"/>
            <a:ext cx="809991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인터넷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91288" y="2781300"/>
            <a:ext cx="991088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91288" y="2781300"/>
            <a:ext cx="991088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브라우저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77626" y="2781300"/>
            <a:ext cx="62889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7626" y="2781300"/>
            <a:ext cx="62889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서버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1770" y="2781300"/>
            <a:ext cx="81742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1770" y="2781300"/>
            <a:ext cx="81742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HTTP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14444" y="2781300"/>
            <a:ext cx="661047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14444" y="2781300"/>
            <a:ext cx="661047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URL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70741" y="2781300"/>
            <a:ext cx="1656606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70741" y="2781300"/>
            <a:ext cx="1656606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HTML/CSS/JS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22597" y="2781300"/>
            <a:ext cx="1121075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22597" y="2781300"/>
            <a:ext cx="112107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VS Code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38921" y="2781300"/>
            <a:ext cx="1172185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38921" y="2781300"/>
            <a:ext cx="117218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개발자도구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06357" y="2781300"/>
            <a:ext cx="96489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06357" y="2781300"/>
            <a:ext cx="96489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GitHub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학습사이트의 본문에서 이 낱말들을 찾아 읽으면 이 시간의 뼈대가 잡힙니다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들어가며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주차는 [온라인 : LMS]로 진행합니다.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오리엔테이션과 실습환경 구축, Git 사용법 안내를 반복 학습할 수 있도록 온라인으로 운영합니다.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실시간 수업이 아니며 학교 LMS에서 수강합니다.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과목 소개 — 웹프로그래밍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과목은 웹 페이지를 처음부터 직접 만들어 인터넷에 공개하는 것까지를 한 학기에 경험하는 과목입니다.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과목 소개 — 웹프로그래밍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지금 여러분이 보고 있는 이 학습사이트도 이 과목에서 배우는 기술로 만들어졌습니다.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 학기가 끝나면 여러분에게도 자기 이름으로 된 진짜 웹 주소가 하나 생깁니다.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1주 — 개요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웹의 개념과 웹 프로그래밍의 흐름, 실습환경 구축, Git 사용법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2~5주 — HTML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 태그, 시맨틱 구조화, 이미지와 테이블, 웹 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과목 소개 — 웹프로그래밍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6~7 · 9주 — CSS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선택자와 스타일링, 박스모델과 레이아웃, Flexbox·Grid·반응형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10~13주 — JavaScript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기초 문법, 코어 객체, DOM 활용, 이벤트 처리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14주 — 종합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종합 정리와 Term 프로젝트 발표 준비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평가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8주차 중간고사, 15주차 기말고사 (둘 다 [온라인 : LMS])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과목 소개 — 웹프로그래밍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과목에는 따로 사 볼 교재가 없습니다.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학습사이트의 주차별 강의·이론 편람·코드 실습장이 교재입니다.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수업 시간에 다루지 못한 것도 여기에 다 적어 두었으니, 결석했거나 놓친 부분은 언제든 여기서 따라잡을 수 있습니다.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과목을 통과하는 가장 확실한 방법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매주 수업 시간에 손을 움직이세요.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웹은 눈으로 배워지지 않습니다. 코드는 읽는 것이 아니라 치는 것입니다.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막히면 바로 물어보세요.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30분 넘게 혼자 막혀 있는 것은 공부가 아니라 시간 낭비입니다.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작은 것을 끝까지 만들어 보세요.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거창한 계획보다 완성한 한 페이지가 훨씬 많이 남습니다.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인터넷과 웹은 다른 것입니다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많은 사람이 "인터넷"과 "웹"을 같은 말처럼 씁니다.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인터넷과 웹은 다른 것입니다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하지만 둘은 다릅니다.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인터넷은 길이고, 웹은 그 길 위를 다니는 서비스 중 하나입니다.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인터넷과 웹은 다른 것입니다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67665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6766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57750" y="2781300"/>
            <a:ext cx="710565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57750" y="2781300"/>
            <a:ext cx="71056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무엇인가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2781300"/>
            <a:ext cx="51435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01500" y="2781300"/>
            <a:ext cx="5143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67665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4861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인터넷(Internet)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57750" y="3448050"/>
            <a:ext cx="710565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53000" y="3448050"/>
            <a:ext cx="69151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 세계 컴퓨터를 연결한 물리적·논리적 통신망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01500" y="3448050"/>
            <a:ext cx="5143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96750" y="3448050"/>
            <a:ext cx="4953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전국에 깔린 도로망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67665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4861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웹(WWW)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57750" y="4171950"/>
            <a:ext cx="710565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53000" y="4171950"/>
            <a:ext cx="69151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인터넷 위에서 문서를 주고받는 서비스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01500" y="4171950"/>
            <a:ext cx="5143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096750" y="4171950"/>
            <a:ext cx="4953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도로 위를 다니는 택배 서비스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67665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4861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이메일·게임·앱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57750" y="4895850"/>
            <a:ext cx="710565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53000" y="4895850"/>
            <a:ext cx="69151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웹이 아닌 다른 인터넷 서비스들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01500" y="4895850"/>
            <a:ext cx="5143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096750" y="4895850"/>
            <a:ext cx="4953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도로를 쓰는 다른 운송 수단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인터넷과 웹은 다른 것입니다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85750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09943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16611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95275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웹은 1989년 스위스 CERN 연구소의 팀 버너스리(Tim Berners-Lee) 가 만들었습니다.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89382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389382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13575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20243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98907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연구자들이 논문을 서로 쉽게 참조할 방법을 찾다가 "문서 안에 다른 문서로 가는 연결(하이퍼링크)을 넣자"는 발상에서 출발했습니다.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93014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493014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02539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지금 우리가 매일 누르는 그 파란 글씨가 웹의 시작입니다.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96646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596646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20839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27507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06171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웹을 이루는 세 가지 발명이 그때 함께 나왔습니다 — HTML(문서를 쓰는 규칙), HTTP(문서를 주고받는 규칙), URL(문서의 주소).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00278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700278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28750" y="724471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8750" y="731139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709803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세 가지는 30년이 넘은 지금도 그대로 쓰입니다.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주소를 치면 무슨 일이 일어나는가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주소창에 hs-web.dreamitbiz.com 을 치고 엔터를 누르면, 눈 깜짝할 사이에 다음 다섯 단계가 일어납니다.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주소를 치면 무슨 일이 일어나는가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과목에서 배우는 거의 모든 것이 이 그림 어딘가에 놓입니다.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주소를 번호로 바꾼다 (DNS) — 사람이 읽는 hs-web.dreamitbiz.com 을 컴퓨터가 쓰는 IP 주소(예: 185.199.108.153)로 바꿉니다. 전화번호부에서 이름으로 번호를 찾는 것과 같습니다.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서버에 요청을 보낸다 (HTTP Request)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"이 문서를 주세요"라는 편지를 그 번호의 컴퓨터에 보냅니다.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주소를 치면 무슨 일이 일어나는가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서버가 답장을 보낸다 (HTTP Response)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서버가 HTML 문서를 봉투에 담아 돌려보냅니다. 상태 코드(200·404 같은 숫자)도 함께 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브라우저가 문서를 해석한다 (파싱·렌더링)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HTML을 읽어 구조를 만들고, CSS를 읽어 색과 위치를 정하고, JavaScript를 실행합니다.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화면에 그린다 (Painting)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계산이 끝난 결과를 실제 픽셀로 칠합니다.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주소를 치면 무슨 일이 일어나는가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중 1~3번은 네트워크의 일이고, 4~5번은 브라우저의 일입니다.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그리고 우리가 이 학기에 만드는 것은 3번에서 서버가 돌려주는 그 문서입니다.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주소를 치면 무슨 일이 일어나는가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13809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13809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용어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4909" y="2781300"/>
            <a:ext cx="5780809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4909" y="2781300"/>
            <a:ext cx="5780809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13818" y="2781300"/>
            <a:ext cx="7031182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13818" y="2781300"/>
            <a:ext cx="7031182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 수업에서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13809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2330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클라이언트(Client)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4909" y="3448050"/>
            <a:ext cx="578080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0159" y="3448050"/>
            <a:ext cx="559030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요청하는 쪽 — 보통 브라우저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13818" y="3448050"/>
            <a:ext cx="703118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09068" y="3448050"/>
            <a:ext cx="684068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여러분의 크롬 브라우저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13809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2330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서버(Server)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4909" y="4171950"/>
            <a:ext cx="578080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90159" y="4171950"/>
            <a:ext cx="559030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응답하는 쪽 — 파일을 갖고 기다리는 컴퓨터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13818" y="4171950"/>
            <a:ext cx="703118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09068" y="4171950"/>
            <a:ext cx="684068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15주차에 GitHub Pages를 서버로 씁니다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13809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2330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요청(Request)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4909" y="4895850"/>
            <a:ext cx="578080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90159" y="4895850"/>
            <a:ext cx="559030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"이거 주세요"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13818" y="4895850"/>
            <a:ext cx="703118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09068" y="4895850"/>
            <a:ext cx="684068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주소창에 주소를 치는 순간 발생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113809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92330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응답(Response)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4909" y="5619750"/>
            <a:ext cx="578080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90159" y="5619750"/>
            <a:ext cx="559030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"여기 있습니다" + 상태 코드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13818" y="5619750"/>
            <a:ext cx="703118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09068" y="5619750"/>
            <a:ext cx="684068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개발자도구 Network 탭에서 직접 볼 수 있습니다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 페이지를 이루는 세 가지 언어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 페이지는 세 가지 언어로 만들어집니다.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 페이지를 이루는 세 가지 언어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366581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366581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언어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47681" y="2781300"/>
            <a:ext cx="4387985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7681" y="2781300"/>
            <a:ext cx="438798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담당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73766" y="2781300"/>
            <a:ext cx="5749857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73766" y="2781300"/>
            <a:ext cx="5749857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집짓기 비유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761723" y="2781300"/>
            <a:ext cx="2383277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761723" y="2781300"/>
            <a:ext cx="2383277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배우는 시기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3366581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317608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47681" y="3448050"/>
            <a:ext cx="438798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2931" y="3448050"/>
            <a:ext cx="419748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구조 — 무엇이 있는가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3766" y="3448050"/>
            <a:ext cx="574985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9016" y="3448050"/>
            <a:ext cx="555935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기둥과 벽 (뼈대)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761723" y="3448050"/>
            <a:ext cx="238327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856973" y="3448050"/>
            <a:ext cx="219277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2~3주차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3366581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317608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47681" y="4171950"/>
            <a:ext cx="438798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42931" y="4171950"/>
            <a:ext cx="419748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표현 — 어떻게 보이는가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73766" y="4171950"/>
            <a:ext cx="574985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69016" y="4171950"/>
            <a:ext cx="555935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페인트와 인테리어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761723" y="4171950"/>
            <a:ext cx="238327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856973" y="4171950"/>
            <a:ext cx="219277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4~7주차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3366581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317608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JavaScript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47681" y="4895850"/>
            <a:ext cx="438798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42931" y="4895850"/>
            <a:ext cx="419748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동작 — 무엇을 하는가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73766" y="4895850"/>
            <a:ext cx="574985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69016" y="4895850"/>
            <a:ext cx="555935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전기·수도 배선 (움직이는 것)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761723" y="4895850"/>
            <a:ext cx="238327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856973" y="4895850"/>
            <a:ext cx="219277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10~13주차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셋의 역할이 정확히 나뉘어 있다는 점이 중요합니다 — 이 구분이 흐려지면 나중에 고치기 아주 어려운 코드가 됩니다.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 페이지를 이루는 세 가지 언어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세 언어의 관계를 실감하려면 직접 하나씩 빼 보는 것이 가장 빠릅니다.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CSS를 빼면 페이지는 못생겨지지만 내용은 다 읽을 수 있습니다.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HTML을 빼면 아무것도 남지 않습니다.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그래서 HTML이 뼈대입니다.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71575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9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세 언어가 한 파일에 함께 있는 가장 작은 예 — hello.html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&lt;!doctype html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&lt;html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lang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"ko"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&lt;head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&lt;meta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charset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"utf-8"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&lt;title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내 첫 페이지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&lt;/title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② CSS — 어떻게 보이는가 --&gt;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&lt;style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h1 { color: #4338ca; }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button { padding: 10px 20px; font-size: 16px; cursor: pointer; }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&lt;/style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&lt;/head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&lt;body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71575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9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세 언어가 한 파일에 함께 있는 가장 작은 예 — hello.html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30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① HTML — 무엇이 있는가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"title"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안녕하세요!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&lt;/h1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&lt;button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"btn"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눌러 보세요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&lt;/button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③ JavaScript — 무엇을 하는가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&lt;script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document.querySelector(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'#btn'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).addEventListener(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'click'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function ()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document.querySelector(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'#title'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).textContent =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'반갑습니다! 🎉'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});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&lt;/script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&lt;/body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&lt;/html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 페이지를 이루는 세 가지 언어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위 코드를 그대로 복사해 코드 실습장(상단 학습 자료 메뉴)에 붙여 넣고 실행해 보세요.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아직 문법을 몰라도 괜찮습니다.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일단 화면이 뜨는 경험을 먼저 하는 것이 중요합니다.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환경 준비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5.1 무엇을 설치하는가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769268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76926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도구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50368" y="2781300"/>
            <a:ext cx="7261058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50368" y="2781300"/>
            <a:ext cx="726105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역할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249526" y="2781300"/>
            <a:ext cx="5895474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9526" y="2781300"/>
            <a:ext cx="5895474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내려받는 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769268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57876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크롬(Chrome)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50368" y="3448050"/>
            <a:ext cx="726105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45618" y="3448050"/>
            <a:ext cx="707055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만든 것을 보고, 개발자도구로 뜯어보는 브라우저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249526" y="3448050"/>
            <a:ext cx="589547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44776" y="3448050"/>
            <a:ext cx="570497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google.com/chrome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769268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57876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VS Code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50368" y="4171950"/>
            <a:ext cx="726105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45618" y="4171950"/>
            <a:ext cx="707055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코드를 쓰는 편집기 — 무료, 이 수업의 표준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249526" y="4171950"/>
            <a:ext cx="589547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44776" y="4171950"/>
            <a:ext cx="570497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code.visualstudio.com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769268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57876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GitHub 계정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50368" y="4895850"/>
            <a:ext cx="726105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45618" y="4895850"/>
            <a:ext cx="707055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15주차에 사이트를 공개할 곳 (지금은 가입만)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249526" y="4895850"/>
            <a:ext cx="589547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344776" y="4895850"/>
            <a:ext cx="570497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github.com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5.1 무엇을 설치하는가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따로 프로그램을 더 살 필요도, 서버를 빌릴 필요도 없습니다.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브라우저와 편집기만 있으면 이 학기의 거의 모든 것을 할 수 있습니다.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이것이 웹의 큰 장점입니다.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5.2 VS Code에 넣어 두면 좋은 확장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Live Server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저장하면 브라우저가 자동으로 새로고침됩니다. 이것 하나로 작업 속도가 크게 달라집니다.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Korean Language Pack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VS Code 메뉴가 한국어로 바뀝니다.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Prettier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들여쓰기를 자동으로 정리해 줍니다. (5주차쯤부터 유용해집니다)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5.3 첫 파일 만들기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85750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09943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16611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95275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바탕화면에 web-2026 폴더를 만듭니다. 폴더 이름과 파일 이름에는 한글과 공백을 쓰지 않습니다 — 나중에 인터넷에 올릴 때 주소가 깨집니다.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89382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389382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13575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20243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98907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VS Code에서 [파일] → [폴더 열기]로 그 폴더를 엽니다.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93014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493014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02539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index.html 파일을 새로 만듭니다. index.html 은 특별한 이름 입니다 — 웹 서버는 주소에 파일 이름이 없으면 이 파일을 찾습니다.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96646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596646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20839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27507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06171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빈 파일에서 ! 를 치고 Tab 키를 누르면 HTML 기본 뼈대가 자동으로 만들어집니다.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00278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700278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28750" y="724471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8750" y="731139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709803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저장한 뒤 파일을 오른쪽 클릭 → [Open with Live Server] 로 브라우저에서 엽니다.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! + Tab 이 만들어 주는 기본 뼈대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&lt;!DOCTYPE html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&lt;html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lang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"ko"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&lt;head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&lt;meta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charset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"UTF-8"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&lt;meta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"viewport"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content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"width=device-width, initial-scale=1.0"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&lt;title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&lt;/title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&lt;/head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&lt;body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&lt;/body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&lt;/html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5.3 첫 파일 만들기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각 줄이 무엇인지는 2주차에 하나씩 뜯어봅니다.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지금은 &lt;title&gt; 안의 글자를 바꿔 보고 브라우저 탭이 바뀌는 것만 확인해 보세요.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개발자도구 — 이 학기 내내 쓸 도구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크롬에서 F12(맥은 Cmd + Option + I)를 누르면 개발자도구가 열립니다.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개발자도구 — 이 학기 내내 쓸 도구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이것은 남의 사이트를 뜯어보는 도구이자, 내 코드가 왜 안 되는지 알려 주는 도구입니다.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학기에 가장 많이 열게 될 창입니다.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개발자도구 — 이 학기 내내 쓸 도구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208683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208683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탭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783" y="2781300"/>
            <a:ext cx="7151204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783" y="2781300"/>
            <a:ext cx="7151204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무엇을 보는가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79087" y="2781300"/>
            <a:ext cx="5565913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79087" y="2781300"/>
            <a:ext cx="5565913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언제 쓰는가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208683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01818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Elements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783" y="3448050"/>
            <a:ext cx="715120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5033" y="3448050"/>
            <a:ext cx="696070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지금 화면의 HTML 구조와 적용된 CSS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79087" y="3448050"/>
            <a:ext cx="556591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74337" y="3448050"/>
            <a:ext cx="537541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"이 여백은 어디서 온 거지?" 할 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208683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01818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Console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783" y="4171950"/>
            <a:ext cx="715120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5033" y="4171950"/>
            <a:ext cx="696070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JavaScript 오류와 console.log() 출력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579087" y="4171950"/>
            <a:ext cx="556591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74337" y="4171950"/>
            <a:ext cx="537541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"왜 안 되지?" 할 때 — 가장 먼저 본다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208683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01818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Network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783" y="4895850"/>
            <a:ext cx="715120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5033" y="4895850"/>
            <a:ext cx="696070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주고받은 파일과 상태 코드(200·404)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579087" y="4895850"/>
            <a:ext cx="556591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674337" y="4895850"/>
            <a:ext cx="537541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"이미지가 왜 안 뜨지?" 할 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208683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01818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device toolbar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783" y="5619750"/>
            <a:ext cx="715120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5033" y="5619750"/>
            <a:ext cx="696070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휴대폰 화면 크기로 보기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579087" y="5619750"/>
            <a:ext cx="556591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674337" y="5619750"/>
            <a:ext cx="537541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6주차 반응형에서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지금 바로 해 보기 — 남의 사이트 뜯어보기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아무 사이트나 열고 F12 를 누른 뒤 Elements 탭을 봅니다. 그 사이트의 HTML이 전부 보입니다.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왼쪽 위 화살표 아이콘을 누르고 화면의 아무 글자나 클릭해 보세요. 그 글자가 어떤 태그인지 바로 잡힙니다.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오른쪽 Styles 칸에서 color 값을 바꿔 보세요. 화면이 그 자리에서 바뀝니다. (새로고침하면 원래대로 돌아옵니다 — 남의 서버가 아니라 내 브라우저 화면만 바꾼 것이니까요.)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개발자도구 — 이 학기 내내 쓸 도구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개발자도구로 남의 사이트를 바꿔도 그 사이트는 전혀 바뀌지 않습니다.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내 컴퓨터에 내려받아 온 사본을 잠깐 고친 것뿐입니다.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마음 놓고 뜯어보세요 — 잘 만든 사이트를 뜯어보는 것이 가장 좋은 공부입니다.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학습사이트 사용법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사이트는 한 학기 수업의 중심 도구입니다.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학습사이트 사용법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매주 다음 흐름으로 학습이 진행됩니다.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주차별 강의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주의 내용을 읽고, 아래 실습 문제를 직접 풀어 봅니다. 실습은 브라우저에서 바로 실행되어 화면으로 결과를 확인합니다.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코드 실습장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문법이 손에 안 익었을 때 드릴 30문항으로 반복합니다.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예제 갤러리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완성된 예제를 실행해 보고, 코드를 고쳐 가며 뜯어봅니다.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학습사이트 사용법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퀴즈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강의를 마친 주차는 5문항으로 이해도를 점검합니다(2~7 · 9~13주차, 11회). 100점 배점 항목은 아니지만 성실도 가점으로 최종 점수에 반영됩니다.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시험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8주차 중간고사, 15주차 기말고사(둘 다 [온라인]). 100점을 만들 때까지 다시 응시할 수 있습니다.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프로젝트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웹사이트를 6단계로 만들고, 14주차부터 팀 프로젝트를 진행합니다.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1주차에 반드시 할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학습사이트에 가입(로그인)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하고 이름·연락처·이메일을 입력합니다. 가입해야 실습·퀴즈·시험 기록이 남고 출석이 잡힙니다.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크롬과 VS Code를 설치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하고 index.html 을 만들어 브라우저에 띄워 봅니다.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GitHub 계정을 만듭니다.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15주차에 쓰지만, 사용자 이름은 나중에 여러분의 웹 주소가 되므로 미리 정해 두는 편이 좋습니다.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개발자도구(F12)를 한 번 열어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봅니다.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학습사이트 사용법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GitHub 사용자 이름은 https://&lt;사용자이름&gt;.github.io 라는 평생 쓸 주소가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장난스러운 이름보다는 이력서에 적어도 괜찮을 이름으로 정하세요.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나중에 바꿀 수는 있지만 링크가 전부 끊깁니다.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시간의 실습 3개 — 학습사이트의 코드 실습장에서 직접 치고 실행합니다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실습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1 · 기본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HTML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가장 작은 완전한 HTML 문서를 만들어 보세요. 한국어 문서임을 밝히고(lang), 글자가 깨지지 않게 하고(charset), 탭에 "내 첫 페이지"가 뜨게(title) 하고, 화면에는 h1으로 아무 인사말이나 띄우세요.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! + Tab 이 만들어 주던 그 뼈대를 손으로 다시 써 보는 문제입니다. doctype → html → head → body…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실습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1 모범답안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&lt;!doctype html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&lt;html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lang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"ko"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&lt;head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&lt;meta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charset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"utf-8"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&lt;title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내 첫 페이지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&lt;/title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&lt;/head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&lt;body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&lt;h1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안녕하세요!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&lt;/h1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&lt;/body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&lt;/html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실습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2 · 기본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HTML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세 언어가 함께 있는 페이지를 만들어 보세요. h1 하나와 button 하나를 두고, CSS로 h1의 색을 바꾸고, JavaScript로 버튼을 누르면 h1의 글자가 바뀌게 하세요.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강의 4절의 예제를 참고하되, 보고 베끼지 말고 기억나는 대로 써 본 뒤 막히는 곳만 다시 보세요. 그래야 남습니다.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실습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2 모범답안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"title"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처음 글자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&lt;/h1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&lt;button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"btn"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바꾸기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&lt;/button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&lt;style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h1 { color: #4338ca;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&lt;/style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&lt;script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document.querySelector(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'#btn'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).addEventListener(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'click'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function ()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document.querySelector(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'#title'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).textContent =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'바뀐 글자!'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});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&lt;/script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실습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3 · 응용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HTML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주소를 치고 화면이 뜨기까지의 5단계를 순서 있는 목록(ol)으로 정리하세요. 각 항목에 단계 이름을 굵게(strong) 표시하고, 뒤에 한 줄 설명을 붙이세요.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순서가 있는 목록은 ul이 아니라 ol입니다. 굵게는 strong 태그입니다 — b가 아니라 strong을 쓰는 이유는…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· 실습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3 모범답안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&lt;h2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주소를 치면 일어나는 일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&lt;/h2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&lt;ol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&lt;strong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DNS 조회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&lt;/strong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— 도메인 이름을 IP 주소로 바꾼다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&lt;strong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HTTP 요청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&lt;/strong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— 서버에 문서를 달라고 보낸다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&lt;strong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HTTP 응답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&lt;/strong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— 서버가 HTML과 상태 코드를 돌려준다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&lt;strong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파싱·렌더링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&lt;/strong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— 브라우저가 HTML·CSS를 해석하고 JS를 실행한다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&lt;strong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화면에 그리기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&lt;/strong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— 계산된 결과를 픽셀로 칠한다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&lt;/ol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1주차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1주차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강좌 소개 및 웹 프로그래밍 개요 — 이 시간에 다룬 것을 학습사이트에서 다시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334000"/>
            <a:ext cx="6724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학습사이트 주차 페이지의 절마다 「이해했어요 · 실습했어요 · 어려워요」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3개를 실습장에서 「확인」 까지 — 「실습했어요」 체크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막히면 「질문있어요」 또는 패들릿에 — 30분 넘게 혼자 막혀 있지 않기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다음 시간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2주차 · HTML 기본 태그로 HTML 문서 작성 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