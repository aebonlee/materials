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5" r:id="rId26"/>
    <p:sldId id="276" r:id="rId27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7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55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348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41723-DDF7-FA0E-C9E7-AD084EEE8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4CD83-1368-6F9E-79AA-3F79B13BF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EF201-F2FB-A0DA-7EE4-EA3FF527A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09EF5-915F-D480-2233-DD05551FE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37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hyperlink" Target="mailto:aebon@hs.ac.kr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7.png"/><Relationship Id="rId4" Type="http://schemas.openxmlformats.org/officeDocument/2006/relationships/image" Target="../media/image25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hyperlink" Target="mailto:aebon@hs.ac.kr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57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96.png"/><Relationship Id="rId12" Type="http://schemas.openxmlformats.org/officeDocument/2006/relationships/image" Target="../media/image9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05.png"/><Relationship Id="rId11" Type="http://schemas.openxmlformats.org/officeDocument/2006/relationships/image" Target="../media/image106.png"/><Relationship Id="rId12" Type="http://schemas.openxmlformats.org/officeDocument/2006/relationships/image" Target="../media/image10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Relationship Id="rId9" Type="http://schemas.openxmlformats.org/officeDocument/2006/relationships/image" Target="../media/image118.png"/><Relationship Id="rId10" Type="http://schemas.openxmlformats.org/officeDocument/2006/relationships/image" Target="../media/image1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24.png"/><Relationship Id="rId8" Type="http://schemas.openxmlformats.org/officeDocument/2006/relationships/image" Target="../media/image1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84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382305" y="3047695"/>
            <a:ext cx="4762195" cy="4762195"/>
          </a:xfrm>
          <a:prstGeom prst="ellipse">
            <a:avLst/>
          </a:prstGeom>
          <a:noFill/>
          <a:ln w="254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25305" y="1429207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 t="-3936" b="-3936"/>
          <a:stretch/>
        </p:blipFill>
        <p:spPr>
          <a:xfrm>
            <a:off x="10012680" y="1936699"/>
            <a:ext cx="933602" cy="8951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761695"/>
            <a:ext cx="761695" cy="758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87298" y="4425594"/>
            <a:ext cx="1828800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5957" y="4625847"/>
            <a:ext cx="190195" cy="1901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16021" y="4425594"/>
            <a:ext cx="1781251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53765" y="4625847"/>
            <a:ext cx="190195" cy="19019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926788" y="4425594"/>
            <a:ext cx="2038198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64532" y="4625847"/>
            <a:ext cx="237744" cy="1901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61695" y="915314"/>
            <a:ext cx="2448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UNIVERSITY  EDITION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751637" y="1518842"/>
            <a:ext cx="3743554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대학생을 위한</a:t>
            </a:r>
            <a:endParaRPr lang="en-US" sz="4500" dirty="0"/>
          </a:p>
        </p:txBody>
      </p:sp>
      <p:sp>
        <p:nvSpPr>
          <p:cNvPr id="15" name="Text 9"/>
          <p:cNvSpPr txBox="1"/>
          <p:nvPr/>
        </p:nvSpPr>
        <p:spPr>
          <a:xfrm>
            <a:off x="751637" y="2232988"/>
            <a:ext cx="4963363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 마스터 클래스</a:t>
            </a:r>
            <a:endParaRPr lang="en-US" sz="4500" dirty="0"/>
          </a:p>
        </p:txBody>
      </p:sp>
      <p:sp>
        <p:nvSpPr>
          <p:cNvPr id="16" name="Text 10"/>
          <p:cNvSpPr txBox="1"/>
          <p:nvPr/>
        </p:nvSpPr>
        <p:spPr>
          <a:xfrm>
            <a:off x="751637" y="3222368"/>
            <a:ext cx="88257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블록·페이지·데이터베이스로 </a:t>
            </a:r>
            <a:r>
              <a:rPr lang="en-US" sz="2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완성하는</a:t>
            </a:r>
            <a:r>
              <a:rPr lang="en-US" sz="2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학습·과제·프로젝트</a:t>
            </a:r>
            <a:r>
              <a:rPr lang="en-US" sz="2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운영의 모든 것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1330452" y="4597501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구조 이해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3459175" y="4597501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 제작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517491" y="4597501"/>
            <a:ext cx="1338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&amp; 운영 루틴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61695" y="5362956"/>
            <a:ext cx="10668305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1934479-6A4B-E897-5E16-243CD5B36DDA}"/>
              </a:ext>
            </a:extLst>
          </p:cNvPr>
          <p:cNvGrpSpPr/>
          <p:nvPr/>
        </p:nvGrpSpPr>
        <p:grpSpPr>
          <a:xfrm>
            <a:off x="787298" y="5603444"/>
            <a:ext cx="1472184" cy="247802"/>
            <a:chOff x="2311603" y="5838444"/>
            <a:chExt cx="1472184" cy="247802"/>
          </a:xfrm>
        </p:grpSpPr>
        <p:pic>
          <p:nvPicPr>
            <p:cNvPr id="22" name="Image 5" descr="preencoded.png"/>
            <p:cNvPicPr>
              <a:picLocks noChangeAspect="1"/>
            </p:cNvPicPr>
            <p:nvPr/>
          </p:nvPicPr>
          <p:blipFill>
            <a:blip r:embed="rId7"/>
            <a:srcRect l="-1064" r="-1064"/>
            <a:stretch/>
          </p:blipFill>
          <p:spPr>
            <a:xfrm>
              <a:off x="2311603" y="5876849"/>
              <a:ext cx="219456" cy="171907"/>
            </a:xfrm>
            <a:prstGeom prst="rect">
              <a:avLst/>
            </a:prstGeom>
          </p:spPr>
        </p:pic>
        <p:sp>
          <p:nvSpPr>
            <p:cNvPr id="24" name="Text 16"/>
            <p:cNvSpPr txBox="1"/>
            <p:nvPr/>
          </p:nvSpPr>
          <p:spPr>
            <a:xfrm>
              <a:off x="2606954" y="5838444"/>
              <a:ext cx="1176833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실습 중심 강의</a:t>
              </a:r>
              <a:endParaRPr lang="en-US" sz="1300" dirty="0"/>
            </a:p>
          </p:txBody>
        </p:sp>
      </p:grpSp>
      <p:sp>
        <p:nvSpPr>
          <p:cNvPr id="25" name="Text 17"/>
          <p:cNvSpPr txBox="1"/>
          <p:nvPr/>
        </p:nvSpPr>
        <p:spPr>
          <a:xfrm>
            <a:off x="9552737" y="410920"/>
            <a:ext cx="18772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&amp; 2 통합 과정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0340035" y="724559"/>
            <a:ext cx="1043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Ver. 2026.01</a:t>
            </a:r>
            <a:endParaRPr lang="en-US" sz="1000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6045AC99-3983-FAC1-C990-E81295233249}"/>
              </a:ext>
            </a:extLst>
          </p:cNvPr>
          <p:cNvSpPr/>
          <p:nvPr/>
        </p:nvSpPr>
        <p:spPr>
          <a:xfrm>
            <a:off x="7433463" y="5869938"/>
            <a:ext cx="381305" cy="381305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C353483A-4CB3-E98E-F7C9-15FA0323DF4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064" r="-1064"/>
          <a:stretch/>
        </p:blipFill>
        <p:spPr>
          <a:xfrm>
            <a:off x="7513931" y="5975094"/>
            <a:ext cx="219456" cy="171907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D2879AF6-AA27-AAE6-9921-B6A75E8BC9D8}"/>
              </a:ext>
            </a:extLst>
          </p:cNvPr>
          <p:cNvSpPr txBox="1"/>
          <p:nvPr/>
        </p:nvSpPr>
        <p:spPr>
          <a:xfrm>
            <a:off x="7967016" y="5879082"/>
            <a:ext cx="3638397" cy="36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이 애 본</a:t>
            </a:r>
            <a:b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한신대학교 </a:t>
            </a: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AI.SW</a:t>
            </a:r>
            <a: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대학 </a:t>
            </a: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hlinkClick r:id="rId9"/>
              </a:rPr>
              <a:t>aebon@hs.ac.kr</a:t>
            </a:r>
            <a: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endParaRPr lang="en-US" altLang="ko-KR" sz="15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3673145"/>
            <a:ext cx="3886200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5175504"/>
            <a:ext cx="3886200" cy="952805"/>
          </a:xfrm>
          <a:prstGeom prst="roundRect">
            <a:avLst>
              <a:gd name="adj" fmla="val 7678"/>
            </a:avLst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5175504"/>
            <a:ext cx="38405" cy="9528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952805" y="5366614"/>
            <a:ext cx="133502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1695" y="758038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COURSE OVERVIEW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986638"/>
            <a:ext cx="20766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 &amp;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1558138"/>
            <a:ext cx="20290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타임박스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2491740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방식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2820010"/>
            <a:ext cx="391546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슬라이드당 3~5분 설명 후 </a:t>
            </a:r>
            <a:r>
              <a:rPr lang="ko-KR" alt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3920033"/>
            <a:ext cx="2110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성과물 (Deliverables)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00607" y="5328209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포인트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5595214"/>
            <a:ext cx="1948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슬래시(/) 메뉴, 블록 드래그 이동,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5785409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즐겨찾기 및 사이드바 활용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62295" y="952805"/>
            <a:ext cx="19202" cy="4953305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219395" y="882396"/>
            <a:ext cx="685800" cy="685800"/>
          </a:xfrm>
          <a:prstGeom prst="roundRect">
            <a:avLst>
              <a:gd name="adj" fmla="val 29630"/>
            </a:avLst>
          </a:prstGeom>
          <a:solidFill>
            <a:srgbClr val="1E293B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l="-607" r="-607"/>
          <a:stretch/>
        </p:blipFill>
        <p:spPr>
          <a:xfrm>
            <a:off x="5381244" y="1081735"/>
            <a:ext cx="362102" cy="286207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133795" y="882396"/>
            <a:ext cx="5296205" cy="1819656"/>
          </a:xfrm>
          <a:prstGeom prst="roundRect">
            <a:avLst>
              <a:gd name="adj" fmla="val 315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506456" y="1081735"/>
            <a:ext cx="724205" cy="276149"/>
          </a:xfrm>
          <a:prstGeom prst="roundRect">
            <a:avLst>
              <a:gd name="adj" fmla="val 331126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6334049" y="1062533"/>
            <a:ext cx="21241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기초 &amp; 세팅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6334049" y="1505102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· 페이지 · 워크스페이스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486754" y="1848002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 핵심 구조 이해 (블록/페이지)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6486754" y="2076602"/>
            <a:ext cx="1890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블록 활용 및 페이지 계층화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486754" y="2305202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1: 학기 대시보드 프레임 제작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219395" y="2980944"/>
            <a:ext cx="685800" cy="685800"/>
          </a:xfrm>
          <a:prstGeom prst="roundRect">
            <a:avLst>
              <a:gd name="adj" fmla="val 29630"/>
            </a:avLst>
          </a:prstGeom>
          <a:solidFill>
            <a:srgbClr val="1E293B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 t="-530" b="-530"/>
          <a:stretch/>
        </p:blipFill>
        <p:spPr>
          <a:xfrm>
            <a:off x="5438851" y="3181198"/>
            <a:ext cx="247802" cy="286207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6133795" y="2980944"/>
            <a:ext cx="5296205" cy="1819656"/>
          </a:xfrm>
          <a:prstGeom prst="roundRect">
            <a:avLst>
              <a:gd name="adj" fmla="val 315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10506456" y="3181198"/>
            <a:ext cx="724205" cy="276149"/>
          </a:xfrm>
          <a:prstGeom prst="roundRect">
            <a:avLst>
              <a:gd name="adj" fmla="val 331126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6334049" y="3161995"/>
            <a:ext cx="21241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활용 &amp; 운영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6334049" y="3604565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 · 템플릿 · 협업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6486754" y="3947465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데이터베이스(DB) 속성 및 뷰 설정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6486754" y="4176065"/>
            <a:ext cx="2110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템플릿/리마인더로 반복 업무 자동화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6486754" y="4404665"/>
            <a:ext cx="2015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2: 과제/프로젝트 트래커 완성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219395" y="5080406"/>
            <a:ext cx="685800" cy="685800"/>
          </a:xfrm>
          <a:prstGeom prst="roundRect">
            <a:avLst>
              <a:gd name="adj" fmla="val 29630"/>
            </a:avLst>
          </a:prstGeom>
          <a:solidFill>
            <a:srgbClr val="1E293B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rcRect t="-530" b="-530"/>
          <a:stretch/>
        </p:blipFill>
        <p:spPr>
          <a:xfrm>
            <a:off x="5438851" y="5280660"/>
            <a:ext cx="247802" cy="286207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133795" y="5080406"/>
            <a:ext cx="5296205" cy="895198"/>
          </a:xfrm>
          <a:prstGeom prst="roundRect">
            <a:avLst>
              <a:gd name="adj" fmla="val 13040"/>
            </a:avLst>
          </a:prstGeom>
          <a:solidFill>
            <a:srgbClr val="A78BFA">
              <a:alpha val="5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11058754" y="5319065"/>
            <a:ext cx="171907" cy="190195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6334049" y="5271516"/>
            <a:ext cx="1133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종료 후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6334049" y="5585155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노션 시스템으로 학기 운영 시작</a:t>
            </a:r>
            <a:endParaRPr lang="en-US" sz="100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26AAA9B6-6A8C-E1C5-D298-F9582DFCE027}"/>
              </a:ext>
            </a:extLst>
          </p:cNvPr>
          <p:cNvSpPr txBox="1"/>
          <p:nvPr/>
        </p:nvSpPr>
        <p:spPr>
          <a:xfrm>
            <a:off x="928689" y="4320540"/>
            <a:ext cx="3393871" cy="406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</a:t>
            </a:r>
            <a:r>
              <a:rPr lang="en-US" altLang="ko-KR" sz="14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14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창의력</a:t>
            </a:r>
            <a:r>
              <a:rPr lang="en-US" altLang="ko-KR" sz="14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복합문제능력 향상 과정</a:t>
            </a:r>
            <a:endParaRPr lang="en-US" altLang="ko-KR" sz="1400" b="1" dirty="0">
              <a:solidFill>
                <a:srgbClr val="D1D5D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sz="14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4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https://padlet.com/aebon/create26</a:t>
            </a:r>
            <a:endParaRPr lang="en-US" sz="1400" b="1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240030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838505" y="2486254"/>
            <a:ext cx="152705" cy="1335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326166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3346704"/>
            <a:ext cx="133502" cy="1335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1695" y="412211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847649" y="4208069"/>
            <a:ext cx="133502" cy="1335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61695" y="498348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828446" y="5069434"/>
            <a:ext cx="171907" cy="13350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61695" y="565373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862279" y="5739689"/>
            <a:ext cx="105156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61695" y="771754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NOTION?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761695" y="1000354"/>
            <a:ext cx="280995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노션인가?</a:t>
            </a:r>
            <a:endParaRPr lang="en-US" sz="36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1676095"/>
            <a:ext cx="24670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 생활의 생산성 혁명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1218895" y="2381098"/>
            <a:ext cx="15928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올인원 (All-in-One)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1218895" y="2670962"/>
            <a:ext cx="1919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강의노트, 과제, 시험, 프로젝트를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1218895" y="2861158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공간에서 통합 관리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1218895" y="3242462"/>
            <a:ext cx="15837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시스템 (Block)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1218895" y="3531413"/>
            <a:ext cx="1938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레고처럼 조립하는 직관적 편집과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1218895" y="3722522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레이아웃 구성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1218895" y="4102913"/>
            <a:ext cx="15361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(Template)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218895" y="4392778"/>
            <a:ext cx="1853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 리포트, 회의록 양식을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218895" y="4583887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저장하여 업무 최소화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218895" y="4964278"/>
            <a:ext cx="17455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(Collaboration)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218895" y="5254142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편집과 댓글로 팀플 효율 극대화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218895" y="5635447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 디바이스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1218895" y="5924398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PC, 태블릿, 모바일 완벽 동기화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562295" y="1360627"/>
            <a:ext cx="2838298" cy="1362456"/>
          </a:xfrm>
          <a:prstGeom prst="roundRect">
            <a:avLst>
              <a:gd name="adj" fmla="val 7509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6810451" y="1560881"/>
            <a:ext cx="342900" cy="304495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8591702" y="1360627"/>
            <a:ext cx="2838298" cy="1362456"/>
          </a:xfrm>
          <a:prstGeom prst="roundRect">
            <a:avLst>
              <a:gd name="adj" fmla="val 7509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9838944" y="1560881"/>
            <a:ext cx="342900" cy="304495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5562295" y="2905049"/>
            <a:ext cx="2838298" cy="1362456"/>
          </a:xfrm>
          <a:prstGeom prst="roundRect">
            <a:avLst>
              <a:gd name="adj" fmla="val 7509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rcRect l="-50" r="-50"/>
          <a:stretch/>
        </p:blipFill>
        <p:spPr>
          <a:xfrm>
            <a:off x="6867144" y="3104388"/>
            <a:ext cx="228600" cy="304495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591702" y="2905049"/>
            <a:ext cx="2838298" cy="1362456"/>
          </a:xfrm>
          <a:prstGeom prst="roundRect">
            <a:avLst>
              <a:gd name="adj" fmla="val 7509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rcRect l="-90" r="-90"/>
          <a:stretch/>
        </p:blipFill>
        <p:spPr>
          <a:xfrm>
            <a:off x="9820656" y="3104388"/>
            <a:ext cx="381305" cy="304495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5562295" y="4448556"/>
            <a:ext cx="5867705" cy="1057046"/>
          </a:xfrm>
          <a:prstGeom prst="roundRect">
            <a:avLst>
              <a:gd name="adj" fmla="val 12469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rcRect l="-192" r="-192"/>
          <a:stretch/>
        </p:blipFill>
        <p:spPr>
          <a:xfrm>
            <a:off x="5800954" y="4806086"/>
            <a:ext cx="418795" cy="333756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604711" y="1865376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All-in-One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6606540" y="2141525"/>
            <a:ext cx="8503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자료를</a:t>
            </a:r>
            <a:endParaRPr lang="en-US" sz="1000" dirty="0"/>
          </a:p>
        </p:txBody>
      </p:sp>
      <p:sp>
        <p:nvSpPr>
          <p:cNvPr id="42" name="Text 30"/>
          <p:cNvSpPr txBox="1"/>
          <p:nvPr/>
        </p:nvSpPr>
        <p:spPr>
          <a:xfrm>
            <a:off x="6665976" y="2323490"/>
            <a:ext cx="7360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하나로 통합</a:t>
            </a:r>
            <a:endParaRPr lang="en-US" sz="1000" dirty="0"/>
          </a:p>
        </p:txBody>
      </p:sp>
      <p:sp>
        <p:nvSpPr>
          <p:cNvPr id="43" name="Text 31"/>
          <p:cNvSpPr txBox="1"/>
          <p:nvPr/>
        </p:nvSpPr>
        <p:spPr>
          <a:xfrm>
            <a:off x="9505188" y="186537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 System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9557309" y="2141525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맘대로 꾸미는</a:t>
            </a:r>
            <a:endParaRPr lang="en-US" sz="1000" dirty="0"/>
          </a:p>
        </p:txBody>
      </p:sp>
      <p:sp>
        <p:nvSpPr>
          <p:cNvPr id="45" name="Text 33"/>
          <p:cNvSpPr txBox="1"/>
          <p:nvPr/>
        </p:nvSpPr>
        <p:spPr>
          <a:xfrm>
            <a:off x="9694469" y="2323490"/>
            <a:ext cx="7360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구조</a:t>
            </a:r>
            <a:endParaRPr lang="en-US" sz="1000" dirty="0"/>
          </a:p>
        </p:txBody>
      </p:sp>
      <p:sp>
        <p:nvSpPr>
          <p:cNvPr id="46" name="Text 34"/>
          <p:cNvSpPr txBox="1"/>
          <p:nvPr/>
        </p:nvSpPr>
        <p:spPr>
          <a:xfrm>
            <a:off x="6594653" y="3409798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Templates</a:t>
            </a:r>
            <a:endParaRPr lang="en-US" sz="1200" dirty="0"/>
          </a:p>
        </p:txBody>
      </p:sp>
      <p:sp>
        <p:nvSpPr>
          <p:cNvPr id="47" name="Text 35"/>
          <p:cNvSpPr txBox="1"/>
          <p:nvPr/>
        </p:nvSpPr>
        <p:spPr>
          <a:xfrm>
            <a:off x="6547104" y="3685946"/>
            <a:ext cx="9738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생산성을 높이는</a:t>
            </a:r>
            <a:endParaRPr lang="en-US" sz="1000" dirty="0"/>
          </a:p>
        </p:txBody>
      </p:sp>
      <p:sp>
        <p:nvSpPr>
          <p:cNvPr id="48" name="Text 36"/>
          <p:cNvSpPr txBox="1"/>
          <p:nvPr/>
        </p:nvSpPr>
        <p:spPr>
          <a:xfrm>
            <a:off x="6725412" y="3866998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서식</a:t>
            </a:r>
            <a:endParaRPr lang="en-US" sz="1000" dirty="0"/>
          </a:p>
        </p:txBody>
      </p:sp>
      <p:sp>
        <p:nvSpPr>
          <p:cNvPr id="49" name="Text 37"/>
          <p:cNvSpPr txBox="1"/>
          <p:nvPr/>
        </p:nvSpPr>
        <p:spPr>
          <a:xfrm>
            <a:off x="9830714" y="3409798"/>
            <a:ext cx="476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Sync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9635033" y="3685946"/>
            <a:ext cx="8503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 어디서나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9753905" y="3866998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가능</a:t>
            </a:r>
            <a:endParaRPr lang="en-US" sz="1000" dirty="0"/>
          </a:p>
        </p:txBody>
      </p:sp>
      <p:sp>
        <p:nvSpPr>
          <p:cNvPr id="52" name="Text 40"/>
          <p:cNvSpPr txBox="1"/>
          <p:nvPr/>
        </p:nvSpPr>
        <p:spPr>
          <a:xfrm>
            <a:off x="6219749" y="4648810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Collaboration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6219749" y="4924958"/>
            <a:ext cx="1916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팀원들과 동시에 문서를 편집하고,</a:t>
            </a:r>
            <a:endParaRPr lang="en-US" sz="1000" dirty="0"/>
          </a:p>
        </p:txBody>
      </p:sp>
      <p:sp>
        <p:nvSpPr>
          <p:cNvPr id="54" name="Text 42"/>
          <p:cNvSpPr txBox="1"/>
          <p:nvPr/>
        </p:nvSpPr>
        <p:spPr>
          <a:xfrm>
            <a:off x="6219749" y="5106010"/>
            <a:ext cx="2030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댓글로 소통하며 과제를 완성하세요.</a:t>
            </a:r>
            <a:endParaRPr lang="en-US" sz="1000" dirty="0"/>
          </a:p>
        </p:txBody>
      </p:sp>
      <p:sp>
        <p:nvSpPr>
          <p:cNvPr id="5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1695" y="1580998"/>
            <a:ext cx="10668305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571500"/>
            <a:ext cx="16248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노션의 기초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886054"/>
            <a:ext cx="64584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 맵: 블록 – 페이지 – 데이터베이스</a:t>
            </a:r>
            <a:endParaRPr lang="en-US" sz="2700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EDDA786-AC39-24A9-48D1-C85C4C7BEC35}"/>
              </a:ext>
            </a:extLst>
          </p:cNvPr>
          <p:cNvGrpSpPr/>
          <p:nvPr/>
        </p:nvGrpSpPr>
        <p:grpSpPr>
          <a:xfrm>
            <a:off x="853135" y="1956696"/>
            <a:ext cx="3272638" cy="4304081"/>
            <a:chOff x="761695" y="2546604"/>
            <a:chExt cx="3272638" cy="4304081"/>
          </a:xfrm>
        </p:grpSpPr>
        <p:sp>
          <p:nvSpPr>
            <p:cNvPr id="8" name="Shape 5"/>
            <p:cNvSpPr/>
            <p:nvPr/>
          </p:nvSpPr>
          <p:spPr>
            <a:xfrm>
              <a:off x="761695" y="2546604"/>
              <a:ext cx="38405" cy="1248156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90295" y="2623414"/>
              <a:ext cx="190195" cy="190195"/>
            </a:xfrm>
            <a:prstGeom prst="rect">
              <a:avLst/>
            </a:prstGeom>
          </p:spPr>
        </p:pic>
        <p:sp>
          <p:nvSpPr>
            <p:cNvPr id="10" name="Text 6"/>
            <p:cNvSpPr txBox="1"/>
            <p:nvPr/>
          </p:nvSpPr>
          <p:spPr>
            <a:xfrm>
              <a:off x="1276502" y="2546604"/>
              <a:ext cx="146761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블록 (Block)</a:t>
              </a:r>
              <a:endParaRPr lang="en-US" sz="1800" dirty="0"/>
            </a:p>
          </p:txBody>
        </p:sp>
        <p:sp>
          <p:nvSpPr>
            <p:cNvPr id="11" name="Text 7"/>
            <p:cNvSpPr txBox="1"/>
            <p:nvPr/>
          </p:nvSpPr>
          <p:spPr>
            <a:xfrm>
              <a:off x="990295" y="2975458"/>
              <a:ext cx="1748333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노션의 가장 작은 단위.</a:t>
              </a:r>
              <a:endParaRPr lang="en-US" sz="1300" dirty="0"/>
            </a:p>
          </p:txBody>
        </p:sp>
        <p:sp>
          <p:nvSpPr>
            <p:cNvPr id="12" name="Text 8"/>
            <p:cNvSpPr txBox="1"/>
            <p:nvPr/>
          </p:nvSpPr>
          <p:spPr>
            <a:xfrm>
              <a:off x="990295" y="3249778"/>
              <a:ext cx="261518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텍스트, 이미지, 할 일 목록, 제목 등</a:t>
              </a:r>
              <a:endParaRPr lang="en-US" sz="1300" dirty="0"/>
            </a:p>
          </p:txBody>
        </p:sp>
        <p:sp>
          <p:nvSpPr>
            <p:cNvPr id="13" name="Text 9"/>
            <p:cNvSpPr txBox="1"/>
            <p:nvPr/>
          </p:nvSpPr>
          <p:spPr>
            <a:xfrm>
              <a:off x="990295" y="3524098"/>
              <a:ext cx="221467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페이지를 구성하는 모든 요소.</a:t>
              </a:r>
              <a:endParaRPr lang="en-US" sz="13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761695" y="4074566"/>
              <a:ext cx="38405" cy="1248156"/>
            </a:xfrm>
            <a:prstGeom prst="rect">
              <a:avLst/>
            </a:prstGeom>
            <a:solidFill>
              <a:srgbClr val="8B5C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990295" y="4151376"/>
              <a:ext cx="142646" cy="190195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1228954" y="4074566"/>
              <a:ext cx="158191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A78B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페이지 (Page)</a:t>
              </a:r>
              <a:endParaRPr lang="en-US" sz="1800" dirty="0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990295" y="4503420"/>
              <a:ext cx="190103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블록들을 담는 빈 캔버스.</a:t>
              </a:r>
              <a:endParaRPr lang="en-US" sz="1300" dirty="0"/>
            </a:p>
          </p:txBody>
        </p:sp>
        <p:sp>
          <p:nvSpPr>
            <p:cNvPr id="18" name="Text 13"/>
            <p:cNvSpPr txBox="1"/>
            <p:nvPr/>
          </p:nvSpPr>
          <p:spPr>
            <a:xfrm>
              <a:off x="990295" y="4777740"/>
              <a:ext cx="258683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페이지 안에 또 다른 페이지를 넣어</a:t>
              </a:r>
              <a:endParaRPr lang="en-US" sz="1300" dirty="0"/>
            </a:p>
          </p:txBody>
        </p:sp>
        <p:sp>
          <p:nvSpPr>
            <p:cNvPr id="19" name="Text 14"/>
            <p:cNvSpPr txBox="1"/>
            <p:nvPr/>
          </p:nvSpPr>
          <p:spPr>
            <a:xfrm>
              <a:off x="990295" y="5052060"/>
              <a:ext cx="2310689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무한 계층 구조를 만들 수 있음.</a:t>
              </a:r>
              <a:endParaRPr lang="en-US" sz="1300" dirty="0"/>
            </a:p>
          </p:txBody>
        </p:sp>
        <p:sp>
          <p:nvSpPr>
            <p:cNvPr id="20" name="Shape 15"/>
            <p:cNvSpPr/>
            <p:nvPr/>
          </p:nvSpPr>
          <p:spPr>
            <a:xfrm>
              <a:off x="761695" y="5602529"/>
              <a:ext cx="38405" cy="1248156"/>
            </a:xfrm>
            <a:prstGeom prst="rect">
              <a:avLst/>
            </a:prstGeom>
            <a:solidFill>
              <a:srgbClr val="EC489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5"/>
            <a:srcRect l="-1648" r="-1648"/>
            <a:stretch/>
          </p:blipFill>
          <p:spPr>
            <a:xfrm>
              <a:off x="990295" y="5678424"/>
              <a:ext cx="171907" cy="190195"/>
            </a:xfrm>
            <a:prstGeom prst="rect">
              <a:avLst/>
            </a:prstGeom>
          </p:spPr>
        </p:pic>
        <p:sp>
          <p:nvSpPr>
            <p:cNvPr id="22" name="Text 16"/>
            <p:cNvSpPr txBox="1"/>
            <p:nvPr/>
          </p:nvSpPr>
          <p:spPr>
            <a:xfrm>
              <a:off x="1257300" y="5602529"/>
              <a:ext cx="199156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472B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데이터베이스 (DB)</a:t>
              </a:r>
              <a:endParaRPr lang="en-US" sz="1800" dirty="0"/>
            </a:p>
          </p:txBody>
        </p:sp>
        <p:sp>
          <p:nvSpPr>
            <p:cNvPr id="23" name="Text 17"/>
            <p:cNvSpPr txBox="1"/>
            <p:nvPr/>
          </p:nvSpPr>
          <p:spPr>
            <a:xfrm>
              <a:off x="990295" y="6031382"/>
              <a:ext cx="273862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동일한 속성을 가진 페이지들의 집합.</a:t>
              </a:r>
              <a:endParaRPr lang="en-US" sz="1300" dirty="0"/>
            </a:p>
          </p:txBody>
        </p:sp>
        <p:sp>
          <p:nvSpPr>
            <p:cNvPr id="24" name="Text 18"/>
            <p:cNvSpPr txBox="1"/>
            <p:nvPr/>
          </p:nvSpPr>
          <p:spPr>
            <a:xfrm>
              <a:off x="990295" y="6305702"/>
              <a:ext cx="304403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표, 보드, 캘린더 등 다양한 보기 방식으로</a:t>
              </a:r>
              <a:endParaRPr lang="en-US" sz="1300" dirty="0"/>
            </a:p>
          </p:txBody>
        </p:sp>
        <p:sp>
          <p:nvSpPr>
            <p:cNvPr id="25" name="Text 19"/>
            <p:cNvSpPr txBox="1"/>
            <p:nvPr/>
          </p:nvSpPr>
          <p:spPr>
            <a:xfrm>
              <a:off x="990295" y="6580022"/>
              <a:ext cx="1853489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정보를 구조화하여 관리.</a:t>
              </a:r>
              <a:endParaRPr lang="en-US" sz="1300" dirty="0"/>
            </a:p>
          </p:txBody>
        </p:sp>
      </p:grpSp>
      <p:sp>
        <p:nvSpPr>
          <p:cNvPr id="26" name="Shape 20"/>
          <p:cNvSpPr/>
          <p:nvPr/>
        </p:nvSpPr>
        <p:spPr>
          <a:xfrm>
            <a:off x="6554498" y="1956696"/>
            <a:ext cx="4178079" cy="4408164"/>
          </a:xfrm>
          <a:prstGeom prst="roundRect">
            <a:avLst>
              <a:gd name="adj" fmla="val 47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8577509" y="3337685"/>
            <a:ext cx="132057" cy="176327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8577509" y="4806838"/>
            <a:ext cx="132057" cy="176327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238500" y="6277049"/>
            <a:ext cx="1749061" cy="271543"/>
          </a:xfrm>
          <a:prstGeom prst="roundRect">
            <a:avLst>
              <a:gd name="adj" fmla="val 140400"/>
            </a:avLst>
          </a:prstGeom>
          <a:solidFill>
            <a:srgbClr val="3B82F6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sz="140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9374071" y="6368849"/>
            <a:ext cx="87804" cy="10297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501913" y="6336295"/>
            <a:ext cx="1445610" cy="147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시연: / 명령어로 블록 탐색</a:t>
            </a:r>
            <a:endParaRPr lang="en-US" sz="800" dirty="0"/>
          </a:p>
        </p:txBody>
      </p:sp>
      <p:sp>
        <p:nvSpPr>
          <p:cNvPr id="32" name="Shape 23"/>
          <p:cNvSpPr/>
          <p:nvPr/>
        </p:nvSpPr>
        <p:spPr>
          <a:xfrm>
            <a:off x="7212679" y="2191563"/>
            <a:ext cx="2868039" cy="999419"/>
          </a:xfrm>
          <a:prstGeom prst="roundRect">
            <a:avLst>
              <a:gd name="adj" fmla="val 622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0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rcRect l="-501198" r="-501198"/>
          <a:stretch/>
        </p:blipFill>
        <p:spPr>
          <a:xfrm>
            <a:off x="7512618" y="2346025"/>
            <a:ext cx="2261136" cy="20595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081590" y="2625326"/>
            <a:ext cx="1236986" cy="21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(LEGO 조각)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8129356" y="2882058"/>
            <a:ext cx="1109144" cy="147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콘텐츠의 기본 단위</a:t>
            </a:r>
            <a:endParaRPr lang="en-US" sz="800" dirty="0"/>
          </a:p>
        </p:txBody>
      </p:sp>
      <p:sp>
        <p:nvSpPr>
          <p:cNvPr id="36" name="Shape 26"/>
          <p:cNvSpPr/>
          <p:nvPr/>
        </p:nvSpPr>
        <p:spPr>
          <a:xfrm>
            <a:off x="7212679" y="3660716"/>
            <a:ext cx="2868039" cy="999419"/>
          </a:xfrm>
          <a:prstGeom prst="roundRect">
            <a:avLst>
              <a:gd name="adj" fmla="val 622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0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rcRect l="-684931" r="-684931"/>
          <a:stretch/>
        </p:blipFill>
        <p:spPr>
          <a:xfrm>
            <a:off x="7512618" y="3815178"/>
            <a:ext cx="2261136" cy="20595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163775" y="4094479"/>
            <a:ext cx="1076129" cy="21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(도화지)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8129356" y="4351916"/>
            <a:ext cx="1109144" cy="147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블록을 모아 문서를 구성</a:t>
            </a:r>
            <a:endParaRPr lang="en-US" sz="800" dirty="0"/>
          </a:p>
        </p:txBody>
      </p:sp>
      <p:sp>
        <p:nvSpPr>
          <p:cNvPr id="40" name="Shape 29"/>
          <p:cNvSpPr/>
          <p:nvPr/>
        </p:nvSpPr>
        <p:spPr>
          <a:xfrm>
            <a:off x="7225430" y="5153144"/>
            <a:ext cx="2868039" cy="999419"/>
          </a:xfrm>
          <a:prstGeom prst="roundRect">
            <a:avLst>
              <a:gd name="adj" fmla="val 6227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0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0"/>
          <a:srcRect l="-579941" r="-579941"/>
          <a:stretch/>
        </p:blipFill>
        <p:spPr>
          <a:xfrm>
            <a:off x="7512618" y="5284331"/>
            <a:ext cx="2261136" cy="20595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7962176" y="5563632"/>
            <a:ext cx="1478624" cy="21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 (파일철)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7988166" y="5821068"/>
            <a:ext cx="1394332" cy="147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페이지를 체계적으로 관리</a:t>
            </a:r>
            <a:endParaRPr lang="en-US" sz="8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3334817"/>
            <a:ext cx="3676802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901598"/>
            <a:ext cx="2233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SELF-CHECK &amp; GOAL SETTING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30198"/>
            <a:ext cx="31245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노션 레벨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1701698"/>
            <a:ext cx="35917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 &amp; 목표 설정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2558491"/>
            <a:ext cx="377738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자신의 익숙함 정도를 </a:t>
            </a:r>
            <a:r>
              <a:rPr lang="en-US" sz="13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파악하고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3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강의에서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달성할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목표 1가지를구체적으로 설정해보세요.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3582619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레벨 분류 기준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1696" y="3895851"/>
            <a:ext cx="38739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이해도: 노션의 기본 단위인 '블록'을 자유롭게 다루는가?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61695" y="4560620"/>
            <a:ext cx="394837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활용력: 단순 표를 넘어 다양한 뷰와 속성을 설정하는가?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1696" y="5224475"/>
            <a:ext cx="398101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설계: 목적에 맞는 페이지 계층과 대시보드를 만드는가?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6340" y="952805"/>
            <a:ext cx="3124505" cy="2419502"/>
          </a:xfrm>
          <a:prstGeom prst="roundRect">
            <a:avLst>
              <a:gd name="adj" fmla="val 2381"/>
            </a:avLst>
          </a:prstGeom>
          <a:solidFill>
            <a:srgbClr val="1E293B">
              <a:alpha val="60000"/>
            </a:srgbClr>
          </a:solidFill>
          <a:ln w="508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244084" y="1248156"/>
            <a:ext cx="599846" cy="209398"/>
          </a:xfrm>
          <a:prstGeom prst="roundRect">
            <a:avLst>
              <a:gd name="adj" fmla="val 79396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320894" y="1266444"/>
            <a:ext cx="534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244084" y="1524305"/>
            <a:ext cx="6766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입문자</a:t>
            </a:r>
            <a:endParaRPr lang="en-US" sz="15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56271" y="1218895"/>
            <a:ext cx="228600" cy="22860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5244084" y="1917497"/>
            <a:ext cx="105156" cy="1234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349240" y="1876349"/>
            <a:ext cx="15032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블록/페이지 개념이 낯섬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5244084" y="2179930"/>
            <a:ext cx="105156" cy="1234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49240" y="2139696"/>
            <a:ext cx="13606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텍스트 작성만 함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44084" y="2554834"/>
            <a:ext cx="2648102" cy="571500"/>
          </a:xfrm>
          <a:prstGeom prst="roundRect">
            <a:avLst>
              <a:gd name="adj" fmla="val 21333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244084" y="2554834"/>
            <a:ext cx="19202" cy="5715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5358384" y="2640787"/>
            <a:ext cx="715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추천 목표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5358384" y="2840126"/>
            <a:ext cx="2024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노트 정리 &amp; 기본 블록 익히기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313725" y="952805"/>
            <a:ext cx="3124505" cy="2419502"/>
          </a:xfrm>
          <a:prstGeom prst="roundRect">
            <a:avLst>
              <a:gd name="adj" fmla="val 2381"/>
            </a:avLst>
          </a:prstGeom>
          <a:solidFill>
            <a:srgbClr val="1E293B">
              <a:alpha val="60000"/>
            </a:srgbClr>
          </a:solidFill>
          <a:ln w="508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551469" y="1248156"/>
            <a:ext cx="599846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8627364" y="1266444"/>
            <a:ext cx="534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2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8551469" y="1524305"/>
            <a:ext cx="6766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초보자</a:t>
            </a:r>
            <a:endParaRPr lang="en-US" sz="15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11048695" y="1218895"/>
            <a:ext cx="142646" cy="228600"/>
          </a:xfrm>
          <a:prstGeom prst="rect">
            <a:avLst/>
          </a:prstGeom>
        </p:spPr>
      </p:pic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8551469" y="1917497"/>
            <a:ext cx="105156" cy="1234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656625" y="1876349"/>
            <a:ext cx="13697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블록/템플릿 활용</a:t>
            </a:r>
            <a:endParaRPr lang="en-US" sz="10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8551469" y="2179930"/>
            <a:ext cx="105156" cy="12344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656625" y="2139696"/>
            <a:ext cx="16843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데이터베이스(DB)는 어려움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551469" y="2554834"/>
            <a:ext cx="2648102" cy="571500"/>
          </a:xfrm>
          <a:prstGeom prst="roundRect">
            <a:avLst>
              <a:gd name="adj" fmla="val 21333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8"/>
          <p:cNvSpPr/>
          <p:nvPr/>
        </p:nvSpPr>
        <p:spPr>
          <a:xfrm>
            <a:off x="8551469" y="2554834"/>
            <a:ext cx="19202" cy="571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9"/>
          <p:cNvSpPr txBox="1"/>
          <p:nvPr/>
        </p:nvSpPr>
        <p:spPr>
          <a:xfrm>
            <a:off x="8665769" y="2640787"/>
            <a:ext cx="715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추천 목표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8665769" y="2840126"/>
            <a:ext cx="1881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 목록 &amp; 간단한 표 DB 시작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006340" y="3555187"/>
            <a:ext cx="3124505" cy="2419502"/>
          </a:xfrm>
          <a:prstGeom prst="roundRect">
            <a:avLst>
              <a:gd name="adj" fmla="val 2381"/>
            </a:avLst>
          </a:prstGeom>
          <a:solidFill>
            <a:srgbClr val="1E293B">
              <a:alpha val="60000"/>
            </a:srgbClr>
          </a:solidFill>
          <a:ln w="508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3"/>
          <p:cNvSpPr txBox="1"/>
          <p:nvPr/>
        </p:nvSpPr>
        <p:spPr>
          <a:xfrm>
            <a:off x="5244084" y="4126687"/>
            <a:ext cx="6766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중급자</a:t>
            </a:r>
            <a:endParaRPr lang="en-US" sz="15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7684618" y="3821278"/>
            <a:ext cx="200254" cy="228600"/>
          </a:xfrm>
          <a:prstGeom prst="rect">
            <a:avLst/>
          </a:prstGeom>
        </p:spPr>
      </p:pic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5244084" y="4519879"/>
            <a:ext cx="105156" cy="12344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349240" y="4478731"/>
            <a:ext cx="15224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뷰(보드/캘린더) 능숙</a:t>
            </a:r>
            <a:endParaRPr lang="en-US" sz="10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5244084" y="4782312"/>
            <a:ext cx="105156" cy="123444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5349240" y="4742078"/>
            <a:ext cx="1608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페이지 커스텀 가능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5244084" y="5157216"/>
            <a:ext cx="2648102" cy="571500"/>
          </a:xfrm>
          <a:prstGeom prst="roundRect">
            <a:avLst>
              <a:gd name="adj" fmla="val 21333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7"/>
          <p:cNvSpPr/>
          <p:nvPr/>
        </p:nvSpPr>
        <p:spPr>
          <a:xfrm>
            <a:off x="5244084" y="5157216"/>
            <a:ext cx="19202" cy="571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8"/>
          <p:cNvSpPr txBox="1"/>
          <p:nvPr/>
        </p:nvSpPr>
        <p:spPr>
          <a:xfrm>
            <a:off x="5358384" y="5243170"/>
            <a:ext cx="715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추천 목표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5358384" y="5442509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학기 대시보드 구축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8313725" y="3555187"/>
            <a:ext cx="3124505" cy="2419502"/>
          </a:xfrm>
          <a:prstGeom prst="roundRect">
            <a:avLst>
              <a:gd name="adj" fmla="val 2381"/>
            </a:avLst>
          </a:prstGeom>
          <a:solidFill>
            <a:srgbClr val="1E293B">
              <a:alpha val="60000"/>
            </a:srgbClr>
          </a:solidFill>
          <a:ln w="508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1"/>
          <p:cNvSpPr/>
          <p:nvPr/>
        </p:nvSpPr>
        <p:spPr>
          <a:xfrm>
            <a:off x="8551469" y="3850538"/>
            <a:ext cx="599846" cy="209398"/>
          </a:xfrm>
          <a:prstGeom prst="roundRect">
            <a:avLst>
              <a:gd name="adj" fmla="val 79396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2"/>
          <p:cNvSpPr txBox="1"/>
          <p:nvPr/>
        </p:nvSpPr>
        <p:spPr>
          <a:xfrm>
            <a:off x="8627364" y="3868826"/>
            <a:ext cx="534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4</a:t>
            </a:r>
            <a:endParaRPr lang="en-US" sz="900" dirty="0"/>
          </a:p>
        </p:txBody>
      </p:sp>
      <p:sp>
        <p:nvSpPr>
          <p:cNvPr id="54" name="Text 43"/>
          <p:cNvSpPr txBox="1"/>
          <p:nvPr/>
        </p:nvSpPr>
        <p:spPr>
          <a:xfrm>
            <a:off x="8551469" y="4126687"/>
            <a:ext cx="6766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고급자</a:t>
            </a:r>
            <a:endParaRPr lang="en-US" sz="150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963656" y="3821278"/>
            <a:ext cx="228600" cy="228600"/>
          </a:xfrm>
          <a:prstGeom prst="rect">
            <a:avLst/>
          </a:prstGeom>
        </p:spPr>
      </p:pic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8551469" y="4519879"/>
            <a:ext cx="105156" cy="123444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8656625" y="4478731"/>
            <a:ext cx="1608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관계형 DB/롤업/수식 활용</a:t>
            </a:r>
            <a:endParaRPr lang="en-US" sz="1000" dirty="0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8551469" y="4782312"/>
            <a:ext cx="105156" cy="123444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8656625" y="4742078"/>
            <a:ext cx="11036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협업 리딩 가능</a:t>
            </a:r>
            <a:endParaRPr lang="en-US" sz="1000" dirty="0"/>
          </a:p>
        </p:txBody>
      </p:sp>
      <p:sp>
        <p:nvSpPr>
          <p:cNvPr id="60" name="Shape 46"/>
          <p:cNvSpPr/>
          <p:nvPr/>
        </p:nvSpPr>
        <p:spPr>
          <a:xfrm>
            <a:off x="8551469" y="5157216"/>
            <a:ext cx="2648102" cy="571500"/>
          </a:xfrm>
          <a:prstGeom prst="roundRect">
            <a:avLst>
              <a:gd name="adj" fmla="val 21333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47"/>
          <p:cNvSpPr/>
          <p:nvPr/>
        </p:nvSpPr>
        <p:spPr>
          <a:xfrm>
            <a:off x="8551469" y="5157216"/>
            <a:ext cx="19202" cy="57150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8"/>
          <p:cNvSpPr txBox="1"/>
          <p:nvPr/>
        </p:nvSpPr>
        <p:spPr>
          <a:xfrm>
            <a:off x="8665769" y="5243170"/>
            <a:ext cx="715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추천 목표</a:t>
            </a:r>
            <a:endParaRPr lang="en-US" sz="900" dirty="0"/>
          </a:p>
        </p:txBody>
      </p:sp>
      <p:sp>
        <p:nvSpPr>
          <p:cNvPr id="64" name="Shape 12">
            <a:extLst>
              <a:ext uri="{FF2B5EF4-FFF2-40B4-BE49-F238E27FC236}">
                <a16:creationId xmlns:a16="http://schemas.microsoft.com/office/drawing/2014/main" id="{36539B3B-F7AD-9EA8-C6CA-C51345EAC56C}"/>
              </a:ext>
            </a:extLst>
          </p:cNvPr>
          <p:cNvSpPr/>
          <p:nvPr/>
        </p:nvSpPr>
        <p:spPr>
          <a:xfrm>
            <a:off x="5191571" y="3846168"/>
            <a:ext cx="599846" cy="209398"/>
          </a:xfrm>
          <a:prstGeom prst="roundRect">
            <a:avLst>
              <a:gd name="adj" fmla="val 79396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ko-KR" altLang="en-US" sz="4000"/>
          </a:p>
        </p:txBody>
      </p:sp>
      <p:sp>
        <p:nvSpPr>
          <p:cNvPr id="63" name="Text 49"/>
          <p:cNvSpPr txBox="1"/>
          <p:nvPr/>
        </p:nvSpPr>
        <p:spPr>
          <a:xfrm>
            <a:off x="8665769" y="5442509"/>
            <a:ext cx="1700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프로젝트 시스템 &amp; 자동화</a:t>
            </a:r>
            <a:endParaRPr lang="en-US" sz="1000" dirty="0"/>
          </a:p>
        </p:txBody>
      </p:sp>
      <p:sp>
        <p:nvSpPr>
          <p:cNvPr id="65" name="Text 32"/>
          <p:cNvSpPr txBox="1"/>
          <p:nvPr/>
        </p:nvSpPr>
        <p:spPr>
          <a:xfrm>
            <a:off x="5242776" y="3877815"/>
            <a:ext cx="534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3</a:t>
            </a:r>
            <a:endParaRPr lang="en-US" sz="900" dirty="0"/>
          </a:p>
        </p:txBody>
      </p:sp>
      <p:sp>
        <p:nvSpPr>
          <p:cNvPr id="6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1695" y="1580998"/>
            <a:ext cx="10668305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571500"/>
            <a:ext cx="16248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노션의 기초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886054"/>
            <a:ext cx="52203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워크스페이스·사이드바·네비게이션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761695" y="2305202"/>
            <a:ext cx="38405" cy="107624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295" y="2367382"/>
            <a:ext cx="142646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28954" y="2305202"/>
            <a:ext cx="266273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워크스페이스 (Workspace)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990295" y="2695651"/>
            <a:ext cx="2943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 작업이 이루어지는 가장 큰 단위의 공간.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2924251"/>
            <a:ext cx="3486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학교, 동아리, 개인 등 목적별로 여러 개 생성 가능하며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90295" y="3152851"/>
            <a:ext cx="2943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상단 메뉴에서 쉽게 전환할 수 있습니다.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61695" y="3571646"/>
            <a:ext cx="38405" cy="115214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3633826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76502" y="3571646"/>
            <a:ext cx="182422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 핵심 기능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37844" y="3962095"/>
            <a:ext cx="2564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(Ctrl+K): 키워드로 페이지 즉시 이동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1037844" y="4214470"/>
            <a:ext cx="24030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수신함: 멘션, 댓글, 업데이트 알림 확인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037844" y="4466844"/>
            <a:ext cx="2536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홈: 최근 방문 페이지, 작업 목록 대시보드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61695" y="4910328"/>
            <a:ext cx="38405" cy="115214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990295" y="4972507"/>
            <a:ext cx="219456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04849" y="4910328"/>
            <a:ext cx="163403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효율적인 탐색 팁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37844" y="5300777"/>
            <a:ext cx="25840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즐겨찾기: 자주 쓰는 페이지를 상단에 고정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037844" y="5553151"/>
            <a:ext cx="29178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 모드: 사이드바 닫기 (&lt;&lt;)로 작성 공간 확보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1037844" y="5805526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토글: 페이지 하위 목록을 펼치거나 접기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372454" y="1886407"/>
            <a:ext cx="5057546" cy="4591202"/>
          </a:xfrm>
          <a:prstGeom prst="roundRect">
            <a:avLst>
              <a:gd name="adj" fmla="val 66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7282282" y="1895551"/>
            <a:ext cx="3238805" cy="4572000"/>
          </a:xfrm>
          <a:prstGeom prst="roundRect">
            <a:avLst>
              <a:gd name="adj" fmla="val 664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blurRad="292100" dist="1016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7291426" y="1904695"/>
            <a:ext cx="3219602" cy="42885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7291426" y="2324405"/>
            <a:ext cx="3219602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7444130" y="2018995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 txBox="1"/>
          <p:nvPr/>
        </p:nvSpPr>
        <p:spPr>
          <a:xfrm>
            <a:off x="7503566" y="2042770"/>
            <a:ext cx="1527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7729423" y="2021738"/>
            <a:ext cx="11603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대학교 워크스페이스</a:t>
            </a:r>
            <a:endParaRPr lang="en-US" sz="9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rcRect t="-1587" b="-1587"/>
          <a:stretch/>
        </p:blipFill>
        <p:spPr>
          <a:xfrm>
            <a:off x="10301630" y="2073859"/>
            <a:ext cx="57607" cy="95098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rcRect l="-13478" r="-13478"/>
          <a:stretch/>
        </p:blipFill>
        <p:spPr>
          <a:xfrm>
            <a:off x="7481621" y="2519172"/>
            <a:ext cx="133502" cy="10515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710221" y="2486254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7710221" y="2790749"/>
            <a:ext cx="5907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AI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7386523" y="3038551"/>
            <a:ext cx="3029407" cy="286207"/>
          </a:xfrm>
          <a:prstGeom prst="roundRect">
            <a:avLst>
              <a:gd name="adj" fmla="val 42599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rcRect l="-6425" r="-6425"/>
          <a:stretch/>
        </p:blipFill>
        <p:spPr>
          <a:xfrm>
            <a:off x="7481621" y="3129077"/>
            <a:ext cx="133502" cy="10515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710221" y="3095244"/>
            <a:ext cx="2002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</a:t>
            </a:r>
            <a:endParaRPr lang="en-US" sz="9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rcRect l="-13478" r="-13478"/>
          <a:stretch/>
        </p:blipFill>
        <p:spPr>
          <a:xfrm>
            <a:off x="7481621" y="3433572"/>
            <a:ext cx="133502" cy="10515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710221" y="3400654"/>
            <a:ext cx="409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수신함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7481621" y="3791102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즐겨찾기</a:t>
            </a:r>
            <a:endParaRPr lang="en-US" sz="800" dirty="0"/>
          </a:p>
        </p:txBody>
      </p:sp>
      <p:sp>
        <p:nvSpPr>
          <p:cNvPr id="43" name="Text 33"/>
          <p:cNvSpPr txBox="1"/>
          <p:nvPr/>
        </p:nvSpPr>
        <p:spPr>
          <a:xfrm>
            <a:off x="7829093" y="4038905"/>
            <a:ext cx="10387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학기 대시보드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7829093" y="4304995"/>
            <a:ext cx="6766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할 일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7481621" y="4677156"/>
            <a:ext cx="514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팀스페이스</a:t>
            </a:r>
            <a:endParaRPr lang="en-US" sz="8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0"/>
          <a:srcRect l="-783" r="-783"/>
          <a:stretch/>
        </p:blipFill>
        <p:spPr>
          <a:xfrm>
            <a:off x="7481621" y="4977079"/>
            <a:ext cx="133502" cy="10515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710221" y="4943246"/>
            <a:ext cx="7525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조별 과제 A팀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7905902" y="5229454"/>
            <a:ext cx="648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모음</a:t>
            </a:r>
            <a:endParaRPr lang="en-US" sz="900" dirty="0"/>
          </a:p>
        </p:txBody>
      </p:sp>
      <p:sp>
        <p:nvSpPr>
          <p:cNvPr id="49" name="Text 38"/>
          <p:cNvSpPr txBox="1"/>
          <p:nvPr/>
        </p:nvSpPr>
        <p:spPr>
          <a:xfrm>
            <a:off x="7481621" y="5600700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페이지</a:t>
            </a:r>
            <a:endParaRPr lang="en-US" sz="800" dirty="0"/>
          </a:p>
        </p:txBody>
      </p:sp>
      <p:sp>
        <p:nvSpPr>
          <p:cNvPr id="50" name="Text 39"/>
          <p:cNvSpPr txBox="1"/>
          <p:nvPr/>
        </p:nvSpPr>
        <p:spPr>
          <a:xfrm>
            <a:off x="7829093" y="5848502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노트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7829093" y="6115507"/>
            <a:ext cx="648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일기장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7386523" y="6344107"/>
            <a:ext cx="3029407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1"/>
          <a:srcRect l="-22547" r="-22547"/>
          <a:stretch/>
        </p:blipFill>
        <p:spPr>
          <a:xfrm>
            <a:off x="7481621" y="6538874"/>
            <a:ext cx="133502" cy="105156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7710221" y="6505956"/>
            <a:ext cx="409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휴지통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6286500" y="2133295"/>
            <a:ext cx="1095451" cy="200254"/>
          </a:xfrm>
          <a:prstGeom prst="roundRect">
            <a:avLst>
              <a:gd name="adj" fmla="val 260926"/>
            </a:avLst>
          </a:prstGeom>
          <a:solidFill>
            <a:srgbClr val="F59E0B"/>
          </a:solidFill>
          <a:ln/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6362395" y="2179015"/>
            <a:ext cx="95098" cy="105156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6495898" y="2152498"/>
            <a:ext cx="8887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워크스페이스 전환</a:t>
            </a:r>
            <a:endParaRPr lang="en-US" sz="800" dirty="0"/>
          </a:p>
        </p:txBody>
      </p:sp>
      <p:sp>
        <p:nvSpPr>
          <p:cNvPr id="58" name="Shape 45"/>
          <p:cNvSpPr/>
          <p:nvPr/>
        </p:nvSpPr>
        <p:spPr>
          <a:xfrm>
            <a:off x="10471709" y="3038551"/>
            <a:ext cx="1143000" cy="200254"/>
          </a:xfrm>
          <a:prstGeom prst="roundRect">
            <a:avLst>
              <a:gd name="adj" fmla="val 260926"/>
            </a:avLst>
          </a:prstGeom>
          <a:solidFill>
            <a:srgbClr val="F59E0B"/>
          </a:solidFill>
          <a:ln/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3"/>
          <a:srcRect l="-1677" r="-1677"/>
          <a:stretch/>
        </p:blipFill>
        <p:spPr>
          <a:xfrm>
            <a:off x="10547604" y="3083357"/>
            <a:ext cx="95098" cy="105156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10681106" y="3057754"/>
            <a:ext cx="9363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메뉴 (검색/홈)</a:t>
            </a:r>
            <a:endParaRPr lang="en-US" sz="800" dirty="0"/>
          </a:p>
        </p:txBody>
      </p:sp>
      <p:sp>
        <p:nvSpPr>
          <p:cNvPr id="61" name="Shape 47"/>
          <p:cNvSpPr/>
          <p:nvPr/>
        </p:nvSpPr>
        <p:spPr>
          <a:xfrm>
            <a:off x="6476695" y="3895344"/>
            <a:ext cx="875995" cy="200254"/>
          </a:xfrm>
          <a:prstGeom prst="roundRect">
            <a:avLst>
              <a:gd name="adj" fmla="val 260926"/>
            </a:avLst>
          </a:prstGeom>
          <a:solidFill>
            <a:srgbClr val="F59E0B"/>
          </a:solidFill>
          <a:ln/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14"/>
          <a:srcRect t="-1958" b="-1958"/>
          <a:stretch/>
        </p:blipFill>
        <p:spPr>
          <a:xfrm>
            <a:off x="6553505" y="3941064"/>
            <a:ext cx="75895" cy="105156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6667805" y="3914546"/>
            <a:ext cx="6885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즐겨찾기 섹션</a:t>
            </a:r>
            <a:endParaRPr lang="en-US" sz="800" dirty="0"/>
          </a:p>
        </p:txBody>
      </p:sp>
      <p:sp>
        <p:nvSpPr>
          <p:cNvPr id="64" name="Shape 49"/>
          <p:cNvSpPr/>
          <p:nvPr/>
        </p:nvSpPr>
        <p:spPr>
          <a:xfrm>
            <a:off x="10719511" y="5510174"/>
            <a:ext cx="705002" cy="200254"/>
          </a:xfrm>
          <a:prstGeom prst="roundRect">
            <a:avLst>
              <a:gd name="adj" fmla="val 260926"/>
            </a:avLst>
          </a:prstGeom>
          <a:solidFill>
            <a:srgbClr val="F59E0B"/>
          </a:solidFill>
          <a:ln/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5"/>
          <a:srcRect l="-1677" r="-1677"/>
          <a:stretch/>
        </p:blipFill>
        <p:spPr>
          <a:xfrm>
            <a:off x="10796321" y="5555894"/>
            <a:ext cx="95098" cy="105156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10928909" y="5529377"/>
            <a:ext cx="49834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공간</a:t>
            </a:r>
            <a:endParaRPr lang="en-US" sz="800" dirty="0"/>
          </a:p>
        </p:txBody>
      </p:sp>
      <p:sp>
        <p:nvSpPr>
          <p:cNvPr id="67" name="Shape 51"/>
          <p:cNvSpPr/>
          <p:nvPr/>
        </p:nvSpPr>
        <p:spPr>
          <a:xfrm>
            <a:off x="8731606" y="5829300"/>
            <a:ext cx="2314346" cy="352044"/>
          </a:xfrm>
          <a:prstGeom prst="roundRect">
            <a:avLst>
              <a:gd name="adj" fmla="val 140400"/>
            </a:avLst>
          </a:prstGeom>
          <a:solidFill>
            <a:srgbClr val="3B82F6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14" descr="preencoded.png"/>
          <p:cNvPicPr>
            <a:picLocks noChangeAspect="1"/>
          </p:cNvPicPr>
          <p:nvPr/>
        </p:nvPicPr>
        <p:blipFill>
          <a:blip r:embed="rId16"/>
          <a:srcRect t="-1100" b="-1100"/>
          <a:stretch/>
        </p:blipFill>
        <p:spPr>
          <a:xfrm>
            <a:off x="8884310" y="5939028"/>
            <a:ext cx="114300" cy="133502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9074506" y="5905195"/>
            <a:ext cx="1919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시연: 페이지 즐겨찾기 등록</a:t>
            </a:r>
            <a:endParaRPr lang="en-US" sz="1000" dirty="0"/>
          </a:p>
        </p:txBody>
      </p:sp>
      <p:sp>
        <p:nvSpPr>
          <p:cNvPr id="7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1695" y="1865376"/>
            <a:ext cx="38405" cy="2670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897526"/>
            <a:ext cx="38405" cy="26700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5354726"/>
            <a:ext cx="2085746" cy="514807"/>
          </a:xfrm>
          <a:prstGeom prst="roundRect">
            <a:avLst>
              <a:gd name="adj" fmla="val 3947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2150" r="-22150"/>
          <a:stretch/>
        </p:blipFill>
        <p:spPr>
          <a:xfrm>
            <a:off x="923544" y="5522062"/>
            <a:ext cx="228600" cy="1810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00146" y="5354726"/>
            <a:ext cx="2085746" cy="514807"/>
          </a:xfrm>
          <a:prstGeom prst="roundRect">
            <a:avLst>
              <a:gd name="adj" fmla="val 3947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3131" r="-13131"/>
          <a:stretch/>
        </p:blipFill>
        <p:spPr>
          <a:xfrm>
            <a:off x="3161995" y="5522062"/>
            <a:ext cx="228600" cy="18105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61695" y="6021324"/>
            <a:ext cx="2085746" cy="514807"/>
          </a:xfrm>
          <a:prstGeom prst="roundRect">
            <a:avLst>
              <a:gd name="adj" fmla="val 3947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22150" r="-22150"/>
          <a:stretch/>
        </p:blipFill>
        <p:spPr>
          <a:xfrm>
            <a:off x="923544" y="6188659"/>
            <a:ext cx="228600" cy="18105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000146" y="6021324"/>
            <a:ext cx="2085746" cy="514807"/>
          </a:xfrm>
          <a:prstGeom prst="roundRect">
            <a:avLst>
              <a:gd name="adj" fmla="val 3947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13131" r="-13131"/>
          <a:stretch/>
        </p:blipFill>
        <p:spPr>
          <a:xfrm>
            <a:off x="3161995" y="6188659"/>
            <a:ext cx="228600" cy="181051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61695" y="350215"/>
            <a:ext cx="1815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NOTION BASICS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664769"/>
            <a:ext cx="30102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페이지 만들기 &amp;</a:t>
            </a:r>
            <a:endParaRPr lang="en-US" sz="27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1093622"/>
            <a:ext cx="22576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블록 1/2</a:t>
            </a:r>
            <a:endParaRPr lang="en-US" sz="2700" dirty="0"/>
          </a:p>
        </p:txBody>
      </p:sp>
      <p:sp>
        <p:nvSpPr>
          <p:cNvPr id="16" name="Text 10"/>
          <p:cNvSpPr txBox="1"/>
          <p:nvPr/>
        </p:nvSpPr>
        <p:spPr>
          <a:xfrm>
            <a:off x="914400" y="1874520"/>
            <a:ext cx="1281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시작 3단계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914400" y="4907585"/>
            <a:ext cx="1853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활용도 200% 기본 블록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266444" y="5516575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1~3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3504895" y="5516575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콜아웃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266444" y="6184087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3504895" y="6184087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 목록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61695" y="2303374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854964" y="2333549"/>
            <a:ext cx="1892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181405" y="2284171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페이지 생성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181405" y="2596896"/>
            <a:ext cx="2486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사이드바의 [+ 페이지 추가] 버튼 클릭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61695" y="3073298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854964" y="3103474"/>
            <a:ext cx="1892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181405" y="3054096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입력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1181405" y="3365906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최상단에 주제 입력 (자동으로 H1)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61695" y="3842309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 txBox="1"/>
          <p:nvPr/>
        </p:nvSpPr>
        <p:spPr>
          <a:xfrm>
            <a:off x="854964" y="3873398"/>
            <a:ext cx="1892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181405" y="3823106"/>
            <a:ext cx="25191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선택 (Slash Command)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1181405" y="4135831"/>
            <a:ext cx="2134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(슬래시)를 입력하여 메뉴 호출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210605" y="1705356"/>
            <a:ext cx="4762195" cy="3448202"/>
          </a:xfrm>
          <a:prstGeom prst="roundRect">
            <a:avLst>
              <a:gd name="adj" fmla="val 879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81000" dist="1905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6219749" y="1714500"/>
            <a:ext cx="4743907" cy="38130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6219749" y="2086661"/>
            <a:ext cx="4743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6372454" y="1852574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6543446" y="1852574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6715354" y="1852574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 txBox="1"/>
          <p:nvPr/>
        </p:nvSpPr>
        <p:spPr>
          <a:xfrm>
            <a:off x="6505956" y="2391156"/>
            <a:ext cx="23911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첫 노션 페이지</a:t>
            </a:r>
            <a:endParaRPr lang="en-US" sz="2100" dirty="0"/>
          </a:p>
        </p:txBody>
      </p:sp>
      <p:sp>
        <p:nvSpPr>
          <p:cNvPr id="41" name="Text 35"/>
          <p:cNvSpPr txBox="1"/>
          <p:nvPr/>
        </p:nvSpPr>
        <p:spPr>
          <a:xfrm>
            <a:off x="6505956" y="301020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⋮⋮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6886346" y="301020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노션은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7306970" y="3010205"/>
            <a:ext cx="286207" cy="22860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/>
          <p:cNvSpPr txBox="1"/>
          <p:nvPr/>
        </p:nvSpPr>
        <p:spPr>
          <a:xfrm>
            <a:off x="7306970" y="3010205"/>
            <a:ext cx="400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7587691" y="3010205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이루어져 있습니다.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6505956" y="355884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⋮⋮</a:t>
            </a:r>
            <a:endParaRPr lang="en-US" sz="1200" dirty="0"/>
          </a:p>
        </p:txBody>
      </p:sp>
      <p:sp>
        <p:nvSpPr>
          <p:cNvPr id="47" name="Text 41"/>
          <p:cNvSpPr txBox="1"/>
          <p:nvPr/>
        </p:nvSpPr>
        <p:spPr>
          <a:xfrm>
            <a:off x="6886346" y="3558845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6946697" y="3558845"/>
            <a:ext cx="162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1200" dirty="0"/>
          </a:p>
        </p:txBody>
      </p:sp>
      <p:sp>
        <p:nvSpPr>
          <p:cNvPr id="49" name="Shape 43"/>
          <p:cNvSpPr/>
          <p:nvPr/>
        </p:nvSpPr>
        <p:spPr>
          <a:xfrm>
            <a:off x="7305599" y="3302814"/>
            <a:ext cx="1895551" cy="362102"/>
          </a:xfrm>
          <a:prstGeom prst="roundRect">
            <a:avLst>
              <a:gd name="adj" fmla="val 26582"/>
            </a:avLst>
          </a:prstGeom>
          <a:solidFill>
            <a:srgbClr val="252525"/>
          </a:solidFill>
          <a:ln w="12700">
            <a:solidFill>
              <a:srgbClr val="404040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4"/>
          <p:cNvSpPr txBox="1"/>
          <p:nvPr/>
        </p:nvSpPr>
        <p:spPr>
          <a:xfrm>
            <a:off x="7354062" y="3283611"/>
            <a:ext cx="36758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7734452" y="3406140"/>
            <a:ext cx="9144" cy="152705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6"/>
          <p:cNvSpPr/>
          <p:nvPr/>
        </p:nvSpPr>
        <p:spPr>
          <a:xfrm>
            <a:off x="7420356" y="3000146"/>
            <a:ext cx="267005" cy="267005"/>
          </a:xfrm>
          <a:prstGeom prst="roundRect">
            <a:avLst>
              <a:gd name="adj" fmla="val 36693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7"/>
          <p:cNvSpPr txBox="1"/>
          <p:nvPr/>
        </p:nvSpPr>
        <p:spPr>
          <a:xfrm>
            <a:off x="7832293" y="3384195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8145018" y="3384195"/>
            <a:ext cx="1389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endParaRPr lang="en-US" sz="1000" dirty="0"/>
          </a:p>
        </p:txBody>
      </p:sp>
      <p:sp>
        <p:nvSpPr>
          <p:cNvPr id="55" name="Text 49"/>
          <p:cNvSpPr txBox="1"/>
          <p:nvPr/>
        </p:nvSpPr>
        <p:spPr>
          <a:xfrm>
            <a:off x="8401050" y="3384195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</a:t>
            </a:r>
            <a:endParaRPr lang="en-US" sz="1000" dirty="0"/>
          </a:p>
        </p:txBody>
      </p:sp>
      <p:sp>
        <p:nvSpPr>
          <p:cNvPr id="56" name="Text 50"/>
          <p:cNvSpPr txBox="1"/>
          <p:nvPr/>
        </p:nvSpPr>
        <p:spPr>
          <a:xfrm>
            <a:off x="8694573" y="3384195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endParaRPr lang="en-US" sz="1000" dirty="0"/>
          </a:p>
        </p:txBody>
      </p:sp>
      <p:sp>
        <p:nvSpPr>
          <p:cNvPr id="57" name="Text 51"/>
          <p:cNvSpPr txBox="1"/>
          <p:nvPr/>
        </p:nvSpPr>
        <p:spPr>
          <a:xfrm>
            <a:off x="8979865" y="3384195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6791249" y="3810305"/>
            <a:ext cx="2286000" cy="2104949"/>
          </a:xfrm>
          <a:prstGeom prst="roundRect">
            <a:avLst>
              <a:gd name="adj" fmla="val 1179"/>
            </a:avLst>
          </a:prstGeom>
          <a:solidFill>
            <a:srgbClr val="252525"/>
          </a:solidFill>
          <a:ln w="12700">
            <a:solidFill>
              <a:srgbClr val="404040"/>
            </a:solidFill>
            <a:prstDash val="solid"/>
          </a:ln>
          <a:effectLst>
            <a:outerShdw blurRad="292100" dist="1016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3"/>
          <p:cNvSpPr/>
          <p:nvPr/>
        </p:nvSpPr>
        <p:spPr>
          <a:xfrm>
            <a:off x="6801307" y="4134002"/>
            <a:ext cx="2266798" cy="9144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4"/>
          <p:cNvSpPr/>
          <p:nvPr/>
        </p:nvSpPr>
        <p:spPr>
          <a:xfrm>
            <a:off x="6801307" y="4138574"/>
            <a:ext cx="2266798" cy="352044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5"/>
          <p:cNvSpPr/>
          <p:nvPr/>
        </p:nvSpPr>
        <p:spPr>
          <a:xfrm>
            <a:off x="6915607" y="4219956"/>
            <a:ext cx="190195" cy="190195"/>
          </a:xfrm>
          <a:prstGeom prst="roundRect">
            <a:avLst>
              <a:gd name="adj" fmla="val 72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957670" y="4257446"/>
            <a:ext cx="105156" cy="114300"/>
          </a:xfrm>
          <a:prstGeom prst="rect">
            <a:avLst/>
          </a:prstGeom>
        </p:spPr>
      </p:pic>
      <p:sp>
        <p:nvSpPr>
          <p:cNvPr id="63" name="Shape 56"/>
          <p:cNvSpPr/>
          <p:nvPr/>
        </p:nvSpPr>
        <p:spPr>
          <a:xfrm>
            <a:off x="6915607" y="4572000"/>
            <a:ext cx="190195" cy="190195"/>
          </a:xfrm>
          <a:prstGeom prst="roundRect">
            <a:avLst>
              <a:gd name="adj" fmla="val 72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6967728" y="4610405"/>
            <a:ext cx="85954" cy="114300"/>
          </a:xfrm>
          <a:prstGeom prst="rect">
            <a:avLst/>
          </a:prstGeom>
        </p:spPr>
      </p:pic>
      <p:sp>
        <p:nvSpPr>
          <p:cNvPr id="65" name="Shape 57"/>
          <p:cNvSpPr/>
          <p:nvPr/>
        </p:nvSpPr>
        <p:spPr>
          <a:xfrm>
            <a:off x="6915607" y="4924044"/>
            <a:ext cx="190195" cy="190195"/>
          </a:xfrm>
          <a:prstGeom prst="roundRect">
            <a:avLst>
              <a:gd name="adj" fmla="val 72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53098" y="4962449"/>
            <a:ext cx="114300" cy="114300"/>
          </a:xfrm>
          <a:prstGeom prst="rect">
            <a:avLst/>
          </a:prstGeom>
        </p:spPr>
      </p:pic>
      <p:sp>
        <p:nvSpPr>
          <p:cNvPr id="67" name="Shape 58"/>
          <p:cNvSpPr/>
          <p:nvPr/>
        </p:nvSpPr>
        <p:spPr>
          <a:xfrm>
            <a:off x="6915607" y="5277002"/>
            <a:ext cx="190195" cy="190195"/>
          </a:xfrm>
          <a:prstGeom prst="roundRect">
            <a:avLst>
              <a:gd name="adj" fmla="val 72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7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6957670" y="5315407"/>
            <a:ext cx="105156" cy="114300"/>
          </a:xfrm>
          <a:prstGeom prst="rect">
            <a:avLst/>
          </a:prstGeom>
        </p:spPr>
      </p:pic>
      <p:sp>
        <p:nvSpPr>
          <p:cNvPr id="69" name="Shape 59"/>
          <p:cNvSpPr/>
          <p:nvPr/>
        </p:nvSpPr>
        <p:spPr>
          <a:xfrm>
            <a:off x="6915607" y="5629046"/>
            <a:ext cx="190195" cy="190195"/>
          </a:xfrm>
          <a:prstGeom prst="roundRect">
            <a:avLst>
              <a:gd name="adj" fmla="val 72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953098" y="5667451"/>
            <a:ext cx="114300" cy="114300"/>
          </a:xfrm>
          <a:prstGeom prst="rect">
            <a:avLst/>
          </a:prstGeom>
        </p:spPr>
      </p:pic>
      <p:sp>
        <p:nvSpPr>
          <p:cNvPr id="71" name="Text 60"/>
          <p:cNvSpPr txBox="1"/>
          <p:nvPr/>
        </p:nvSpPr>
        <p:spPr>
          <a:xfrm>
            <a:off x="6915607" y="3895344"/>
            <a:ext cx="4983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A0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블록</a:t>
            </a:r>
            <a:endParaRPr lang="en-US" sz="800" dirty="0"/>
          </a:p>
        </p:txBody>
      </p:sp>
      <p:sp>
        <p:nvSpPr>
          <p:cNvPr id="72" name="Text 61"/>
          <p:cNvSpPr txBox="1"/>
          <p:nvPr/>
        </p:nvSpPr>
        <p:spPr>
          <a:xfrm>
            <a:off x="7200900" y="4214470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</a:t>
            </a:r>
            <a:endParaRPr lang="en-US" sz="1000" dirty="0"/>
          </a:p>
        </p:txBody>
      </p:sp>
      <p:sp>
        <p:nvSpPr>
          <p:cNvPr id="73" name="Text 62"/>
          <p:cNvSpPr txBox="1"/>
          <p:nvPr/>
        </p:nvSpPr>
        <p:spPr>
          <a:xfrm>
            <a:off x="7200900" y="4567428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</a:t>
            </a:r>
            <a:endParaRPr lang="en-US" sz="1000" dirty="0"/>
          </a:p>
        </p:txBody>
      </p:sp>
      <p:sp>
        <p:nvSpPr>
          <p:cNvPr id="74" name="Text 63"/>
          <p:cNvSpPr txBox="1"/>
          <p:nvPr/>
        </p:nvSpPr>
        <p:spPr>
          <a:xfrm>
            <a:off x="8501177" y="4581144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하위 문서</a:t>
            </a:r>
            <a:endParaRPr lang="en-US" sz="900" dirty="0"/>
          </a:p>
        </p:txBody>
      </p:sp>
      <p:sp>
        <p:nvSpPr>
          <p:cNvPr id="75" name="Text 64"/>
          <p:cNvSpPr txBox="1"/>
          <p:nvPr/>
        </p:nvSpPr>
        <p:spPr>
          <a:xfrm>
            <a:off x="7200900" y="4919472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 목록</a:t>
            </a:r>
            <a:endParaRPr lang="en-US" sz="1000" dirty="0"/>
          </a:p>
        </p:txBody>
      </p:sp>
      <p:sp>
        <p:nvSpPr>
          <p:cNvPr id="76" name="Text 65"/>
          <p:cNvSpPr txBox="1"/>
          <p:nvPr/>
        </p:nvSpPr>
        <p:spPr>
          <a:xfrm>
            <a:off x="7200900" y="5272430"/>
            <a:ext cx="462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1</a:t>
            </a:r>
            <a:endParaRPr lang="en-US" sz="1000" dirty="0"/>
          </a:p>
        </p:txBody>
      </p:sp>
      <p:sp>
        <p:nvSpPr>
          <p:cNvPr id="77" name="Text 66"/>
          <p:cNvSpPr txBox="1"/>
          <p:nvPr/>
        </p:nvSpPr>
        <p:spPr>
          <a:xfrm>
            <a:off x="8638337" y="5286146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대제목</a:t>
            </a:r>
            <a:endParaRPr lang="en-US" sz="900" dirty="0"/>
          </a:p>
        </p:txBody>
      </p:sp>
      <p:sp>
        <p:nvSpPr>
          <p:cNvPr id="78" name="Text 67"/>
          <p:cNvSpPr txBox="1"/>
          <p:nvPr/>
        </p:nvSpPr>
        <p:spPr>
          <a:xfrm>
            <a:off x="7200900" y="5624474"/>
            <a:ext cx="224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</a:t>
            </a:r>
            <a:endParaRPr lang="en-US" sz="1000" dirty="0"/>
          </a:p>
        </p:txBody>
      </p:sp>
      <p:pic>
        <p:nvPicPr>
          <p:cNvPr id="79" name="Image 9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8505749" y="2795321"/>
            <a:ext cx="114300" cy="133502"/>
          </a:xfrm>
          <a:prstGeom prst="rect">
            <a:avLst/>
          </a:prstGeom>
        </p:spPr>
      </p:pic>
      <p:sp>
        <p:nvSpPr>
          <p:cNvPr id="80" name="Text 68"/>
          <p:cNvSpPr txBox="1"/>
          <p:nvPr/>
        </p:nvSpPr>
        <p:spPr>
          <a:xfrm>
            <a:off x="8695944" y="2762402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드래그 시 등장</a:t>
            </a:r>
            <a:endParaRPr lang="en-US" sz="1000" dirty="0"/>
          </a:p>
        </p:txBody>
      </p:sp>
      <p:pic>
        <p:nvPicPr>
          <p:cNvPr id="81" name="Image 10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9267444" y="4509821"/>
            <a:ext cx="114300" cy="133502"/>
          </a:xfrm>
          <a:prstGeom prst="rect">
            <a:avLst/>
          </a:prstGeom>
        </p:spPr>
      </p:pic>
      <p:sp>
        <p:nvSpPr>
          <p:cNvPr id="82" name="Text 69"/>
          <p:cNvSpPr txBox="1"/>
          <p:nvPr/>
        </p:nvSpPr>
        <p:spPr>
          <a:xfrm>
            <a:off x="9458554" y="4476902"/>
            <a:ext cx="1252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'/' 입력 시 메뉴 호출</a:t>
            </a:r>
            <a:endParaRPr lang="en-US" sz="1000" dirty="0"/>
          </a:p>
        </p:txBody>
      </p:sp>
      <p:sp>
        <p:nvSpPr>
          <p:cNvPr id="8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1695" y="1580998"/>
            <a:ext cx="10668305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571500"/>
            <a:ext cx="16248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노션의 기초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886054"/>
            <a:ext cx="66778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블록 2/2: 체크박스·페이지·표·블록 옵션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761695" y="1981505"/>
            <a:ext cx="4657954" cy="12289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1981505"/>
            <a:ext cx="38405" cy="122895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990295" y="2171700"/>
            <a:ext cx="334853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 목록 (To-do List) [] + Space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90295" y="2562149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체크박스를 클릭하여 완료 여부를 표시합니다.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90295" y="2790749"/>
            <a:ext cx="3124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과제, 준비물, 장보기 목록 관리에 필수적입니다.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1695" y="3448202"/>
            <a:ext cx="4657954" cy="12289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61695" y="3448202"/>
            <a:ext cx="38405" cy="122895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990295" y="3638398"/>
            <a:ext cx="216712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(Page) /페이지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90295" y="4028846"/>
            <a:ext cx="2334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안에 또 다른 문서를 만듭니다.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90295" y="4257446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내용을 하위 페이지로 정리해 계층화합니다.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1695" y="4914900"/>
            <a:ext cx="4657954" cy="12289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761695" y="4914900"/>
            <a:ext cx="38405" cy="122895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990295" y="5105095"/>
            <a:ext cx="146212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 (Table) /표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90295" y="5495544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데이터베이스가 아닌 단순한 표입니다.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90295" y="5724144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간단한 시간표나 비교표를 작성할 때 유용합니다.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91149" y="1981505"/>
            <a:ext cx="5438851" cy="4401007"/>
          </a:xfrm>
          <a:prstGeom prst="roundRect">
            <a:avLst>
              <a:gd name="adj" fmla="val 72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/>
        </p:blipFill>
        <p:spPr>
          <a:xfrm>
            <a:off x="8639251" y="3400654"/>
            <a:ext cx="142646" cy="190195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/>
        </p:blipFill>
        <p:spPr>
          <a:xfrm>
            <a:off x="8639251" y="4772254"/>
            <a:ext cx="142646" cy="190195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817102" y="6183173"/>
            <a:ext cx="2409444" cy="352044"/>
          </a:xfrm>
          <a:prstGeom prst="roundRect">
            <a:avLst>
              <a:gd name="adj" fmla="val 140400"/>
            </a:avLst>
          </a:prstGeom>
          <a:solidFill>
            <a:srgbClr val="10B981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956548" y="6296559"/>
            <a:ext cx="114300" cy="1335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160002" y="6259069"/>
            <a:ext cx="2015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 블록 링크로 목차 만들기 가능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730898" y="2409444"/>
            <a:ext cx="3962095" cy="800100"/>
          </a:xfrm>
          <a:prstGeom prst="roundRect">
            <a:avLst>
              <a:gd name="adj" fmla="val 1632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7026250" y="2572207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7235647" y="2695651"/>
            <a:ext cx="57607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692847" y="2562149"/>
            <a:ext cx="1700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핸들 클릭 (⋮⋮)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7692847" y="2857500"/>
            <a:ext cx="23289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좌측 6점 버튼을 클릭하거나 드래그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730898" y="3781044"/>
            <a:ext cx="3962095" cy="800100"/>
          </a:xfrm>
          <a:prstGeom prst="roundRect">
            <a:avLst>
              <a:gd name="adj" fmla="val 1632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7026250" y="3943807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49694" y="4067251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692847" y="3933749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옵션 메뉴 활성화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7692847" y="4229100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삭제, 복제, 색상 변경, 전환(Turn into)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730898" y="5152644"/>
            <a:ext cx="3962095" cy="800100"/>
          </a:xfrm>
          <a:prstGeom prst="roundRect">
            <a:avLst>
              <a:gd name="adj" fmla="val 1632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2"/>
          <p:cNvSpPr/>
          <p:nvPr/>
        </p:nvSpPr>
        <p:spPr>
          <a:xfrm>
            <a:off x="7026250" y="5315407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7121347" y="5438851"/>
            <a:ext cx="286207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692847" y="5305349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링크 복사 &amp; 멘션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7692847" y="5600700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블록으로 바로 이동하는 링크 생성</a:t>
            </a:r>
            <a:endParaRPr lang="en-US" sz="10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1695" y="1580998"/>
            <a:ext cx="10668305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571500"/>
            <a:ext cx="2129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노션의 기초 &gt; 실습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886054"/>
            <a:ext cx="55156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1: 내 학기 대시보드 (블록 중심)</a:t>
            </a:r>
            <a:endParaRPr lang="en-US" sz="2700" dirty="0"/>
          </a:p>
        </p:txBody>
      </p:sp>
      <p:sp>
        <p:nvSpPr>
          <p:cNvPr id="20" name="Shape 15"/>
          <p:cNvSpPr/>
          <p:nvPr/>
        </p:nvSpPr>
        <p:spPr>
          <a:xfrm>
            <a:off x="796259" y="5110648"/>
            <a:ext cx="4668694" cy="1386473"/>
          </a:xfrm>
          <a:prstGeom prst="roundRect">
            <a:avLst>
              <a:gd name="adj" fmla="val 4181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7D105B52-D594-DAA9-A158-5575CF4D8D7B}"/>
              </a:ext>
            </a:extLst>
          </p:cNvPr>
          <p:cNvGrpSpPr/>
          <p:nvPr/>
        </p:nvGrpSpPr>
        <p:grpSpPr>
          <a:xfrm>
            <a:off x="833755" y="1976932"/>
            <a:ext cx="4631197" cy="4619550"/>
            <a:chOff x="761695" y="1981505"/>
            <a:chExt cx="5038344" cy="5057547"/>
          </a:xfrm>
        </p:grpSpPr>
        <p:sp>
          <p:nvSpPr>
            <p:cNvPr id="8" name="Shape 5"/>
            <p:cNvSpPr/>
            <p:nvPr/>
          </p:nvSpPr>
          <p:spPr>
            <a:xfrm>
              <a:off x="761695" y="1981505"/>
              <a:ext cx="5038344" cy="1324051"/>
            </a:xfrm>
            <a:prstGeom prst="roundRect">
              <a:avLst>
                <a:gd name="adj" fmla="val 5962"/>
              </a:avLst>
            </a:prstGeom>
            <a:solidFill>
              <a:srgbClr val="FFFFFF">
                <a:alpha val="3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761695" y="1981505"/>
              <a:ext cx="38405" cy="1324051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028700" y="2233879"/>
              <a:ext cx="190195" cy="190195"/>
            </a:xfrm>
            <a:prstGeom prst="rect">
              <a:avLst/>
            </a:prstGeom>
          </p:spPr>
        </p:pic>
        <p:sp>
          <p:nvSpPr>
            <p:cNvPr id="11" name="Text 7"/>
            <p:cNvSpPr txBox="1"/>
            <p:nvPr/>
          </p:nvSpPr>
          <p:spPr>
            <a:xfrm>
              <a:off x="1314907" y="2171700"/>
              <a:ext cx="1233526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목표 (Goal)</a:t>
              </a:r>
              <a:endParaRPr lang="en-US" sz="1600" dirty="0"/>
            </a:p>
          </p:txBody>
        </p:sp>
        <p:sp>
          <p:nvSpPr>
            <p:cNvPr id="12" name="Text 8"/>
            <p:cNvSpPr txBox="1"/>
            <p:nvPr/>
          </p:nvSpPr>
          <p:spPr>
            <a:xfrm>
              <a:off x="1028700" y="2600554"/>
              <a:ext cx="4614977" cy="505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블록과 페이지 기능을 활용하여 나만의 학기 메인 대시보드 초안을 완성합니다.</a:t>
              </a:r>
              <a:endParaRPr lang="en-US" sz="130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761695" y="3590849"/>
              <a:ext cx="5038344" cy="1580998"/>
            </a:xfrm>
            <a:prstGeom prst="roundRect">
              <a:avLst>
                <a:gd name="adj" fmla="val 4181"/>
              </a:avLst>
            </a:prstGeom>
            <a:solidFill>
              <a:srgbClr val="FFFFFF">
                <a:alpha val="3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0"/>
            <p:cNvSpPr/>
            <p:nvPr/>
          </p:nvSpPr>
          <p:spPr>
            <a:xfrm>
              <a:off x="761695" y="3590849"/>
              <a:ext cx="38405" cy="1580998"/>
            </a:xfrm>
            <a:prstGeom prst="rect">
              <a:avLst/>
            </a:prstGeom>
            <a:solidFill>
              <a:srgbClr val="A78BF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028700" y="3843223"/>
              <a:ext cx="190195" cy="190195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1314907" y="3781044"/>
              <a:ext cx="738835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C4B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준비물</a:t>
              </a:r>
              <a:endParaRPr lang="en-US" sz="1600" dirty="0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1028700" y="4209898"/>
              <a:ext cx="181508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노션 계정 (로그인 상태)</a:t>
              </a:r>
              <a:endParaRPr lang="en-US" sz="1300" dirty="0"/>
            </a:p>
          </p:txBody>
        </p:sp>
        <p:sp>
          <p:nvSpPr>
            <p:cNvPr id="18" name="Text 13"/>
            <p:cNvSpPr txBox="1"/>
            <p:nvPr/>
          </p:nvSpPr>
          <p:spPr>
            <a:xfrm>
              <a:off x="1028700" y="4466844"/>
              <a:ext cx="3062326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이번 학기 강의 계획서 (또는 가상의 과목)</a:t>
              </a:r>
              <a:endParaRPr lang="en-US" sz="1300" dirty="0"/>
            </a:p>
          </p:txBody>
        </p:sp>
        <p:sp>
          <p:nvSpPr>
            <p:cNvPr id="19" name="Text 14"/>
            <p:cNvSpPr txBox="1"/>
            <p:nvPr/>
          </p:nvSpPr>
          <p:spPr>
            <a:xfrm>
              <a:off x="1028700" y="4724705"/>
              <a:ext cx="112928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약간의 상상력</a:t>
              </a:r>
              <a:endParaRPr lang="en-US" sz="1300" dirty="0"/>
            </a:p>
          </p:txBody>
        </p:sp>
        <p:sp>
          <p:nvSpPr>
            <p:cNvPr id="21" name="Shape 16"/>
            <p:cNvSpPr/>
            <p:nvPr/>
          </p:nvSpPr>
          <p:spPr>
            <a:xfrm>
              <a:off x="761695" y="5458054"/>
              <a:ext cx="38405" cy="1580998"/>
            </a:xfrm>
            <a:prstGeom prst="rect">
              <a:avLst/>
            </a:prstGeom>
            <a:solidFill>
              <a:srgbClr val="F472B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2" name="Image 3" descr="preencoded.png"/>
            <p:cNvPicPr>
              <a:picLocks noChangeAspect="1"/>
            </p:cNvPicPr>
            <p:nvPr/>
          </p:nvPicPr>
          <p:blipFill>
            <a:blip r:embed="rId5"/>
            <a:srcRect l="-1648" r="-1648"/>
            <a:stretch/>
          </p:blipFill>
          <p:spPr>
            <a:xfrm>
              <a:off x="1028700" y="5710428"/>
              <a:ext cx="171907" cy="190195"/>
            </a:xfrm>
            <a:prstGeom prst="rect">
              <a:avLst/>
            </a:prstGeom>
          </p:spPr>
        </p:pic>
        <p:sp>
          <p:nvSpPr>
            <p:cNvPr id="23" name="Text 17"/>
            <p:cNvSpPr txBox="1"/>
            <p:nvPr/>
          </p:nvSpPr>
          <p:spPr>
            <a:xfrm>
              <a:off x="1295705" y="5648249"/>
              <a:ext cx="995782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BCFE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완료 기준</a:t>
              </a:r>
              <a:endParaRPr lang="en-US" sz="1600" dirty="0"/>
            </a:p>
          </p:txBody>
        </p:sp>
        <p:sp>
          <p:nvSpPr>
            <p:cNvPr id="24" name="Text 18"/>
            <p:cNvSpPr txBox="1"/>
            <p:nvPr/>
          </p:nvSpPr>
          <p:spPr>
            <a:xfrm>
              <a:off x="1028700" y="6077102"/>
              <a:ext cx="3605479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1. 주요 섹션(강의/과제/일정)이 구분되어 있을 것</a:t>
              </a:r>
              <a:endParaRPr lang="en-US" sz="1300" dirty="0"/>
            </a:p>
          </p:txBody>
        </p:sp>
        <p:sp>
          <p:nvSpPr>
            <p:cNvPr id="25" name="Text 19"/>
            <p:cNvSpPr txBox="1"/>
            <p:nvPr/>
          </p:nvSpPr>
          <p:spPr>
            <a:xfrm>
              <a:off x="1028700" y="6334049"/>
              <a:ext cx="272948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2. 모바일에서도 읽기 쉬운 간격 확보</a:t>
              </a:r>
              <a:endParaRPr lang="en-US" sz="1300" dirty="0"/>
            </a:p>
          </p:txBody>
        </p:sp>
        <p:sp>
          <p:nvSpPr>
            <p:cNvPr id="26" name="Text 20"/>
            <p:cNvSpPr txBox="1"/>
            <p:nvPr/>
          </p:nvSpPr>
          <p:spPr>
            <a:xfrm>
              <a:off x="1028700" y="6590995"/>
              <a:ext cx="304403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3. 즐겨찾기에 페이지가 고정되어 있을 것</a:t>
              </a:r>
              <a:endParaRPr lang="en-US" sz="1300" dirty="0"/>
            </a:p>
          </p:txBody>
        </p:sp>
      </p:grpSp>
      <p:sp>
        <p:nvSpPr>
          <p:cNvPr id="27" name="Shape 21"/>
          <p:cNvSpPr/>
          <p:nvPr/>
        </p:nvSpPr>
        <p:spPr>
          <a:xfrm>
            <a:off x="6418086" y="1044856"/>
            <a:ext cx="5057546" cy="5438851"/>
          </a:xfrm>
          <a:prstGeom prst="roundRect">
            <a:avLst>
              <a:gd name="adj" fmla="val 545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2413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8"/>
          <p:cNvSpPr/>
          <p:nvPr/>
        </p:nvSpPr>
        <p:spPr>
          <a:xfrm>
            <a:off x="6683165" y="5324408"/>
            <a:ext cx="4466844" cy="800100"/>
          </a:xfrm>
          <a:prstGeom prst="roundRect">
            <a:avLst>
              <a:gd name="adj" fmla="val 16327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27CD7E6-E415-91A0-0EE3-5A686ABD6BA3}"/>
              </a:ext>
            </a:extLst>
          </p:cNvPr>
          <p:cNvGrpSpPr/>
          <p:nvPr/>
        </p:nvGrpSpPr>
        <p:grpSpPr>
          <a:xfrm>
            <a:off x="6416161" y="1042939"/>
            <a:ext cx="5038344" cy="4858208"/>
            <a:chOff x="6381598" y="1895551"/>
            <a:chExt cx="5038344" cy="4858208"/>
          </a:xfrm>
        </p:grpSpPr>
        <p:sp>
          <p:nvSpPr>
            <p:cNvPr id="28" name="Shape 22"/>
            <p:cNvSpPr/>
            <p:nvPr/>
          </p:nvSpPr>
          <p:spPr>
            <a:xfrm>
              <a:off x="6381598" y="1895551"/>
              <a:ext cx="5038344" cy="733349"/>
            </a:xfrm>
            <a:prstGeom prst="rect">
              <a:avLst/>
            </a:prstGeom>
            <a:solidFill>
              <a:srgbClr val="1E293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Shape 23"/>
            <p:cNvSpPr/>
            <p:nvPr/>
          </p:nvSpPr>
          <p:spPr>
            <a:xfrm>
              <a:off x="6381598" y="2619756"/>
              <a:ext cx="5038344" cy="9144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0" name="Image 4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667805" y="2143354"/>
              <a:ext cx="228600" cy="228600"/>
            </a:xfrm>
            <a:prstGeom prst="rect">
              <a:avLst/>
            </a:prstGeom>
          </p:spPr>
        </p:pic>
        <p:sp>
          <p:nvSpPr>
            <p:cNvPr id="31" name="Text 24"/>
            <p:cNvSpPr txBox="1"/>
            <p:nvPr/>
          </p:nvSpPr>
          <p:spPr>
            <a:xfrm>
              <a:off x="7010705" y="2085746"/>
              <a:ext cx="129570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실습 가이드</a:t>
              </a:r>
              <a:endParaRPr lang="en-US" sz="1800" dirty="0"/>
            </a:p>
          </p:txBody>
        </p:sp>
        <p:sp>
          <p:nvSpPr>
            <p:cNvPr id="32" name="Shape 25"/>
            <p:cNvSpPr/>
            <p:nvPr/>
          </p:nvSpPr>
          <p:spPr>
            <a:xfrm>
              <a:off x="10248595" y="2085746"/>
              <a:ext cx="886054" cy="342900"/>
            </a:xfrm>
            <a:prstGeom prst="roundRect">
              <a:avLst>
                <a:gd name="adj" fmla="val 148148"/>
              </a:avLst>
            </a:prstGeom>
            <a:solidFill>
              <a:srgbClr val="EF4444"/>
            </a:solidFill>
            <a:ln/>
            <a:effectLst>
              <a:outerShdw blurRad="38100" dist="25400" dir="5400000" algn="bl" rotWithShape="0">
                <a:srgbClr val="EF4444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3" name="Image 5" descr="preencoded.png"/>
            <p:cNvPicPr>
              <a:picLocks noChangeAspect="1"/>
            </p:cNvPicPr>
            <p:nvPr/>
          </p:nvPicPr>
          <p:blipFill>
            <a:blip r:embed="rId7"/>
            <a:srcRect t="-43" b="-43"/>
            <a:stretch/>
          </p:blipFill>
          <p:spPr>
            <a:xfrm>
              <a:off x="10382098" y="2180844"/>
              <a:ext cx="133502" cy="152705"/>
            </a:xfrm>
            <a:prstGeom prst="rect">
              <a:avLst/>
            </a:prstGeom>
          </p:spPr>
        </p:pic>
        <p:sp>
          <p:nvSpPr>
            <p:cNvPr id="34" name="Text 26"/>
            <p:cNvSpPr txBox="1"/>
            <p:nvPr/>
          </p:nvSpPr>
          <p:spPr>
            <a:xfrm>
              <a:off x="10591495" y="2143354"/>
              <a:ext cx="5239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10:00</a:t>
              </a:r>
              <a:endParaRPr lang="en-US" sz="1200" dirty="0"/>
            </a:p>
          </p:txBody>
        </p:sp>
        <p:sp>
          <p:nvSpPr>
            <p:cNvPr id="35" name="Shape 27"/>
            <p:cNvSpPr/>
            <p:nvPr/>
          </p:nvSpPr>
          <p:spPr>
            <a:xfrm>
              <a:off x="6667805" y="3029407"/>
              <a:ext cx="4466844" cy="800100"/>
            </a:xfrm>
            <a:prstGeom prst="roundRect">
              <a:avLst>
                <a:gd name="adj" fmla="val 16327"/>
              </a:avLst>
            </a:prstGeom>
            <a:solidFill>
              <a:srgbClr val="FFFFFF">
                <a:alpha val="3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28"/>
            <p:cNvSpPr/>
            <p:nvPr/>
          </p:nvSpPr>
          <p:spPr>
            <a:xfrm>
              <a:off x="6819595" y="3258007"/>
              <a:ext cx="342900" cy="342900"/>
            </a:xfrm>
            <a:prstGeom prst="ellipse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29"/>
            <p:cNvSpPr txBox="1"/>
            <p:nvPr/>
          </p:nvSpPr>
          <p:spPr>
            <a:xfrm>
              <a:off x="6940296" y="3300070"/>
              <a:ext cx="234086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</a:t>
              </a:r>
              <a:endParaRPr lang="en-US" sz="1300" dirty="0"/>
            </a:p>
          </p:txBody>
        </p:sp>
        <p:sp>
          <p:nvSpPr>
            <p:cNvPr id="38" name="Text 30"/>
            <p:cNvSpPr txBox="1"/>
            <p:nvPr/>
          </p:nvSpPr>
          <p:spPr>
            <a:xfrm>
              <a:off x="7315200" y="3181198"/>
              <a:ext cx="207203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새 페이지 생성 &amp; 제목 입력</a:t>
              </a:r>
              <a:endParaRPr lang="en-US" sz="1300" dirty="0"/>
            </a:p>
          </p:txBody>
        </p:sp>
        <p:sp>
          <p:nvSpPr>
            <p:cNvPr id="39" name="Text 31"/>
            <p:cNvSpPr txBox="1"/>
            <p:nvPr/>
          </p:nvSpPr>
          <p:spPr>
            <a:xfrm>
              <a:off x="7315200" y="3476549"/>
              <a:ext cx="38587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제목:</a:t>
              </a:r>
              <a:endParaRPr lang="en-US" sz="1000" dirty="0"/>
            </a:p>
          </p:txBody>
        </p:sp>
        <p:sp>
          <p:nvSpPr>
            <p:cNvPr id="40" name="Text 32"/>
            <p:cNvSpPr txBox="1"/>
            <p:nvPr/>
          </p:nvSpPr>
          <p:spPr>
            <a:xfrm>
              <a:off x="7597750" y="3476549"/>
              <a:ext cx="14054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'2026-1학기 대시보드'</a:t>
              </a:r>
              <a:endParaRPr lang="en-US" sz="1000" dirty="0"/>
            </a:p>
          </p:txBody>
        </p:sp>
        <p:sp>
          <p:nvSpPr>
            <p:cNvPr id="41" name="Text 33"/>
            <p:cNvSpPr txBox="1"/>
            <p:nvPr/>
          </p:nvSpPr>
          <p:spPr>
            <a:xfrm>
              <a:off x="8900770" y="3476549"/>
              <a:ext cx="79552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입력 후 엔터</a:t>
              </a:r>
              <a:endParaRPr lang="en-US" sz="1000" dirty="0"/>
            </a:p>
          </p:txBody>
        </p:sp>
        <p:sp>
          <p:nvSpPr>
            <p:cNvPr id="42" name="Shape 34"/>
            <p:cNvSpPr/>
            <p:nvPr/>
          </p:nvSpPr>
          <p:spPr>
            <a:xfrm>
              <a:off x="6667805" y="4058107"/>
              <a:ext cx="4466844" cy="800100"/>
            </a:xfrm>
            <a:prstGeom prst="roundRect">
              <a:avLst>
                <a:gd name="adj" fmla="val 16327"/>
              </a:avLst>
            </a:prstGeom>
            <a:solidFill>
              <a:srgbClr val="FFFFFF">
                <a:alpha val="3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35"/>
            <p:cNvSpPr/>
            <p:nvPr/>
          </p:nvSpPr>
          <p:spPr>
            <a:xfrm>
              <a:off x="6819595" y="4286707"/>
              <a:ext cx="342900" cy="342900"/>
            </a:xfrm>
            <a:prstGeom prst="ellipse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36"/>
            <p:cNvSpPr txBox="1"/>
            <p:nvPr/>
          </p:nvSpPr>
          <p:spPr>
            <a:xfrm>
              <a:off x="6940296" y="4328770"/>
              <a:ext cx="234086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</a:t>
              </a:r>
              <a:endParaRPr lang="en-US" sz="1300" dirty="0"/>
            </a:p>
          </p:txBody>
        </p:sp>
        <p:sp>
          <p:nvSpPr>
            <p:cNvPr id="45" name="Text 37"/>
            <p:cNvSpPr txBox="1"/>
            <p:nvPr/>
          </p:nvSpPr>
          <p:spPr>
            <a:xfrm>
              <a:off x="7315200" y="4209898"/>
              <a:ext cx="181508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섹션 나누기 (제목 블록)</a:t>
              </a:r>
              <a:endParaRPr lang="en-US" sz="1300" dirty="0"/>
            </a:p>
          </p:txBody>
        </p:sp>
        <p:sp>
          <p:nvSpPr>
            <p:cNvPr id="46" name="Text 38"/>
            <p:cNvSpPr txBox="1"/>
            <p:nvPr/>
          </p:nvSpPr>
          <p:spPr>
            <a:xfrm>
              <a:off x="7315200" y="4505249"/>
              <a:ext cx="9290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/제목2 입력 →</a:t>
              </a:r>
              <a:endParaRPr lang="en-US" sz="1000" dirty="0"/>
            </a:p>
          </p:txBody>
        </p:sp>
        <p:sp>
          <p:nvSpPr>
            <p:cNvPr id="47" name="Text 39"/>
            <p:cNvSpPr txBox="1"/>
            <p:nvPr/>
          </p:nvSpPr>
          <p:spPr>
            <a:xfrm>
              <a:off x="8140903" y="4505249"/>
              <a:ext cx="146212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강의 / 과제 / 시험 / 개인</a:t>
              </a:r>
              <a:endParaRPr lang="en-US" sz="1000" dirty="0"/>
            </a:p>
          </p:txBody>
        </p:sp>
        <p:sp>
          <p:nvSpPr>
            <p:cNvPr id="48" name="Text 40"/>
            <p:cNvSpPr txBox="1"/>
            <p:nvPr/>
          </p:nvSpPr>
          <p:spPr>
            <a:xfrm>
              <a:off x="9502445" y="4505249"/>
              <a:ext cx="3483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입력</a:t>
              </a:r>
              <a:endParaRPr lang="en-US" sz="1000" dirty="0"/>
            </a:p>
          </p:txBody>
        </p:sp>
        <p:sp>
          <p:nvSpPr>
            <p:cNvPr id="49" name="Shape 41"/>
            <p:cNvSpPr/>
            <p:nvPr/>
          </p:nvSpPr>
          <p:spPr>
            <a:xfrm>
              <a:off x="6667805" y="5086807"/>
              <a:ext cx="4466844" cy="800100"/>
            </a:xfrm>
            <a:prstGeom prst="roundRect">
              <a:avLst>
                <a:gd name="adj" fmla="val 16327"/>
              </a:avLst>
            </a:prstGeom>
            <a:solidFill>
              <a:srgbClr val="FFFFFF">
                <a:alpha val="3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Shape 42"/>
            <p:cNvSpPr/>
            <p:nvPr/>
          </p:nvSpPr>
          <p:spPr>
            <a:xfrm>
              <a:off x="6819595" y="5315407"/>
              <a:ext cx="342900" cy="342900"/>
            </a:xfrm>
            <a:prstGeom prst="ellipse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 43"/>
            <p:cNvSpPr txBox="1"/>
            <p:nvPr/>
          </p:nvSpPr>
          <p:spPr>
            <a:xfrm>
              <a:off x="6940296" y="5357470"/>
              <a:ext cx="234086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</a:t>
              </a:r>
              <a:endParaRPr lang="en-US" sz="1300" dirty="0"/>
            </a:p>
          </p:txBody>
        </p:sp>
        <p:sp>
          <p:nvSpPr>
            <p:cNvPr id="52" name="Text 44"/>
            <p:cNvSpPr txBox="1"/>
            <p:nvPr/>
          </p:nvSpPr>
          <p:spPr>
            <a:xfrm>
              <a:off x="7315200" y="5238598"/>
              <a:ext cx="132953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콘텐츠 블록 배치</a:t>
              </a:r>
              <a:endParaRPr lang="en-US" sz="1300" dirty="0"/>
            </a:p>
          </p:txBody>
        </p:sp>
        <p:sp>
          <p:nvSpPr>
            <p:cNvPr id="53" name="Text 45"/>
            <p:cNvSpPr txBox="1"/>
            <p:nvPr/>
          </p:nvSpPr>
          <p:spPr>
            <a:xfrm>
              <a:off x="7315200" y="5533949"/>
              <a:ext cx="9198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각 섹션 아래에</a:t>
              </a:r>
              <a:endParaRPr lang="en-US" sz="1000" dirty="0"/>
            </a:p>
          </p:txBody>
        </p:sp>
        <p:sp>
          <p:nvSpPr>
            <p:cNvPr id="54" name="Text 46"/>
            <p:cNvSpPr txBox="1"/>
            <p:nvPr/>
          </p:nvSpPr>
          <p:spPr>
            <a:xfrm>
              <a:off x="8126273" y="5533949"/>
              <a:ext cx="14438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할 일 목록, 콜아웃, 인용</a:t>
              </a:r>
              <a:endParaRPr lang="en-US" sz="1000" dirty="0"/>
            </a:p>
          </p:txBody>
        </p:sp>
        <p:sp>
          <p:nvSpPr>
            <p:cNvPr id="55" name="Text 47"/>
            <p:cNvSpPr txBox="1"/>
            <p:nvPr/>
          </p:nvSpPr>
          <p:spPr>
            <a:xfrm>
              <a:off x="9466783" y="5533949"/>
              <a:ext cx="6336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블록 추가</a:t>
              </a:r>
              <a:endParaRPr lang="en-US" sz="1000" dirty="0"/>
            </a:p>
          </p:txBody>
        </p:sp>
        <p:sp>
          <p:nvSpPr>
            <p:cNvPr id="57" name="Shape 49"/>
            <p:cNvSpPr/>
            <p:nvPr/>
          </p:nvSpPr>
          <p:spPr>
            <a:xfrm>
              <a:off x="6819595" y="6344107"/>
              <a:ext cx="342900" cy="342900"/>
            </a:xfrm>
            <a:prstGeom prst="ellipse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 50"/>
            <p:cNvSpPr txBox="1"/>
            <p:nvPr/>
          </p:nvSpPr>
          <p:spPr>
            <a:xfrm>
              <a:off x="6940296" y="6386170"/>
              <a:ext cx="234086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</a:t>
              </a:r>
              <a:endParaRPr lang="en-US" sz="1300" dirty="0"/>
            </a:p>
          </p:txBody>
        </p:sp>
        <p:sp>
          <p:nvSpPr>
            <p:cNvPr id="59" name="Text 51"/>
            <p:cNvSpPr txBox="1"/>
            <p:nvPr/>
          </p:nvSpPr>
          <p:spPr>
            <a:xfrm>
              <a:off x="7315200" y="6267298"/>
              <a:ext cx="113842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꾸미기 &amp; 고정</a:t>
              </a:r>
              <a:endParaRPr lang="en-US" sz="1300" dirty="0"/>
            </a:p>
          </p:txBody>
        </p:sp>
        <p:sp>
          <p:nvSpPr>
            <p:cNvPr id="60" name="Text 52"/>
            <p:cNvSpPr txBox="1"/>
            <p:nvPr/>
          </p:nvSpPr>
          <p:spPr>
            <a:xfrm>
              <a:off x="7315200" y="6562649"/>
              <a:ext cx="17766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아이콘/커버 설정 후 우측 상단</a:t>
              </a:r>
              <a:endParaRPr lang="en-US" sz="1000" dirty="0"/>
            </a:p>
          </p:txBody>
        </p:sp>
        <p:sp>
          <p:nvSpPr>
            <p:cNvPr id="61" name="Text 53"/>
            <p:cNvSpPr txBox="1"/>
            <p:nvPr/>
          </p:nvSpPr>
          <p:spPr>
            <a:xfrm>
              <a:off x="8989466" y="6562649"/>
              <a:ext cx="8622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즐겨찾기(⭐)</a:t>
              </a:r>
              <a:endParaRPr lang="en-US" sz="1000" dirty="0"/>
            </a:p>
          </p:txBody>
        </p:sp>
        <p:sp>
          <p:nvSpPr>
            <p:cNvPr id="62" name="Text 54"/>
            <p:cNvSpPr txBox="1"/>
            <p:nvPr/>
          </p:nvSpPr>
          <p:spPr>
            <a:xfrm>
              <a:off x="9747504" y="6562649"/>
              <a:ext cx="3483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클릭</a:t>
              </a:r>
              <a:endParaRPr lang="en-US" sz="1000" dirty="0"/>
            </a:p>
          </p:txBody>
        </p:sp>
      </p:grpSp>
      <p:sp>
        <p:nvSpPr>
          <p:cNvPr id="6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93F56-2259-BF33-E77F-305EBFDA4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C2F394-2BEE-3A8B-B49F-5176E45A3D69}"/>
              </a:ext>
            </a:extLst>
          </p:cNvPr>
          <p:cNvSpPr/>
          <p:nvPr/>
        </p:nvSpPr>
        <p:spPr>
          <a:xfrm>
            <a:off x="11684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0D1D76-71EC-912B-4E36-8378E112B352}"/>
              </a:ext>
            </a:extLst>
          </p:cNvPr>
          <p:cNvSpPr/>
          <p:nvPr/>
        </p:nvSpPr>
        <p:spPr>
          <a:xfrm>
            <a:off x="8382305" y="3047695"/>
            <a:ext cx="4762195" cy="4762195"/>
          </a:xfrm>
          <a:prstGeom prst="ellipse">
            <a:avLst/>
          </a:prstGeom>
          <a:noFill/>
          <a:ln w="254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CCBDA6E-242E-19CC-0B73-5E32D2749CEE}"/>
              </a:ext>
            </a:extLst>
          </p:cNvPr>
          <p:cNvSpPr/>
          <p:nvPr/>
        </p:nvSpPr>
        <p:spPr>
          <a:xfrm>
            <a:off x="9525305" y="1429207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EBC3EA7-6D5C-B143-1800-236A1B869A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-3936" b="-3936"/>
          <a:stretch/>
        </p:blipFill>
        <p:spPr>
          <a:xfrm>
            <a:off x="10012680" y="1936699"/>
            <a:ext cx="933602" cy="895198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4FE9268F-6C9E-CDB5-651F-D635956D9E0E}"/>
              </a:ext>
            </a:extLst>
          </p:cNvPr>
          <p:cNvSpPr/>
          <p:nvPr/>
        </p:nvSpPr>
        <p:spPr>
          <a:xfrm>
            <a:off x="761695" y="761695"/>
            <a:ext cx="761695" cy="758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18C3FA2-37F2-32EF-9E59-2919CF8A5324}"/>
              </a:ext>
            </a:extLst>
          </p:cNvPr>
          <p:cNvSpPr/>
          <p:nvPr/>
        </p:nvSpPr>
        <p:spPr>
          <a:xfrm>
            <a:off x="787298" y="4425594"/>
            <a:ext cx="1828800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796B742-8A4D-9DCC-0BC5-34F3C14B2C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5957" y="4625847"/>
            <a:ext cx="190195" cy="190195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9591EF46-5EB6-6995-EE77-3FC55D672D98}"/>
              </a:ext>
            </a:extLst>
          </p:cNvPr>
          <p:cNvSpPr/>
          <p:nvPr/>
        </p:nvSpPr>
        <p:spPr>
          <a:xfrm>
            <a:off x="2916021" y="4425594"/>
            <a:ext cx="1781251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B601C4A4-E01B-C5AB-D73E-577426E6A8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53765" y="4625847"/>
            <a:ext cx="190195" cy="190195"/>
          </a:xfrm>
          <a:prstGeom prst="rect">
            <a:avLst/>
          </a:prstGeom>
        </p:spPr>
      </p:pic>
      <p:sp>
        <p:nvSpPr>
          <p:cNvPr id="11" name="Shape 6">
            <a:extLst>
              <a:ext uri="{FF2B5EF4-FFF2-40B4-BE49-F238E27FC236}">
                <a16:creationId xmlns:a16="http://schemas.microsoft.com/office/drawing/2014/main" id="{C4254758-471B-BAF3-E4A2-99257C2FB90F}"/>
              </a:ext>
            </a:extLst>
          </p:cNvPr>
          <p:cNvSpPr/>
          <p:nvPr/>
        </p:nvSpPr>
        <p:spPr>
          <a:xfrm>
            <a:off x="4926788" y="4425594"/>
            <a:ext cx="2038198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C4B3CD3F-084D-E2C9-5B6C-87E368047D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64532" y="4625847"/>
            <a:ext cx="237744" cy="190195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E85A6B4B-274E-2271-DAB0-7D09C717BA21}"/>
              </a:ext>
            </a:extLst>
          </p:cNvPr>
          <p:cNvSpPr txBox="1"/>
          <p:nvPr/>
        </p:nvSpPr>
        <p:spPr>
          <a:xfrm>
            <a:off x="761695" y="915314"/>
            <a:ext cx="2448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UNIVERSITY  EDITION</a:t>
            </a:r>
            <a:endParaRPr lang="en-US" sz="15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E806170-5B0F-A740-50A3-7E64D1B0E29E}"/>
              </a:ext>
            </a:extLst>
          </p:cNvPr>
          <p:cNvSpPr txBox="1"/>
          <p:nvPr/>
        </p:nvSpPr>
        <p:spPr>
          <a:xfrm>
            <a:off x="751637" y="1518842"/>
            <a:ext cx="3743554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대학생을 위한</a:t>
            </a:r>
            <a:endParaRPr lang="en-US" sz="45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EF0DB82-9D4B-FA24-38D1-9B6211C03064}"/>
              </a:ext>
            </a:extLst>
          </p:cNvPr>
          <p:cNvSpPr txBox="1"/>
          <p:nvPr/>
        </p:nvSpPr>
        <p:spPr>
          <a:xfrm>
            <a:off x="751637" y="2232988"/>
            <a:ext cx="4963363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 마스터 클래스</a:t>
            </a:r>
            <a:endParaRPr lang="en-US" sz="45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91744A5D-2AA2-40BD-3D6B-1E719B6432A3}"/>
              </a:ext>
            </a:extLst>
          </p:cNvPr>
          <p:cNvSpPr txBox="1"/>
          <p:nvPr/>
        </p:nvSpPr>
        <p:spPr>
          <a:xfrm>
            <a:off x="751637" y="3222368"/>
            <a:ext cx="88257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블록·페이지·데이터베이스로 </a:t>
            </a:r>
            <a:r>
              <a:rPr lang="en-US" sz="2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완성하는</a:t>
            </a:r>
            <a:r>
              <a:rPr lang="en-US" sz="2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학습·과제·프로젝트</a:t>
            </a:r>
            <a:r>
              <a:rPr lang="en-US" sz="2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운영의 모든 것</a:t>
            </a:r>
            <a:endParaRPr lang="en-US" sz="20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3456036-C54A-DFFF-710A-420D6A69FCBB}"/>
              </a:ext>
            </a:extLst>
          </p:cNvPr>
          <p:cNvSpPr txBox="1"/>
          <p:nvPr/>
        </p:nvSpPr>
        <p:spPr>
          <a:xfrm>
            <a:off x="1330452" y="4597501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구조 이해</a:t>
            </a:r>
            <a:endParaRPr lang="en-US" sz="13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34695AB7-D741-72A3-3EC2-0F1CEEE1C79E}"/>
              </a:ext>
            </a:extLst>
          </p:cNvPr>
          <p:cNvSpPr txBox="1"/>
          <p:nvPr/>
        </p:nvSpPr>
        <p:spPr>
          <a:xfrm>
            <a:off x="3459175" y="4597501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 제작</a:t>
            </a:r>
            <a:endParaRPr lang="en-US" sz="13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1FDAB02-B334-C86E-EDAF-767B16E44EE7}"/>
              </a:ext>
            </a:extLst>
          </p:cNvPr>
          <p:cNvSpPr txBox="1"/>
          <p:nvPr/>
        </p:nvSpPr>
        <p:spPr>
          <a:xfrm>
            <a:off x="5517491" y="4597501"/>
            <a:ext cx="1338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&amp; 운영 루틴</a:t>
            </a:r>
            <a:endParaRPr lang="en-US" sz="13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82655C93-C1EF-CFA5-57E5-69FFCB961F8A}"/>
              </a:ext>
            </a:extLst>
          </p:cNvPr>
          <p:cNvSpPr/>
          <p:nvPr/>
        </p:nvSpPr>
        <p:spPr>
          <a:xfrm>
            <a:off x="761695" y="5362956"/>
            <a:ext cx="10668305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F479EA8-28BF-3F69-FCC2-D9CF1A7C3837}"/>
              </a:ext>
            </a:extLst>
          </p:cNvPr>
          <p:cNvGrpSpPr/>
          <p:nvPr/>
        </p:nvGrpSpPr>
        <p:grpSpPr>
          <a:xfrm>
            <a:off x="787298" y="5603444"/>
            <a:ext cx="1472184" cy="247802"/>
            <a:chOff x="2311603" y="5838444"/>
            <a:chExt cx="1472184" cy="247802"/>
          </a:xfrm>
        </p:grpSpPr>
        <p:pic>
          <p:nvPicPr>
            <p:cNvPr id="22" name="Image 5" descr="preencoded.png">
              <a:extLst>
                <a:ext uri="{FF2B5EF4-FFF2-40B4-BE49-F238E27FC236}">
                  <a16:creationId xmlns:a16="http://schemas.microsoft.com/office/drawing/2014/main" id="{DBBF7CF9-4D8F-FBA8-DD48-545AB2064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-1064" r="-1064"/>
            <a:stretch/>
          </p:blipFill>
          <p:spPr>
            <a:xfrm>
              <a:off x="2311603" y="5876849"/>
              <a:ext cx="219456" cy="171907"/>
            </a:xfrm>
            <a:prstGeom prst="rect">
              <a:avLst/>
            </a:prstGeom>
          </p:spPr>
        </p:pic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4291773-D3A1-A60E-6A27-09456EB75B93}"/>
                </a:ext>
              </a:extLst>
            </p:cNvPr>
            <p:cNvSpPr txBox="1"/>
            <p:nvPr/>
          </p:nvSpPr>
          <p:spPr>
            <a:xfrm>
              <a:off x="2606954" y="5838444"/>
              <a:ext cx="1176833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실습 중심 강의</a:t>
              </a:r>
              <a:endParaRPr lang="en-US" sz="1300" dirty="0"/>
            </a:p>
          </p:txBody>
        </p:sp>
      </p:grpSp>
      <p:sp>
        <p:nvSpPr>
          <p:cNvPr id="25" name="Text 17">
            <a:extLst>
              <a:ext uri="{FF2B5EF4-FFF2-40B4-BE49-F238E27FC236}">
                <a16:creationId xmlns:a16="http://schemas.microsoft.com/office/drawing/2014/main" id="{9846BFB0-A4FC-6763-D7E5-29C46BAC67EB}"/>
              </a:ext>
            </a:extLst>
          </p:cNvPr>
          <p:cNvSpPr txBox="1"/>
          <p:nvPr/>
        </p:nvSpPr>
        <p:spPr>
          <a:xfrm>
            <a:off x="9552737" y="410920"/>
            <a:ext cx="18772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&amp; 2 통합 과정</a:t>
            </a:r>
            <a:endParaRPr lang="en-US" sz="15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92D46621-43D0-A9D9-EDE5-CB6965610994}"/>
              </a:ext>
            </a:extLst>
          </p:cNvPr>
          <p:cNvSpPr txBox="1"/>
          <p:nvPr/>
        </p:nvSpPr>
        <p:spPr>
          <a:xfrm>
            <a:off x="10340035" y="724559"/>
            <a:ext cx="1043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Ver. 2026.01</a:t>
            </a:r>
            <a:endParaRPr lang="en-US" sz="1000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EA541722-13FC-C0AF-B759-A68DE2ECCFB1}"/>
              </a:ext>
            </a:extLst>
          </p:cNvPr>
          <p:cNvSpPr/>
          <p:nvPr/>
        </p:nvSpPr>
        <p:spPr>
          <a:xfrm>
            <a:off x="7433463" y="5869938"/>
            <a:ext cx="381305" cy="381305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520D8367-DFF3-FCCE-F69A-852277B4BBB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064" r="-1064"/>
          <a:stretch/>
        </p:blipFill>
        <p:spPr>
          <a:xfrm>
            <a:off x="7513931" y="5975094"/>
            <a:ext cx="219456" cy="171907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2F1833EB-374E-77C9-F268-163A3A33A345}"/>
              </a:ext>
            </a:extLst>
          </p:cNvPr>
          <p:cNvSpPr txBox="1"/>
          <p:nvPr/>
        </p:nvSpPr>
        <p:spPr>
          <a:xfrm>
            <a:off x="7967016" y="5879082"/>
            <a:ext cx="3638397" cy="36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이 애 본</a:t>
            </a:r>
            <a:b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한신대학교 </a:t>
            </a: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AI.SW</a:t>
            </a:r>
            <a: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대학 </a:t>
            </a: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hlinkClick r:id="rId9"/>
              </a:rPr>
              <a:t>aebon@hs.ac.kr</a:t>
            </a:r>
            <a: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endParaRPr lang="en-US" altLang="ko-KR" sz="15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  <p:extLst>
      <p:ext uri="{BB962C8B-B14F-4D97-AF65-F5344CB8AC3E}">
        <p14:creationId xmlns:p14="http://schemas.microsoft.com/office/powerpoint/2010/main" val="1570506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9490558" y="-237744"/>
            <a:ext cx="3753612" cy="2762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950062" y="571500"/>
            <a:ext cx="1143000" cy="758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0062" y="1019556"/>
            <a:ext cx="27249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MASTER CLASS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50062" y="1390803"/>
            <a:ext cx="37719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데이터베이스,</a:t>
            </a:r>
            <a:endParaRPr lang="en-US" sz="4500" dirty="0"/>
          </a:p>
        </p:txBody>
      </p:sp>
      <p:sp>
        <p:nvSpPr>
          <p:cNvPr id="7" name="Text 5"/>
          <p:cNvSpPr txBox="1"/>
          <p:nvPr/>
        </p:nvSpPr>
        <p:spPr>
          <a:xfrm>
            <a:off x="950062" y="2104949"/>
            <a:ext cx="5143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템플릿, 그리고 협업</a:t>
            </a:r>
            <a:endParaRPr lang="en-US" sz="4500" dirty="0"/>
          </a:p>
        </p:txBody>
      </p:sp>
      <p:sp>
        <p:nvSpPr>
          <p:cNvPr id="8" name="Text 6"/>
          <p:cNvSpPr txBox="1"/>
          <p:nvPr/>
        </p:nvSpPr>
        <p:spPr>
          <a:xfrm>
            <a:off x="950062" y="3124505"/>
            <a:ext cx="7448702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1에서 구축한 대시보드를 기반으로, 데이터의 구조화와 자동화를 통해 생산성을 극대화합니다.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0062" y="4153205"/>
            <a:ext cx="3228746" cy="2286000"/>
          </a:xfrm>
          <a:prstGeom prst="roundRect">
            <a:avLst>
              <a:gd name="adj" fmla="val 266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263701" y="4467759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1431036" y="4619549"/>
            <a:ext cx="200254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63701" y="5210251"/>
            <a:ext cx="22009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구조화된 데이터 관리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63701" y="5639105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기록을 넘어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63701" y="5875020"/>
            <a:ext cx="19293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DB 설계와 활용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80560" y="4153205"/>
            <a:ext cx="3228746" cy="2286000"/>
          </a:xfrm>
          <a:prstGeom prst="roundRect">
            <a:avLst>
              <a:gd name="adj" fmla="val 266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794199" y="4467759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8B5C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4932274" y="4619549"/>
            <a:ext cx="256946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794199" y="5210251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업무 자동화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794199" y="5639105"/>
            <a:ext cx="1605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템플릿과 리마인더로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794199" y="5875020"/>
            <a:ext cx="15389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루틴 업무 시간 단축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011059" y="4153205"/>
            <a:ext cx="3228746" cy="2286000"/>
          </a:xfrm>
          <a:prstGeom prst="roundRect">
            <a:avLst>
              <a:gd name="adj" fmla="val 266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325612" y="4467759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8449056" y="4619549"/>
            <a:ext cx="286207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325612" y="5210251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프로젝트 협업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8325612" y="5639105"/>
            <a:ext cx="17958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공유, 권한, 댓글 기능을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8325612" y="5875020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활용한 효율적 소통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952805" y="6929323"/>
            <a:ext cx="10287000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2805" y="7224674"/>
            <a:ext cx="152705" cy="15270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218895" y="7177126"/>
            <a:ext cx="35771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 Point: Part 1 대시보드가 준비되었나요?</a:t>
            </a:r>
            <a:endParaRPr lang="en-US" sz="13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644238"/>
            <a:ext cx="3353105" cy="1162202"/>
          </a:xfrm>
          <a:prstGeom prst="roundRect">
            <a:avLst>
              <a:gd name="adj" fmla="val 5159"/>
            </a:avLst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644238"/>
            <a:ext cx="38405" cy="1162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295" y="4892040"/>
            <a:ext cx="152705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1085393"/>
            <a:ext cx="1405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활용 &amp; 운영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313993"/>
            <a:ext cx="28675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885493"/>
            <a:ext cx="20391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1/2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2799893"/>
            <a:ext cx="14383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DB란 무엇인가?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2863" y="3199486"/>
            <a:ext cx="319308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엑셀 표처럼 보이지만, 각 행(Item)이 하나의 페이지로 동작합니다.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62863" y="3926434"/>
            <a:ext cx="319308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데이터(Data)는 하나지만, 보드·캘린더 등 다양한 뷰(View)로 변환해 볼 수 있습니다.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57300" y="4844491"/>
            <a:ext cx="24533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원칙 (Design Principles)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90295" y="5187391"/>
            <a:ext cx="30248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복잡하게 만들지 마세요. 최소한의 속성으로 시작해 필요할 때 확장하는 것이 핵심입니다.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6300" y="1848002"/>
            <a:ext cx="3276295" cy="1047902"/>
          </a:xfrm>
          <a:prstGeom prst="roundRect">
            <a:avLst>
              <a:gd name="adj" fmla="val 951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886554" y="213969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5029200" y="2273198"/>
            <a:ext cx="171907" cy="19019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53705" y="1848002"/>
            <a:ext cx="3276295" cy="1047902"/>
          </a:xfrm>
          <a:prstGeom prst="roundRect">
            <a:avLst>
              <a:gd name="adj" fmla="val 951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8353044" y="213969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A855F7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86546" y="2273198"/>
            <a:ext cx="190195" cy="19019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686300" y="3079699"/>
            <a:ext cx="3276295" cy="1047902"/>
          </a:xfrm>
          <a:prstGeom prst="roundRect">
            <a:avLst>
              <a:gd name="adj" fmla="val 951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886554" y="337139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029200" y="3504895"/>
            <a:ext cx="171907" cy="19019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153705" y="3079699"/>
            <a:ext cx="3276295" cy="1047902"/>
          </a:xfrm>
          <a:prstGeom prst="roundRect">
            <a:avLst>
              <a:gd name="adj" fmla="val 951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8353044" y="337139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62772" y="3504895"/>
            <a:ext cx="237744" cy="190195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686300" y="4311396"/>
            <a:ext cx="3276295" cy="1047902"/>
          </a:xfrm>
          <a:prstGeom prst="roundRect">
            <a:avLst>
              <a:gd name="adj" fmla="val 951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1"/>
          <p:cNvSpPr/>
          <p:nvPr/>
        </p:nvSpPr>
        <p:spPr>
          <a:xfrm>
            <a:off x="4886554" y="460309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22C55E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5029200" y="4736592"/>
            <a:ext cx="171907" cy="19019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8153705" y="4311396"/>
            <a:ext cx="3276295" cy="1047902"/>
          </a:xfrm>
          <a:prstGeom prst="roundRect">
            <a:avLst>
              <a:gd name="adj" fmla="val 951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3"/>
          <p:cNvSpPr/>
          <p:nvPr/>
        </p:nvSpPr>
        <p:spPr>
          <a:xfrm>
            <a:off x="8353044" y="460309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C4899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8496605" y="4736592"/>
            <a:ext cx="171907" cy="19019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769450" y="1505102"/>
            <a:ext cx="1767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 핵심 속성 6가지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5495544" y="2048256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(Title)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5495544" y="2317090"/>
            <a:ext cx="15169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페이지의 이름이자 식별자.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5495544" y="2498141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 불가능한 필수 속성.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8962949" y="2048256"/>
            <a:ext cx="12060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/ 다중 선택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8962949" y="2317090"/>
            <a:ext cx="14785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과목명, 우선순위, 태그 등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8962949" y="2498141"/>
            <a:ext cx="14026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분류하는 기준.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5495544" y="3279953"/>
            <a:ext cx="949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 (Date)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5495544" y="3548786"/>
            <a:ext cx="13551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마감일, 시험 날짜.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5495544" y="3729838"/>
            <a:ext cx="15544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리마인더 알림과 연동 가능.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8962949" y="3279953"/>
            <a:ext cx="1130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(Person)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8962949" y="3548786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프로젝트 담당자 지정.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8962949" y="3729838"/>
            <a:ext cx="1078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멘션 및 알림 발송.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5495544" y="4511650"/>
            <a:ext cx="1644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체크박스 (Checkbox)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5495544" y="4780483"/>
            <a:ext cx="9262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여부 표시.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5495544" y="4961534"/>
            <a:ext cx="1164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상태 확인.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8962949" y="4511650"/>
            <a:ext cx="13871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관계형 (Relation)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8962949" y="4780483"/>
            <a:ext cx="9829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DB와 연결.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8962949" y="4961534"/>
            <a:ext cx="16687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 DB ↔ 과제 DB 연결 등.</a:t>
            </a:r>
            <a:endParaRPr lang="en-US" sz="1000" dirty="0"/>
          </a:p>
        </p:txBody>
      </p:sp>
      <p:sp>
        <p:nvSpPr>
          <p:cNvPr id="5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56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1695" y="1580998"/>
            <a:ext cx="10668305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571500"/>
            <a:ext cx="26151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데이터베이스·템플릿·협업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886054"/>
            <a:ext cx="77724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 기본 2/2: 뷰(View) · 필터 · 링크드DB</a:t>
            </a:r>
            <a:endParaRPr lang="en-US" sz="2700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E16F850-37C3-DC56-941B-BA3495A965DB}"/>
              </a:ext>
            </a:extLst>
          </p:cNvPr>
          <p:cNvGrpSpPr/>
          <p:nvPr/>
        </p:nvGrpSpPr>
        <p:grpSpPr>
          <a:xfrm>
            <a:off x="761695" y="2005838"/>
            <a:ext cx="4963244" cy="4182821"/>
            <a:chOff x="761695" y="2541118"/>
            <a:chExt cx="3734410" cy="3647541"/>
          </a:xfrm>
        </p:grpSpPr>
        <p:sp>
          <p:nvSpPr>
            <p:cNvPr id="8" name="Shape 5"/>
            <p:cNvSpPr/>
            <p:nvPr/>
          </p:nvSpPr>
          <p:spPr>
            <a:xfrm>
              <a:off x="761695" y="2541118"/>
              <a:ext cx="38405" cy="1057046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90295" y="2612441"/>
              <a:ext cx="171907" cy="171907"/>
            </a:xfrm>
            <a:prstGeom prst="rect">
              <a:avLst/>
            </a:prstGeom>
          </p:spPr>
        </p:pic>
        <p:sp>
          <p:nvSpPr>
            <p:cNvPr id="10" name="Text 6"/>
            <p:cNvSpPr txBox="1"/>
            <p:nvPr/>
          </p:nvSpPr>
          <p:spPr>
            <a:xfrm>
              <a:off x="1257300" y="2541118"/>
              <a:ext cx="1519733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테이블 (Table)</a:t>
              </a:r>
              <a:endParaRPr lang="en-US" sz="1600" dirty="0"/>
            </a:p>
          </p:txBody>
        </p:sp>
        <p:sp>
          <p:nvSpPr>
            <p:cNvPr id="11" name="Text 7"/>
            <p:cNvSpPr txBox="1"/>
            <p:nvPr/>
          </p:nvSpPr>
          <p:spPr>
            <a:xfrm>
              <a:off x="990295" y="2912364"/>
              <a:ext cx="12289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가장 기본적인 뷰.</a:t>
              </a:r>
              <a:endParaRPr lang="en-US" sz="1200" dirty="0"/>
            </a:p>
          </p:txBody>
        </p:sp>
        <p:sp>
          <p:nvSpPr>
            <p:cNvPr id="12" name="Text 8"/>
            <p:cNvSpPr txBox="1"/>
            <p:nvPr/>
          </p:nvSpPr>
          <p:spPr>
            <a:xfrm>
              <a:off x="990295" y="3140964"/>
              <a:ext cx="35058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모든 데이터를 한눈에 확인하고 속성을 수정하기 적합.</a:t>
              </a:r>
              <a:endParaRPr lang="en-US" sz="1200" dirty="0"/>
            </a:p>
          </p:txBody>
        </p:sp>
        <p:sp>
          <p:nvSpPr>
            <p:cNvPr id="13" name="Text 9"/>
            <p:cNvSpPr txBox="1"/>
            <p:nvPr/>
          </p:nvSpPr>
          <p:spPr>
            <a:xfrm>
              <a:off x="990295" y="3369564"/>
              <a:ext cx="229605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엑셀처럼 데이터를 관리할 때 사용.</a:t>
              </a:r>
              <a:endParaRPr lang="en-US" sz="12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761695" y="3835908"/>
              <a:ext cx="38405" cy="1057046"/>
            </a:xfrm>
            <a:prstGeom prst="rect">
              <a:avLst/>
            </a:prstGeom>
            <a:solidFill>
              <a:srgbClr val="8B5C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990295" y="3907231"/>
              <a:ext cx="171907" cy="171907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1257300" y="3835908"/>
              <a:ext cx="1377086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A78B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보드 (Board)</a:t>
              </a:r>
              <a:endParaRPr lang="en-US" sz="1600" dirty="0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990295" y="4208069"/>
              <a:ext cx="22009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진행 상태(Kanban)별 카드 이동.</a:t>
              </a:r>
              <a:endParaRPr lang="en-US" sz="1200" dirty="0"/>
            </a:p>
          </p:txBody>
        </p:sp>
        <p:sp>
          <p:nvSpPr>
            <p:cNvPr id="18" name="Text 13"/>
            <p:cNvSpPr txBox="1"/>
            <p:nvPr/>
          </p:nvSpPr>
          <p:spPr>
            <a:xfrm>
              <a:off x="990295" y="4436669"/>
              <a:ext cx="21534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'시작 전 - 진행 중 - 완료'와 같이</a:t>
              </a:r>
              <a:endParaRPr lang="en-US" sz="1200" dirty="0"/>
            </a:p>
          </p:txBody>
        </p:sp>
        <p:sp>
          <p:nvSpPr>
            <p:cNvPr id="19" name="Text 14"/>
            <p:cNvSpPr txBox="1"/>
            <p:nvPr/>
          </p:nvSpPr>
          <p:spPr>
            <a:xfrm>
              <a:off x="990295" y="4665269"/>
              <a:ext cx="2857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과제나 프로젝트의 흐름을 시각적으로 파악.</a:t>
              </a:r>
              <a:endParaRPr lang="en-US" sz="1200" dirty="0"/>
            </a:p>
          </p:txBody>
        </p:sp>
        <p:sp>
          <p:nvSpPr>
            <p:cNvPr id="20" name="Shape 15"/>
            <p:cNvSpPr/>
            <p:nvPr/>
          </p:nvSpPr>
          <p:spPr>
            <a:xfrm>
              <a:off x="761695" y="5131613"/>
              <a:ext cx="38405" cy="1057046"/>
            </a:xfrm>
            <a:prstGeom prst="rect">
              <a:avLst/>
            </a:prstGeom>
            <a:solidFill>
              <a:srgbClr val="EC489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5"/>
            <a:srcRect l="-760" r="-760"/>
            <a:stretch/>
          </p:blipFill>
          <p:spPr>
            <a:xfrm>
              <a:off x="990295" y="5202936"/>
              <a:ext cx="152705" cy="171907"/>
            </a:xfrm>
            <a:prstGeom prst="rect">
              <a:avLst/>
            </a:prstGeom>
          </p:spPr>
        </p:pic>
        <p:sp>
          <p:nvSpPr>
            <p:cNvPr id="22" name="Text 16"/>
            <p:cNvSpPr txBox="1"/>
            <p:nvPr/>
          </p:nvSpPr>
          <p:spPr>
            <a:xfrm>
              <a:off x="1238098" y="5131613"/>
              <a:ext cx="1890979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472B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캘린더 (Calendar)</a:t>
              </a:r>
              <a:endParaRPr lang="en-US" sz="1600" dirty="0"/>
            </a:p>
          </p:txBody>
        </p:sp>
        <p:sp>
          <p:nvSpPr>
            <p:cNvPr id="23" name="Text 17"/>
            <p:cNvSpPr txBox="1"/>
            <p:nvPr/>
          </p:nvSpPr>
          <p:spPr>
            <a:xfrm>
              <a:off x="990295" y="5502859"/>
              <a:ext cx="22201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날짜 속성 기반의 월간/주간 보기.</a:t>
              </a:r>
              <a:endParaRPr lang="en-US" sz="1200" dirty="0"/>
            </a:p>
          </p:txBody>
        </p:sp>
        <p:sp>
          <p:nvSpPr>
            <p:cNvPr id="24" name="Text 18"/>
            <p:cNvSpPr txBox="1"/>
            <p:nvPr/>
          </p:nvSpPr>
          <p:spPr>
            <a:xfrm>
              <a:off x="990295" y="5731459"/>
              <a:ext cx="18772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과제 마감일, 시험 일정 등을</a:t>
              </a:r>
              <a:endParaRPr lang="en-US" sz="1200" dirty="0"/>
            </a:p>
          </p:txBody>
        </p:sp>
        <p:sp>
          <p:nvSpPr>
            <p:cNvPr id="25" name="Text 19"/>
            <p:cNvSpPr txBox="1"/>
            <p:nvPr/>
          </p:nvSpPr>
          <p:spPr>
            <a:xfrm>
              <a:off x="990295" y="5960059"/>
              <a:ext cx="19723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달력 형태로 직관적으로 관리.</a:t>
              </a:r>
              <a:endParaRPr lang="en-US" sz="1200" dirty="0"/>
            </a:p>
          </p:txBody>
        </p:sp>
      </p:grpSp>
      <p:sp>
        <p:nvSpPr>
          <p:cNvPr id="26" name="Shape 20"/>
          <p:cNvSpPr/>
          <p:nvPr/>
        </p:nvSpPr>
        <p:spPr>
          <a:xfrm>
            <a:off x="6258578" y="1986635"/>
            <a:ext cx="4999025" cy="4148730"/>
          </a:xfrm>
          <a:prstGeom prst="roundRect">
            <a:avLst>
              <a:gd name="adj" fmla="val 976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06579" y="3275561"/>
            <a:ext cx="142646" cy="190195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06579" y="4559655"/>
            <a:ext cx="142646" cy="19019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753552" y="6022258"/>
            <a:ext cx="2704795" cy="352044"/>
          </a:xfrm>
          <a:prstGeom prst="roundRect">
            <a:avLst>
              <a:gd name="adj" fmla="val 140400"/>
            </a:avLst>
          </a:prstGeom>
          <a:solidFill>
            <a:srgbClr val="3B82F6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8908966" y="6135365"/>
            <a:ext cx="152705" cy="13350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186063" y="6123567"/>
            <a:ext cx="2272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시연: 과제 DB 보드↔캘린더 전환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796855" y="2300436"/>
            <a:ext cx="3962095" cy="897184"/>
          </a:xfrm>
          <a:prstGeom prst="roundRect">
            <a:avLst>
              <a:gd name="adj" fmla="val 871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rcRect l="-792971" r="-792971"/>
          <a:stretch/>
        </p:blipFill>
        <p:spPr>
          <a:xfrm>
            <a:off x="7091749" y="2312181"/>
            <a:ext cx="3372307" cy="25097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055983" y="2527065"/>
            <a:ext cx="1443838" cy="27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데이터베이스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7516945" y="2822417"/>
            <a:ext cx="2521915" cy="198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과제/일정이 모여있는 곳 (Single Source)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6796855" y="3569361"/>
            <a:ext cx="3962095" cy="897184"/>
          </a:xfrm>
          <a:prstGeom prst="roundRect">
            <a:avLst>
              <a:gd name="adj" fmla="val 871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rcRect l="-687600" r="-687600"/>
          <a:stretch/>
        </p:blipFill>
        <p:spPr>
          <a:xfrm>
            <a:off x="7091749" y="3569361"/>
            <a:ext cx="3372307" cy="2286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751488" y="3783330"/>
            <a:ext cx="20528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필터(Filter) &amp; 정렬(Sort)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7692967" y="4078681"/>
            <a:ext cx="21698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"완료되지 않은 것만" + "마감일 순서로"</a:t>
            </a:r>
            <a:endParaRPr lang="en-US" sz="900" dirty="0"/>
          </a:p>
        </p:txBody>
      </p:sp>
      <p:sp>
        <p:nvSpPr>
          <p:cNvPr id="40" name="Shape 29"/>
          <p:cNvSpPr/>
          <p:nvPr/>
        </p:nvSpPr>
        <p:spPr>
          <a:xfrm>
            <a:off x="6796855" y="4935614"/>
            <a:ext cx="3962095" cy="907332"/>
          </a:xfrm>
          <a:prstGeom prst="roundRect">
            <a:avLst>
              <a:gd name="adj" fmla="val 8710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0"/>
          <a:srcRect l="-540080" r="-540080"/>
          <a:stretch/>
        </p:blipFill>
        <p:spPr>
          <a:xfrm>
            <a:off x="7091749" y="4944757"/>
            <a:ext cx="3372307" cy="22860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7975059" y="5158726"/>
            <a:ext cx="1605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링크드 데이터베이스</a:t>
            </a:r>
            <a:endParaRPr lang="en-US" sz="1300" dirty="0"/>
          </a:p>
        </p:txBody>
      </p:sp>
      <p:sp>
        <p:nvSpPr>
          <p:cNvPr id="43" name="Text 31"/>
          <p:cNvSpPr txBox="1"/>
          <p:nvPr/>
        </p:nvSpPr>
        <p:spPr>
          <a:xfrm>
            <a:off x="7793093" y="5454078"/>
            <a:ext cx="196961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대시보드에 '이번 주 할 일'만 보기</a:t>
            </a:r>
            <a:endParaRPr lang="en-US" sz="9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5151730"/>
            <a:ext cx="4009644" cy="1218895"/>
          </a:xfrm>
          <a:prstGeom prst="roundRect">
            <a:avLst>
              <a:gd name="adj" fmla="val 7033"/>
            </a:avLst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5151730"/>
            <a:ext cx="38405" cy="12188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295" y="5380330"/>
            <a:ext cx="142646" cy="1901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744322"/>
            <a:ext cx="1304849" cy="9144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1695" y="515722"/>
            <a:ext cx="1405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활용 &amp; 운영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820217"/>
            <a:ext cx="38862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&amp; 리마인더 반복 자동화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2325319"/>
            <a:ext cx="408645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처음부터 다시 만들지 마세요.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작업은 시스템에 위임해야 합니다.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2863" y="3248863"/>
            <a:ext cx="382219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미리 만들어 둔 양식(회의록, 과제)을 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 번으로 자동 생성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62863" y="3975811"/>
            <a:ext cx="380299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리마인더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마감 기한과 일정을 놓치지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않도록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PC·모바일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알림 동기화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62863" y="4588459"/>
            <a:ext cx="30312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즐겨찾기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자주 쓰는 페이지 접근성 최적화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48156" y="5351983"/>
            <a:ext cx="9290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생산성 Tip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90295" y="5694883"/>
            <a:ext cx="36484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"뇌는 기억하는 곳이 아니라 생각하는 곳입니다."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기억해야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할 모든 것은 노션의 리마인더에 맡기세요.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33365" y="1359713"/>
            <a:ext cx="6001207" cy="1228954"/>
          </a:xfrm>
          <a:prstGeom prst="roundRect">
            <a:avLst>
              <a:gd name="adj" fmla="val 922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671109" y="1668780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5823814" y="1839773"/>
            <a:ext cx="304495" cy="26700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33365" y="2815438"/>
            <a:ext cx="6001207" cy="1228954"/>
          </a:xfrm>
          <a:prstGeom prst="roundRect">
            <a:avLst>
              <a:gd name="adj" fmla="val 922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5671109" y="3124505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EAB308">
              <a:alpha val="15000"/>
            </a:srgbClr>
          </a:solidFill>
          <a:ln w="12700">
            <a:solidFill>
              <a:srgbClr val="EAB30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5856732" y="3295498"/>
            <a:ext cx="237744" cy="26700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33365" y="4271162"/>
            <a:ext cx="6001207" cy="1228954"/>
          </a:xfrm>
          <a:prstGeom prst="roundRect">
            <a:avLst>
              <a:gd name="adj" fmla="val 922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671109" y="4579315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75934" y="4751222"/>
            <a:ext cx="200254" cy="2670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509614" y="1598371"/>
            <a:ext cx="17812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 템플릿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509614" y="1912010"/>
            <a:ext cx="46963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반복되는 주간 계획, 실험 보고서 양식을 미리 </a:t>
            </a:r>
            <a:r>
              <a:rPr lang="en-US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저장해두고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'새로 만들기' 버튼에 연동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6509614" y="3054096"/>
            <a:ext cx="1429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리마인더 시스템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509614" y="3367735"/>
            <a:ext cx="474390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입력 중 @날짜 또는 @내일 9am을 입력하여 즉시 알림 </a:t>
            </a:r>
            <a:r>
              <a:rPr lang="en-US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(푸시 알림 지원)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509614" y="4508906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위젯 활용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6509614" y="4823460"/>
            <a:ext cx="48614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스마트폰 홈 화면에 노션 위젯을 배치하여 앱 실행 없이 오늘 할 일 확인 및 체크</a:t>
            </a:r>
            <a:endParaRPr lang="en-US" sz="12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3391510"/>
            <a:ext cx="4324198" cy="70500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3391510"/>
            <a:ext cx="38405" cy="70500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130345"/>
            <a:ext cx="4324198" cy="70500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130345"/>
            <a:ext cx="38405" cy="70500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4870094"/>
            <a:ext cx="4324198" cy="70500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4870094"/>
            <a:ext cx="38405" cy="7050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61695" y="5608930"/>
            <a:ext cx="4324198" cy="70500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1695" y="5608930"/>
            <a:ext cx="38405" cy="70500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61695" y="576986"/>
            <a:ext cx="1405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활용 &amp; 운영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61695" y="805586"/>
            <a:ext cx="21817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협업·공유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61695" y="1377086"/>
            <a:ext cx="21817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권한·댓글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61695" y="2309774"/>
            <a:ext cx="21671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노션의 강력한 협업 기능으로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61695" y="2588666"/>
            <a:ext cx="33677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프로젝트와 과제를 실시간으로 관리하세요.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61695" y="3086100"/>
            <a:ext cx="2490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권한 레벨 (PERMISSION LEVELS)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52805" y="3505810"/>
            <a:ext cx="1686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허용 (Full Access)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52805" y="3771900"/>
            <a:ext cx="26846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및 권한 설정, 페이지 공유까지 모두 가능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52805" y="4244645"/>
            <a:ext cx="1515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허용 (Can Edit)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52805" y="4511650"/>
            <a:ext cx="22658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수정 가능, 하위 페이지 생성 가능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52805" y="4984394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댓글 허용 (Can Comment)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52805" y="5250485"/>
            <a:ext cx="19796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수정 불가, 댓글 작성만 가능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52805" y="5723230"/>
            <a:ext cx="1571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 허용 (Can View)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52805" y="5990234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열람만 가능, 편집 및 댓글 불가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58407" y="5362956"/>
            <a:ext cx="4267505" cy="923544"/>
          </a:xfrm>
          <a:prstGeom prst="roundRect">
            <a:avLst>
              <a:gd name="adj" fmla="val 12249"/>
            </a:avLst>
          </a:prstGeom>
          <a:solidFill>
            <a:srgbClr val="1E3A8A">
              <a:alpha val="3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 l="-1773" r="-1773"/>
          <a:stretch/>
        </p:blipFill>
        <p:spPr>
          <a:xfrm>
            <a:off x="6772046" y="5631790"/>
            <a:ext cx="133502" cy="171907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095744" y="55248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꿀팁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095744" y="5762549"/>
            <a:ext cx="33915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정보가 담긴 과제물은 '개인 스페이스'에 보관하고, 팀 프로젝트만 '팀스페이스'나 공유 페이지로 관리하세요.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972300" y="1195121"/>
            <a:ext cx="3238805" cy="3238805"/>
          </a:xfrm>
          <a:prstGeom prst="ellipse">
            <a:avLst/>
          </a:prstGeom>
          <a:noFill/>
          <a:ln w="254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10144354" y="1028700"/>
            <a:ext cx="123444" cy="190195"/>
          </a:xfrm>
          <a:prstGeom prst="rect">
            <a:avLst/>
          </a:prstGeom>
        </p:spPr>
      </p:pic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77602" y="4257446"/>
            <a:ext cx="190195" cy="190195"/>
          </a:xfrm>
          <a:prstGeom prst="rect">
            <a:avLst/>
          </a:prstGeom>
        </p:spPr>
      </p:pic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6915607" y="4257446"/>
            <a:ext cx="123444" cy="190195"/>
          </a:xfrm>
          <a:prstGeom prst="rect">
            <a:avLst/>
          </a:prstGeom>
        </p:spPr>
      </p:pic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15607" y="1028700"/>
            <a:ext cx="190195" cy="190195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115300" y="761695"/>
            <a:ext cx="952805" cy="952805"/>
          </a:xfrm>
          <a:prstGeom prst="roundRect">
            <a:avLst>
              <a:gd name="adj" fmla="val 15355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t="-817" b="-817"/>
          <a:stretch/>
        </p:blipFill>
        <p:spPr>
          <a:xfrm>
            <a:off x="8472830" y="890626"/>
            <a:ext cx="237744" cy="276149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388706" y="1242670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공유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8358530" y="1423721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초대/링크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9734702" y="2338121"/>
            <a:ext cx="952805" cy="952805"/>
          </a:xfrm>
          <a:prstGeom prst="roundRect">
            <a:avLst>
              <a:gd name="adj" fmla="val 15355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073030" y="2467051"/>
            <a:ext cx="276149" cy="276149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008108" y="2819095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댓글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9924898" y="3000146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블록/페이지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8115300" y="3914546"/>
            <a:ext cx="952805" cy="952805"/>
          </a:xfrm>
          <a:prstGeom prst="roundRect">
            <a:avLst>
              <a:gd name="adj" fmla="val 15355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53628" y="4043477"/>
            <a:ext cx="276149" cy="276149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8388706" y="4395521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멘션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8327441" y="4576572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@팀원호출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6495898" y="2338121"/>
            <a:ext cx="952805" cy="952805"/>
          </a:xfrm>
          <a:prstGeom prst="roundRect">
            <a:avLst>
              <a:gd name="adj" fmla="val 15355"/>
            </a:avLst>
          </a:prstGeom>
          <a:solidFill>
            <a:srgbClr val="1E293B">
              <a:alpha val="9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34226" y="2467051"/>
            <a:ext cx="276149" cy="276149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6769303" y="2819095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수정</a:t>
            </a:r>
            <a:endParaRPr lang="en-US" sz="1000" dirty="0"/>
          </a:p>
        </p:txBody>
      </p:sp>
      <p:sp>
        <p:nvSpPr>
          <p:cNvPr id="50" name="Text 39"/>
          <p:cNvSpPr txBox="1"/>
          <p:nvPr/>
        </p:nvSpPr>
        <p:spPr>
          <a:xfrm>
            <a:off x="6693408" y="3000146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편집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7925105" y="2147926"/>
            <a:ext cx="1333195" cy="13331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2921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rcRect l="-27" r="-27"/>
          <a:stretch/>
        </p:blipFill>
        <p:spPr>
          <a:xfrm>
            <a:off x="8376818" y="2510028"/>
            <a:ext cx="428854" cy="34290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8205826" y="2928823"/>
            <a:ext cx="872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TEAMWORK</a:t>
            </a:r>
            <a:endParaRPr lang="en-US" sz="10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1695" y="1580998"/>
            <a:ext cx="10668305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571500"/>
            <a:ext cx="22622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데이터베이스 &amp; 운영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886054"/>
            <a:ext cx="60679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2: 과제·프로젝트 트래커 DB 만들기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761695" y="1981505"/>
            <a:ext cx="38405" cy="11237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295" y="2033626"/>
            <a:ext cx="209398" cy="20939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5705" y="1981505"/>
            <a:ext cx="123352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(Goal)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990295" y="2371954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과제와 팀 프로젝트를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2615184"/>
            <a:ext cx="2705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데이터베이스(DB)에서 통합 관리.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90295" y="2859329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 기한과 진행 상태를 한눈에 파악.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61695" y="3341218"/>
            <a:ext cx="38405" cy="100949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3393338"/>
            <a:ext cx="209398" cy="20939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95705" y="3341218"/>
            <a:ext cx="143377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속성 설계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90295" y="3731666"/>
            <a:ext cx="629107" cy="256946"/>
          </a:xfrm>
          <a:prstGeom prst="roundRect">
            <a:avLst>
              <a:gd name="adj" fmla="val 52722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1067105" y="3813048"/>
            <a:ext cx="105156" cy="1143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71346" y="3760013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과제명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1673352" y="3731666"/>
            <a:ext cx="838505" cy="256946"/>
          </a:xfrm>
          <a:prstGeom prst="roundRect">
            <a:avLst>
              <a:gd name="adj" fmla="val 52722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1749247" y="3813048"/>
            <a:ext cx="105156" cy="1143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54403" y="3760013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선택(과목)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2568550" y="3731666"/>
            <a:ext cx="1019556" cy="256946"/>
          </a:xfrm>
          <a:prstGeom prst="roundRect">
            <a:avLst>
              <a:gd name="adj" fmla="val 52722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2644445" y="3813048"/>
            <a:ext cx="105156" cy="1143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2749601" y="3760013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유형(개인/팀)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990295" y="4040734"/>
            <a:ext cx="629107" cy="256946"/>
          </a:xfrm>
          <a:prstGeom prst="roundRect">
            <a:avLst>
              <a:gd name="adj" fmla="val 52722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1067105" y="4121201"/>
            <a:ext cx="105156" cy="1143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171346" y="4069080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마감일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1673352" y="4040734"/>
            <a:ext cx="629107" cy="256946"/>
          </a:xfrm>
          <a:prstGeom prst="roundRect">
            <a:avLst>
              <a:gd name="adj" fmla="val 52722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1749247" y="4121201"/>
            <a:ext cx="105156" cy="1143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854403" y="4069080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2355494" y="4040734"/>
            <a:ext cx="514807" cy="256946"/>
          </a:xfrm>
          <a:prstGeom prst="roundRect">
            <a:avLst>
              <a:gd name="adj" fmla="val 52722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431390" y="4121201"/>
            <a:ext cx="114300" cy="1143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2545690" y="4069080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</a:t>
            </a:r>
            <a:endParaRPr lang="en-US" sz="1000" dirty="0"/>
          </a:p>
        </p:txBody>
      </p:sp>
      <p:sp>
        <p:nvSpPr>
          <p:cNvPr id="35" name="Shape 24"/>
          <p:cNvSpPr/>
          <p:nvPr/>
        </p:nvSpPr>
        <p:spPr>
          <a:xfrm>
            <a:off x="761695" y="4587545"/>
            <a:ext cx="38405" cy="88605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1"/>
          <a:srcRect l="-461" r="-461"/>
          <a:stretch/>
        </p:blipFill>
        <p:spPr>
          <a:xfrm>
            <a:off x="990295" y="4639666"/>
            <a:ext cx="237744" cy="209398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324051" y="4587545"/>
            <a:ext cx="164317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보기(View) 전략</a:t>
            </a:r>
            <a:endParaRPr lang="en-US" sz="1600" dirty="0"/>
          </a:p>
        </p:txBody>
      </p:sp>
      <p:sp>
        <p:nvSpPr>
          <p:cNvPr id="38" name="Text 26"/>
          <p:cNvSpPr txBox="1"/>
          <p:nvPr/>
        </p:nvSpPr>
        <p:spPr>
          <a:xfrm>
            <a:off x="990295" y="4977994"/>
            <a:ext cx="4572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 algn="l">
              <a:buAutoNum type="arabicPeriod"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보드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보기: 진행 상태(시작전/진행중/완료)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228600" indent="-228600" algn="l">
              <a:buAutoNum type="arabicPeriod"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보기: 마감일 기준 월간/주간 일정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228600" indent="-228600" algn="l">
              <a:buAutoNum type="arabicPeriod"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리스트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보기: 전체 과제 목록 아카이빙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6086246" y="1886407"/>
            <a:ext cx="5343754" cy="4743907"/>
          </a:xfrm>
          <a:prstGeom prst="roundRect">
            <a:avLst>
              <a:gd name="adj" fmla="val 619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8"/>
          <p:cNvSpPr/>
          <p:nvPr/>
        </p:nvSpPr>
        <p:spPr>
          <a:xfrm>
            <a:off x="6381598" y="2667305"/>
            <a:ext cx="475305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9"/>
          <p:cNvSpPr txBox="1"/>
          <p:nvPr/>
        </p:nvSpPr>
        <p:spPr>
          <a:xfrm>
            <a:off x="6381598" y="2180844"/>
            <a:ext cx="23244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Step-by-Step 가이드</a:t>
            </a:r>
            <a:endParaRPr lang="en-US" sz="1800" dirty="0"/>
          </a:p>
        </p:txBody>
      </p:sp>
      <p:sp>
        <p:nvSpPr>
          <p:cNvPr id="42" name="Shape 30"/>
          <p:cNvSpPr/>
          <p:nvPr/>
        </p:nvSpPr>
        <p:spPr>
          <a:xfrm>
            <a:off x="10376611" y="2204618"/>
            <a:ext cx="761695" cy="295351"/>
          </a:xfrm>
          <a:prstGeom prst="roundRect">
            <a:avLst>
              <a:gd name="adj" fmla="val 19974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10490911" y="2286000"/>
            <a:ext cx="114300" cy="133502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0661904" y="2253082"/>
            <a:ext cx="4626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12:00</a:t>
            </a:r>
            <a:endParaRPr lang="en-US" sz="1000" dirty="0"/>
          </a:p>
        </p:txBody>
      </p:sp>
      <p:sp>
        <p:nvSpPr>
          <p:cNvPr id="45" name="Text 32"/>
          <p:cNvSpPr txBox="1"/>
          <p:nvPr/>
        </p:nvSpPr>
        <p:spPr>
          <a:xfrm>
            <a:off x="6381598" y="2866644"/>
            <a:ext cx="4867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새 데이터베이스 생성 빈 페이지에 /db 입력 후 '표: 인라인' 선택.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이름은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'🎯 과제·프로젝트 트래커'로 설정.</a:t>
            </a:r>
            <a:endParaRPr lang="en-US" sz="1200" dirty="0"/>
          </a:p>
        </p:txBody>
      </p:sp>
      <p:sp>
        <p:nvSpPr>
          <p:cNvPr id="46" name="Text 33"/>
          <p:cNvSpPr txBox="1"/>
          <p:nvPr/>
        </p:nvSpPr>
        <p:spPr>
          <a:xfrm>
            <a:off x="6381598" y="3495751"/>
            <a:ext cx="4867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속성(Property) 추가하기 기본 태그 속성을 '과목'으로 변경.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사람, 상태(Status) 속성을 차례로 추가.</a:t>
            </a:r>
            <a:endParaRPr lang="en-US" sz="1200" dirty="0"/>
          </a:p>
        </p:txBody>
      </p:sp>
      <p:sp>
        <p:nvSpPr>
          <p:cNvPr id="47" name="Text 34"/>
          <p:cNvSpPr txBox="1"/>
          <p:nvPr/>
        </p:nvSpPr>
        <p:spPr>
          <a:xfrm>
            <a:off x="6381598" y="4123944"/>
            <a:ext cx="4867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다양한 보기(View) 만들기 DB 상단 + 버튼을 눌러 '보드'와 '캘린더' 추가.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보드는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'상태' 기준으로 그룹화 설정.</a:t>
            </a:r>
            <a:endParaRPr lang="en-US" sz="1200" dirty="0"/>
          </a:p>
        </p:txBody>
      </p:sp>
      <p:sp>
        <p:nvSpPr>
          <p:cNvPr id="48" name="Text 35"/>
          <p:cNvSpPr txBox="1"/>
          <p:nvPr/>
        </p:nvSpPr>
        <p:spPr>
          <a:xfrm>
            <a:off x="6381598" y="4753051"/>
            <a:ext cx="4867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대시보드에 연동하기 메인 홈으로 이동하여 /링크된 입력. 트래커를 불러온 뒤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[마감일] → [이번 주] 설정.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6381598" y="5381244"/>
            <a:ext cx="4753051" cy="952805"/>
          </a:xfrm>
          <a:prstGeom prst="roundRect">
            <a:avLst>
              <a:gd name="adj" fmla="val 7678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7"/>
          <p:cNvSpPr txBox="1"/>
          <p:nvPr/>
        </p:nvSpPr>
        <p:spPr>
          <a:xfrm>
            <a:off x="6534302" y="5533949"/>
            <a:ext cx="1767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완료 기준 (Check Point)</a:t>
            </a:r>
            <a:endParaRPr lang="en-US" sz="1000" dirty="0"/>
          </a:p>
        </p:txBody>
      </p:sp>
      <p:sp>
        <p:nvSpPr>
          <p:cNvPr id="51" name="Text 38"/>
          <p:cNvSpPr txBox="1"/>
          <p:nvPr/>
        </p:nvSpPr>
        <p:spPr>
          <a:xfrm>
            <a:off x="6534301" y="5781751"/>
            <a:ext cx="25103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과제를 추가했을 때 '템플릿' 버튼을 눌러</a:t>
            </a:r>
            <a:endParaRPr lang="en-US" sz="1000" dirty="0"/>
          </a:p>
        </p:txBody>
      </p:sp>
      <p:sp>
        <p:nvSpPr>
          <p:cNvPr id="52" name="Text 39"/>
          <p:cNvSpPr txBox="1"/>
          <p:nvPr/>
        </p:nvSpPr>
        <p:spPr>
          <a:xfrm>
            <a:off x="6534303" y="5982701"/>
            <a:ext cx="454914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체크리스트가 자동으로 생성되는지 확인하세요.</a:t>
            </a:r>
            <a:endParaRPr lang="en-US" sz="1000" dirty="0"/>
          </a:p>
        </p:txBody>
      </p:sp>
      <p:sp>
        <p:nvSpPr>
          <p:cNvPr id="5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957877"/>
            <a:ext cx="3886200" cy="1162202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957877"/>
            <a:ext cx="38405" cy="1162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990295" y="5205679"/>
            <a:ext cx="114300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771754"/>
            <a:ext cx="1405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활용 &amp; 운영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000354"/>
            <a:ext cx="30486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&amp; 습관화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686154"/>
            <a:ext cx="2638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가능한 노션 시스템 만들기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2863" y="2276856"/>
            <a:ext cx="22119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리뷰 (Weekly Review)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2863" y="2573122"/>
            <a:ext cx="2671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지난주 회고 → 이번 주 목표 설정 → 일정 정렬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62863" y="2764231"/>
            <a:ext cx="2196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일요일 저녁 30분, 루틴으로 고정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62863" y="3154680"/>
            <a:ext cx="16596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대시보드 설계 원칙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62863" y="3450946"/>
            <a:ext cx="37389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 최우선: 오늘 할 일, 이번 주 마감, 자주 쓰는 페이지(고정 링크)만 노출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62863" y="3994099"/>
            <a:ext cx="18598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앱 연동 및 유지보수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62863" y="4291279"/>
            <a:ext cx="37673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 캘린더/위젯으로 접근성 강화, 불필요한 속성은 주기적으로 삭제(Diet)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218895" y="5157216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성공 요인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90295" y="5500116"/>
            <a:ext cx="355793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시스템이 복잡하면 결국 안 쓰게 됩니다. "홈 화면에서 2번 클릭 안에 모든 작업에 도달"하도록 설계하세요.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05856" y="952805"/>
            <a:ext cx="5238598" cy="4953305"/>
          </a:xfrm>
          <a:prstGeom prst="roundRect">
            <a:avLst>
              <a:gd name="adj" fmla="val 426"/>
            </a:avLst>
          </a:prstGeom>
          <a:solidFill>
            <a:srgbClr val="1E293B"/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41300" dist="1905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715000" y="961949"/>
            <a:ext cx="5219395" cy="30449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715000" y="1257300"/>
            <a:ext cx="52193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829300" y="10616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5982005" y="10616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133795" y="10616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8041234" y="1024128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Home Dashboard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715000" y="1266444"/>
            <a:ext cx="5219395" cy="4629607"/>
          </a:xfrm>
          <a:prstGeom prst="rect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715000" y="1266444"/>
            <a:ext cx="5219395" cy="761695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6096305" y="1781251"/>
            <a:ext cx="609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🏠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6019495" y="2391156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학기 대시보드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019495" y="2962656"/>
            <a:ext cx="1457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LINKS (즐겨찾기)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019495" y="3209544"/>
            <a:ext cx="1485900" cy="323698"/>
          </a:xfrm>
          <a:prstGeom prst="roundRect">
            <a:avLst>
              <a:gd name="adj" fmla="val 498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464808" y="3286354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📚 강의노트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582205" y="3209544"/>
            <a:ext cx="1485900" cy="323698"/>
          </a:xfrm>
          <a:prstGeom prst="roundRect">
            <a:avLst>
              <a:gd name="adj" fmla="val 498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8027518" y="3286354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📅 학사일정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144000" y="3209544"/>
            <a:ext cx="1485900" cy="323698"/>
          </a:xfrm>
          <a:prstGeom prst="roundRect">
            <a:avLst>
              <a:gd name="adj" fmla="val 4985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9641434" y="3286354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📝 과제함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019495" y="3724351"/>
            <a:ext cx="4610405" cy="638251"/>
          </a:xfrm>
          <a:prstGeom prst="roundRect">
            <a:avLst>
              <a:gd name="adj" fmla="val 1283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rcRect t="-99450" b="-99450"/>
          <a:stretch/>
        </p:blipFill>
        <p:spPr>
          <a:xfrm>
            <a:off x="6143854" y="3847795"/>
            <a:ext cx="114300" cy="390449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353251" y="3847795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Today's Focus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6353251" y="4076395"/>
            <a:ext cx="2057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 실습 과제 제출하기 (23:59)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6019495" y="4591202"/>
            <a:ext cx="1828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🔥 이번 주 마감 (LINKED VIEW)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10025482" y="4677156"/>
            <a:ext cx="6958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Board View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6019495" y="4914900"/>
            <a:ext cx="4610405" cy="1181405"/>
          </a:xfrm>
          <a:prstGeom prst="roundRect">
            <a:avLst>
              <a:gd name="adj" fmla="val 4994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0"/>
          <p:cNvSpPr/>
          <p:nvPr/>
        </p:nvSpPr>
        <p:spPr>
          <a:xfrm>
            <a:off x="6143854" y="5343754"/>
            <a:ext cx="4362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1"/>
          <p:cNvSpPr/>
          <p:nvPr/>
        </p:nvSpPr>
        <p:spPr>
          <a:xfrm>
            <a:off x="6143854" y="5112410"/>
            <a:ext cx="152705" cy="152705"/>
          </a:xfrm>
          <a:prstGeom prst="roundRect">
            <a:avLst>
              <a:gd name="adj" fmla="val 112275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2"/>
          <p:cNvSpPr txBox="1"/>
          <p:nvPr/>
        </p:nvSpPr>
        <p:spPr>
          <a:xfrm>
            <a:off x="6391656" y="5095951"/>
            <a:ext cx="14173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마케팅원론 팀플 자료조사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10240366" y="5098694"/>
            <a:ext cx="267005" cy="181051"/>
          </a:xfrm>
          <a:prstGeom prst="roundRect">
            <a:avLst>
              <a:gd name="adj" fmla="val 106327"/>
            </a:avLst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4"/>
          <p:cNvSpPr txBox="1"/>
          <p:nvPr/>
        </p:nvSpPr>
        <p:spPr>
          <a:xfrm>
            <a:off x="10297058" y="5116982"/>
            <a:ext cx="2286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D-1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6143854" y="5653735"/>
            <a:ext cx="4362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6"/>
          <p:cNvSpPr/>
          <p:nvPr/>
        </p:nvSpPr>
        <p:spPr>
          <a:xfrm>
            <a:off x="6143854" y="5422392"/>
            <a:ext cx="152705" cy="152705"/>
          </a:xfrm>
          <a:prstGeom prst="roundRect">
            <a:avLst>
              <a:gd name="adj" fmla="val 112275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7"/>
          <p:cNvSpPr txBox="1"/>
          <p:nvPr/>
        </p:nvSpPr>
        <p:spPr>
          <a:xfrm>
            <a:off x="6391656" y="5405018"/>
            <a:ext cx="12271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 강의안 초안 작성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10240366" y="5407762"/>
            <a:ext cx="267005" cy="181051"/>
          </a:xfrm>
          <a:prstGeom prst="roundRect">
            <a:avLst>
              <a:gd name="adj" fmla="val 106327"/>
            </a:avLst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9"/>
          <p:cNvSpPr txBox="1"/>
          <p:nvPr/>
        </p:nvSpPr>
        <p:spPr>
          <a:xfrm>
            <a:off x="10297058" y="5426964"/>
            <a:ext cx="2286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D-3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6143854" y="5963717"/>
            <a:ext cx="4362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1"/>
          <p:cNvSpPr/>
          <p:nvPr/>
        </p:nvSpPr>
        <p:spPr>
          <a:xfrm>
            <a:off x="6143854" y="5731459"/>
            <a:ext cx="152705" cy="152705"/>
          </a:xfrm>
          <a:prstGeom prst="roundRect">
            <a:avLst>
              <a:gd name="adj" fmla="val 112275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2"/>
          <p:cNvSpPr txBox="1"/>
          <p:nvPr/>
        </p:nvSpPr>
        <p:spPr>
          <a:xfrm>
            <a:off x="6391656" y="5715000"/>
            <a:ext cx="12271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 회화 스터디 신청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10216591" y="5717743"/>
            <a:ext cx="295351" cy="181051"/>
          </a:xfrm>
          <a:prstGeom prst="roundRect">
            <a:avLst>
              <a:gd name="adj" fmla="val 106327"/>
            </a:avLst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4"/>
          <p:cNvSpPr txBox="1"/>
          <p:nvPr/>
        </p:nvSpPr>
        <p:spPr>
          <a:xfrm>
            <a:off x="10273284" y="5736031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800" dirty="0"/>
          </a:p>
        </p:txBody>
      </p:sp>
      <p:sp>
        <p:nvSpPr>
          <p:cNvPr id="59" name="Shape 55"/>
          <p:cNvSpPr/>
          <p:nvPr/>
        </p:nvSpPr>
        <p:spPr>
          <a:xfrm>
            <a:off x="6019495" y="6167628"/>
            <a:ext cx="809244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6"/>
          <p:cNvSpPr txBox="1"/>
          <p:nvPr/>
        </p:nvSpPr>
        <p:spPr>
          <a:xfrm>
            <a:off x="6096305" y="6195974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새로 만들기</a:t>
            </a:r>
            <a:endParaRPr lang="en-US" sz="900" dirty="0"/>
          </a:p>
        </p:txBody>
      </p:sp>
      <p:pic>
        <p:nvPicPr>
          <p:cNvPr id="61" name="Image 2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7602322" y="6512357"/>
            <a:ext cx="152705" cy="133502"/>
          </a:xfrm>
          <a:prstGeom prst="rect">
            <a:avLst/>
          </a:prstGeom>
        </p:spPr>
      </p:pic>
      <p:sp>
        <p:nvSpPr>
          <p:cNvPr id="62" name="Text 57"/>
          <p:cNvSpPr txBox="1"/>
          <p:nvPr/>
        </p:nvSpPr>
        <p:spPr>
          <a:xfrm>
            <a:off x="7830922" y="6476695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대시보드 구성 예시</a:t>
            </a:r>
            <a:endParaRPr lang="en-US" sz="1000" dirty="0"/>
          </a:p>
        </p:txBody>
      </p:sp>
      <p:pic>
        <p:nvPicPr>
          <p:cNvPr id="63" name="Image 3" descr="preencoded.png"/>
          <p:cNvPicPr>
            <a:picLocks noChangeAspect="1"/>
          </p:cNvPicPr>
          <p:nvPr/>
        </p:nvPicPr>
        <p:blipFill>
          <a:blip r:embed="rId6"/>
          <a:srcRect l="-1200" r="-1200"/>
          <a:stretch/>
        </p:blipFill>
        <p:spPr>
          <a:xfrm>
            <a:off x="10830154" y="5541264"/>
            <a:ext cx="219456" cy="342900"/>
          </a:xfrm>
          <a:prstGeom prst="rect">
            <a:avLst/>
          </a:prstGeom>
        </p:spPr>
      </p:pic>
      <p:sp>
        <p:nvSpPr>
          <p:cNvPr id="6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69987" y="-163270"/>
            <a:ext cx="4722723" cy="4914594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238098" y="2613355"/>
            <a:ext cx="297637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과도한 중첩 페이지 (Nested Pages)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8098" y="3631082"/>
            <a:ext cx="194767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없는 단순 블록 나열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8098" y="4496105"/>
            <a:ext cx="144292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필터/정렬 미설정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8098" y="5360213"/>
            <a:ext cx="186171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및 공유 범위 실수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737006"/>
            <a:ext cx="1329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 POINTS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1042416"/>
            <a:ext cx="4315054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하는 실수와 QA 체크리스트</a:t>
            </a:r>
            <a:endParaRPr lang="en-US" sz="3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461" r="-461"/>
          <a:stretch/>
        </p:blipFill>
        <p:spPr>
          <a:xfrm>
            <a:off x="795528" y="2697480"/>
            <a:ext cx="237744" cy="20939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8098" y="2945282"/>
            <a:ext cx="4019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Depth가 3단계를 넘어가면 정보 접근성이 급격히 저하됩니다. (3-Click Rule 위반)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903" r="-1903"/>
          <a:stretch/>
        </p:blipFill>
        <p:spPr>
          <a:xfrm>
            <a:off x="819302" y="3715207"/>
            <a:ext cx="190195" cy="2093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38098" y="3962095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텍스트 나열은 데이터 관리가 어렵습니다.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238098" y="4190695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속성(Date, Status)을 위해 DB를 활용하세요.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461" r="-461"/>
          <a:stretch/>
        </p:blipFill>
        <p:spPr>
          <a:xfrm>
            <a:off x="795528" y="4579315"/>
            <a:ext cx="237744" cy="20939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8098" y="4827118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완료된 할 일까지 모두 보여주면 정보 과부하가 옵니다.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238098" y="5055718"/>
            <a:ext cx="2876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'진행 중', '이번 주' 필터를 필수 적용하세요.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1004" r="-1004"/>
          <a:stretch/>
        </p:blipFill>
        <p:spPr>
          <a:xfrm>
            <a:off x="780898" y="5444338"/>
            <a:ext cx="267005" cy="20939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8098" y="5692140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팀스페이스에 민감한 개인 정보를 넣지 마세요.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238098" y="5920740"/>
            <a:ext cx="3076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개인적인 작업은 '개인 페이지'에서 관리하세요.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753405" y="761695"/>
            <a:ext cx="5676595" cy="5794155"/>
          </a:xfrm>
          <a:prstGeom prst="roundRect">
            <a:avLst>
              <a:gd name="adj" fmla="val 612"/>
            </a:avLst>
          </a:prstGeom>
          <a:solidFill>
            <a:srgbClr val="1E293B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blurRad="381000" dist="1905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6143854" y="1800454"/>
            <a:ext cx="48956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6143854" y="1095451"/>
            <a:ext cx="21625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강의 가독성 QA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143854" y="1457554"/>
            <a:ext cx="1890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제작 시 필수 점검 항목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10582351" y="115214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10724998" y="1266444"/>
            <a:ext cx="171907" cy="228600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t="-2725" b="-2725"/>
          <a:stretch/>
        </p:blipFill>
        <p:spPr>
          <a:xfrm>
            <a:off x="6143854" y="2078431"/>
            <a:ext cx="142646" cy="17190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381598" y="2038198"/>
            <a:ext cx="22219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가독성 (Readability)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143854" y="2384755"/>
            <a:ext cx="4895698" cy="1133856"/>
          </a:xfrm>
          <a:prstGeom prst="roundRect">
            <a:avLst>
              <a:gd name="adj" fmla="val 813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6539789" y="2546604"/>
            <a:ext cx="23756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폰트 크기: 본문 24pt, 제목 48pt 이상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6539789" y="2840126"/>
            <a:ext cx="22613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 바꿈: 한 줄에 20~30자 이내 유지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6539789" y="3133649"/>
            <a:ext cx="18900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행간(Line-height): 1.3 ~ 1.5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10224821" y="3137306"/>
            <a:ext cx="657454" cy="209398"/>
          </a:xfrm>
          <a:prstGeom prst="roundRect">
            <a:avLst>
              <a:gd name="adj" fmla="val 79396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 txBox="1"/>
          <p:nvPr/>
        </p:nvSpPr>
        <p:spPr>
          <a:xfrm>
            <a:off x="10300716" y="3156509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Essential</a:t>
            </a:r>
            <a:endParaRPr lang="en-US" sz="9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t="-2725" b="-2725"/>
          <a:stretch/>
        </p:blipFill>
        <p:spPr>
          <a:xfrm>
            <a:off x="6143854" y="3743554"/>
            <a:ext cx="142646" cy="17190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381598" y="3703320"/>
            <a:ext cx="149778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레이아웃 (Layout)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6143854" y="4049878"/>
            <a:ext cx="4895698" cy="838505"/>
          </a:xfrm>
          <a:prstGeom prst="roundRect">
            <a:avLst>
              <a:gd name="adj" fmla="val 1487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/>
          <p:cNvSpPr txBox="1"/>
          <p:nvPr/>
        </p:nvSpPr>
        <p:spPr>
          <a:xfrm>
            <a:off x="6539789" y="4211726"/>
            <a:ext cx="26618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여백(Safe Area) 상하좌우 48px 이상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6539789" y="4505249"/>
            <a:ext cx="24899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정렬: 좌측 정렬 기본 (중앙 정렬 최소화)</a:t>
            </a:r>
            <a:endParaRPr lang="en-US" sz="11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143854" y="5115154"/>
            <a:ext cx="171907" cy="171907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409944" y="5074920"/>
            <a:ext cx="12600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(Visual)</a:t>
            </a:r>
            <a:endParaRPr lang="en-US" sz="1300" dirty="0"/>
          </a:p>
        </p:txBody>
      </p:sp>
      <p:sp>
        <p:nvSpPr>
          <p:cNvPr id="42" name="Shape 32"/>
          <p:cNvSpPr/>
          <p:nvPr/>
        </p:nvSpPr>
        <p:spPr>
          <a:xfrm>
            <a:off x="6143854" y="5421478"/>
            <a:ext cx="4895698" cy="838505"/>
          </a:xfrm>
          <a:prstGeom prst="roundRect">
            <a:avLst>
              <a:gd name="adj" fmla="val 1487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3"/>
          <p:cNvSpPr txBox="1"/>
          <p:nvPr/>
        </p:nvSpPr>
        <p:spPr>
          <a:xfrm>
            <a:off x="6539789" y="5583326"/>
            <a:ext cx="2271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명도 대비: 배경과 텍스트 4.5:1 이상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6539789" y="5876849"/>
            <a:ext cx="25374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강조: Bold와 포인트 컬러로 핵심만 강조</a:t>
            </a:r>
            <a:endParaRPr lang="en-US" sz="11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403" r="-1403"/>
          <a:stretch/>
        </p:blipFill>
        <p:spPr>
          <a:xfrm>
            <a:off x="761695" y="3289097"/>
            <a:ext cx="209398" cy="18105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4208069"/>
            <a:ext cx="181051" cy="181051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505" r="-505"/>
          <a:stretch/>
        </p:blipFill>
        <p:spPr>
          <a:xfrm>
            <a:off x="761695" y="5127041"/>
            <a:ext cx="228600" cy="18105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61695" y="945490"/>
            <a:ext cx="1834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 &amp; NEXT STEPS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761695" y="1240841"/>
            <a:ext cx="4372661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 · </a:t>
            </a:r>
            <a:r>
              <a:rPr lang="en-US" sz="36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</a:t>
            </a: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36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</a:t>
            </a: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단계로 나아가기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2821838"/>
            <a:ext cx="15389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배운 핵심 요약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1123798" y="3241548"/>
            <a:ext cx="21744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구조 (Core Structure)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1123798" y="3547872"/>
            <a:ext cx="403159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→ 페이지 → 데이터베이스의 흐름을 이해하고 계층적으로 정리합니다.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1095451" y="4160520"/>
            <a:ext cx="17455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(Automation)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095451" y="4466844"/>
            <a:ext cx="411754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템플릿과 리마인더를 활용해 반복되는 업무와 일정을 시스템에 맡깁니다.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5079492"/>
            <a:ext cx="20976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규칙 (Collaboration)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5384902"/>
            <a:ext cx="405079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권한을 관리하고, 댓글과 멘션으로 효율적인 팀 커뮤니케이션을 수행합니다.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658307" y="1264615"/>
            <a:ext cx="5772607" cy="1238098"/>
          </a:xfrm>
          <a:prstGeom prst="roundRect">
            <a:avLst>
              <a:gd name="adj" fmla="val 909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5924398" y="1503274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48756" y="1626718"/>
            <a:ext cx="228600" cy="2286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658307" y="2686507"/>
            <a:ext cx="5772607" cy="1447495"/>
          </a:xfrm>
          <a:prstGeom prst="roundRect">
            <a:avLst>
              <a:gd name="adj" fmla="val 665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5924398" y="2924251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6062472" y="3047695"/>
            <a:ext cx="200254" cy="2286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658307" y="4324198"/>
            <a:ext cx="5772607" cy="1276502"/>
          </a:xfrm>
          <a:prstGeom prst="roundRect">
            <a:avLst>
              <a:gd name="adj" fmla="val 8553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5924398" y="4562856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6019495" y="4686300"/>
            <a:ext cx="286207" cy="2286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799625" y="4608576"/>
            <a:ext cx="476402" cy="228600"/>
          </a:xfrm>
          <a:prstGeom prst="roundRect">
            <a:avLst>
              <a:gd name="adj" fmla="val 66667"/>
            </a:avLst>
          </a:prstGeom>
          <a:solidFill>
            <a:srgbClr val="064E3B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6590995" y="1503274"/>
            <a:ext cx="220827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</a:t>
            </a:r>
            <a:r>
              <a:rPr lang="en-US" sz="13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</a:t>
            </a: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(Action Plan)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6590995" y="1823314"/>
            <a:ext cx="35286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대시보드 개선 (모바일 가독성 최적화) + 스크린샷 제출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6590995" y="2040026"/>
            <a:ext cx="34335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과제 DB에 5개 아이템 입력 후 '이번 주 마감' 뷰 공유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6590995" y="2924251"/>
            <a:ext cx="136062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학습 리소스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6590995" y="3244291"/>
            <a:ext cx="22905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Notion 공식 가이드 &amp; 도움말 센터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6590995" y="3461004"/>
            <a:ext cx="2404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전 세계 유저들의 템플릿 갤러리 탐방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6590995" y="3678631"/>
            <a:ext cx="2994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노션 한국 사용자 커뮤니티 (Facebook/Slack)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6590995" y="4562856"/>
            <a:ext cx="121798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 Session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9875520" y="4636922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MIN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6590995" y="4920386"/>
            <a:ext cx="2442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궁금한 점이 있다면 지금 질문해주세요.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6590995" y="5138014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"데이터베이스 관계 설정이 어렵다면?" / "무료 요금제 제한?"</a:t>
            </a:r>
            <a:endParaRPr lang="en-US" sz="11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useful-ai.dreamitbiz.com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2026년 1월 「생성형 AI와 창의력·복합문제능력 향상 과정」 강의안을 공개용으로 다시 묶은 것입니다.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교육 목적의 비영리 이용을 허용합니다 — 출처를 표기해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재배포·판매·변형(내용 수정 후 배포)은 허용하지 않습니다. 필요하면 먼저 문의해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문의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이애본(드림아이티비즈). 교육 목적 비영리 이용 · 출처 표기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2519</Words>
  <Application>Microsoft Office PowerPoint</Application>
  <PresentationFormat>와이드스크린</PresentationFormat>
  <Paragraphs>493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7</cp:revision>
  <dcterms:created xsi:type="dcterms:W3CDTF">2026-01-19T07:07:23Z</dcterms:created>
  <dcterms:modified xsi:type="dcterms:W3CDTF">2026-01-25T14:47:38Z</dcterms:modified>
</cp:coreProperties>
</file>