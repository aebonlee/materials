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3"/>
  </p:notesMasterIdLst>
  <p:sldIdLst>
    <p:sldId id="534" r:id="rId157"/>
    <p:sldId id="535" r:id="rId158"/>
    <p:sldId id="256" r:id="rId2"/>
    <p:sldId id="257" r:id="rId3"/>
    <p:sldId id="41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444" r:id="rId57"/>
    <p:sldId id="312" r:id="rId58"/>
    <p:sldId id="313" r:id="rId59"/>
    <p:sldId id="314" r:id="rId60"/>
    <p:sldId id="445" r:id="rId61"/>
    <p:sldId id="446" r:id="rId62"/>
    <p:sldId id="447" r:id="rId63"/>
    <p:sldId id="448" r:id="rId64"/>
    <p:sldId id="449" r:id="rId65"/>
    <p:sldId id="450" r:id="rId66"/>
    <p:sldId id="451" r:id="rId67"/>
    <p:sldId id="452" r:id="rId68"/>
    <p:sldId id="453" r:id="rId69"/>
    <p:sldId id="454" r:id="rId70"/>
    <p:sldId id="455" r:id="rId71"/>
    <p:sldId id="326" r:id="rId72"/>
    <p:sldId id="327" r:id="rId73"/>
    <p:sldId id="456" r:id="rId74"/>
    <p:sldId id="457" r:id="rId75"/>
    <p:sldId id="458" r:id="rId76"/>
    <p:sldId id="459" r:id="rId77"/>
    <p:sldId id="460" r:id="rId78"/>
    <p:sldId id="461" r:id="rId79"/>
    <p:sldId id="462" r:id="rId80"/>
    <p:sldId id="463" r:id="rId81"/>
    <p:sldId id="464" r:id="rId82"/>
    <p:sldId id="465" r:id="rId83"/>
    <p:sldId id="466" r:id="rId84"/>
    <p:sldId id="467" r:id="rId85"/>
    <p:sldId id="468" r:id="rId86"/>
    <p:sldId id="469" r:id="rId87"/>
    <p:sldId id="470" r:id="rId88"/>
    <p:sldId id="471" r:id="rId89"/>
    <p:sldId id="472" r:id="rId90"/>
    <p:sldId id="473" r:id="rId91"/>
    <p:sldId id="474" r:id="rId92"/>
    <p:sldId id="475" r:id="rId93"/>
    <p:sldId id="476" r:id="rId94"/>
    <p:sldId id="477" r:id="rId95"/>
    <p:sldId id="478" r:id="rId96"/>
    <p:sldId id="479" r:id="rId97"/>
    <p:sldId id="480" r:id="rId98"/>
    <p:sldId id="481" r:id="rId99"/>
    <p:sldId id="482" r:id="rId100"/>
    <p:sldId id="483" r:id="rId101"/>
    <p:sldId id="484" r:id="rId102"/>
    <p:sldId id="485" r:id="rId103"/>
    <p:sldId id="486" r:id="rId104"/>
    <p:sldId id="487" r:id="rId105"/>
    <p:sldId id="488" r:id="rId106"/>
    <p:sldId id="489" r:id="rId107"/>
    <p:sldId id="490" r:id="rId108"/>
    <p:sldId id="491" r:id="rId109"/>
    <p:sldId id="492" r:id="rId110"/>
    <p:sldId id="493" r:id="rId111"/>
    <p:sldId id="494" r:id="rId112"/>
    <p:sldId id="495" r:id="rId113"/>
    <p:sldId id="496" r:id="rId114"/>
    <p:sldId id="497" r:id="rId115"/>
    <p:sldId id="498" r:id="rId116"/>
    <p:sldId id="499" r:id="rId117"/>
    <p:sldId id="500" r:id="rId118"/>
    <p:sldId id="501" r:id="rId119"/>
    <p:sldId id="502" r:id="rId120"/>
    <p:sldId id="503" r:id="rId121"/>
    <p:sldId id="504" r:id="rId122"/>
    <p:sldId id="505" r:id="rId123"/>
    <p:sldId id="506" r:id="rId124"/>
    <p:sldId id="507" r:id="rId125"/>
    <p:sldId id="508" r:id="rId126"/>
    <p:sldId id="509" r:id="rId127"/>
    <p:sldId id="510" r:id="rId128"/>
    <p:sldId id="511" r:id="rId129"/>
    <p:sldId id="512" r:id="rId130"/>
    <p:sldId id="513" r:id="rId131"/>
    <p:sldId id="514" r:id="rId132"/>
    <p:sldId id="515" r:id="rId133"/>
    <p:sldId id="516" r:id="rId134"/>
    <p:sldId id="517" r:id="rId135"/>
    <p:sldId id="518" r:id="rId136"/>
    <p:sldId id="519" r:id="rId137"/>
    <p:sldId id="520" r:id="rId138"/>
    <p:sldId id="521" r:id="rId139"/>
    <p:sldId id="522" r:id="rId140"/>
    <p:sldId id="523" r:id="rId141"/>
    <p:sldId id="524" r:id="rId142"/>
    <p:sldId id="525" r:id="rId143"/>
    <p:sldId id="526" r:id="rId144"/>
    <p:sldId id="527" r:id="rId145"/>
    <p:sldId id="528" r:id="rId146"/>
    <p:sldId id="529" r:id="rId147"/>
    <p:sldId id="530" r:id="rId148"/>
    <p:sldId id="531" r:id="rId149"/>
    <p:sldId id="532" r:id="rId150"/>
    <p:sldId id="533" r:id="rId151"/>
    <p:sldId id="536" r:id="rId1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82"/>
    <p:restoredTop sz="94610"/>
  </p:normalViewPr>
  <p:slideViewPr>
    <p:cSldViewPr snapToGrid="0" snapToObjects="1">
      <p:cViewPr>
        <p:scale>
          <a:sx n="109" d="100"/>
          <a:sy n="109" d="100"/>
        </p:scale>
        <p:origin x="20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83" Type="http://schemas.openxmlformats.org/officeDocument/2006/relationships/notesMaster" Target="notesMasters/notesMaster1.xml"/><Relationship Id="rId184" Type="http://schemas.openxmlformats.org/officeDocument/2006/relationships/presProps" Target="presProps.xml"/><Relationship Id="rId185" Type="http://schemas.openxmlformats.org/officeDocument/2006/relationships/viewProps" Target="viewProps.xml"/><Relationship Id="rId186" Type="http://schemas.openxmlformats.org/officeDocument/2006/relationships/theme" Target="theme/theme1.xml"/><Relationship Id="rId1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81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e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3.jpe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eg"/><Relationship Id="rId4" Type="http://schemas.openxmlformats.org/officeDocument/2006/relationships/image" Target="../media/image17.jp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jpg"/><Relationship Id="rId10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Relationship Id="rId4" Type="http://schemas.openxmlformats.org/officeDocument/2006/relationships/image" Target="../media/image30.jpeg"/><Relationship Id="rId5" Type="http://schemas.openxmlformats.org/officeDocument/2006/relationships/image" Target="../media/image31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3.jpe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jpeg"/><Relationship Id="rId4" Type="http://schemas.openxmlformats.org/officeDocument/2006/relationships/image" Target="../media/image17.jp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22.jpg"/><Relationship Id="rId10" Type="http://schemas.openxmlformats.org/officeDocument/2006/relationships/image" Target="../media/image2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jpg"/><Relationship Id="rId4" Type="http://schemas.openxmlformats.org/officeDocument/2006/relationships/image" Target="../media/image30.jpeg"/><Relationship Id="rId5" Type="http://schemas.openxmlformats.org/officeDocument/2006/relationships/image" Target="../media/image31.png"/><Relationship Id="rId6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jpeg"/><Relationship Id="rId4" Type="http://schemas.openxmlformats.org/officeDocument/2006/relationships/image" Target="../media/image17.jp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22.jpg"/><Relationship Id="rId10" Type="http://schemas.openxmlformats.org/officeDocument/2006/relationships/image" Target="../media/image2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jp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jpg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image" Target="../media/image57.jpg"/><Relationship Id="rId10" Type="http://schemas.openxmlformats.org/officeDocument/2006/relationships/image" Target="../media/image58.png"/><Relationship Id="rId11" Type="http://schemas.openxmlformats.org/officeDocument/2006/relationships/image" Target="../media/image5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Relationship Id="rId4" Type="http://schemas.openxmlformats.org/officeDocument/2006/relationships/image" Target="../media/image13.jpe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jpeg"/><Relationship Id="rId4" Type="http://schemas.openxmlformats.org/officeDocument/2006/relationships/image" Target="../media/image17.jp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22.jpg"/><Relationship Id="rId10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Relationship Id="rId4" Type="http://schemas.openxmlformats.org/officeDocument/2006/relationships/image" Target="../media/image13.jpe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0.jpg"/><Relationship Id="rId4" Type="http://schemas.openxmlformats.org/officeDocument/2006/relationships/image" Target="../media/image30.jpeg"/><Relationship Id="rId5" Type="http://schemas.openxmlformats.org/officeDocument/2006/relationships/image" Target="../media/image31.png"/><Relationship Id="rId6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jp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69.png"/><Relationship Id="rId7" Type="http://schemas.openxmlformats.org/officeDocument/2006/relationships/image" Target="../media/image75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76.jp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e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66.png"/><Relationship Id="rId6" Type="http://schemas.openxmlformats.org/officeDocument/2006/relationships/image" Target="../media/image8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png"/><Relationship Id="rId5" Type="http://schemas.openxmlformats.org/officeDocument/2006/relationships/image" Target="../media/image93.jpg"/><Relationship Id="rId6" Type="http://schemas.openxmlformats.org/officeDocument/2006/relationships/image" Target="../media/image94.png"/><Relationship Id="rId7" Type="http://schemas.openxmlformats.org/officeDocument/2006/relationships/image" Target="../media/image95.jpg"/><Relationship Id="rId8" Type="http://schemas.openxmlformats.org/officeDocument/2006/relationships/image" Target="../media/image9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7.jpg"/><Relationship Id="rId4" Type="http://schemas.openxmlformats.org/officeDocument/2006/relationships/image" Target="../media/image98.png"/><Relationship Id="rId5" Type="http://schemas.openxmlformats.org/officeDocument/2006/relationships/image" Target="../media/image9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00.jpg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03.jpg"/><Relationship Id="rId4" Type="http://schemas.openxmlformats.org/officeDocument/2006/relationships/image" Target="../media/image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4.jpg"/><Relationship Id="rId4" Type="http://schemas.openxmlformats.org/officeDocument/2006/relationships/image" Target="../media/image3.png"/><Relationship Id="rId5" Type="http://schemas.openxmlformats.org/officeDocument/2006/relationships/image" Target="../media/image10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06.png"/><Relationship Id="rId5" Type="http://schemas.openxmlformats.org/officeDocument/2006/relationships/image" Target="../media/image81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jpg"/><Relationship Id="rId3" Type="http://schemas.openxmlformats.org/officeDocument/2006/relationships/image" Target="../media/image17.jp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18.png"/><Relationship Id="rId4" Type="http://schemas.openxmlformats.org/officeDocument/2006/relationships/image" Target="../media/image119.jp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25.jpg"/><Relationship Id="rId4" Type="http://schemas.openxmlformats.org/officeDocument/2006/relationships/image" Target="../media/image126.jpg"/><Relationship Id="rId5" Type="http://schemas.openxmlformats.org/officeDocument/2006/relationships/image" Target="../media/image127.jpg"/><Relationship Id="rId6" Type="http://schemas.openxmlformats.org/officeDocument/2006/relationships/image" Target="../media/image128.jpg"/><Relationship Id="rId7" Type="http://schemas.openxmlformats.org/officeDocument/2006/relationships/image" Target="../media/image129.jpg"/><Relationship Id="rId8" Type="http://schemas.openxmlformats.org/officeDocument/2006/relationships/image" Target="../media/image130.jpg"/><Relationship Id="rId9" Type="http://schemas.openxmlformats.org/officeDocument/2006/relationships/image" Target="../media/image131.jpg"/><Relationship Id="rId10" Type="http://schemas.openxmlformats.org/officeDocument/2006/relationships/image" Target="../media/image132.jpg"/><Relationship Id="rId11" Type="http://schemas.openxmlformats.org/officeDocument/2006/relationships/image" Target="../media/image22.jpg"/><Relationship Id="rId12" Type="http://schemas.openxmlformats.org/officeDocument/2006/relationships/image" Target="../media/image2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4.jpg"/><Relationship Id="rId4" Type="http://schemas.openxmlformats.org/officeDocument/2006/relationships/image" Target="../media/image3.png"/><Relationship Id="rId5" Type="http://schemas.openxmlformats.org/officeDocument/2006/relationships/image" Target="../media/image10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33.png"/><Relationship Id="rId5" Type="http://schemas.openxmlformats.org/officeDocument/2006/relationships/image" Target="../media/image46.png"/><Relationship Id="rId6" Type="http://schemas.openxmlformats.org/officeDocument/2006/relationships/image" Target="../media/image112.png"/><Relationship Id="rId7" Type="http://schemas.openxmlformats.org/officeDocument/2006/relationships/image" Target="../media/image134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jpg"/><Relationship Id="rId3" Type="http://schemas.openxmlformats.org/officeDocument/2006/relationships/image" Target="../media/image17.jpg"/><Relationship Id="rId4" Type="http://schemas.openxmlformats.org/officeDocument/2006/relationships/image" Target="../media/image135.png"/><Relationship Id="rId5" Type="http://schemas.openxmlformats.org/officeDocument/2006/relationships/image" Target="../media/image116.png"/><Relationship Id="rId6" Type="http://schemas.openxmlformats.org/officeDocument/2006/relationships/image" Target="../media/image136.png"/><Relationship Id="rId7" Type="http://schemas.openxmlformats.org/officeDocument/2006/relationships/image" Target="../media/image117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46.png"/><Relationship Id="rId6" Type="http://schemas.openxmlformats.org/officeDocument/2006/relationships/image" Target="../media/image137.png"/><Relationship Id="rId7" Type="http://schemas.openxmlformats.org/officeDocument/2006/relationships/image" Target="../media/image11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38.png"/><Relationship Id="rId5" Type="http://schemas.openxmlformats.org/officeDocument/2006/relationships/image" Target="../media/image68.png"/><Relationship Id="rId6" Type="http://schemas.openxmlformats.org/officeDocument/2006/relationships/image" Target="../media/image139.png"/><Relationship Id="rId7" Type="http://schemas.openxmlformats.org/officeDocument/2006/relationships/image" Target="../media/image117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0.jpg"/><Relationship Id="rId3" Type="http://schemas.openxmlformats.org/officeDocument/2006/relationships/image" Target="../media/image17.jpg"/><Relationship Id="rId4" Type="http://schemas.openxmlformats.org/officeDocument/2006/relationships/image" Target="../media/image141.png"/><Relationship Id="rId5" Type="http://schemas.openxmlformats.org/officeDocument/2006/relationships/image" Target="../media/image107.png"/><Relationship Id="rId6" Type="http://schemas.openxmlformats.org/officeDocument/2006/relationships/image" Target="../media/image136.png"/><Relationship Id="rId7" Type="http://schemas.openxmlformats.org/officeDocument/2006/relationships/image" Target="../media/image11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42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43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3" Type="http://schemas.openxmlformats.org/officeDocument/2006/relationships/image" Target="../media/image17.jpg"/><Relationship Id="rId4" Type="http://schemas.openxmlformats.org/officeDocument/2006/relationships/image" Target="../media/image144.png"/><Relationship Id="rId5" Type="http://schemas.openxmlformats.org/officeDocument/2006/relationships/image" Target="../media/image107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39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4.jpg"/><Relationship Id="rId3" Type="http://schemas.openxmlformats.org/officeDocument/2006/relationships/image" Target="../media/image12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55.png"/><Relationship Id="rId4" Type="http://schemas.openxmlformats.org/officeDocument/2006/relationships/image" Target="../media/image15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eg"/><Relationship Id="rId4" Type="http://schemas.openxmlformats.org/officeDocument/2006/relationships/image" Target="../media/image161.png"/><Relationship Id="rId5" Type="http://schemas.openxmlformats.org/officeDocument/2006/relationships/image" Target="../media/image1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2.png"/><Relationship Id="rId6" Type="http://schemas.openxmlformats.org/officeDocument/2006/relationships/image" Target="../media/image8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88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Relationship Id="rId8" Type="http://schemas.openxmlformats.org/officeDocument/2006/relationships/image" Target="../media/image1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png"/><Relationship Id="rId5" Type="http://schemas.openxmlformats.org/officeDocument/2006/relationships/image" Target="../media/image168.jpg"/><Relationship Id="rId6" Type="http://schemas.openxmlformats.org/officeDocument/2006/relationships/image" Target="../media/image94.png"/><Relationship Id="rId7" Type="http://schemas.openxmlformats.org/officeDocument/2006/relationships/image" Target="../media/image95.jpg"/><Relationship Id="rId8" Type="http://schemas.openxmlformats.org/officeDocument/2006/relationships/image" Target="../media/image96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69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172.jpg"/><Relationship Id="rId4" Type="http://schemas.openxmlformats.org/officeDocument/2006/relationships/image" Target="../media/image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173.jpg"/><Relationship Id="rId4" Type="http://schemas.openxmlformats.org/officeDocument/2006/relationships/image" Target="../media/image98.png"/><Relationship Id="rId5" Type="http://schemas.openxmlformats.org/officeDocument/2006/relationships/image" Target="../media/image10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4.jpg"/><Relationship Id="rId4" Type="http://schemas.openxmlformats.org/officeDocument/2006/relationships/image" Target="../media/image161.png"/><Relationship Id="rId5" Type="http://schemas.openxmlformats.org/officeDocument/2006/relationships/image" Target="../media/image16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g"/><Relationship Id="rId4" Type="http://schemas.openxmlformats.org/officeDocument/2006/relationships/image" Target="../media/image174.png"/><Relationship Id="rId5" Type="http://schemas.openxmlformats.org/officeDocument/2006/relationships/image" Target="../media/image137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77.png"/><Relationship Id="rId4" Type="http://schemas.openxmlformats.org/officeDocument/2006/relationships/image" Target="../media/image178.jp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82.png"/><Relationship Id="rId4" Type="http://schemas.openxmlformats.org/officeDocument/2006/relationships/image" Target="../media/image44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4.jpg"/><Relationship Id="rId4" Type="http://schemas.openxmlformats.org/officeDocument/2006/relationships/image" Target="../media/image3.png"/><Relationship Id="rId5" Type="http://schemas.openxmlformats.org/officeDocument/2006/relationships/image" Target="../media/image10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5.jpg"/><Relationship Id="rId3" Type="http://schemas.openxmlformats.org/officeDocument/2006/relationships/image" Target="../media/image186.png"/><Relationship Id="rId4" Type="http://schemas.openxmlformats.org/officeDocument/2006/relationships/image" Target="../media/image65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187.jp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88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1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jpg"/><Relationship Id="rId3" Type="http://schemas.openxmlformats.org/officeDocument/2006/relationships/image" Target="../media/image196.jpg"/><Relationship Id="rId4" Type="http://schemas.openxmlformats.org/officeDocument/2006/relationships/image" Target="../media/image197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98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9.jpg"/><Relationship Id="rId3" Type="http://schemas.openxmlformats.org/officeDocument/2006/relationships/image" Target="../media/image17.jpg"/><Relationship Id="rId4" Type="http://schemas.openxmlformats.org/officeDocument/2006/relationships/image" Target="../media/image138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3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04.png"/><Relationship Id="rId4" Type="http://schemas.openxmlformats.org/officeDocument/2006/relationships/image" Target="../media/image205.jpg"/><Relationship Id="rId5" Type="http://schemas.openxmlformats.org/officeDocument/2006/relationships/image" Target="../media/image206.jpg"/><Relationship Id="rId6" Type="http://schemas.openxmlformats.org/officeDocument/2006/relationships/image" Target="../media/image207.jpg"/><Relationship Id="rId7" Type="http://schemas.openxmlformats.org/officeDocument/2006/relationships/image" Target="../media/image208.jpg"/><Relationship Id="rId8" Type="http://schemas.openxmlformats.org/officeDocument/2006/relationships/image" Target="../media/image209.png"/><Relationship Id="rId9" Type="http://schemas.openxmlformats.org/officeDocument/2006/relationships/image" Target="../media/image210.jpg"/><Relationship Id="rId10" Type="http://schemas.openxmlformats.org/officeDocument/2006/relationships/image" Target="../media/image211.jpg"/><Relationship Id="rId11" Type="http://schemas.openxmlformats.org/officeDocument/2006/relationships/image" Target="../media/image212.png"/><Relationship Id="rId12" Type="http://schemas.openxmlformats.org/officeDocument/2006/relationships/image" Target="../media/image213.png"/><Relationship Id="rId13" Type="http://schemas.openxmlformats.org/officeDocument/2006/relationships/image" Target="../media/image214.png"/><Relationship Id="rId14" Type="http://schemas.openxmlformats.org/officeDocument/2006/relationships/image" Target="../media/image215.jpg"/><Relationship Id="rId15" Type="http://schemas.openxmlformats.org/officeDocument/2006/relationships/image" Target="../media/image216.png"/><Relationship Id="rId16" Type="http://schemas.openxmlformats.org/officeDocument/2006/relationships/image" Target="../media/image217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18.jp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24.png"/><Relationship Id="rId4" Type="http://schemas.openxmlformats.org/officeDocument/2006/relationships/image" Target="../media/image225.png"/><Relationship Id="rId5" Type="http://schemas.openxmlformats.org/officeDocument/2006/relationships/image" Target="../media/image226.png"/><Relationship Id="rId6" Type="http://schemas.openxmlformats.org/officeDocument/2006/relationships/image" Target="../media/image227.png"/><Relationship Id="rId7" Type="http://schemas.openxmlformats.org/officeDocument/2006/relationships/image" Target="../media/image228.png"/><Relationship Id="rId8" Type="http://schemas.openxmlformats.org/officeDocument/2006/relationships/image" Target="../media/image22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36.jpg"/><Relationship Id="rId4" Type="http://schemas.openxmlformats.org/officeDocument/2006/relationships/image" Target="../media/image237.png"/><Relationship Id="rId5" Type="http://schemas.openxmlformats.org/officeDocument/2006/relationships/image" Target="../media/image23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9.jpg"/><Relationship Id="rId3" Type="http://schemas.openxmlformats.org/officeDocument/2006/relationships/image" Target="../media/image240.jpg"/><Relationship Id="rId4" Type="http://schemas.openxmlformats.org/officeDocument/2006/relationships/image" Target="../media/image241.png"/><Relationship Id="rId5" Type="http://schemas.openxmlformats.org/officeDocument/2006/relationships/image" Target="../media/image242.jpg"/><Relationship Id="rId6" Type="http://schemas.openxmlformats.org/officeDocument/2006/relationships/image" Target="../media/image94.png"/><Relationship Id="rId7" Type="http://schemas.openxmlformats.org/officeDocument/2006/relationships/image" Target="../media/image95.jpg"/><Relationship Id="rId8" Type="http://schemas.openxmlformats.org/officeDocument/2006/relationships/image" Target="../media/image96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43.jpg"/><Relationship Id="rId4" Type="http://schemas.openxmlformats.org/officeDocument/2006/relationships/image" Target="../media/image244.png"/><Relationship Id="rId5" Type="http://schemas.openxmlformats.org/officeDocument/2006/relationships/image" Target="../media/image245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246.jpg"/><Relationship Id="rId4" Type="http://schemas.openxmlformats.org/officeDocument/2006/relationships/image" Target="../media/image7.jpg"/><Relationship Id="rId5" Type="http://schemas.openxmlformats.org/officeDocument/2006/relationships/image" Target="../media/image247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eg"/><Relationship Id="rId4" Type="http://schemas.openxmlformats.org/officeDocument/2006/relationships/image" Target="../media/image248.png"/><Relationship Id="rId5" Type="http://schemas.openxmlformats.org/officeDocument/2006/relationships/image" Target="../media/image24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250.jpg"/><Relationship Id="rId4" Type="http://schemas.openxmlformats.org/officeDocument/2006/relationships/image" Target="../media/image7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51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52.jpg"/><Relationship Id="rId4" Type="http://schemas.openxmlformats.org/officeDocument/2006/relationships/image" Target="../media/image253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4.jpg"/><Relationship Id="rId3" Type="http://schemas.openxmlformats.org/officeDocument/2006/relationships/image" Target="../media/image17.jp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65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3" Type="http://schemas.openxmlformats.org/officeDocument/2006/relationships/image" Target="../media/image17.jp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34.png"/><Relationship Id="rId7" Type="http://schemas.openxmlformats.org/officeDocument/2006/relationships/image" Target="../media/image261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2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66.png"/><Relationship Id="rId4" Type="http://schemas.openxmlformats.org/officeDocument/2006/relationships/image" Target="../media/image7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139.png"/><Relationship Id="rId4" Type="http://schemas.openxmlformats.org/officeDocument/2006/relationships/image" Target="../media/image267.png"/><Relationship Id="rId5" Type="http://schemas.openxmlformats.org/officeDocument/2006/relationships/image" Target="../media/image159.png"/><Relationship Id="rId6" Type="http://schemas.openxmlformats.org/officeDocument/2006/relationships/image" Target="../media/image15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68.jpg"/><Relationship Id="rId4" Type="http://schemas.openxmlformats.org/officeDocument/2006/relationships/image" Target="../media/image161.png"/><Relationship Id="rId5" Type="http://schemas.openxmlformats.org/officeDocument/2006/relationships/image" Target="../media/image16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69.jp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70.jp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3" Type="http://schemas.openxmlformats.org/officeDocument/2006/relationships/image" Target="../media/image17.jpg"/><Relationship Id="rId4" Type="http://schemas.openxmlformats.org/officeDocument/2006/relationships/image" Target="../media/image271.png"/><Relationship Id="rId5" Type="http://schemas.openxmlformats.org/officeDocument/2006/relationships/image" Target="../media/image272.png"/><Relationship Id="rId6" Type="http://schemas.openxmlformats.org/officeDocument/2006/relationships/image" Target="../media/image273.png"/><Relationship Id="rId7" Type="http://schemas.openxmlformats.org/officeDocument/2006/relationships/image" Target="../media/image274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75.jpg"/><Relationship Id="rId4" Type="http://schemas.openxmlformats.org/officeDocument/2006/relationships/image" Target="../media/image276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66.png"/><Relationship Id="rId4" Type="http://schemas.openxmlformats.org/officeDocument/2006/relationships/image" Target="../media/image107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79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Relationship Id="rId6" Type="http://schemas.openxmlformats.org/officeDocument/2006/relationships/image" Target="../media/image28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1.png"/><Relationship Id="rId4" Type="http://schemas.openxmlformats.org/officeDocument/2006/relationships/image" Target="../media/image283.png"/><Relationship Id="rId5" Type="http://schemas.openxmlformats.org/officeDocument/2006/relationships/image" Target="../media/image160.png"/><Relationship Id="rId6" Type="http://schemas.openxmlformats.org/officeDocument/2006/relationships/image" Target="../media/image157.png"/><Relationship Id="rId7" Type="http://schemas.openxmlformats.org/officeDocument/2006/relationships/image" Target="../media/image66.png"/><Relationship Id="rId8" Type="http://schemas.openxmlformats.org/officeDocument/2006/relationships/image" Target="../media/image257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284.png"/><Relationship Id="rId4" Type="http://schemas.openxmlformats.org/officeDocument/2006/relationships/image" Target="../media/image65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98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5.jpg"/><Relationship Id="rId3" Type="http://schemas.openxmlformats.org/officeDocument/2006/relationships/image" Target="../media/image17.jpg"/><Relationship Id="rId4" Type="http://schemas.openxmlformats.org/officeDocument/2006/relationships/image" Target="../media/image138.png"/><Relationship Id="rId5" Type="http://schemas.openxmlformats.org/officeDocument/2006/relationships/image" Target="../media/image256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88.png"/><Relationship Id="rId6" Type="http://schemas.openxmlformats.org/officeDocument/2006/relationships/image" Target="../media/image289.png"/><Relationship Id="rId7" Type="http://schemas.openxmlformats.org/officeDocument/2006/relationships/image" Target="../media/image29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81.png"/><Relationship Id="rId4" Type="http://schemas.openxmlformats.org/officeDocument/2006/relationships/image" Target="../media/image283.png"/><Relationship Id="rId5" Type="http://schemas.openxmlformats.org/officeDocument/2006/relationships/image" Target="../media/image107.png"/><Relationship Id="rId6" Type="http://schemas.openxmlformats.org/officeDocument/2006/relationships/image" Target="../media/image112.png"/><Relationship Id="rId7" Type="http://schemas.openxmlformats.org/officeDocument/2006/relationships/image" Target="../media/image291.png"/><Relationship Id="rId8" Type="http://schemas.openxmlformats.org/officeDocument/2006/relationships/image" Target="../media/image20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292.jpg"/><Relationship Id="rId4" Type="http://schemas.openxmlformats.org/officeDocument/2006/relationships/image" Target="../media/image31.png"/><Relationship Id="rId5" Type="http://schemas.openxmlformats.org/officeDocument/2006/relationships/image" Target="../media/image15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jpg"/><Relationship Id="rId3" Type="http://schemas.openxmlformats.org/officeDocument/2006/relationships/image" Target="../media/image293.png"/><Relationship Id="rId4" Type="http://schemas.openxmlformats.org/officeDocument/2006/relationships/image" Target="../media/image65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299.png"/><Relationship Id="rId4" Type="http://schemas.openxmlformats.org/officeDocument/2006/relationships/image" Target="../media/image300.png"/><Relationship Id="rId5" Type="http://schemas.openxmlformats.org/officeDocument/2006/relationships/image" Target="../media/image301.png"/><Relationship Id="rId6" Type="http://schemas.openxmlformats.org/officeDocument/2006/relationships/image" Target="../media/image30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303.png"/><Relationship Id="rId4" Type="http://schemas.openxmlformats.org/officeDocument/2006/relationships/image" Target="../media/image304.jpg"/><Relationship Id="rId5" Type="http://schemas.openxmlformats.org/officeDocument/2006/relationships/image" Target="../media/image305.png"/><Relationship Id="rId6" Type="http://schemas.openxmlformats.org/officeDocument/2006/relationships/image" Target="../media/image306.jpg"/><Relationship Id="rId7" Type="http://schemas.openxmlformats.org/officeDocument/2006/relationships/image" Target="../media/image307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Relationship Id="rId3" Type="http://schemas.openxmlformats.org/officeDocument/2006/relationships/image" Target="../media/image308.png"/><Relationship Id="rId4" Type="http://schemas.openxmlformats.org/officeDocument/2006/relationships/image" Target="../media/image309.png"/><Relationship Id="rId5" Type="http://schemas.openxmlformats.org/officeDocument/2006/relationships/image" Target="../media/image310.png"/><Relationship Id="rId6" Type="http://schemas.openxmlformats.org/officeDocument/2006/relationships/image" Target="../media/image230.png"/><Relationship Id="rId7" Type="http://schemas.openxmlformats.org/officeDocument/2006/relationships/image" Target="../media/image311.png"/><Relationship Id="rId8" Type="http://schemas.openxmlformats.org/officeDocument/2006/relationships/image" Target="../media/image234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Relationship Id="rId3" Type="http://schemas.openxmlformats.org/officeDocument/2006/relationships/image" Target="../media/image3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Relationship Id="rId4" Type="http://schemas.openxmlformats.org/officeDocument/2006/relationships/image" Target="../media/image92.png"/><Relationship Id="rId5" Type="http://schemas.openxmlformats.org/officeDocument/2006/relationships/image" Target="../media/image312.jpg"/><Relationship Id="rId6" Type="http://schemas.openxmlformats.org/officeDocument/2006/relationships/image" Target="../media/image94.png"/><Relationship Id="rId7" Type="http://schemas.openxmlformats.org/officeDocument/2006/relationships/image" Target="../media/image95.jpg"/><Relationship Id="rId8" Type="http://schemas.openxmlformats.org/officeDocument/2006/relationships/image" Target="../media/image96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213f02177430c5c84bbc16283ad626b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15243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1476756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15243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9213f02177430c5c84bbc16283ad626b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5143500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5095951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5143500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215781c430526ad741e452647961928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805" y="1524305"/>
            <a:ext cx="3619195" cy="3619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39805" y="1333195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9695" y="4953305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1047902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양적 연구 AI 활용 과정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904695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365553"/>
            <a:ext cx="6667805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</a:t>
            </a: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</a:t>
            </a:r>
            <a:r>
              <a:rPr lang="en-US" sz="5400" dirty="0"/>
              <a:t> </a:t>
            </a: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</a:t>
            </a: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endParaRPr lang="en-US" sz="5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429707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대학원생·성인학습자·연구자·교수자 | 형식: 5시간 실습 중심 과정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781751"/>
            <a:ext cx="76745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목표: 양적 연구 전체 설계 흐름을 이해하고, AI와 연구 설계의 구조적 통합을 실습합니다</a:t>
            </a:r>
            <a:endParaRPr lang="en-US" sz="1300" dirty="0"/>
          </a:p>
        </p:txBody>
      </p:sp>
      <p:pic>
        <p:nvPicPr>
          <p:cNvPr id="20" name="Image 3" descr="gen-dedup-2569a2d878a0df1c84875feb6d9ceba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354105" y="1447495"/>
            <a:ext cx="152705" cy="152705"/>
          </a:xfrm>
          <a:prstGeom prst="rect">
            <a:avLst/>
          </a:prstGeom>
        </p:spPr>
      </p:pic>
      <p:pic>
        <p:nvPicPr>
          <p:cNvPr id="21" name="Image 4" descr="gen-dedup-9eb040316f77491b1beb5c439b3232d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33995" y="5067605"/>
            <a:ext cx="152705" cy="152705"/>
          </a:xfrm>
          <a:prstGeom prst="rect">
            <a:avLst/>
          </a:prstGeom>
        </p:spPr>
      </p:pic>
      <p:sp>
        <p:nvSpPr>
          <p:cNvPr id="22" name="C 저자"/>
          <p:cNvSpPr txBox="1"/>
          <p:nvPr/>
        </p:nvSpPr>
        <p:spPr>
          <a:xfrm>
            <a:off x="7112000" y="6121400"/>
            <a:ext cx="4318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sz="1300" b="1">
                <a:solidFill>
                  <a:srgbClr val="2B6CB0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ac30c8d9bd0ee3b4b4f3747fcdca137e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5524805" y="952805"/>
            <a:ext cx="38405" cy="4953305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333195"/>
            <a:ext cx="190195" cy="190195"/>
          </a:xfrm>
          <a:prstGeom prst="ellipse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572207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5048402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구조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20시간 4개 모듈 과정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5905195" y="1238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1. (5H)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1505102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양적 연구 설계 통합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2476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2. (5H)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743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 결과 해석 AI 보조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3. (5H)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3981298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시각화와 Figure AI 생성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49533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4. (5H)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521939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통합 완성</a:t>
            </a:r>
            <a:endParaRPr lang="en-US" sz="2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68fa6a8c5181021a5e6f5473aad57f50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3810305"/>
            <a:ext cx="10668305" cy="9144"/>
          </a:xfrm>
          <a:prstGeom prst="rect">
            <a:avLst/>
          </a:prstGeom>
        </p:spPr>
      </p:pic>
      <p:pic>
        <p:nvPicPr>
          <p:cNvPr id="7" name="Image 1" descr="gen-dedup-68fa6a8c5181021a5e6f5473aad57f50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76349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638751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401154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163556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876349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638751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401154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163556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gen-dedup-0c166c4824e8042bebd13498acb2f4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1190549"/>
            <a:ext cx="3048514" cy="20482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9195" y="9336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71500" y="2952598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gen-dedup-c25084426923fc9bb88afd81082218bc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3724351" y="1047902"/>
            <a:ext cx="171907" cy="152705"/>
          </a:xfrm>
          <a:prstGeom prst="rect">
            <a:avLst/>
          </a:prstGeom>
        </p:spPr>
      </p:pic>
      <p:pic>
        <p:nvPicPr>
          <p:cNvPr id="20" name="Image 4" descr="gen-dedup-216972b76dbc12e9685ee356d80e57f9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94944" y="3066898"/>
            <a:ext cx="133502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381805" y="1380744"/>
            <a:ext cx="6667805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63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설계 흐름 이해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813300"/>
            <a:ext cx="238201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전체 설계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이해합니다.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524098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3524098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연구문제·가설·변수 설계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4098" y="4813300"/>
            <a:ext cx="238201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문제, 가설, 독립·종속·제어변수 구조를 명확하게 설계합니다.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286500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86500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변수-자료-측정 연결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286500" y="4813300"/>
            <a:ext cx="238201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유형에 따른 자료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수준을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정확하게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연결합니다.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48902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048902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측정도구 설계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048902" y="4813300"/>
            <a:ext cx="238201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측정도구와 설문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초안 생성하고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역량을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갖춥니다.</a:t>
            </a:r>
            <a:endParaRPr lang="en-US" sz="1200" dirty="0"/>
          </a:p>
        </p:txBody>
      </p:sp>
      <p:sp>
        <p:nvSpPr>
          <p:cNvPr id="3" name="오른쪽 화살표[R] 2">
            <a:extLst>
              <a:ext uri="{FF2B5EF4-FFF2-40B4-BE49-F238E27FC236}">
                <a16:creationId xmlns:a16="http://schemas.microsoft.com/office/drawing/2014/main" id="{961C57C5-E9A4-6942-9C7C-A1817E5EB586}"/>
              </a:ext>
            </a:extLst>
          </p:cNvPr>
          <p:cNvSpPr/>
          <p:nvPr/>
        </p:nvSpPr>
        <p:spPr>
          <a:xfrm>
            <a:off x="1854200" y="3454400"/>
            <a:ext cx="203200" cy="2032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8669188-4154-7543-8892-82F0F4CFE576}"/>
              </a:ext>
            </a:extLst>
          </p:cNvPr>
          <p:cNvSpPr/>
          <p:nvPr/>
        </p:nvSpPr>
        <p:spPr>
          <a:xfrm>
            <a:off x="4610100" y="3454400"/>
            <a:ext cx="203200" cy="203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십자형[C] 40">
            <a:extLst>
              <a:ext uri="{FF2B5EF4-FFF2-40B4-BE49-F238E27FC236}">
                <a16:creationId xmlns:a16="http://schemas.microsoft.com/office/drawing/2014/main" id="{F31B452A-CF45-B14B-A7B5-B24ACCC81971}"/>
              </a:ext>
            </a:extLst>
          </p:cNvPr>
          <p:cNvSpPr/>
          <p:nvPr/>
        </p:nvSpPr>
        <p:spPr>
          <a:xfrm>
            <a:off x="7378700" y="3454400"/>
            <a:ext cx="203200" cy="203200"/>
          </a:xfrm>
          <a:prstGeom prst="plus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4641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ac30c8d9bd0ee3b4b4f3747fcdca137e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5524805" y="952805"/>
            <a:ext cx="38405" cy="4953305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143000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190902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238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4286707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5447995" y="533369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</a:t>
            </a:r>
            <a:endParaRPr lang="en-US" sz="54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5시간 실습 중심 과정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1047902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1. (1H)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1285646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이해와 설계 흐름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095805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2. (1H)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2333549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문제·가설·변수 구조 설계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3143707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3. (1H)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3381451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변수·자료 유형·측정 수준 연결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4190695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4. (1H)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905195" y="4429354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측정도구 및 설문 설계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5905195" y="5238598"/>
            <a:ext cx="6096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5. (1H)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905195" y="5477256"/>
            <a:ext cx="6096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24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a190fa53b9886b3139b803190d0e1668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923544" y="2400300"/>
            <a:ext cx="152705" cy="152705"/>
          </a:xfrm>
          <a:prstGeom prst="rect">
            <a:avLst/>
          </a:prstGeom>
        </p:spPr>
      </p:pic>
      <p:pic>
        <p:nvPicPr>
          <p:cNvPr id="16" name="Image 4" descr="gen-dedup-0822663052c1752f50b718428909f459.png"/>
          <p:cNvPicPr>
            <a:picLocks noChangeAspect="1"/>
          </p:cNvPicPr>
          <p:nvPr/>
        </p:nvPicPr>
        <p:blipFill>
          <a:blip r:embed="rId6"/>
          <a:srcRect l="-16666" r="-16666"/>
          <a:stretch/>
        </p:blipFill>
        <p:spPr>
          <a:xfrm>
            <a:off x="11115446" y="2400300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950062" y="3696005"/>
            <a:ext cx="10291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연구의 이해와 설계 흐름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43500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개념, 비교, 전체 설계 프로세스, AI의 역할과 한계를 구조적으로 살펴봅니다.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개념과 특징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8814ad8447565c163b0d7b2d7272010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수량화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현상을 수치로 변환하여 체계적으로 측정하고 분석하는 연구 접근법입니다.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23cb622f1fe2e4c713b8d2b3ed40856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81728" y="2467051"/>
            <a:ext cx="237744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객관성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 주관을 배제하고 표준화된 절차와 도구로 데이터를 수집합니다.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0abf0ef649c33ff0bfa3c981d5570f2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일반화 가능성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705368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 결과를 모집단에 확장 적용할 수 있는 통계적 추론 지향 방식을 사용합니다.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4b5eb3bcc904d23e6f52b3216babe679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4714646" y="5134356"/>
            <a:ext cx="171907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 중심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72815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이론에서 도출된 가설을 실제 데이터를 수집하여 검증하는 연역적 접근입니다.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10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39666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1435067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13915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2177560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39666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1435067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13915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2177560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95805" y="5759265"/>
            <a:ext cx="8001000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222434" y="269236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1222434" y="340651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1222434" y="412066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1222434" y="4834806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247486" y="269236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247486" y="340651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247486" y="4120660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247486" y="4834806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93028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vs 질적 연구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161520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460178" y="261555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460178" y="290176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검증, 인과관계 규명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460178" y="33297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460178" y="361591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수치, 통계적 자료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460178" y="404476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460178" y="433005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통계적 추론, 수학적 모델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460178" y="475891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460178" y="50442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일반화 가능, 재현성 높음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161520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질적 연구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486145" y="261555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486145" y="290176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현상 이해, 의미 해석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486145" y="33297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486145" y="361591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텍스트, 관찰, 면담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486145" y="404476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486145" y="433005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분석, 코딩, 해석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486145" y="475891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486145" y="50442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맥락적 이해, 풍부한 기술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333695" y="3378167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095805" y="5901911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양적·질적 연구는 대립이 아닌 상호보완적 관계입니다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49263" y="1809597"/>
            <a:ext cx="10354056" cy="3153765"/>
          </a:xfrm>
          <a:prstGeom prst="roundRect">
            <a:avLst>
              <a:gd name="adj" fmla="val 14410"/>
            </a:avLst>
          </a:prstGeom>
          <a:solidFill>
            <a:srgbClr val="90CDF4">
              <a:alpha val="5000"/>
            </a:srgbClr>
          </a:solidFill>
          <a:ln w="38100">
            <a:solidFill>
              <a:srgbClr val="90CD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473568" y="5333695"/>
            <a:ext cx="7696505" cy="761695"/>
          </a:xfrm>
          <a:prstGeom prst="roundRect">
            <a:avLst>
              <a:gd name="adj" fmla="val 36014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473568" y="5333695"/>
            <a:ext cx="75895" cy="761695"/>
          </a:xfrm>
          <a:prstGeom prst="roundRect">
            <a:avLst>
              <a:gd name="adj" fmla="val 361447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40373" y="20958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496338adb52828cfe0b087109ad76bf0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3325789" y="2381098"/>
            <a:ext cx="200254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06763" y="20958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gen-dedup-496338adb52828cfe0b087109ad76bf0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993094" y="2381098"/>
            <a:ext cx="200254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474068" y="20958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gen-dedup-496338adb52828cfe0b087109ad76bf0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8660398" y="2381098"/>
            <a:ext cx="200254" cy="2286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141373" y="20958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6" descr="gen-dedup-d815433513cb3229952f722e5c947ab0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008224" y="3238805"/>
            <a:ext cx="171907" cy="22860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9141373" y="38103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7" descr="gen-dedup-6a4cb15c1ceb8a7eb20a6cb3b69ac99c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8660398" y="4095598"/>
            <a:ext cx="200254" cy="22860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6474068" y="38103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8" descr="gen-dedup-6a4cb15c1ceb8a7eb20a6cb3b69ac99c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5993094" y="4095598"/>
            <a:ext cx="200254" cy="22860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806763" y="38103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9" descr="gen-dedup-6a4cb15c1ceb8a7eb20a6cb3b69ac99c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3325789" y="4095598"/>
            <a:ext cx="200254" cy="2286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1140373" y="3810305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5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전체 설계 흐름도</a:t>
            </a:r>
            <a:endParaRPr lang="en-US" sz="3100" dirty="0"/>
          </a:p>
        </p:txBody>
      </p:sp>
      <p:sp>
        <p:nvSpPr>
          <p:cNvPr id="28" name="Text 16"/>
          <p:cNvSpPr txBox="1"/>
          <p:nvPr/>
        </p:nvSpPr>
        <p:spPr>
          <a:xfrm>
            <a:off x="1187922" y="23335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연구문제 정의</a:t>
            </a:r>
            <a:endParaRPr lang="en-US" sz="1500" dirty="0"/>
          </a:p>
        </p:txBody>
      </p:sp>
      <p:sp>
        <p:nvSpPr>
          <p:cNvPr id="29" name="Text 17"/>
          <p:cNvSpPr txBox="1"/>
          <p:nvPr/>
        </p:nvSpPr>
        <p:spPr>
          <a:xfrm>
            <a:off x="3854312" y="23335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가설 설정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6521617" y="23335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변수 정의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9188922" y="23335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측정도구 설계</a:t>
            </a:r>
            <a:endParaRPr lang="en-US" sz="1500" dirty="0"/>
          </a:p>
        </p:txBody>
      </p:sp>
      <p:sp>
        <p:nvSpPr>
          <p:cNvPr id="32" name="Text 20"/>
          <p:cNvSpPr txBox="1"/>
          <p:nvPr/>
        </p:nvSpPr>
        <p:spPr>
          <a:xfrm>
            <a:off x="9188922" y="40480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표본 설계</a:t>
            </a:r>
            <a:endParaRPr lang="en-US" sz="1500" dirty="0"/>
          </a:p>
        </p:txBody>
      </p:sp>
      <p:sp>
        <p:nvSpPr>
          <p:cNvPr id="33" name="Text 21"/>
          <p:cNvSpPr txBox="1"/>
          <p:nvPr/>
        </p:nvSpPr>
        <p:spPr>
          <a:xfrm>
            <a:off x="6521617" y="40480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6. 데이터 수집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3854312" y="4048049"/>
            <a:ext cx="1810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7. 통계 분석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1114770" y="4048049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8. 결과 해석·보고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2290688" y="5572354"/>
            <a:ext cx="7986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1에서는 점선 박스로 표시된 </a:t>
            </a:r>
            <a:r>
              <a:rPr lang="en-US" sz="18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1~4단계(설계 영역)</a:t>
            </a: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에 집중합니다.</a:t>
            </a:r>
            <a:endParaRPr lang="en-US" sz="18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561258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5640933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561258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2695651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369600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4695444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11182198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gen-dedup-e9eea8207c8107ccce56c051916b62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8" y="3524098"/>
            <a:ext cx="4287486" cy="247619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3339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333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5016500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도울 수 있는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단계</a:t>
            </a:r>
            <a:endParaRPr lang="en-US" sz="48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75995" y="3448202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6"/>
          <a:srcRect l="-16666" r="-16666"/>
          <a:stretch/>
        </p:blipFill>
        <p:spPr>
          <a:xfrm>
            <a:off x="4876495" y="3448202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577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문헌 스캐닝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11905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관련 논문과 이론적 배경을 빠르게 탐색하고 요약합니다.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5714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연구문제 정교화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190902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모호한 질문을 구체적이고 측정 가능한 형태로 다듬습니다.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857500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변수 정의 초안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191256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독립·종속·제어변수의 운영적 정의를 제안합니다.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85785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설문 문항 초안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190695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변수에 맞는 설문 문항과 척도를 자동 생성합니다.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8582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분석 계획 가이드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715000" y="51910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변수와 자료 유형에 적합한 통계 분석법을 안내합니다.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715000" y="5952744"/>
            <a:ext cx="56199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'초안 생성기'이며, 최종 판단은 연구자의 몫입니다.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활용의 한계와 연구자 역할</a:t>
            </a:r>
            <a:endParaRPr lang="en-US" sz="3600" dirty="0"/>
          </a:p>
        </p:txBody>
      </p:sp>
      <p:pic>
        <p:nvPicPr>
          <p:cNvPr id="14" name="Image 1" descr="gen-dedup-15303f4aa6562291d22b25eae207835e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1867205" y="2428646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 판단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이론적 프레임워크의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적합성을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스스로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평가할 수 없으며,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학문적 판단이 필수입니다.</a:t>
            </a:r>
            <a:endParaRPr lang="en-US" sz="1300" dirty="0"/>
          </a:p>
        </p:txBody>
      </p:sp>
      <p:pic>
        <p:nvPicPr>
          <p:cNvPr id="17" name="Image 2" descr="gen-dedup-c1e726944e730f298a5858a70852bad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윤리적 검토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윤리(IRB), 참여자 보호, 동의 절차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직접 설계해야 합니다.</a:t>
            </a:r>
            <a:endParaRPr lang="en-US" sz="1300" dirty="0"/>
          </a:p>
        </p:txBody>
      </p:sp>
      <p:pic>
        <p:nvPicPr>
          <p:cNvPr id="20" name="Image 3" descr="gen-dedup-a8ff6af6a4336c18c1411b35104b05d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57146" y="423824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이해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대상의 문화적·사회적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충분히 반영하기 어렵습니다.</a:t>
            </a:r>
            <a:endParaRPr lang="en-US" sz="1300" dirty="0"/>
          </a:p>
        </p:txBody>
      </p:sp>
      <p:pic>
        <p:nvPicPr>
          <p:cNvPr id="23" name="Image 4" descr="gen-dedup-bb350b3eda82cd52e5ddfcf8d1a32d0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05372" y="4238244"/>
            <a:ext cx="237744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책임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산출물의 정확성과 적절성에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판단과 책임은 연구자에게 있습니다.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연구 보조 도구이며, 연구의 주체는 항상 연구자입니다"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6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397764" y="3743554"/>
            <a:ext cx="1139708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문제, 가설, 변수 구조 설계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91049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질문에서 시작하여 가설과 변수 체계를 정밀하게 설계합니다.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문제의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정의와 역할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cc3fbe3c39f0ab83a5d2df87167c13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952805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b1c2b690339d04e46751a898c6781e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1086307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952805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출발점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380744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문제는 전체 연구의 방향과 범위를 결정하는 핵심 출발점입니다.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8c36a2c8bd2fb71c5aa83d0d38d4fe9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2419502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286000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 설정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14854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연구하고 무엇을 연구하지 않을지 경계를 명확히 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19195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12b0ba8ee59e9fb89c6324f60210227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1728" y="3752698"/>
            <a:ext cx="237744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19195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 결정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48049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문제의 성격에 따라 적합한 연구 방법과 설계가 달라집니다.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4953305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5dcda5bd01d84c82cacdf7c71ddf5f8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5502" y="5086807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4953305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방향 제시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381244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구체적인 연구 문제에서 검증 가능한 가설이 도출됩니다.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10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연구 문제의 4가지 조건</a:t>
            </a:r>
            <a:endParaRPr lang="en-US" sz="3600" dirty="0"/>
          </a:p>
        </p:txBody>
      </p:sp>
      <p:pic>
        <p:nvPicPr>
          <p:cNvPr id="14" name="Image 1" descr="gen-dedup-f101af56dbe84f8058402ce9b790766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57146" y="2428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구체성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714854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대상, 변수, 맥락이 명확하게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특정되어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있어야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질문은 측정과 분석을 어렵게 만듭니다.</a:t>
            </a:r>
            <a:endParaRPr lang="en-US" sz="1300" dirty="0"/>
          </a:p>
        </p:txBody>
      </p:sp>
      <p:pic>
        <p:nvPicPr>
          <p:cNvPr id="17" name="Image 2" descr="gen-dedup-3123fb0e9ca4abed24c3f516f22d360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가능성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714854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변수가 수치화되거나 관찰 가능한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형태로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조작적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정의가 가능해야 합니다.</a:t>
            </a:r>
            <a:endParaRPr lang="en-US" sz="1300" dirty="0"/>
          </a:p>
        </p:txBody>
      </p:sp>
      <p:pic>
        <p:nvPicPr>
          <p:cNvPr id="20" name="Image 3" descr="gen-dedup-bde271a5fd03ee14033a42c6b90b3b73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1843430" y="4238244"/>
            <a:ext cx="219456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 근거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524451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 연구나 이론적 프레임워크에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학문적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정당성이 확보되어야 합니다.</a:t>
            </a:r>
            <a:endParaRPr lang="en-US" sz="1300" dirty="0"/>
          </a:p>
        </p:txBody>
      </p:sp>
      <p:pic>
        <p:nvPicPr>
          <p:cNvPr id="23" name="Image 4" descr="gen-dedup-9759be92866998a36c966028445a4bf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29146" y="4238244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실현 가능성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524451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접근성, 시간, 비용, 윤리적 제약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현실적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조건 내에서 수행 가능해야 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418795" y="5952744"/>
            <a:ext cx="11354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SMART 원칙(Specific, Measurable, Achievable, Relevant, Time-bound)을 연구 문제에도 적용하세요</a:t>
            </a:r>
            <a:endParaRPr lang="en-US" sz="1600" dirty="0"/>
          </a:p>
        </p:txBody>
      </p:sp>
      <p:sp>
        <p:nvSpPr>
          <p:cNvPr id="27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Doran, G. T. (1981). There's a S.M.A.R.T. way to write management's goals and objectives. Management Review, 70(11), 35–36. 원문의 A·R·T 는 Assignable·Realistic·Time-related 이며 위 표기는 널리 쓰이는 변형입니다.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42010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1458513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16260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2201006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42010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1458513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16260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2201006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95805" y="5782711"/>
            <a:ext cx="8001000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715813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66770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462050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7048195" y="2715813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366770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462050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가설의 구조와 유형</a:t>
            </a:r>
            <a:endParaRPr lang="en-US" sz="31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163865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귀무가설(H0)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1190549" y="26390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190549" y="292521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차이 또는 관계가 없다는 진술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35918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387710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검증의 기준점, 기각 대상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454461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482990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"자기효능감은 학업성취에 영향을 미치지 않는다"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858000" y="163865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대립가설(H1)</a:t>
            </a:r>
            <a:endParaRPr lang="en-US" sz="2100" dirty="0"/>
          </a:p>
        </p:txBody>
      </p:sp>
      <p:sp>
        <p:nvSpPr>
          <p:cNvPr id="30" name="Text 22"/>
          <p:cNvSpPr txBox="1"/>
          <p:nvPr/>
        </p:nvSpPr>
        <p:spPr>
          <a:xfrm>
            <a:off x="7286854" y="263900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286854" y="292521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차이 또는 관계가 있다는 진술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286854" y="35918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286854" y="387710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연구자가 실제로 검증하고자 하는 주장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286854" y="454461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286854" y="482990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"자기효능감이 높을수록 학업성취가 높다"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333695" y="3401613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37" name="Text 29"/>
          <p:cNvSpPr txBox="1"/>
          <p:nvPr/>
        </p:nvSpPr>
        <p:spPr>
          <a:xfrm>
            <a:off x="2190902" y="5963762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방향성 가설(높을수록/낮을수록)과 비방향성 가설(차이가 있다)을 구분하세요</a:t>
            </a:r>
            <a:endParaRPr lang="en-US" sz="16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4999" y="563819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3" y="5666537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7" y="563819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2695651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369600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952744" y="4695444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76254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11182198" y="576254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gen-dedup-e9eea8207c8107ccce56c051916b62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8" y="3905402"/>
            <a:ext cx="4287486" cy="247619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715207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715207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연구 문제와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정교화</a:t>
            </a:r>
            <a:endParaRPr lang="en-US" sz="48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75995" y="3829507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6"/>
          <a:srcRect l="-16666" r="-16666"/>
          <a:stretch/>
        </p:blipFill>
        <p:spPr>
          <a:xfrm>
            <a:off x="4876495" y="3829507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577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맥락 제공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11905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분야, 이론적 배경, 선행 연구 키워드를 프롬프트에 포함합니다.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5714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변수 명시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190902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관심 있는 독립·종속 변수를 구체적으로 지정합니다.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857500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대안 생성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191256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 연구 문제 후보 3~5개를 제안하도록 요청합니다.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85785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가설 도출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190695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문제에서 방향성/비방향성 가설을 자동 생성합니다.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8582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비판적 검토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715000" y="51910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산출물의 이론적 타당성과 측정 가능성을 연구자가 직접 평가합니다.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382158" y="6048756"/>
            <a:ext cx="62855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아이디어 발산 도구이며, 수렴과 판단은 연구자의 역할입니다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143000"/>
            <a:ext cx="40640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독립·종속</a:t>
            </a:r>
            <a:r>
              <a:rPr lang="en-US" sz="42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제어변수 설계 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61695" y="3429000"/>
            <a:ext cx="3047695" cy="2667305"/>
          </a:xfrm>
          <a:prstGeom prst="roundRect">
            <a:avLst>
              <a:gd name="adj" fmla="val 293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9dd97f5564d21c6dce114de2395559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429000"/>
            <a:ext cx="3049618" cy="2667305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47902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6ef4085af5aea5520d6f6d10e71e7ee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1181405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47902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독립변수 (IV)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76756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원인 또는 예측 요인. 연구자가 조작하거나 선택하는 변수입니다. 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교수법 유형, 학습시간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494503272e897e2f780c92860b0620e9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714646" y="2467051"/>
            <a:ext cx="171907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종속변수 (DV)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또는 반응 변수. 독립변수의 영향을 받아 변화하는 변수입니다. 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학업성취도, 만족도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19195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78615b4222709b78e59b7290517cf25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3752698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19195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제어변수 (CV)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48049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혼란 변수를 통제하여 인과관계의 내적 타당도를 확보합니다. 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성별, 사전지식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4905756"/>
            <a:ext cx="457200" cy="457200"/>
          </a:xfrm>
          <a:prstGeom prst="ellipse">
            <a:avLst/>
          </a:prstGeom>
          <a:solidFill>
            <a:srgbClr val="318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d0d360c5e09746eb2326635bd2754c8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5502" y="5038344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4905756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운영적 정의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333695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변수를 측정 가능한 형태로 구체적으로 정의해야 합니다. 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예: 학업성취도 = 기말시험 점수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10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52805" y="1714500"/>
            <a:ext cx="3066898" cy="3638398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714500"/>
            <a:ext cx="3638398" cy="3638398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714500"/>
            <a:ext cx="3066898" cy="3638398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f6d4e22d1fe1bc2f068ae7a9b6d620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4305" y="3143707"/>
            <a:ext cx="761695" cy="7616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24305" y="3143707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IV</a:t>
            </a:r>
            <a:endParaRPr lang="en-US" sz="1500" dirty="0"/>
          </a:p>
        </p:txBody>
      </p:sp>
      <p:pic>
        <p:nvPicPr>
          <p:cNvPr id="14" name="Image 2" descr="gen-dedup-e8670bf374a58837e8574cf747a4243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67305" y="3143707"/>
            <a:ext cx="761695" cy="7616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67305" y="3143707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DV</a:t>
            </a:r>
            <a:endParaRPr lang="en-US" sz="1500" dirty="0"/>
          </a:p>
        </p:txBody>
      </p:sp>
      <p:pic>
        <p:nvPicPr>
          <p:cNvPr id="16" name="Image 3" descr="gen-dedup-a932e7b57fce7d4811ba2e300ca5a329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2286000" y="3504895"/>
            <a:ext cx="381305" cy="38405"/>
          </a:xfrm>
          <a:prstGeom prst="rect">
            <a:avLst/>
          </a:prstGeom>
        </p:spPr>
      </p:pic>
      <p:pic>
        <p:nvPicPr>
          <p:cNvPr id="17" name="Image 4" descr="gen-dedup-f6d4e22d1fe1bc2f068ae7a9b6d620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7098" y="3619195"/>
            <a:ext cx="761695" cy="7616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667098" y="361919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IV</a:t>
            </a:r>
            <a:endParaRPr lang="en-US" sz="1500" dirty="0"/>
          </a:p>
        </p:txBody>
      </p:sp>
      <p:pic>
        <p:nvPicPr>
          <p:cNvPr id="19" name="Image 5" descr="gen-dedup-99122a96163066ce83316340d891ae2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0" y="2667305"/>
            <a:ext cx="761695" cy="76169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715000" y="266730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</a:t>
            </a:r>
            <a:endParaRPr lang="en-US" sz="1500" dirty="0"/>
          </a:p>
        </p:txBody>
      </p:sp>
      <p:pic>
        <p:nvPicPr>
          <p:cNvPr id="21" name="Image 6" descr="gen-dedup-e8670bf374a58837e8574cf747a4243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2902" y="3619195"/>
            <a:ext cx="761695" cy="7616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762902" y="361919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DV</a:t>
            </a:r>
            <a:endParaRPr lang="en-US" sz="1500" dirty="0"/>
          </a:p>
        </p:txBody>
      </p:sp>
      <p:pic>
        <p:nvPicPr>
          <p:cNvPr id="24" name="Image 8" descr="gen-dedup-7b7277f151fa35e15002365280fff73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 rot="2700000">
            <a:off x="6517703" y="3390278"/>
            <a:ext cx="430682" cy="45719"/>
          </a:xfrm>
          <a:prstGeom prst="rect">
            <a:avLst/>
          </a:prstGeom>
        </p:spPr>
      </p:pic>
      <p:pic>
        <p:nvPicPr>
          <p:cNvPr id="25" name="Image 9" descr="gen-dedup-4949eb17dd2c6d627241fa4df4a3151f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5524805" y="3962095"/>
            <a:ext cx="1143000" cy="38405"/>
          </a:xfrm>
          <a:prstGeom prst="rect">
            <a:avLst/>
          </a:prstGeom>
        </p:spPr>
      </p:pic>
      <p:pic>
        <p:nvPicPr>
          <p:cNvPr id="26" name="Image 10" descr="gen-dedup-f6d4e22d1fe1bc2f068ae7a9b6d620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67598" y="3619195"/>
            <a:ext cx="761695" cy="7616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8667598" y="361919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IV</a:t>
            </a:r>
            <a:endParaRPr lang="en-US" sz="1500" dirty="0"/>
          </a:p>
        </p:txBody>
      </p:sp>
      <p:pic>
        <p:nvPicPr>
          <p:cNvPr id="28" name="Image 11" descr="gen-dedup-e8670bf374a58837e8574cf747a4243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1707" y="3619195"/>
            <a:ext cx="761695" cy="76169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0001707" y="361919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DV</a:t>
            </a:r>
            <a:endParaRPr lang="en-US" sz="1500" dirty="0"/>
          </a:p>
        </p:txBody>
      </p:sp>
      <p:pic>
        <p:nvPicPr>
          <p:cNvPr id="30" name="Image 12" descr="gen-dedup-5e1a34546a389439840a5aeb7a3d3d31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34195" y="2667305"/>
            <a:ext cx="761695" cy="761695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9334195" y="2667305"/>
            <a:ext cx="762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</a:t>
            </a:r>
            <a:endParaRPr lang="en-US" sz="1500" dirty="0"/>
          </a:p>
        </p:txBody>
      </p:sp>
      <p:pic>
        <p:nvPicPr>
          <p:cNvPr id="32" name="Image 13" descr="gen-dedup-a932e7b57fce7d4811ba2e300ca5a329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9525305" y="3962095"/>
            <a:ext cx="381305" cy="38405"/>
          </a:xfrm>
          <a:prstGeom prst="rect">
            <a:avLst/>
          </a:prstGeom>
        </p:spPr>
      </p:pic>
      <p:pic>
        <p:nvPicPr>
          <p:cNvPr id="33" name="Image 14" descr="gen-dedup-7328249e26e0cac105ea7e72b843261a.png"/>
          <p:cNvPicPr>
            <a:picLocks noChangeAspect="1"/>
          </p:cNvPicPr>
          <p:nvPr/>
        </p:nvPicPr>
        <p:blipFill>
          <a:blip r:embed="rId11"/>
          <a:srcRect l="-360" r="-360"/>
          <a:stretch/>
        </p:blipFill>
        <p:spPr>
          <a:xfrm>
            <a:off x="9696298" y="3524098"/>
            <a:ext cx="38405" cy="38130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관계 모형 도식화</a:t>
            </a:r>
            <a:endParaRPr lang="en-US" sz="3100" dirty="0"/>
          </a:p>
        </p:txBody>
      </p:sp>
      <p:sp>
        <p:nvSpPr>
          <p:cNvPr id="36" name="Text 19"/>
          <p:cNvSpPr txBox="1"/>
          <p:nvPr/>
        </p:nvSpPr>
        <p:spPr>
          <a:xfrm>
            <a:off x="952805" y="2076602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1) 기본 모형</a:t>
            </a:r>
            <a:endParaRPr lang="en-US" sz="1800" dirty="0"/>
          </a:p>
        </p:txBody>
      </p:sp>
      <p:sp>
        <p:nvSpPr>
          <p:cNvPr id="37" name="Text 20"/>
          <p:cNvSpPr txBox="1"/>
          <p:nvPr/>
        </p:nvSpPr>
        <p:spPr>
          <a:xfrm>
            <a:off x="4286707" y="2076602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2) 매개 모형</a:t>
            </a:r>
            <a:endParaRPr lang="en-US" sz="1800" dirty="0"/>
          </a:p>
        </p:txBody>
      </p:sp>
      <p:sp>
        <p:nvSpPr>
          <p:cNvPr id="38" name="Text 21"/>
          <p:cNvSpPr txBox="1"/>
          <p:nvPr/>
        </p:nvSpPr>
        <p:spPr>
          <a:xfrm>
            <a:off x="8191195" y="2076602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3) 조절 모형</a:t>
            </a:r>
            <a:endParaRPr lang="en-US" sz="1800" dirty="0"/>
          </a:p>
        </p:txBody>
      </p:sp>
      <p:sp>
        <p:nvSpPr>
          <p:cNvPr id="39" name="Text 22"/>
          <p:cNvSpPr txBox="1"/>
          <p:nvPr/>
        </p:nvSpPr>
        <p:spPr>
          <a:xfrm>
            <a:off x="761695" y="5810098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 모형은 변수 간 관계를 시각적으로 표현한 설계 청사진입니다"</a:t>
            </a:r>
            <a:endParaRPr lang="en-US" sz="1600" dirty="0"/>
          </a:p>
        </p:txBody>
      </p:sp>
      <p:pic>
        <p:nvPicPr>
          <p:cNvPr id="40" name="Image 8" descr="gen-dedup-7b7277f151fa35e15002365280fff734.png">
            <a:extLst>
              <a:ext uri="{FF2B5EF4-FFF2-40B4-BE49-F238E27FC236}">
                <a16:creationId xmlns:a16="http://schemas.microsoft.com/office/drawing/2014/main" id="{3CA22D3F-571F-5738-40F8-CDEE0D6E47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 rot="7759935">
            <a:off x="5294249" y="3375872"/>
            <a:ext cx="430682" cy="45719"/>
          </a:xfrm>
          <a:prstGeom prst="rect">
            <a:avLst/>
          </a:prstGeom>
        </p:spPr>
      </p:pic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5143500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14350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14350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6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400" dirty="0"/>
          </a:p>
        </p:txBody>
      </p:sp>
      <p:sp>
        <p:nvSpPr>
          <p:cNvPr id="18" name="Text 11"/>
          <p:cNvSpPr txBox="1"/>
          <p:nvPr/>
        </p:nvSpPr>
        <p:spPr>
          <a:xfrm>
            <a:off x="-306324" y="3781044"/>
            <a:ext cx="1280434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변수, 자료 유형, 측정 수준 연결</a:t>
            </a:r>
            <a:endParaRPr lang="en-US" sz="54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429707"/>
            <a:ext cx="9525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변수-자료-측정수준을 일관성 있게 매핑하여 분석의 기초를 다집니다</a:t>
            </a:r>
            <a:endParaRPr lang="en-US" sz="18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유형과 자료 유형 매핑</a:t>
            </a:r>
            <a:endParaRPr lang="en-US" sz="3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74015"/>
              </p:ext>
            </p:extLst>
          </p:nvPr>
        </p:nvGraphicFramePr>
        <p:xfrm>
          <a:off x="761695" y="1714500"/>
          <a:ext cx="10657332" cy="3715205"/>
        </p:xfrm>
        <a:graphic>
          <a:graphicData uri="http://schemas.openxmlformats.org/drawingml/2006/table">
            <a:tbl>
              <a:tblPr/>
              <a:tblGrid>
                <a:gridCol w="1407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8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8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변수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하위 분류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자료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특성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041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범주형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(Categorical)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명목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(Nominal)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질적 / 범주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대상의 속성을 분류, 동일성만 판별 (서열 없음)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성별, 학과, 혈액형, 지역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041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서열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(Ordinal)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질적 / 순위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순서/서열이 있음, 간격은 불균등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학력수준, 직급, 선호도 순위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041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연속형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(Continuous)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등간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(Interval)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양적 / 수치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동일한 간격, 절대 영점 없음 (+, - 연산)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온도(섭씨), IQ 점수, </a:t>
                      </a: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리커트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척도 합산점수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041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비율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(Ratio)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양적 / 수치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동일 간격 + 절대 영점 있음 (+, -, ×, ÷ 연산)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소득, 나이, 시간, 키, 몸무게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5274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"변수 유형에 따라 적합한 측정 수준과 분석 방법이 달라집니다"</a:t>
            </a:r>
            <a:endParaRPr lang="en-US" sz="16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수준: 명목·서열·등간·비율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794972"/>
              </p:ext>
            </p:extLst>
          </p:nvPr>
        </p:nvGraphicFramePr>
        <p:xfrm>
          <a:off x="761695" y="1714500"/>
          <a:ext cx="10658246" cy="3848710"/>
        </p:xfrm>
        <a:graphic>
          <a:graphicData uri="http://schemas.openxmlformats.org/drawingml/2006/table">
            <a:tbl>
              <a:tblPr/>
              <a:tblGrid>
                <a:gridCol w="1571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 수준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허용 연산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중심경향치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명목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(Nominal)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대상을 범주로 분류, 순서나 크기 의미 없음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성별, 학과, 지역, 혈액형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=, 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최빈값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서열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(Ordinal)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순위나 서열 정보 포함, 간격은 불균등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학력수준, 석차, 만족도 등급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=, ≠, &lt;, &gt;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중앙값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등간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(Interval)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동일한 간격 지님, 절대영점 없음 (임의영점)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온도(℃), 리커트 척도 합산, IQ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+, -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산술평균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비율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(Ratio)</a:t>
                      </a:r>
                      <a:endParaRPr lang="en-US" sz="1200" dirty="0"/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동일 간격 유지, 절대영점 존재 (비율 계산 가능)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소득, 시간, 점수, 나이, 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+, -, ×, ÷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산술평균·기하평균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001207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"측정 수준이 높아질수록 허용 가능한 통계 분석의 범위가 넓어집니다"</a:t>
            </a:r>
            <a:endParaRPr lang="en-US" sz="1800" dirty="0"/>
          </a:p>
        </p:txBody>
      </p:sp>
      <p:sp>
        <p:nvSpPr>
          <p:cNvPr id="22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Stevens, S. S. (1946). On the theory of scales of measurement. Science, 103(2684), 677–680.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수준별 허용 통계 분석</a:t>
            </a:r>
            <a:endParaRPr lang="en-US" sz="3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22720"/>
              </p:ext>
            </p:extLst>
          </p:nvPr>
        </p:nvGraphicFramePr>
        <p:xfrm>
          <a:off x="761695" y="1666951"/>
          <a:ext cx="10658247" cy="4071415"/>
        </p:xfrm>
        <a:graphic>
          <a:graphicData uri="http://schemas.openxmlformats.org/drawingml/2006/table">
            <a:tbl>
              <a:tblPr/>
              <a:tblGrid>
                <a:gridCol w="216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2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 수준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기술통계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추론통계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대표 분석 기법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2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명목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(Nominal)</a:t>
                      </a:r>
                      <a:endParaRPr lang="en-US" sz="1200" dirty="0"/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빈도, 최빈값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카이제곱 검정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교차분석, 로지스틱 회귀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2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서열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(Ordinal)</a:t>
                      </a:r>
                      <a:endParaRPr lang="en-US" sz="1200" dirty="0"/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중앙값, 사분위수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Mann-Whitney, Kruskal-Wallis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비모수 검정, 순위상관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2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등간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(Interval)</a:t>
                      </a:r>
                      <a:endParaRPr lang="en-US" sz="1200" dirty="0"/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평균, 표준편차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t-검정, ANOVA, Pearson 상관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회귀분석, 구조방정식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2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비율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(Ratio)</a:t>
                      </a:r>
                      <a:endParaRPr lang="en-US" sz="1200" dirty="0"/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기하평균, 변이계수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 모두 + 비율 비교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통계 기법 허용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14710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"등간 이상의 측정 수준에서 모수 통계(parametric) 분석이 가능합니다"</a:t>
            </a:r>
            <a:endParaRPr lang="en-US" sz="1800" dirty="0"/>
          </a:p>
        </p:txBody>
      </p:sp>
      <p:sp>
        <p:nvSpPr>
          <p:cNvPr id="23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Stevens, S. S. (1946). On the theory of scales of measurement. Science, 103(2684), 677–680.</a:t>
            </a: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도구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원리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d3b1eae4d9edff82a30576a3edf63a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85fc25e773a460acfb2eb22469ae8ca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714646" y="1133856"/>
            <a:ext cx="171907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타당도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 타당도(전문가 검토), 구인 타당도(요인분석), 기준 타당도(외부 기준 비교)로 측정 도구가 의도한 것을 정확히 측정하는지 확인합니다.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3ad38dbc4932206d4a73692cc1f3991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신뢰도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내적 일관성(Cronbach α ≥ .70),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검사-재검사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신뢰도로 측정 결과의 일관성과 안정성을 검증합니다.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57dde334abc81078716c8f598157f08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1728" y="3800246"/>
            <a:ext cx="237744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실용성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수, 응답 소요 시간, 비용, 응답자 부담 등 현실적 제약을 고려하여 설계합니다.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2f9c2cd69678c0186fbf34429591fdd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민감도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8799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차이를 충분히 포착할 수 있는 문항 변별력과 척도 범위를 확보합니다.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10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Nunnally, J. C. (1978). Psychometric theory (2nd ed.). McGraw-Hill. — α ≥ .70 은 연구 초기 단계에 권장된 관례 기준입니다.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변수-자료-측정 간 불일치 오류 유형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407492"/>
              </p:ext>
            </p:extLst>
          </p:nvPr>
        </p:nvGraphicFramePr>
        <p:xfrm>
          <a:off x="480646" y="1714500"/>
          <a:ext cx="11289323" cy="3706980"/>
        </p:xfrm>
        <a:graphic>
          <a:graphicData uri="http://schemas.openxmlformats.org/drawingml/2006/table">
            <a:tbl>
              <a:tblPr/>
              <a:tblGrid>
                <a:gridCol w="1755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4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67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유형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상황 예시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문제점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교정 방법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비율 → 명목 처리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소득(원)을 고/중/저로 범주화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정보 손실, 분석력 저하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 데이터 유지 또는 이론 기반 구간 설정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7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서열 → 등간 분석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만족도 등급(상/중/하)에 평균 산출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등간 가정 위반, 해석 왜곡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비모수 검정 사용 또는 리커트 척도 전환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7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역코딩 누락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부정 문항을 역변환 없이 합산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합성점수 왜곡, 신뢰도 저하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역문항 식별 후 코딩 변환 적용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67005" marB="2670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793641"/>
            <a:ext cx="10668305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"설계 단계에서 변수-자료-측정의 정합성을 반드시 점검하세요"</a:t>
            </a:r>
            <a:endParaRPr lang="en-US" sz="19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294889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294889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불일치 오류 진단 체크리스트</a:t>
            </a:r>
            <a:endParaRPr lang="en-US" sz="3600" dirty="0"/>
          </a:p>
        </p:txBody>
      </p:sp>
      <p:pic>
        <p:nvPicPr>
          <p:cNvPr id="14" name="Image 1" descr="gen-dedup-ffa1b88895eac11c15d51762fdd2032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33372" y="2428646"/>
            <a:ext cx="237744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운영정의 일관성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변수의 개념적 정의와 운영적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일치하는지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개념이 측정 가능한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지표로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변환되었는지 점검하세요.</a:t>
            </a:r>
            <a:endParaRPr lang="en-US" sz="1300" dirty="0"/>
          </a:p>
        </p:txBody>
      </p:sp>
      <p:pic>
        <p:nvPicPr>
          <p:cNvPr id="17" name="Image 2" descr="gen-dedup-a9067d2beb225cf557d10c47a00c4fb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 적합성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3339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변수의 측정 수준(명목/서열/등간/비율)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척도가 선택되었는지 확인합니다.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연속형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변수에 범주형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사용하지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않았는지 점검하세요.</a:t>
            </a:r>
            <a:endParaRPr lang="en-US" sz="1300" dirty="0"/>
          </a:p>
        </p:txBody>
      </p:sp>
      <p:pic>
        <p:nvPicPr>
          <p:cNvPr id="20" name="Image 3" descr="gen-dedup-be85cf1da32c6b5a9396cc6738a4ced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57146" y="4437535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294889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가정 충족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676193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선택한 통계 분석 기법의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가정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(정규성, 등분산성 등)을 변수의 측정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충족하는지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300" dirty="0"/>
          </a:p>
        </p:txBody>
      </p:sp>
      <p:pic>
        <p:nvPicPr>
          <p:cNvPr id="23" name="Image 4" descr="gen-dedup-bcb673c9db58b764964470db438f349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29146" y="4437535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294889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코딩/역문항 검증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676193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역문항이 올바르게 식별되었는지,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코딩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체계가 일관적인지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합산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 반드시 역코딩을 적용하세요.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6001207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수집 전 설계 단계에서의 점검이 분석 오류를 예방합니다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4953305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9240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9240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6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752551" y="3743554"/>
            <a:ext cx="106884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측정도구 및 설문 설계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238598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초안을 만들고 연구자가 기준으로 검토하고 보정합니다.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1C1CD19-1EFF-1BD9-4868-4283D01A095C}"/>
              </a:ext>
            </a:extLst>
          </p:cNvPr>
          <p:cNvGrpSpPr/>
          <p:nvPr/>
        </p:nvGrpSpPr>
        <p:grpSpPr>
          <a:xfrm>
            <a:off x="5474675" y="666598"/>
            <a:ext cx="5756031" cy="4076395"/>
            <a:chOff x="4572000" y="666598"/>
            <a:chExt cx="6954012" cy="4076395"/>
          </a:xfrm>
        </p:grpSpPr>
        <p:sp>
          <p:nvSpPr>
            <p:cNvPr id="6" name="Shape 4"/>
            <p:cNvSpPr/>
            <p:nvPr/>
          </p:nvSpPr>
          <p:spPr>
            <a:xfrm>
              <a:off x="4572000" y="666598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Image 0" descr="gen-dedup-ec7956bc8a672771199ebf8b0d7734ad.png"/>
            <p:cNvPicPr>
              <a:picLocks noChangeAspect="1"/>
            </p:cNvPicPr>
            <p:nvPr/>
          </p:nvPicPr>
          <p:blipFill>
            <a:blip r:embed="rId3"/>
            <a:srcRect l="-2083" r="-2083"/>
            <a:stretch/>
          </p:blipFill>
          <p:spPr>
            <a:xfrm>
              <a:off x="4809744" y="694944"/>
              <a:ext cx="6476695" cy="9144"/>
            </a:xfrm>
            <a:prstGeom prst="rect">
              <a:avLst/>
            </a:prstGeom>
          </p:spPr>
        </p:pic>
        <p:sp>
          <p:nvSpPr>
            <p:cNvPr id="8" name="Shape 5"/>
            <p:cNvSpPr/>
            <p:nvPr/>
          </p:nvSpPr>
          <p:spPr>
            <a:xfrm>
              <a:off x="11373307" y="666598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4572000" y="1666951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1" descr="gen-dedup-ec7956bc8a672771199ebf8b0d7734ad.png"/>
            <p:cNvPicPr>
              <a:picLocks noChangeAspect="1"/>
            </p:cNvPicPr>
            <p:nvPr/>
          </p:nvPicPr>
          <p:blipFill>
            <a:blip r:embed="rId3"/>
            <a:srcRect l="-2083" r="-2083"/>
            <a:stretch/>
          </p:blipFill>
          <p:spPr>
            <a:xfrm>
              <a:off x="4809744" y="1695298"/>
              <a:ext cx="6476695" cy="9144"/>
            </a:xfrm>
            <a:prstGeom prst="rect">
              <a:avLst/>
            </a:prstGeom>
          </p:spPr>
        </p:pic>
        <p:sp>
          <p:nvSpPr>
            <p:cNvPr id="11" name="Shape 7"/>
            <p:cNvSpPr/>
            <p:nvPr/>
          </p:nvSpPr>
          <p:spPr>
            <a:xfrm>
              <a:off x="11373307" y="1666951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8"/>
            <p:cNvSpPr/>
            <p:nvPr/>
          </p:nvSpPr>
          <p:spPr>
            <a:xfrm>
              <a:off x="4572000" y="2667305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2" descr="gen-dedup-ec7956bc8a672771199ebf8b0d7734ad.png"/>
            <p:cNvPicPr>
              <a:picLocks noChangeAspect="1"/>
            </p:cNvPicPr>
            <p:nvPr/>
          </p:nvPicPr>
          <p:blipFill>
            <a:blip r:embed="rId3"/>
            <a:srcRect l="-2083" r="-2083"/>
            <a:stretch/>
          </p:blipFill>
          <p:spPr>
            <a:xfrm>
              <a:off x="4809744" y="2695651"/>
              <a:ext cx="6476695" cy="9144"/>
            </a:xfrm>
            <a:prstGeom prst="rect">
              <a:avLst/>
            </a:prstGeom>
          </p:spPr>
        </p:pic>
        <p:sp>
          <p:nvSpPr>
            <p:cNvPr id="14" name="Shape 9"/>
            <p:cNvSpPr/>
            <p:nvPr/>
          </p:nvSpPr>
          <p:spPr>
            <a:xfrm>
              <a:off x="11373307" y="2667305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0"/>
            <p:cNvSpPr/>
            <p:nvPr/>
          </p:nvSpPr>
          <p:spPr>
            <a:xfrm>
              <a:off x="4572000" y="3666744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6" name="Image 3" descr="gen-dedup-ec7956bc8a672771199ebf8b0d7734ad.png"/>
            <p:cNvPicPr>
              <a:picLocks noChangeAspect="1"/>
            </p:cNvPicPr>
            <p:nvPr/>
          </p:nvPicPr>
          <p:blipFill>
            <a:blip r:embed="rId3"/>
            <a:srcRect l="-2083" r="-2083"/>
            <a:stretch/>
          </p:blipFill>
          <p:spPr>
            <a:xfrm>
              <a:off x="4809744" y="3696005"/>
              <a:ext cx="6476695" cy="9144"/>
            </a:xfrm>
            <a:prstGeom prst="rect">
              <a:avLst/>
            </a:prstGeom>
          </p:spPr>
        </p:pic>
        <p:sp>
          <p:nvSpPr>
            <p:cNvPr id="17" name="Shape 11"/>
            <p:cNvSpPr/>
            <p:nvPr/>
          </p:nvSpPr>
          <p:spPr>
            <a:xfrm>
              <a:off x="11373307" y="3666744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2"/>
            <p:cNvSpPr/>
            <p:nvPr/>
          </p:nvSpPr>
          <p:spPr>
            <a:xfrm>
              <a:off x="4572000" y="4667098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4" descr="gen-dedup-ec7956bc8a672771199ebf8b0d7734ad.png"/>
            <p:cNvPicPr>
              <a:picLocks noChangeAspect="1"/>
            </p:cNvPicPr>
            <p:nvPr/>
          </p:nvPicPr>
          <p:blipFill>
            <a:blip r:embed="rId3"/>
            <a:srcRect l="-2083" r="-2083"/>
            <a:stretch/>
          </p:blipFill>
          <p:spPr>
            <a:xfrm>
              <a:off x="4809744" y="4695444"/>
              <a:ext cx="6476695" cy="9144"/>
            </a:xfrm>
            <a:prstGeom prst="rect">
              <a:avLst/>
            </a:prstGeom>
          </p:spPr>
        </p:pic>
        <p:sp>
          <p:nvSpPr>
            <p:cNvPr id="20" name="Shape 13"/>
            <p:cNvSpPr/>
            <p:nvPr/>
          </p:nvSpPr>
          <p:spPr>
            <a:xfrm>
              <a:off x="11373307" y="4667098"/>
              <a:ext cx="152705" cy="75895"/>
            </a:xfrm>
            <a:prstGeom prst="rect">
              <a:avLst/>
            </a:prstGeom>
            <a:noFill/>
            <a:ln w="101600">
              <a:solidFill>
                <a:srgbClr val="6C757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" name="Shape 14"/>
          <p:cNvSpPr/>
          <p:nvPr/>
        </p:nvSpPr>
        <p:spPr>
          <a:xfrm>
            <a:off x="4572000" y="585764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gen-dedup-ec7956bc8a672771199ebf8b0d7734a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055927" y="5924398"/>
            <a:ext cx="6476695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619490" y="585764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gen-dedup-e9eea8207c8107ccce56c051916b62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8" y="3524098"/>
            <a:ext cx="4287486" cy="247619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71500" y="33339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572000" y="3333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설문 문항</a:t>
            </a:r>
            <a:endParaRPr lang="en-US" sz="4300" dirty="0"/>
          </a:p>
          <a:p>
            <a:pPr marL="0" indent="0" algn="l">
              <a:buNone/>
            </a:pPr>
            <a:r>
              <a:rPr lang="en-US" sz="4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 생성 원리</a:t>
            </a:r>
            <a:endParaRPr lang="en-US" sz="43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685800" y="3448202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6"/>
          <a:srcRect l="-16666" r="-16666"/>
          <a:stretch/>
        </p:blipFill>
        <p:spPr>
          <a:xfrm>
            <a:off x="4686300" y="3448202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556740" y="831321"/>
            <a:ext cx="5641027" cy="23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개념 분해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556740" y="1159459"/>
            <a:ext cx="564102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구성개념을 하위 요인과 지표로 분해합니다.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556740" y="1830760"/>
            <a:ext cx="5641027" cy="23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지표 도출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556740" y="2159812"/>
            <a:ext cx="564102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하위 요인에서 관찰 가능한 행동/인지 지표를 생성합니다.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556740" y="2831114"/>
            <a:ext cx="5641027" cy="23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문항 패턴 생성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556740" y="3160166"/>
            <a:ext cx="564102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지표를 설문 문항 형식(서술문/질문문)으로 변환합니다.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556740" y="3831468"/>
            <a:ext cx="5641027" cy="23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척도 부착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556740" y="4159605"/>
            <a:ext cx="564102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리커트, 빈도, 동의 등 적합한 응답 척도를 매칭합니다.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556740" y="4831821"/>
            <a:ext cx="5641027" cy="23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장점 및 한계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556740" y="5159959"/>
            <a:ext cx="5641027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장점은 속도와 일관성이며 한계는 맥락 부재와 편향 가능성입니다.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4723085" y="6048756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산출물은 반드시 이론적 근거와 대상자 특성에 비추어 검토해야 합니다.</a:t>
            </a:r>
            <a:endParaRPr lang="en-US" sz="15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666951"/>
            <a:ext cx="3276295" cy="4162349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666951"/>
            <a:ext cx="7220102" cy="4143146"/>
          </a:xfrm>
          <a:prstGeom prst="roundRect">
            <a:avLst>
              <a:gd name="adj" fmla="val 1218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666951"/>
            <a:ext cx="75895" cy="4143146"/>
          </a:xfrm>
          <a:prstGeom prst="roundRect">
            <a:avLst>
              <a:gd name="adj" fmla="val 66473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eefc764a4d698f7c789086da12e9bb70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17" r="-17"/>
          <a:stretch/>
        </p:blipFill>
        <p:spPr>
          <a:xfrm>
            <a:off x="5097439" y="2580366"/>
            <a:ext cx="333756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생성용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857146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333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2385670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52751"/>
            <a:ext cx="10094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 (Role)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6197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2671877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638044"/>
            <a:ext cx="14740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 (Objective)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29050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2957170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2924251"/>
            <a:ext cx="12015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 (Target)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1912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3243377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209544"/>
            <a:ext cx="133776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(Context)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476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3528670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495751"/>
            <a:ext cx="12088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운영정의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37627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3814877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3781044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척도유형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0480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4100170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067251"/>
            <a:ext cx="549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문항수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1047902" y="43342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9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4386377"/>
            <a:ext cx="95098" cy="1051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371600" y="4352544"/>
            <a:ext cx="6611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언어/톤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1047902" y="4619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0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4671670"/>
            <a:ext cx="95098" cy="10515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371600" y="4638751"/>
            <a:ext cx="549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금지어</a:t>
            </a:r>
            <a:endParaRPr lang="en-US" sz="1300" dirty="0"/>
          </a:p>
        </p:txBody>
      </p:sp>
      <p:sp>
        <p:nvSpPr>
          <p:cNvPr id="42" name="Shape 29"/>
          <p:cNvSpPr/>
          <p:nvPr/>
        </p:nvSpPr>
        <p:spPr>
          <a:xfrm>
            <a:off x="1047902" y="49057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gen-dedup-a0e40bb9280875184ad7e5e910f3626f.png"/>
          <p:cNvPicPr>
            <a:picLocks noChangeAspect="1"/>
          </p:cNvPicPr>
          <p:nvPr/>
        </p:nvPicPr>
        <p:blipFill>
          <a:blip r:embed="rId5"/>
          <a:srcRect l="-1677" r="-1677"/>
          <a:stretch/>
        </p:blipFill>
        <p:spPr>
          <a:xfrm>
            <a:off x="1104595" y="4957877"/>
            <a:ext cx="95098" cy="10515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371600" y="4924044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출력형식</a:t>
            </a:r>
            <a:endParaRPr lang="en-US" sz="1300" dirty="0"/>
          </a:p>
        </p:txBody>
      </p:sp>
      <p:sp>
        <p:nvSpPr>
          <p:cNvPr id="45" name="Text 31"/>
          <p:cNvSpPr txBox="1"/>
          <p:nvPr/>
        </p:nvSpPr>
        <p:spPr>
          <a:xfrm>
            <a:off x="4286707" y="1952244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46" name="Text 32"/>
          <p:cNvSpPr txBox="1"/>
          <p:nvPr/>
        </p:nvSpPr>
        <p:spPr>
          <a:xfrm>
            <a:off x="5679912" y="2760503"/>
            <a:ext cx="501616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교육심리학 전문 연구자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학업적 자기효능감(김아영·박인영, 2001)</a:t>
            </a:r>
            <a:r>
              <a:rPr lang="en-US" sz="16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하위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요인인 </a:t>
            </a: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'과제 난이도 선호'를 </a:t>
            </a:r>
            <a:r>
              <a:rPr lang="en-US" sz="16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</a:t>
            </a:r>
            <a:r>
              <a:rPr lang="en-US" sz="16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하는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5점 리커트 척도 설문 문항 5개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작성해 주세요.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대상은 </a:t>
            </a: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대학생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이며, </a:t>
            </a: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역문항 1개를 포함</a:t>
            </a:r>
            <a:r>
              <a:rPr lang="en-US" sz="16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 주세요."</a:t>
            </a:r>
            <a:endParaRPr lang="en-US" sz="1600" dirty="0"/>
          </a:p>
        </p:txBody>
      </p:sp>
      <p:sp>
        <p:nvSpPr>
          <p:cNvPr id="47" name="Text 33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"구체적인 맥락과 조건을 명시할수록 AI 산출물의 품질이 높아집니다"</a:t>
            </a:r>
            <a:endParaRPr lang="en-US" sz="1600" dirty="0"/>
          </a:p>
        </p:txBody>
      </p:sp>
      <p:sp>
        <p:nvSpPr>
          <p:cNvPr id="48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김아영·박인영(2001). 학업적 자기효능감 척도 개발 및 타당화 연구. 교육학연구, 39(1), 95–123. (하위 요인: 자신감·자기조절 효능감·과제난이도 선호)</a:t>
            </a:r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143000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Likert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 설계 </a:t>
            </a:r>
            <a:endParaRPr lang="en-US" sz="4200" dirty="0"/>
          </a:p>
        </p:txBody>
      </p:sp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952805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29e76e606cb0a96d16e5d86dda6f1cd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086307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952805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 점수 선택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380744"/>
            <a:ext cx="6477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5점 척도(간결, 응답 부담 낮음) vs 7점 척도(변별력 높음).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목적과 대상에 따라 선택합니다.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62075e1eeddc2a8b2550b343dc1d039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19502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286000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앵커 포인트 명확화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14854"/>
            <a:ext cx="6477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"전혀 그렇지 않다(1)"에서 "매우 그렇다(5)"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까지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점수의 의미를 명확하게 정의합니다.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572000" y="3619195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bcb673c9db58b764964470db438f349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752698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19195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역문항 균형</a:t>
            </a:r>
            <a:endParaRPr lang="en-US" sz="22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48049"/>
            <a:ext cx="74148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긍정 문항과 부정 문항을 적절히 배합하여 응답 편향(묵인 편향)을 최소화합니다.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4572000" y="4953305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70a6e8d582bd3cce5e9f5aca64afbfb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29277" y="5086807"/>
            <a:ext cx="142646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4953305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합성지수 계획</a:t>
            </a:r>
            <a:endParaRPr lang="en-US" sz="22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7" y="5381244"/>
            <a:ext cx="683617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역코딩 후 문항 합산 또는 평균으로 합성점수를 산출하는 계획을 사전에 수립합니다.</a:t>
            </a:r>
            <a:endParaRPr lang="en-US" sz="15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BD93F72-0663-3B47-BA78-999FFA86BBA2}"/>
              </a:ext>
            </a:extLst>
          </p:cNvPr>
          <p:cNvSpPr/>
          <p:nvPr/>
        </p:nvSpPr>
        <p:spPr>
          <a:xfrm>
            <a:off x="1066800" y="4749800"/>
            <a:ext cx="2438400" cy="25400"/>
          </a:xfrm>
          <a:prstGeom prst="rect">
            <a:avLst/>
          </a:prstGeom>
          <a:solidFill>
            <a:srgbClr val="A0AE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A4895D0-FC57-D844-A94B-3BB410AF3310}"/>
              </a:ext>
            </a:extLst>
          </p:cNvPr>
          <p:cNvSpPr/>
          <p:nvPr/>
        </p:nvSpPr>
        <p:spPr>
          <a:xfrm>
            <a:off x="838200" y="4533900"/>
            <a:ext cx="457200" cy="457200"/>
          </a:xfrm>
          <a:prstGeom prst="ellipse">
            <a:avLst/>
          </a:prstGeom>
          <a:solidFill>
            <a:srgbClr val="CBD5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32DD49-49C5-5C4E-8522-7E0550B88BEB}"/>
              </a:ext>
            </a:extLst>
          </p:cNvPr>
          <p:cNvSpPr/>
          <p:nvPr/>
        </p:nvSpPr>
        <p:spPr>
          <a:xfrm>
            <a:off x="1447800" y="4533900"/>
            <a:ext cx="457200" cy="457200"/>
          </a:xfrm>
          <a:prstGeom prst="ellipse">
            <a:avLst/>
          </a:prstGeom>
          <a:solidFill>
            <a:srgbClr val="90CD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77D4DCB-C223-6341-9ADF-89BA5BF4BA32}"/>
              </a:ext>
            </a:extLst>
          </p:cNvPr>
          <p:cNvSpPr/>
          <p:nvPr/>
        </p:nvSpPr>
        <p:spPr>
          <a:xfrm>
            <a:off x="2057400" y="4533900"/>
            <a:ext cx="457200" cy="457200"/>
          </a:xfrm>
          <a:prstGeom prst="ellipse">
            <a:avLst/>
          </a:prstGeom>
          <a:solidFill>
            <a:srgbClr val="63B3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C8DE6A4-3C98-F146-A3F4-A97F50EC6016}"/>
              </a:ext>
            </a:extLst>
          </p:cNvPr>
          <p:cNvSpPr/>
          <p:nvPr/>
        </p:nvSpPr>
        <p:spPr>
          <a:xfrm>
            <a:off x="2667000" y="4533900"/>
            <a:ext cx="457200" cy="457200"/>
          </a:xfrm>
          <a:prstGeom prst="ellipse">
            <a:avLst/>
          </a:prstGeom>
          <a:solidFill>
            <a:srgbClr val="3182C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137B558-0BC7-4840-8694-2770A2C8B6A5}"/>
              </a:ext>
            </a:extLst>
          </p:cNvPr>
          <p:cNvSpPr/>
          <p:nvPr/>
        </p:nvSpPr>
        <p:spPr>
          <a:xfrm>
            <a:off x="3276600" y="4533900"/>
            <a:ext cx="457200" cy="457200"/>
          </a:xfrm>
          <a:prstGeom prst="ellipse">
            <a:avLst/>
          </a:prstGeom>
          <a:solidFill>
            <a:srgbClr val="1A36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5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8CE580-A85B-B741-960F-5978ECB72C7E}"/>
              </a:ext>
            </a:extLst>
          </p:cNvPr>
          <p:cNvSpPr txBox="1"/>
          <p:nvPr/>
        </p:nvSpPr>
        <p:spPr>
          <a:xfrm>
            <a:off x="762000" y="51816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4A5568"/>
                </a:solidFill>
              </a:rPr>
              <a:t>전혀 그렇지 않다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E3832-2407-4E46-8017-1F9E6936C13C}"/>
              </a:ext>
            </a:extLst>
          </p:cNvPr>
          <p:cNvSpPr txBox="1"/>
          <p:nvPr/>
        </p:nvSpPr>
        <p:spPr>
          <a:xfrm>
            <a:off x="3151935" y="5181600"/>
            <a:ext cx="912689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dirty="0">
                <a:solidFill>
                  <a:srgbClr val="4A5568"/>
                </a:solidFill>
              </a:rPr>
              <a:t>매우 그렇다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F76FA8-BF75-F341-B818-60F5BA75A3A5}"/>
              </a:ext>
            </a:extLst>
          </p:cNvPr>
          <p:cNvSpPr txBox="1"/>
          <p:nvPr/>
        </p:nvSpPr>
        <p:spPr>
          <a:xfrm>
            <a:off x="762000" y="38100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b="1">
                <a:solidFill>
                  <a:srgbClr val="1A365D"/>
                </a:solidFill>
              </a:rPr>
              <a:t>Likert 5</a:t>
            </a:r>
            <a:r>
              <a:rPr lang="ko-KR" altLang="en-US" sz="1200" b="1">
                <a:solidFill>
                  <a:srgbClr val="1A365D"/>
                </a:solidFill>
              </a:rPr>
              <a:t>점 척도 예시</a:t>
            </a: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34977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1388175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09226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2130668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34977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1388175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09226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858000" y="2130668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00707" y="5807470"/>
            <a:ext cx="819119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645475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359622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407376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478791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2645475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3359622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048195" y="407376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048195" y="4883012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행동 지표 vs 객관식 문항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156831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행동 지표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256866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285487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행동의 빈도나 강도를 측정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328281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356901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관찰 가능, 정밀한 데이터 확보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399787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90549" y="428316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"지난 1주일간 운동한 횟수는?"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90549" y="471201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 상황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190549" y="499731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행동 패턴 파악이 필요할 때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156831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객관식 문항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286854" y="256866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286854" y="285487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정의된 범주 중 하나를 선택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286854" y="328281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286854" y="356901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간결, 코딩 용이, 분석 효율적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286854" y="3997873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286854" y="4283166"/>
            <a:ext cx="4286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"가장 선호하는 학습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?</a:t>
            </a:r>
            <a:r>
              <a:rPr lang="en-US" sz="1200" dirty="0"/>
              <a:t>  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(강의/토론/실습/자기학습)"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286854" y="480711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 상황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286854" y="509332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범주적 판단이나 선호 파악이 목적일 때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333695" y="3331275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574036" y="5988522"/>
            <a:ext cx="70509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변수의 성격과 연구 목적에 따라 문항 유형을 전략적으로 선택하세요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문항 유형 비교표</a:t>
            </a:r>
            <a:endParaRPr lang="en-US" sz="3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23205"/>
              </p:ext>
            </p:extLst>
          </p:nvPr>
        </p:nvGraphicFramePr>
        <p:xfrm>
          <a:off x="550985" y="1714500"/>
          <a:ext cx="11136921" cy="3848710"/>
        </p:xfrm>
        <a:graphic>
          <a:graphicData uri="http://schemas.openxmlformats.org/drawingml/2006/table">
            <a:tbl>
              <a:tblPr/>
              <a:tblGrid>
                <a:gridCol w="116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문항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장점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주의점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Likert 척도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태도·인식의 정도 측정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연속적 분포, 통계분석 용이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중앙 편향, 묵인 편향 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"나는 온라인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학습이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효과적이라고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생각한다" (1~5)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행동 지표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구체적 행동 빈도·강도 측정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관찰 가능, 객관적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자기보고 왜곡 가능성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"지난 한 달간 논문을 읽은 횟수는?"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객관식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범주적 판단·선호 파악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간결, 코딩 용이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선택지 설계가 핵심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"선호하는 학습 방법은?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(강의/토론/실습/자기학습)"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74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개방형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심층적 의견·경험 탐색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풍부한 정보 수집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코딩 어려움, 분석 시간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"AI 활용 연구에서 가장 어려운 점은?"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05195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 목적에 따라 문항 유형을 전략적으로 혼합 배치하세요"</a:t>
            </a:r>
            <a:endParaRPr lang="en-US" sz="19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695651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69600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695444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734202"/>
            <a:ext cx="5143500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182198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gen-dedup-1be27625b725a827842a564948824a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3524098"/>
            <a:ext cx="4077310" cy="247707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3339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333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검증 척도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탐색 전략</a:t>
            </a:r>
            <a:endParaRPr lang="en-US" sz="4800" dirty="0"/>
          </a:p>
        </p:txBody>
      </p:sp>
      <p:pic>
        <p:nvPicPr>
          <p:cNvPr id="28" name="Image 7" descr="gen-dedup-42347606a10fce35773b4386d13501d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3448202"/>
            <a:ext cx="152705" cy="152705"/>
          </a:xfrm>
          <a:prstGeom prst="rect">
            <a:avLst/>
          </a:prstGeom>
        </p:spPr>
      </p:pic>
      <p:pic>
        <p:nvPicPr>
          <p:cNvPr id="29" name="Image 8" descr="gen-dedup-fb93c6130f4ce0832f27ed5ee9603ba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4886554" y="3448202"/>
            <a:ext cx="133502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577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키워드 설정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372100" y="1190549"/>
            <a:ext cx="63057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구성개념 + "scale" OR "inventory" OR "questionnaire"로 검색 범위를 설정합니다.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5714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학술 DB 탐색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568696" y="2190902"/>
            <a:ext cx="591159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Google Scholar, PsycINFO, ERIC, RISS 등에서 검증된 척도를 검색합니다.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857500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AI 보조 검색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476342" y="3191256"/>
            <a:ext cx="60981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 "자기효능감 측정에 사용된 검증 척도 5개를 추천해줘"와 같이 요청합니다.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85785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원문 확인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190695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척도의 원 논문을 찾아 문항 구성, 신뢰도(α), 타당도 근거를 확인합니다.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8582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저작권 확인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715000" y="51910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척도 사용 허가 여부, 번역·수정 시 원저자 동의 필요성을 점검합니다.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410202" y="5975533"/>
            <a:ext cx="63057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검증된 척도를 활용하면 측정도구의 신뢰도와 타당도를 확보할 수 있습니다.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90549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521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521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척도 비교 및 혼합 활용 전략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524305"/>
          <a:ext cx="10658247" cy="3934662"/>
        </p:xfrm>
        <a:graphic>
          <a:graphicData uri="http://schemas.openxmlformats.org/drawingml/2006/table">
            <a:tbl>
              <a:tblPr/>
              <a:tblGrid>
                <a:gridCol w="1772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1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비교 기준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기존 검증 척도 활용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자체 개발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혼합 활용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신뢰도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 검증됨 (α 보고)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사전 검증 필요 (예비조사)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척도 기반 + 추가 문항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타당도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선행 연구로 확인됨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내용 타당도 확보 필수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기존 요인구조 + 맥락 맞춤 문항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맥락 적합성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맥락과 다를 수 있음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맥락에 최적화 가능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문항 유지 + 맥락 보완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비용·시간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낮음 (즉시 사용 가능)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높음 (개발·검증 소요)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중간 (부분 개발)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 수용성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높음 (인용 기반)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보통 (검증 과정 필요)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높음 (검증+맞춤 균형)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"혼합 활용 시 기존 척도의 핵심 문항을 유지하면서 연구 맥락에 맞는 문항을 추가하세요"</a:t>
            </a:r>
            <a:endParaRPr lang="en-US" sz="18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5048402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0200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0200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429000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5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838651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3812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연구문제·가설·변수 모형·설문 초안을 직접 작성하고 완성합니다.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e77498b076501d070a339fdc566ebe26.png"/>
          <p:cNvPicPr>
            <a:picLocks noChangeAspect="1"/>
          </p:cNvPicPr>
          <p:nvPr/>
        </p:nvPicPr>
        <p:blipFill>
          <a:blip r:embed="rId2"/>
          <a:srcRect t="-396" b="-396"/>
          <a:stretch/>
        </p:blipFill>
        <p:spPr>
          <a:xfrm>
            <a:off x="4190695" y="1285646"/>
            <a:ext cx="3810305" cy="19202"/>
          </a:xfrm>
          <a:prstGeom prst="rect">
            <a:avLst/>
          </a:prstGeom>
        </p:spPr>
      </p:pic>
      <p:pic>
        <p:nvPicPr>
          <p:cNvPr id="5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6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0" y="476402"/>
            <a:ext cx="1219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2667305" y="1714500"/>
            <a:ext cx="3238805" cy="2000707"/>
          </a:xfrm>
          <a:prstGeom prst="roundRect">
            <a:avLst>
              <a:gd name="adj" fmla="val 6964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4114800" y="1952244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4114800" y="195224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3482950" y="2438705"/>
            <a:ext cx="16120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 작성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2857500" y="2790749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관심 주제에서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구체적이고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가능한 연구 문제 1개 도출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86500" y="1714500"/>
            <a:ext cx="3238805" cy="2000707"/>
          </a:xfrm>
          <a:prstGeom prst="roundRect">
            <a:avLst>
              <a:gd name="adj" fmla="val 6964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733995" y="1952244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7733995" y="195224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101230" y="2438705"/>
            <a:ext cx="16139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가설/변수 설계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2790749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문제에서 가설 1~2개와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IV/DV/CV 구조 설정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667305" y="3905402"/>
            <a:ext cx="3238805" cy="2000707"/>
          </a:xfrm>
          <a:prstGeom prst="roundRect">
            <a:avLst>
              <a:gd name="adj" fmla="val 6964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114800" y="4143146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4114800" y="414314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3373222" y="4629607"/>
            <a:ext cx="183611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모형 스케치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2583180" y="4981651"/>
            <a:ext cx="3409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관계를 도식화한 연구 모형 1개 작성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86500" y="3905402"/>
            <a:ext cx="3238805" cy="2000707"/>
          </a:xfrm>
          <a:prstGeom prst="roundRect">
            <a:avLst>
              <a:gd name="adj" fmla="val 6964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733995" y="4143146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7733995" y="414314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103059" y="4629607"/>
            <a:ext cx="16120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초안 작성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476695" y="4981651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활용하여 8~12개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초안 생성 및 검토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0" y="6191402"/>
            <a:ext cx="1219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개인/팀 선택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 활용 초안 작성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피드백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수정·보완</a:t>
            </a:r>
            <a:endParaRPr lang="en-US" sz="15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571500"/>
            <a:ext cx="9525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단계별 가이드</a:t>
            </a:r>
            <a:endParaRPr lang="en-US" sz="36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524305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0902" y="190469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190902" y="190469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166774" y="2667305"/>
            <a:ext cx="2628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탐색 및 연구문제 작성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3333902"/>
            <a:ext cx="3048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관심 분야의 선행 연구를 AI로 탐색하고,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문제를 도출합니다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2805" y="4095598"/>
            <a:ext cx="3047695" cy="952805"/>
          </a:xfrm>
          <a:prstGeom prst="roundRect">
            <a:avLst>
              <a:gd name="adj" fmla="val 153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52805" y="4095598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52805" y="4095598"/>
            <a:ext cx="3048610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"교육공학 분야에서 </a:t>
            </a: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자기효능감과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학업성취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관련 연구 동향을 정리해줘"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95598" y="3047695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80890" y="3047695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810098" y="190469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10098" y="190469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138014" y="2667305"/>
            <a:ext cx="19248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변수·가설·모형 설계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333902"/>
            <a:ext cx="3048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문제에서 IV/DV/CV를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모형을 설계합니다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4095598"/>
            <a:ext cx="3047695" cy="952805"/>
          </a:xfrm>
          <a:prstGeom prst="roundRect">
            <a:avLst>
              <a:gd name="adj" fmla="val 153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0" y="4095598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572000" y="4095598"/>
            <a:ext cx="3048610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"위 연구 문제에서 독립변수, 종속변수, </a:t>
            </a:r>
          </a:p>
          <a:p>
            <a:pPr marL="0" indent="0" algn="ctr">
              <a:buNone/>
            </a:pP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제어변수를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구분해줘"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15707" y="3047695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001000" y="3047695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430207" y="190469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430207" y="190469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8620049" y="2667305"/>
            <a:ext cx="21909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초안 생성 및 검토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3333902"/>
            <a:ext cx="3048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설문 문항 초안을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척도와 비교 검토합니다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91195" y="4095598"/>
            <a:ext cx="3047695" cy="952805"/>
          </a:xfrm>
          <a:prstGeom prst="roundRect">
            <a:avLst>
              <a:gd name="adj" fmla="val 15355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191195" y="4095598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191195" y="4095598"/>
            <a:ext cx="3048610" cy="9528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"자기효능감을 </a:t>
            </a: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측정하는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5점 리커트 문항 10개를 작성해줘"</a:t>
            </a:r>
            <a:endParaRPr lang="en-US" sz="12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619902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33195" y="5905195"/>
            <a:ext cx="9525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AI 산출물을 반드시 비판적으로 검토하세요</a:t>
            </a:r>
            <a:endParaRPr lang="en-US" sz="18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09580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09580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81030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81030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핵심 요약</a:t>
            </a:r>
            <a:endParaRPr lang="en-US" sz="3600" dirty="0"/>
          </a:p>
        </p:txBody>
      </p:sp>
      <p:pic>
        <p:nvPicPr>
          <p:cNvPr id="14" name="Image 1" descr="gen-dedup-3dadcb55c7c52897fdc39679cd708f5a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843430" y="2238451"/>
            <a:ext cx="219456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09580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흐름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47619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연구는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연구문제→가설→변수→측정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→표본→수집→분석→해석의 체계적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따릅니다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17" name="Image 2" descr="gen-dedup-33495cc916d30328a199469ea21e60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238451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09580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질문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476195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구체적이고 측정 가능하며 이론적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근거가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있는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문제가 좋은 연구의 출발점입니다.</a:t>
            </a:r>
            <a:endParaRPr lang="en-US" sz="1300" dirty="0"/>
          </a:p>
        </p:txBody>
      </p:sp>
      <p:pic>
        <p:nvPicPr>
          <p:cNvPr id="20" name="Image 3" descr="gen-dedup-ffa1b88895eac11c15d51762fdd2032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33372" y="3952951"/>
            <a:ext cx="237744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381030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변수-측정 정합성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190695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유형에 맞는 자료 유형과 측정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매핑해야 분석 오류를 방지합니다.</a:t>
            </a:r>
            <a:endParaRPr lang="en-US" sz="1300" dirty="0"/>
          </a:p>
        </p:txBody>
      </p:sp>
      <p:pic>
        <p:nvPicPr>
          <p:cNvPr id="23" name="Image 4" descr="gen-dedup-a6ac4039cc1fd5a734c1f0afe1a4ea1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5372" y="3952951"/>
            <a:ext cx="237744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381030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설문 초안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7" y="4190695"/>
            <a:ext cx="36797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설문 문항 초안을 빠르게 생성하되,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검토와 맥락 점검은 연구자가 수행합니다.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810098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"설계 단계의 치밀함이 연구 전체의 품질을 결정합니다"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산출물 정리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1333195" y="1809598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571854" y="204825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71691ee5b205eacaab7cd38d7bc41b7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86154" y="216255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1854" y="2657246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71854" y="2980944"/>
            <a:ext cx="293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구체적이고 측정 가능한 연구 문제 1개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9549" y="1809598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858207" y="204825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gen-dedup-ad4ecce6b1fdc0b0e65fa9945a591b02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4972507" y="216255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58207" y="2657246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58207" y="2980944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문제에서 도출한 가설 1~2개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05902" y="1809598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143646" y="204825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gen-dedup-67394c0e898278a924160652a2cea3e1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8257946" y="216255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43646" y="2657246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모형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143646" y="2980944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간 관계를 도식화한 모형 1개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333195" y="3905402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571854" y="4143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gen-dedup-082c5e02d9284dbbf166ceff75194297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1686154" y="425744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71854" y="4753051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문항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571854" y="5076749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설문 문항 초안 8~12개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619549" y="3905402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4858207" y="4143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gen-dedup-670a6ad94d18ad00e61f6d20f88b2768.png"/>
          <p:cNvPicPr>
            <a:picLocks noChangeAspect="1"/>
          </p:cNvPicPr>
          <p:nvPr/>
        </p:nvPicPr>
        <p:blipFill>
          <a:blip r:embed="rId7"/>
          <a:srcRect t="-6250" b="-6250"/>
          <a:stretch/>
        </p:blipFill>
        <p:spPr>
          <a:xfrm>
            <a:off x="4972507" y="425744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58207" y="4753051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템플릿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4858207" y="5076749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 생성용 프롬프트 템플릿 1개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905902" y="3905402"/>
            <a:ext cx="2952598" cy="1809598"/>
          </a:xfrm>
          <a:prstGeom prst="roundRect">
            <a:avLst>
              <a:gd name="adj" fmla="val 638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8143646" y="4143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gen-dedup-147a09049a66cbb4bbf7171f5b181c79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8257946" y="4257446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43646" y="4753051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척도 후보표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8143646" y="5076749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검증 척도 비교 검토 목록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"모든 산출물은 모듈 2~4에서 통계 해석·시각화·보고서 작성의 기반이 됩니다"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96098" y="476402"/>
            <a:ext cx="1505102" cy="1505102"/>
          </a:xfrm>
          <a:prstGeom prst="ellipse">
            <a:avLst/>
          </a:prstGeom>
          <a:noFill/>
          <a:ln w="508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77195" y="3333902"/>
            <a:ext cx="2095805" cy="2095805"/>
          </a:xfrm>
          <a:prstGeom prst="ellipse">
            <a:avLst/>
          </a:prstGeom>
          <a:solidFill>
            <a:srgbClr val="2B6CB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571500" y="952805"/>
            <a:ext cx="381305" cy="333756"/>
          </a:xfrm>
          <a:prstGeom prst="rect">
            <a:avLst/>
          </a:prstGeom>
          <a:noFill/>
          <a:ln w="254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gen-dedup-a107b70daa626f671328c0ed1a2d5b7f.png"/>
          <p:cNvPicPr>
            <a:picLocks noChangeAspect="1"/>
          </p:cNvPicPr>
          <p:nvPr/>
        </p:nvPicPr>
        <p:blipFill>
          <a:blip r:embed="rId2"/>
          <a:srcRect t="-384" b="-384"/>
          <a:stretch/>
        </p:blipFill>
        <p:spPr>
          <a:xfrm>
            <a:off x="666598" y="1333195"/>
            <a:ext cx="952805" cy="19202"/>
          </a:xfrm>
          <a:prstGeom prst="rect">
            <a:avLst/>
          </a:prstGeom>
        </p:spPr>
      </p:pic>
      <p:pic>
        <p:nvPicPr>
          <p:cNvPr id="8" name="Image 1" descr="gen-dedup-62d4101242a237122f7b3ce7dafc3d60.png"/>
          <p:cNvPicPr>
            <a:picLocks noChangeAspect="1"/>
          </p:cNvPicPr>
          <p:nvPr/>
        </p:nvPicPr>
        <p:blipFill>
          <a:blip r:embed="rId3"/>
          <a:srcRect t="-408" b="-408"/>
          <a:stretch/>
        </p:blipFill>
        <p:spPr>
          <a:xfrm>
            <a:off x="666598" y="3047695"/>
            <a:ext cx="1904695" cy="19202"/>
          </a:xfrm>
          <a:prstGeom prst="rect">
            <a:avLst/>
          </a:prstGeom>
        </p:spPr>
      </p:pic>
      <p:pic>
        <p:nvPicPr>
          <p:cNvPr id="9" name="Image 2" descr="gen-dedup-dd9b442323872db900f431b907c13f04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7429500" y="857707"/>
            <a:ext cx="4095598" cy="5143500"/>
          </a:xfrm>
          <a:prstGeom prst="rect">
            <a:avLst/>
          </a:prstGeom>
        </p:spPr>
      </p:pic>
      <p:pic>
        <p:nvPicPr>
          <p:cNvPr id="10" name="Image 3" descr="gen-dedup-8488a8b90d86612f89dc4a32e7c81fe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857707"/>
            <a:ext cx="4095750" cy="5143500"/>
          </a:xfrm>
          <a:prstGeom prst="rect">
            <a:avLst/>
          </a:prstGeom>
        </p:spPr>
      </p:pic>
      <p:pic>
        <p:nvPicPr>
          <p:cNvPr id="11" name="Image 4" descr="gen-dedup-bcb3cf82b116f6a90e0318dd994b5632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7429500" y="4858207"/>
            <a:ext cx="4095598" cy="1143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39305" y="666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11334902" y="5810098"/>
            <a:ext cx="571500" cy="571500"/>
          </a:xfrm>
          <a:prstGeom prst="ellipse">
            <a:avLst/>
          </a:prstGeom>
          <a:noFill/>
          <a:ln w="1016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666598" y="1524305"/>
            <a:ext cx="5715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7500" dirty="0"/>
          </a:p>
        </p:txBody>
      </p:sp>
      <p:sp>
        <p:nvSpPr>
          <p:cNvPr id="15" name="Text 8"/>
          <p:cNvSpPr txBox="1"/>
          <p:nvPr/>
        </p:nvSpPr>
        <p:spPr>
          <a:xfrm>
            <a:off x="666598" y="3429000"/>
            <a:ext cx="58293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AI는 양적 연구 설계의 강력한 보조 </a:t>
            </a:r>
            <a:r>
              <a:rPr lang="en-US" sz="1600" b="1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도구입니다</a:t>
            </a: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 배운 설계 원리를 바탕으로 여러분의 연구를 시작해 보세요. 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666598" y="4572000"/>
            <a:ext cx="58293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생성형 AI 기반 양적 연구 AI 활용 과정</a:t>
            </a:r>
            <a:endParaRPr lang="en-US" sz="13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1: AI 기반 양적 연구 설계 통합</a:t>
            </a:r>
            <a:endParaRPr lang="en-US" sz="13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2: 통계 분석 결과 해석 AI 보조 </a:t>
            </a:r>
            <a:endParaRPr lang="en-US" sz="1300" dirty="0"/>
          </a:p>
        </p:txBody>
      </p:sp>
      <p:pic>
        <p:nvPicPr>
          <p:cNvPr id="17" name="Image 5" descr="gen-dedup-074c6eb0c4c199d8ecd9f5e29a8bc7c3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0" y="6762902"/>
            <a:ext cx="3657600" cy="95098"/>
          </a:xfrm>
          <a:prstGeom prst="rect">
            <a:avLst/>
          </a:prstGeom>
        </p:spPr>
      </p:pic>
      <p:pic>
        <p:nvPicPr>
          <p:cNvPr id="18" name="Image 6" descr="gen-dedup-65b911f495d93814b5400de757589870.png"/>
          <p:cNvPicPr>
            <a:picLocks noChangeAspect="1"/>
          </p:cNvPicPr>
          <p:nvPr/>
        </p:nvPicPr>
        <p:blipFill>
          <a:blip r:embed="rId8"/>
          <a:srcRect l="-78" r="-78"/>
          <a:stretch/>
        </p:blipFill>
        <p:spPr>
          <a:xfrm>
            <a:off x="3657600" y="6762902"/>
            <a:ext cx="8534095" cy="95098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15243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1476756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15243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5429707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5381244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5429707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d4050a2904dc5a08f440faa8fb6b7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1524305"/>
            <a:ext cx="3619886" cy="42867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39805" y="905256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9695" y="5619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1047902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양적 연구 AI 활용 과정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190902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71499" y="3018891"/>
            <a:ext cx="6667805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 결과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 AI 보조 </a:t>
            </a:r>
            <a:endParaRPr lang="en-US" sz="54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715000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대학원생·성인학습자·연구자·교수자 | 형식: 5시간 실습 중심 | 모듈 2/4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06704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결과를 AI로 읽고, 학술 형식으로 보고하는 실전 과정</a:t>
            </a:r>
            <a:endParaRPr lang="en-US" sz="1300" dirty="0"/>
          </a:p>
        </p:txBody>
      </p:sp>
      <p:pic>
        <p:nvPicPr>
          <p:cNvPr id="21" name="Image 3" descr="gen-dedup-7097a290e22353333645ea7ead54b4ea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11334902" y="1009498"/>
            <a:ext cx="190195" cy="171907"/>
          </a:xfrm>
          <a:prstGeom prst="rect">
            <a:avLst/>
          </a:prstGeom>
        </p:spPr>
      </p:pic>
      <p:pic>
        <p:nvPicPr>
          <p:cNvPr id="22" name="Image 4" descr="gen-dedup-1d8f321ce0ad8bb78616564556c45b13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7701077" y="5724144"/>
            <a:ext cx="219456" cy="171907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762902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ac30c8d9bd0ee3b4b4f3747fcdca137e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5524805" y="952805"/>
            <a:ext cx="38405" cy="4953305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333195"/>
            <a:ext cx="190195" cy="190195"/>
          </a:xfrm>
          <a:prstGeom prst="ellipse">
            <a:avLst/>
          </a:prstGeom>
          <a:solidFill>
            <a:srgbClr val="A0AE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00446" y="2619756"/>
            <a:ext cx="286207" cy="286207"/>
          </a:xfrm>
          <a:prstGeom prst="ellipse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905402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5191049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5447995" y="266730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495544" y="2714854"/>
            <a:ext cx="95098" cy="9509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구조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20시간 4개 모듈 과정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1238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1809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1. (5H)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1505102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양적 연구 설계 통합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252374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2. (5H)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2790749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 결과 해석 AI 보조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381030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3. (5H)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407639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시각화와 Figure AI 생성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5905195" y="5095951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4. (5H)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905195" y="5362956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통합 완성</a:t>
            </a:r>
            <a:endParaRPr lang="en-US" sz="24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3810305"/>
            <a:ext cx="10668305" cy="9144"/>
          </a:xfrm>
          <a:prstGeom prst="rect">
            <a:avLst/>
          </a:prstGeom>
        </p:spPr>
      </p:pic>
      <p:pic>
        <p:nvPicPr>
          <p:cNvPr id="7" name="Image 1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76349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638751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401154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163556" y="38194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876349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638751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401154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163556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gen-dedup-385007030a994fa9431e6e1c26faf8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1190549"/>
            <a:ext cx="3048672" cy="20482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9195" y="9336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71500" y="2952598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gen-dedup-7f4f53fe3c3d92db3825dcf7d9fd816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24351" y="1037844"/>
            <a:ext cx="171907" cy="171907"/>
          </a:xfrm>
          <a:prstGeom prst="rect">
            <a:avLst/>
          </a:prstGeom>
        </p:spPr>
      </p:pic>
      <p:pic>
        <p:nvPicPr>
          <p:cNvPr id="20" name="Image 4" descr="gen-dedup-8971e6cdb0e63828f7b92de6fecd64b7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85800" y="3057754"/>
            <a:ext cx="152705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381805" y="1380744"/>
            <a:ext cx="6667805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63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 유형 이해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809744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통계 분석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범위를 이해합니다.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524098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3524098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출력값 읽기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4098" y="4809744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출력값을 읽고 핵심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정보를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식별하는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능력을 기릅니다.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286500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86500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표현 규칙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286500" y="4809744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 숫자, 단위, 오차, p-value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표현 규칙을 적용합니다.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48902" y="40955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048902" y="4381805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 생성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048902" y="4809744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결과를 AI에 입력해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</a:t>
            </a:r>
            <a:endParaRPr lang="en-US" sz="12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해석문 초안을 생성하고 수정합니다.</a:t>
            </a:r>
            <a:endParaRPr lang="en-US" sz="12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9427625eff5a5f0bb084a2fc98bc874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5524805" y="571500"/>
            <a:ext cx="38405" cy="5715000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952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095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238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4381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5447995" y="55248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</a:t>
            </a:r>
            <a:endParaRPr lang="en-US" sz="54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5시간 실습 중심 과정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857707"/>
            <a:ext cx="5906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1. (1H)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1123798"/>
            <a:ext cx="5906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통계 분석 체계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000707"/>
            <a:ext cx="5906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2. (1.5H)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2266798"/>
            <a:ext cx="5906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통계 분석 해석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3143707"/>
            <a:ext cx="5906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3. (1H)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3409798"/>
            <a:ext cx="5906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표현 규칙과 AI 해석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4286707"/>
            <a:ext cx="5906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4. (0.5H)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905195" y="4552798"/>
            <a:ext cx="5906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생성 실전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5905195" y="5429707"/>
            <a:ext cx="5906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5. (1H)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905195" y="5695798"/>
            <a:ext cx="5906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24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e721bdea8e481c56cf9851a871ea16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2569a2d878a0df1c84875feb6d9ceba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2400300"/>
            <a:ext cx="152705" cy="152705"/>
          </a:xfrm>
          <a:prstGeom prst="rect">
            <a:avLst/>
          </a:prstGeom>
        </p:spPr>
      </p:pic>
      <p:pic>
        <p:nvPicPr>
          <p:cNvPr id="16" name="Image 4" descr="gen-dedup-ebd2d0007c29d3588471648090c3b2a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15446" y="2400300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696005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통계 분석 체계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43500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연구문제에 맞는 통계 체계를 개관하고 분석 선택의 기준을 정리합니다.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체계 개관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47902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5a831f11a4869b9ae7318b12c9a750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81405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47902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 확인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76756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연구문제와 가설의 유형이 분석 방법 선택의 출발점입니다.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검증인지, 관계 탐색인지를 먼저 구분합니다.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4286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3dadcb55c7c52897fdc39679cd708f5a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690872" y="2562149"/>
            <a:ext cx="21945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428646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 선택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857500"/>
            <a:ext cx="69229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변수의 측정 수준, 집단 수, 연구 설계에 따라 적합한 통계 기법을 결정합니다.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810305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52a0100e7869aad1127630774966ed2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29277" y="3943807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810305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산출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238244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SPSS, R, jamovi 등 통계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소프트웨어에서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검정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통계량, p-value, 효과크기 등을 산출합니다.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191049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b4ec3920987da3f84ab4031e05ecaf1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29277" y="5324551"/>
            <a:ext cx="142646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1910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해석과 보고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61990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산출된 수치를 연구 맥락에 맞게 해석하고 학술 형식(APA)으로 보고합니다.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127436" y="1305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878926" y="1343710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27436" y="20477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878926" y="2086203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22826" y="1305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975231" y="1343710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222826" y="20477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975231" y="2086203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117938" y="5667908"/>
            <a:ext cx="819119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070036" y="260101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1070036" y="331515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1070036" y="4029303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1070036" y="4743449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165426" y="2601010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165426" y="331515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165426" y="4029303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165426" y="4743449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 vs 추론통계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878926" y="1523847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기술통계(Descriptive)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307780" y="252420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307780" y="28104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데이터의 특성을 요약·기술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307780" y="323834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지표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307780" y="352455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평균, 표준편차, 빈도, 백분율, 최빈값, 중앙값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307780" y="39534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307780" y="423870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 데이터의 분포와 경향을 파악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307780" y="466755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출력물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307780" y="495284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빈도표, 기술통계표, 히스토그램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975231" y="1523847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추론통계(Inferential)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404085" y="252420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404085" y="28104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표본에서 모집단을 추론·일반화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404085" y="323834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지표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404085" y="35245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t, F, χ², r, β, p-value, CI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404085" y="395340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404085" y="423870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검증, 집단 간 차이·변수 간 관계 판단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404085" y="466755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출력물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404085" y="495284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검정 결과표, 회귀 계수표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450926" y="3286810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117938" y="5810554"/>
            <a:ext cx="8192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기술통계로 데이터를 파악한 뒤, 추론통계로 가설을 검증합니다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064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평균과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표준편차</a:t>
            </a:r>
            <a:r>
              <a:rPr lang="en-US" sz="3900" dirty="0"/>
              <a:t> </a:t>
            </a: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c88c7786419f815032d2d1fe36e027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25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c477e8165f4ddd3cd84eb06dbeb5801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평균(M)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729234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데이터의 중심 경향을 나타냅니다.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평균은 모집단 평균의 추정치로 사용됩니다.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db0999bf666d7e9732ba3a158cf5ec0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표준편차(SD)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데이터가 평균으로부터 얼마나 흩어져 있는지를 나타내는 산포 지표입니다.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b8fac1e183d90af34dcb5741e1e41ed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M = 23.45, SD = 5.12. 소수점 자릿수를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측정도구의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정밀도에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맞춰 일관되게 유지합니다.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f353533fc777a1fb88b6c60cb928c5c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29277" y="5134356"/>
            <a:ext cx="142646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 포인트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SD가 클수록 개인차가 크다는 의미. 집단 간 비교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아니라 SD도 함께 보고해야 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빈도와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백분율 해석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e72b9cb1a8c55871a598b49b1a446549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714646" y="1133856"/>
            <a:ext cx="171907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빈도(n)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72274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범주에 해당하는 사례 수를 나타냅니다.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명목·서열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변수의 기본 기술통계입니다.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071b74ca0f413f9241a54cec1e093dd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9277" y="2467051"/>
            <a:ext cx="14264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백분율(%)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대비 비율로, 집단 간 비교를 용이하게 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백분율(결측 제외)을 사용합니다.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6fa23294f26cbd1f047a6bc96a8b4a7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교차표 읽기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87994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범주형 변수의 결합 분포를 확인합니다. 행/열 백분율의 방향에 주의하세요.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1b355282df9fcd63de26ac5e4e0784e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n = 45 (37.5%). 빈도와 백분율을 병기하여 표본 크기 맥락을 제공합니다.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52805" y="1714500"/>
            <a:ext cx="4876495" cy="2133295"/>
          </a:xfrm>
          <a:prstGeom prst="roundRect">
            <a:avLst>
              <a:gd name="adj" fmla="val 61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381598" y="1714500"/>
            <a:ext cx="4876495" cy="2133295"/>
          </a:xfrm>
          <a:prstGeom prst="roundRect">
            <a:avLst>
              <a:gd name="adj" fmla="val 612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666744" y="4095598"/>
            <a:ext cx="4876495" cy="1561795"/>
          </a:xfrm>
          <a:prstGeom prst="roundRect">
            <a:avLst>
              <a:gd name="adj" fmla="val 11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24d5973eebc397a2d6ac383d1fdc299e.png"/>
          <p:cNvPicPr>
            <a:picLocks noChangeAspect="1"/>
          </p:cNvPicPr>
          <p:nvPr/>
        </p:nvPicPr>
        <p:blipFill>
          <a:blip r:embed="rId3"/>
          <a:srcRect t="-16" b="-16"/>
          <a:stretch/>
        </p:blipFill>
        <p:spPr>
          <a:xfrm>
            <a:off x="1238098" y="2572207"/>
            <a:ext cx="1143000" cy="476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8098" y="2572207"/>
            <a:ext cx="1143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2집단</a:t>
            </a:r>
            <a:endParaRPr lang="en-US" sz="1500" dirty="0"/>
          </a:p>
        </p:txBody>
      </p:sp>
      <p:pic>
        <p:nvPicPr>
          <p:cNvPr id="14" name="Image 2" descr="gen-dedup-6647a6dc8c6caca50fb93baf2491b142.png"/>
          <p:cNvPicPr>
            <a:picLocks noChangeAspect="1"/>
          </p:cNvPicPr>
          <p:nvPr/>
        </p:nvPicPr>
        <p:blipFill>
          <a:blip r:embed="rId4"/>
          <a:srcRect t="-373" b="-373"/>
          <a:stretch/>
        </p:blipFill>
        <p:spPr>
          <a:xfrm>
            <a:off x="2523744" y="2790749"/>
            <a:ext cx="428854" cy="38405"/>
          </a:xfrm>
          <a:prstGeom prst="rect">
            <a:avLst/>
          </a:prstGeom>
        </p:spPr>
      </p:pic>
      <p:pic>
        <p:nvPicPr>
          <p:cNvPr id="15" name="Image 3" descr="gen-dedup-cb48cf2d640936c86b0698430172c962.png"/>
          <p:cNvPicPr>
            <a:picLocks noChangeAspect="1"/>
          </p:cNvPicPr>
          <p:nvPr/>
        </p:nvPicPr>
        <p:blipFill>
          <a:blip r:embed="rId5"/>
          <a:srcRect t="-19" b="-19"/>
          <a:stretch/>
        </p:blipFill>
        <p:spPr>
          <a:xfrm>
            <a:off x="3095244" y="2572207"/>
            <a:ext cx="2381098" cy="476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095244" y="2572207"/>
            <a:ext cx="2382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t검정</a:t>
            </a:r>
            <a:endParaRPr lang="en-US" sz="1500" dirty="0"/>
          </a:p>
        </p:txBody>
      </p:sp>
      <p:pic>
        <p:nvPicPr>
          <p:cNvPr id="17" name="Image 4" descr="gen-dedup-24d5973eebc397a2d6ac383d1fdc299e.png"/>
          <p:cNvPicPr>
            <a:picLocks noChangeAspect="1"/>
          </p:cNvPicPr>
          <p:nvPr/>
        </p:nvPicPr>
        <p:blipFill>
          <a:blip r:embed="rId3"/>
          <a:srcRect t="-16" b="-16"/>
          <a:stretch/>
        </p:blipFill>
        <p:spPr>
          <a:xfrm>
            <a:off x="1238098" y="3143707"/>
            <a:ext cx="1143000" cy="476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8098" y="3143707"/>
            <a:ext cx="1143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3집단 이상</a:t>
            </a:r>
            <a:endParaRPr lang="en-US" sz="1500" dirty="0"/>
          </a:p>
        </p:txBody>
      </p:sp>
      <p:pic>
        <p:nvPicPr>
          <p:cNvPr id="19" name="Image 5" descr="gen-dedup-6647a6dc8c6caca50fb93baf2491b142.png"/>
          <p:cNvPicPr>
            <a:picLocks noChangeAspect="1"/>
          </p:cNvPicPr>
          <p:nvPr/>
        </p:nvPicPr>
        <p:blipFill>
          <a:blip r:embed="rId4"/>
          <a:srcRect t="-373" b="-373"/>
          <a:stretch/>
        </p:blipFill>
        <p:spPr>
          <a:xfrm>
            <a:off x="2523744" y="3362249"/>
            <a:ext cx="428854" cy="38405"/>
          </a:xfrm>
          <a:prstGeom prst="rect">
            <a:avLst/>
          </a:prstGeom>
        </p:spPr>
      </p:pic>
      <p:pic>
        <p:nvPicPr>
          <p:cNvPr id="20" name="Image 6" descr="gen-dedup-cb48cf2d640936c86b0698430172c962.png"/>
          <p:cNvPicPr>
            <a:picLocks noChangeAspect="1"/>
          </p:cNvPicPr>
          <p:nvPr/>
        </p:nvPicPr>
        <p:blipFill>
          <a:blip r:embed="rId5"/>
          <a:srcRect t="-19" b="-19"/>
          <a:stretch/>
        </p:blipFill>
        <p:spPr>
          <a:xfrm>
            <a:off x="3095244" y="3143707"/>
            <a:ext cx="2381098" cy="47640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095244" y="3143707"/>
            <a:ext cx="23820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ANOVA (분산분석)</a:t>
            </a:r>
            <a:endParaRPr lang="en-US" sz="1500" dirty="0"/>
          </a:p>
        </p:txBody>
      </p:sp>
      <p:pic>
        <p:nvPicPr>
          <p:cNvPr id="22" name="Image 7" descr="gen-dedup-b734b2ee6888336f13211fac168acd4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7805" y="2572207"/>
            <a:ext cx="1429207" cy="47640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667805" y="2572207"/>
            <a:ext cx="1429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 연속변수</a:t>
            </a:r>
            <a:endParaRPr lang="en-US" sz="1500" dirty="0"/>
          </a:p>
        </p:txBody>
      </p:sp>
      <p:pic>
        <p:nvPicPr>
          <p:cNvPr id="24" name="Image 8" descr="gen-dedup-6647a6dc8c6caca50fb93baf2491b142.png"/>
          <p:cNvPicPr>
            <a:picLocks noChangeAspect="1"/>
          </p:cNvPicPr>
          <p:nvPr/>
        </p:nvPicPr>
        <p:blipFill>
          <a:blip r:embed="rId4"/>
          <a:srcRect t="-373" b="-373"/>
          <a:stretch/>
        </p:blipFill>
        <p:spPr>
          <a:xfrm>
            <a:off x="8238744" y="2790749"/>
            <a:ext cx="428854" cy="38405"/>
          </a:xfrm>
          <a:prstGeom prst="rect">
            <a:avLst/>
          </a:prstGeom>
        </p:spPr>
      </p:pic>
      <p:pic>
        <p:nvPicPr>
          <p:cNvPr id="25" name="Image 9" descr="gen-dedup-fd84fb21abbd9d444abe814dc1647a3a.png"/>
          <p:cNvPicPr>
            <a:picLocks noChangeAspect="1"/>
          </p:cNvPicPr>
          <p:nvPr/>
        </p:nvPicPr>
        <p:blipFill>
          <a:blip r:embed="rId7"/>
          <a:srcRect t="-9" b="-9"/>
          <a:stretch/>
        </p:blipFill>
        <p:spPr>
          <a:xfrm>
            <a:off x="8810244" y="2572207"/>
            <a:ext cx="2095805" cy="47640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810244" y="2572207"/>
            <a:ext cx="2095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상관분석</a:t>
            </a:r>
            <a:endParaRPr lang="en-US" sz="1500" dirty="0"/>
          </a:p>
        </p:txBody>
      </p:sp>
      <p:pic>
        <p:nvPicPr>
          <p:cNvPr id="27" name="Image 10" descr="gen-dedup-b734b2ee6888336f13211fac168acd4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7805" y="3143707"/>
            <a:ext cx="1429207" cy="476402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667805" y="3143707"/>
            <a:ext cx="1429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예측/설명</a:t>
            </a:r>
            <a:endParaRPr lang="en-US" sz="1500" dirty="0"/>
          </a:p>
        </p:txBody>
      </p:sp>
      <p:pic>
        <p:nvPicPr>
          <p:cNvPr id="29" name="Image 11" descr="gen-dedup-6647a6dc8c6caca50fb93baf2491b142.png"/>
          <p:cNvPicPr>
            <a:picLocks noChangeAspect="1"/>
          </p:cNvPicPr>
          <p:nvPr/>
        </p:nvPicPr>
        <p:blipFill>
          <a:blip r:embed="rId4"/>
          <a:srcRect t="-373" b="-373"/>
          <a:stretch/>
        </p:blipFill>
        <p:spPr>
          <a:xfrm>
            <a:off x="8238744" y="3362249"/>
            <a:ext cx="428854" cy="38405"/>
          </a:xfrm>
          <a:prstGeom prst="rect">
            <a:avLst/>
          </a:prstGeom>
        </p:spPr>
      </p:pic>
      <p:pic>
        <p:nvPicPr>
          <p:cNvPr id="30" name="Image 12" descr="gen-dedup-fd84fb21abbd9d444abe814dc1647a3a.png"/>
          <p:cNvPicPr>
            <a:picLocks noChangeAspect="1"/>
          </p:cNvPicPr>
          <p:nvPr/>
        </p:nvPicPr>
        <p:blipFill>
          <a:blip r:embed="rId7"/>
          <a:srcRect t="-9" b="-9"/>
          <a:stretch/>
        </p:blipFill>
        <p:spPr>
          <a:xfrm>
            <a:off x="8810244" y="3143707"/>
            <a:ext cx="2095805" cy="476402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8810244" y="3143707"/>
            <a:ext cx="2095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회귀분석</a:t>
            </a:r>
            <a:endParaRPr lang="en-US" sz="1500" dirty="0"/>
          </a:p>
        </p:txBody>
      </p:sp>
      <p:pic>
        <p:nvPicPr>
          <p:cNvPr id="32" name="Image 13" descr="gen-dedup-1477c3a7cc788fd71c7ac093d91ab751.png"/>
          <p:cNvPicPr>
            <a:picLocks noChangeAspect="1"/>
          </p:cNvPicPr>
          <p:nvPr/>
        </p:nvPicPr>
        <p:blipFill>
          <a:blip r:embed="rId8"/>
          <a:srcRect t="-11" b="-11"/>
          <a:stretch/>
        </p:blipFill>
        <p:spPr>
          <a:xfrm>
            <a:off x="3952951" y="4905756"/>
            <a:ext cx="1619402" cy="476402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3952951" y="4905756"/>
            <a:ext cx="1619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 × 범주</a:t>
            </a:r>
            <a:endParaRPr lang="en-US" sz="1500" dirty="0"/>
          </a:p>
        </p:txBody>
      </p:sp>
      <p:pic>
        <p:nvPicPr>
          <p:cNvPr id="34" name="Image 14" descr="gen-dedup-6647a6dc8c6caca50fb93baf2491b142.png"/>
          <p:cNvPicPr>
            <a:picLocks noChangeAspect="1"/>
          </p:cNvPicPr>
          <p:nvPr/>
        </p:nvPicPr>
        <p:blipFill>
          <a:blip r:embed="rId4"/>
          <a:srcRect t="-373" b="-373"/>
          <a:stretch/>
        </p:blipFill>
        <p:spPr>
          <a:xfrm>
            <a:off x="5715000" y="5124298"/>
            <a:ext cx="428854" cy="38405"/>
          </a:xfrm>
          <a:prstGeom prst="rect">
            <a:avLst/>
          </a:prstGeom>
        </p:spPr>
      </p:pic>
      <p:pic>
        <p:nvPicPr>
          <p:cNvPr id="35" name="Image 15" descr="gen-dedup-4bfa09e3c83a59f168fab5ffe28e431a.png"/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6286500" y="4905756"/>
            <a:ext cx="1904695" cy="476402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6286500" y="4905756"/>
            <a:ext cx="1905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카이제곱 검정</a:t>
            </a:r>
            <a:endParaRPr lang="en-US" sz="1500" dirty="0"/>
          </a:p>
        </p:txBody>
      </p:sp>
      <p:sp>
        <p:nvSpPr>
          <p:cNvPr id="37" name="Text 19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통계 분석 유형 맵</a:t>
            </a:r>
            <a:endParaRPr lang="en-US" sz="3100" dirty="0"/>
          </a:p>
        </p:txBody>
      </p:sp>
      <p:sp>
        <p:nvSpPr>
          <p:cNvPr id="38" name="Text 20"/>
          <p:cNvSpPr txBox="1"/>
          <p:nvPr/>
        </p:nvSpPr>
        <p:spPr>
          <a:xfrm>
            <a:off x="952805" y="1981505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차이 검증</a:t>
            </a:r>
            <a:endParaRPr lang="en-US" sz="1800" dirty="0"/>
          </a:p>
        </p:txBody>
      </p:sp>
      <p:sp>
        <p:nvSpPr>
          <p:cNvPr id="39" name="Text 21"/>
          <p:cNvSpPr txBox="1"/>
          <p:nvPr/>
        </p:nvSpPr>
        <p:spPr>
          <a:xfrm>
            <a:off x="6381598" y="1981505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 탐색</a:t>
            </a:r>
            <a:endParaRPr lang="en-US" sz="1800" dirty="0"/>
          </a:p>
        </p:txBody>
      </p:sp>
      <p:sp>
        <p:nvSpPr>
          <p:cNvPr id="40" name="Text 22"/>
          <p:cNvSpPr txBox="1"/>
          <p:nvPr/>
        </p:nvSpPr>
        <p:spPr>
          <a:xfrm>
            <a:off x="3666744" y="4362602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범주형 분석</a:t>
            </a:r>
            <a:endParaRPr lang="en-US" sz="1800" dirty="0"/>
          </a:p>
        </p:txBody>
      </p:sp>
      <p:sp>
        <p:nvSpPr>
          <p:cNvPr id="41" name="Text 23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"연구질문의 유형과 변수의 측정 수준이 분석 선택의 핵심 기준입니다"</a:t>
            </a:r>
            <a:endParaRPr lang="en-US" sz="16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19551b5cc3ce3c28b02e9c73020421e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333902" y="1619402"/>
            <a:ext cx="1714500" cy="19202"/>
          </a:xfrm>
          <a:prstGeom prst="rect">
            <a:avLst/>
          </a:prstGeom>
        </p:spPr>
      </p:pic>
      <p:pic>
        <p:nvPicPr>
          <p:cNvPr id="9" name="Image 2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3333902" y="1619402"/>
            <a:ext cx="19202" cy="286207"/>
          </a:xfrm>
          <a:prstGeom prst="rect">
            <a:avLst/>
          </a:prstGeom>
        </p:spPr>
      </p:pic>
      <p:pic>
        <p:nvPicPr>
          <p:cNvPr id="10" name="Image 3" descr="gen-dedup-a6c63eed9f0ddedd507a6f57945cbb38.png"/>
          <p:cNvPicPr>
            <a:picLocks noChangeAspect="1"/>
          </p:cNvPicPr>
          <p:nvPr/>
        </p:nvPicPr>
        <p:blipFill>
          <a:blip r:embed="rId5"/>
          <a:srcRect t="-404" b="-404"/>
          <a:stretch/>
        </p:blipFill>
        <p:spPr>
          <a:xfrm>
            <a:off x="7144207" y="1619402"/>
            <a:ext cx="1809598" cy="19202"/>
          </a:xfrm>
          <a:prstGeom prst="rect">
            <a:avLst/>
          </a:prstGeom>
        </p:spPr>
      </p:pic>
      <p:pic>
        <p:nvPicPr>
          <p:cNvPr id="11" name="Image 4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8953805" y="1619402"/>
            <a:ext cx="19202" cy="28620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915400" y="1857146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5" descr="gen-dedup-9345a4699207a2b9a65dcb21c96333d2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6096305" y="1904695"/>
            <a:ext cx="19202" cy="57150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6057900" y="2428646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6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3333902" y="2381098"/>
            <a:ext cx="19202" cy="286207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3295498" y="2619756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7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3333902" y="3143707"/>
            <a:ext cx="19202" cy="286207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3295498" y="3381451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8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3333902" y="3905402"/>
            <a:ext cx="19202" cy="286207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3295498" y="4143146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9" descr="gen-dedup-a47679a1660bbe5f1cace62ab179ad9a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1714500" y="4667098"/>
            <a:ext cx="1619402" cy="19202"/>
          </a:xfrm>
          <a:prstGeom prst="rect">
            <a:avLst/>
          </a:prstGeom>
        </p:spPr>
      </p:pic>
      <p:pic>
        <p:nvPicPr>
          <p:cNvPr id="22" name="Image 10" descr="gen-dedup-f220dd73a4a3301e85fdfcd055cbc387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1714500" y="4667098"/>
            <a:ext cx="19202" cy="190195"/>
          </a:xfrm>
          <a:prstGeom prst="rect">
            <a:avLst/>
          </a:prstGeom>
        </p:spPr>
      </p:pic>
      <p:sp>
        <p:nvSpPr>
          <p:cNvPr id="23" name="Shape 10"/>
          <p:cNvSpPr/>
          <p:nvPr/>
        </p:nvSpPr>
        <p:spPr>
          <a:xfrm>
            <a:off x="1676095" y="4809744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1" descr="gen-dedup-a47679a1660bbe5f1cace62ab179ad9a.png"/>
          <p:cNvPicPr>
            <a:picLocks noChangeAspect="1"/>
          </p:cNvPicPr>
          <p:nvPr/>
        </p:nvPicPr>
        <p:blipFill>
          <a:blip r:embed="rId7"/>
          <a:srcRect t="-395" b="-395"/>
          <a:stretch/>
        </p:blipFill>
        <p:spPr>
          <a:xfrm>
            <a:off x="3333902" y="4667098"/>
            <a:ext cx="1619402" cy="19202"/>
          </a:xfrm>
          <a:prstGeom prst="rect">
            <a:avLst/>
          </a:prstGeom>
        </p:spPr>
      </p:pic>
      <p:pic>
        <p:nvPicPr>
          <p:cNvPr id="25" name="Image 12" descr="gen-dedup-f220dd73a4a3301e85fdfcd055cbc387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4953305" y="4667098"/>
            <a:ext cx="19202" cy="190195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4914900" y="4809744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3" descr="gen-dedup-dca430a5fd7194f1995863173bdcd647.png"/>
          <p:cNvPicPr>
            <a:picLocks noChangeAspect="1"/>
          </p:cNvPicPr>
          <p:nvPr/>
        </p:nvPicPr>
        <p:blipFill>
          <a:blip r:embed="rId9"/>
          <a:srcRect l="-384" r="-384"/>
          <a:stretch/>
        </p:blipFill>
        <p:spPr>
          <a:xfrm>
            <a:off x="6096305" y="2952598"/>
            <a:ext cx="19202" cy="476402"/>
          </a:xfrm>
          <a:prstGeom prst="rect">
            <a:avLst/>
          </a:prstGeom>
        </p:spPr>
      </p:pic>
      <p:sp>
        <p:nvSpPr>
          <p:cNvPr id="28" name="Shape 12"/>
          <p:cNvSpPr/>
          <p:nvPr/>
        </p:nvSpPr>
        <p:spPr>
          <a:xfrm>
            <a:off x="6057900" y="3381451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4" descr="gen-dedup-f64084f80b06c88def72c584e5dee878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8953805" y="2381098"/>
            <a:ext cx="19202" cy="286207"/>
          </a:xfrm>
          <a:prstGeom prst="rect">
            <a:avLst/>
          </a:prstGeom>
        </p:spPr>
      </p:pic>
      <p:sp>
        <p:nvSpPr>
          <p:cNvPr id="30" name="Shape 13"/>
          <p:cNvSpPr/>
          <p:nvPr/>
        </p:nvSpPr>
        <p:spPr>
          <a:xfrm>
            <a:off x="8915400" y="2619756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5" descr="gen-dedup-2b7d7da1e640baf8c9c3e525149e4e11.png"/>
          <p:cNvPicPr>
            <a:picLocks noChangeAspect="1"/>
          </p:cNvPicPr>
          <p:nvPr/>
        </p:nvPicPr>
        <p:blipFill>
          <a:blip r:embed="rId10"/>
          <a:srcRect t="-406" b="-406"/>
          <a:stretch/>
        </p:blipFill>
        <p:spPr>
          <a:xfrm>
            <a:off x="7715707" y="3143707"/>
            <a:ext cx="1238098" cy="19202"/>
          </a:xfrm>
          <a:prstGeom prst="rect">
            <a:avLst/>
          </a:prstGeom>
        </p:spPr>
      </p:pic>
      <p:pic>
        <p:nvPicPr>
          <p:cNvPr id="32" name="Image 16" descr="gen-dedup-f220dd73a4a3301e85fdfcd055cbc387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7715707" y="3143707"/>
            <a:ext cx="19202" cy="190195"/>
          </a:xfrm>
          <a:prstGeom prst="rect">
            <a:avLst/>
          </a:prstGeom>
        </p:spPr>
      </p:pic>
      <p:sp>
        <p:nvSpPr>
          <p:cNvPr id="33" name="Shape 14"/>
          <p:cNvSpPr/>
          <p:nvPr/>
        </p:nvSpPr>
        <p:spPr>
          <a:xfrm>
            <a:off x="7677302" y="3286354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7" descr="gen-dedup-2b7d7da1e640baf8c9c3e525149e4e11.png"/>
          <p:cNvPicPr>
            <a:picLocks noChangeAspect="1"/>
          </p:cNvPicPr>
          <p:nvPr/>
        </p:nvPicPr>
        <p:blipFill>
          <a:blip r:embed="rId10"/>
          <a:srcRect t="-406" b="-406"/>
          <a:stretch/>
        </p:blipFill>
        <p:spPr>
          <a:xfrm>
            <a:off x="8953805" y="3143707"/>
            <a:ext cx="1238098" cy="19202"/>
          </a:xfrm>
          <a:prstGeom prst="rect">
            <a:avLst/>
          </a:prstGeom>
        </p:spPr>
      </p:pic>
      <p:pic>
        <p:nvPicPr>
          <p:cNvPr id="35" name="Image 18" descr="gen-dedup-f220dd73a4a3301e85fdfcd055cbc387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10191902" y="3143707"/>
            <a:ext cx="19202" cy="190195"/>
          </a:xfrm>
          <a:prstGeom prst="rect">
            <a:avLst/>
          </a:prstGeom>
        </p:spPr>
      </p:pic>
      <p:sp>
        <p:nvSpPr>
          <p:cNvPr id="36" name="Shape 15"/>
          <p:cNvSpPr/>
          <p:nvPr/>
        </p:nvSpPr>
        <p:spPr>
          <a:xfrm>
            <a:off x="10153498" y="3286354"/>
            <a:ext cx="95098" cy="47549"/>
          </a:xfrm>
          <a:prstGeom prst="rect">
            <a:avLst/>
          </a:prstGeom>
          <a:noFill/>
          <a:ln w="635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16"/>
          <p:cNvSpPr/>
          <p:nvPr/>
        </p:nvSpPr>
        <p:spPr>
          <a:xfrm>
            <a:off x="2286000" y="5524805"/>
            <a:ext cx="7696505" cy="761695"/>
          </a:xfrm>
          <a:prstGeom prst="roundRect">
            <a:avLst>
              <a:gd name="adj" fmla="val 36014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17"/>
          <p:cNvSpPr/>
          <p:nvPr/>
        </p:nvSpPr>
        <p:spPr>
          <a:xfrm>
            <a:off x="2286000" y="5524805"/>
            <a:ext cx="75895" cy="761695"/>
          </a:xfrm>
          <a:prstGeom prst="roundRect">
            <a:avLst>
              <a:gd name="adj" fmla="val 361447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9" descr="gen-dedup-2c48bca0947e42727d67028363c04897.png"/>
          <p:cNvPicPr>
            <a:picLocks noChangeAspect="1"/>
          </p:cNvPicPr>
          <p:nvPr/>
        </p:nvPicPr>
        <p:blipFill>
          <a:blip r:embed="rId11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40" name="Image 20" descr="gen-dedup-d0eb4450f0df06f0fea106621b17d79d.png"/>
          <p:cNvPicPr>
            <a:picLocks noChangeAspect="1"/>
          </p:cNvPicPr>
          <p:nvPr/>
        </p:nvPicPr>
        <p:blipFill>
          <a:blip r:embed="rId12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41" name="Shape 18"/>
          <p:cNvSpPr/>
          <p:nvPr/>
        </p:nvSpPr>
        <p:spPr>
          <a:xfrm>
            <a:off x="5048402" y="1333195"/>
            <a:ext cx="2095805" cy="571500"/>
          </a:xfrm>
          <a:prstGeom prst="roundRect">
            <a:avLst>
              <a:gd name="adj" fmla="val 160000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9"/>
          <p:cNvSpPr/>
          <p:nvPr/>
        </p:nvSpPr>
        <p:spPr>
          <a:xfrm>
            <a:off x="2381098" y="1904695"/>
            <a:ext cx="1904695" cy="476402"/>
          </a:xfrm>
          <a:prstGeom prst="roundRect">
            <a:avLst>
              <a:gd name="adj" fmla="val 9213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0"/>
          <p:cNvSpPr/>
          <p:nvPr/>
        </p:nvSpPr>
        <p:spPr>
          <a:xfrm>
            <a:off x="5143500" y="2476195"/>
            <a:ext cx="1904695" cy="476402"/>
          </a:xfrm>
          <a:prstGeom prst="roundRect">
            <a:avLst>
              <a:gd name="adj" fmla="val 9213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1"/>
          <p:cNvSpPr/>
          <p:nvPr/>
        </p:nvSpPr>
        <p:spPr>
          <a:xfrm>
            <a:off x="8001000" y="1904695"/>
            <a:ext cx="1904695" cy="476402"/>
          </a:xfrm>
          <a:prstGeom prst="roundRect">
            <a:avLst>
              <a:gd name="adj" fmla="val 9213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22"/>
          <p:cNvSpPr/>
          <p:nvPr/>
        </p:nvSpPr>
        <p:spPr>
          <a:xfrm>
            <a:off x="2381098" y="2667305"/>
            <a:ext cx="1904695" cy="476402"/>
          </a:xfrm>
          <a:prstGeom prst="roundRect">
            <a:avLst>
              <a:gd name="adj" fmla="val 191939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23"/>
          <p:cNvSpPr/>
          <p:nvPr/>
        </p:nvSpPr>
        <p:spPr>
          <a:xfrm>
            <a:off x="2381098" y="3429000"/>
            <a:ext cx="1904695" cy="476402"/>
          </a:xfrm>
          <a:prstGeom prst="roundRect">
            <a:avLst>
              <a:gd name="adj" fmla="val 191939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24"/>
          <p:cNvSpPr/>
          <p:nvPr/>
        </p:nvSpPr>
        <p:spPr>
          <a:xfrm>
            <a:off x="2381098" y="4190695"/>
            <a:ext cx="1904695" cy="476402"/>
          </a:xfrm>
          <a:prstGeom prst="roundRect">
            <a:avLst>
              <a:gd name="adj" fmla="val 191939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5"/>
          <p:cNvSpPr/>
          <p:nvPr/>
        </p:nvSpPr>
        <p:spPr>
          <a:xfrm>
            <a:off x="952805" y="4858207"/>
            <a:ext cx="1524305" cy="476402"/>
          </a:xfrm>
          <a:prstGeom prst="roundRect">
            <a:avLst>
              <a:gd name="adj" fmla="val 6142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6"/>
          <p:cNvSpPr/>
          <p:nvPr/>
        </p:nvSpPr>
        <p:spPr>
          <a:xfrm>
            <a:off x="4190695" y="4858207"/>
            <a:ext cx="1524305" cy="476402"/>
          </a:xfrm>
          <a:prstGeom prst="roundRect">
            <a:avLst>
              <a:gd name="adj" fmla="val 6142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27"/>
          <p:cNvSpPr/>
          <p:nvPr/>
        </p:nvSpPr>
        <p:spPr>
          <a:xfrm>
            <a:off x="5333695" y="3429000"/>
            <a:ext cx="1524305" cy="476402"/>
          </a:xfrm>
          <a:prstGeom prst="roundRect">
            <a:avLst>
              <a:gd name="adj" fmla="val 6142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28"/>
          <p:cNvSpPr/>
          <p:nvPr/>
        </p:nvSpPr>
        <p:spPr>
          <a:xfrm>
            <a:off x="8001000" y="2667305"/>
            <a:ext cx="1904695" cy="476402"/>
          </a:xfrm>
          <a:prstGeom prst="roundRect">
            <a:avLst>
              <a:gd name="adj" fmla="val 191939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29"/>
          <p:cNvSpPr/>
          <p:nvPr/>
        </p:nvSpPr>
        <p:spPr>
          <a:xfrm>
            <a:off x="6953098" y="3333902"/>
            <a:ext cx="1524305" cy="476402"/>
          </a:xfrm>
          <a:prstGeom prst="roundRect">
            <a:avLst>
              <a:gd name="adj" fmla="val 6142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0"/>
          <p:cNvSpPr/>
          <p:nvPr/>
        </p:nvSpPr>
        <p:spPr>
          <a:xfrm>
            <a:off x="9430207" y="3333902"/>
            <a:ext cx="1524305" cy="476402"/>
          </a:xfrm>
          <a:prstGeom prst="roundRect">
            <a:avLst>
              <a:gd name="adj" fmla="val 6142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1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유형 선택 의사결정 흐름도</a:t>
            </a:r>
            <a:endParaRPr lang="en-US" sz="3100" dirty="0"/>
          </a:p>
        </p:txBody>
      </p:sp>
      <p:sp>
        <p:nvSpPr>
          <p:cNvPr id="55" name="Text 32"/>
          <p:cNvSpPr txBox="1"/>
          <p:nvPr/>
        </p:nvSpPr>
        <p:spPr>
          <a:xfrm>
            <a:off x="5095951" y="147675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연구질문 유형?</a:t>
            </a:r>
            <a:endParaRPr lang="en-US" sz="1500" dirty="0"/>
          </a:p>
        </p:txBody>
      </p:sp>
      <p:sp>
        <p:nvSpPr>
          <p:cNvPr id="56" name="Text 33"/>
          <p:cNvSpPr txBox="1"/>
          <p:nvPr/>
        </p:nvSpPr>
        <p:spPr>
          <a:xfrm>
            <a:off x="2428646" y="204825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차이 검증</a:t>
            </a:r>
            <a:endParaRPr lang="en-US" sz="1300" dirty="0"/>
          </a:p>
        </p:txBody>
      </p:sp>
      <p:sp>
        <p:nvSpPr>
          <p:cNvPr id="57" name="Text 34"/>
          <p:cNvSpPr txBox="1"/>
          <p:nvPr/>
        </p:nvSpPr>
        <p:spPr>
          <a:xfrm>
            <a:off x="5191049" y="261975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 × 범주?</a:t>
            </a:r>
            <a:endParaRPr lang="en-US" sz="1300" dirty="0"/>
          </a:p>
        </p:txBody>
      </p:sp>
      <p:sp>
        <p:nvSpPr>
          <p:cNvPr id="58" name="Text 35"/>
          <p:cNvSpPr txBox="1"/>
          <p:nvPr/>
        </p:nvSpPr>
        <p:spPr>
          <a:xfrm>
            <a:off x="8048549" y="2048256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 탐색</a:t>
            </a:r>
            <a:endParaRPr lang="en-US" sz="1300" dirty="0"/>
          </a:p>
        </p:txBody>
      </p:sp>
      <p:sp>
        <p:nvSpPr>
          <p:cNvPr id="59" name="Text 36"/>
          <p:cNvSpPr txBox="1"/>
          <p:nvPr/>
        </p:nvSpPr>
        <p:spPr>
          <a:xfrm>
            <a:off x="2428646" y="2809951"/>
            <a:ext cx="1810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IV 범주형?</a:t>
            </a:r>
            <a:endParaRPr lang="en-US" sz="1200" dirty="0"/>
          </a:p>
        </p:txBody>
      </p:sp>
      <p:sp>
        <p:nvSpPr>
          <p:cNvPr id="60" name="Text 37"/>
          <p:cNvSpPr txBox="1"/>
          <p:nvPr/>
        </p:nvSpPr>
        <p:spPr>
          <a:xfrm>
            <a:off x="3429000" y="3191256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YES</a:t>
            </a:r>
            <a:endParaRPr lang="en-US" sz="1000" dirty="0"/>
          </a:p>
        </p:txBody>
      </p:sp>
      <p:sp>
        <p:nvSpPr>
          <p:cNvPr id="61" name="Text 38"/>
          <p:cNvSpPr txBox="1"/>
          <p:nvPr/>
        </p:nvSpPr>
        <p:spPr>
          <a:xfrm>
            <a:off x="2428646" y="3571646"/>
            <a:ext cx="1810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DV 연속형?</a:t>
            </a:r>
            <a:endParaRPr lang="en-US" sz="1200" dirty="0"/>
          </a:p>
        </p:txBody>
      </p:sp>
      <p:sp>
        <p:nvSpPr>
          <p:cNvPr id="62" name="Text 39"/>
          <p:cNvSpPr txBox="1"/>
          <p:nvPr/>
        </p:nvSpPr>
        <p:spPr>
          <a:xfrm>
            <a:off x="3429000" y="3952951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YES</a:t>
            </a:r>
            <a:endParaRPr lang="en-US" sz="1000" dirty="0"/>
          </a:p>
        </p:txBody>
      </p:sp>
      <p:sp>
        <p:nvSpPr>
          <p:cNvPr id="63" name="Text 40"/>
          <p:cNvSpPr txBox="1"/>
          <p:nvPr/>
        </p:nvSpPr>
        <p:spPr>
          <a:xfrm>
            <a:off x="2428646" y="4334256"/>
            <a:ext cx="1810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집단 수?</a:t>
            </a:r>
            <a:endParaRPr lang="en-US" sz="1200" dirty="0"/>
          </a:p>
        </p:txBody>
      </p:sp>
      <p:sp>
        <p:nvSpPr>
          <p:cNvPr id="64" name="Text 41"/>
          <p:cNvSpPr txBox="1"/>
          <p:nvPr/>
        </p:nvSpPr>
        <p:spPr>
          <a:xfrm>
            <a:off x="1778000" y="4508500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2집단</a:t>
            </a:r>
            <a:endParaRPr lang="en-US" sz="1000" dirty="0"/>
          </a:p>
        </p:txBody>
      </p:sp>
      <p:sp>
        <p:nvSpPr>
          <p:cNvPr id="65" name="Text 42"/>
          <p:cNvSpPr txBox="1"/>
          <p:nvPr/>
        </p:nvSpPr>
        <p:spPr>
          <a:xfrm>
            <a:off x="1000354" y="5000854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t검정</a:t>
            </a:r>
            <a:endParaRPr lang="en-US" sz="1300" dirty="0"/>
          </a:p>
        </p:txBody>
      </p:sp>
      <p:sp>
        <p:nvSpPr>
          <p:cNvPr id="66" name="Text 43"/>
          <p:cNvSpPr txBox="1"/>
          <p:nvPr/>
        </p:nvSpPr>
        <p:spPr>
          <a:xfrm>
            <a:off x="4318000" y="4508500"/>
            <a:ext cx="635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3집단+</a:t>
            </a:r>
            <a:endParaRPr lang="en-US" sz="1000" dirty="0"/>
          </a:p>
        </p:txBody>
      </p:sp>
      <p:sp>
        <p:nvSpPr>
          <p:cNvPr id="67" name="Text 44"/>
          <p:cNvSpPr txBox="1"/>
          <p:nvPr/>
        </p:nvSpPr>
        <p:spPr>
          <a:xfrm>
            <a:off x="4238244" y="5000854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ANOVA</a:t>
            </a:r>
            <a:endParaRPr lang="en-US" sz="1300" dirty="0"/>
          </a:p>
        </p:txBody>
      </p:sp>
      <p:sp>
        <p:nvSpPr>
          <p:cNvPr id="68" name="Text 45"/>
          <p:cNvSpPr txBox="1"/>
          <p:nvPr/>
        </p:nvSpPr>
        <p:spPr>
          <a:xfrm>
            <a:off x="6191402" y="3095244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YES</a:t>
            </a:r>
            <a:endParaRPr lang="en-US" sz="1000" dirty="0"/>
          </a:p>
        </p:txBody>
      </p:sp>
      <p:sp>
        <p:nvSpPr>
          <p:cNvPr id="69" name="Text 46"/>
          <p:cNvSpPr txBox="1"/>
          <p:nvPr/>
        </p:nvSpPr>
        <p:spPr>
          <a:xfrm>
            <a:off x="5381244" y="3571646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카이제곱 검정</a:t>
            </a:r>
            <a:endParaRPr lang="en-US" sz="1300" dirty="0"/>
          </a:p>
        </p:txBody>
      </p:sp>
      <p:sp>
        <p:nvSpPr>
          <p:cNvPr id="70" name="Text 47"/>
          <p:cNvSpPr txBox="1"/>
          <p:nvPr/>
        </p:nvSpPr>
        <p:spPr>
          <a:xfrm>
            <a:off x="8048549" y="2809951"/>
            <a:ext cx="1810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모두 연속형?</a:t>
            </a:r>
            <a:endParaRPr lang="en-US" sz="1200" dirty="0"/>
          </a:p>
        </p:txBody>
      </p:sp>
      <p:sp>
        <p:nvSpPr>
          <p:cNvPr id="71" name="Text 48"/>
          <p:cNvSpPr txBox="1"/>
          <p:nvPr/>
        </p:nvSpPr>
        <p:spPr>
          <a:xfrm>
            <a:off x="7334402" y="2952598"/>
            <a:ext cx="381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YES</a:t>
            </a:r>
            <a:endParaRPr lang="en-US" sz="1000" dirty="0"/>
          </a:p>
        </p:txBody>
      </p:sp>
      <p:sp>
        <p:nvSpPr>
          <p:cNvPr id="72" name="Text 49"/>
          <p:cNvSpPr txBox="1"/>
          <p:nvPr/>
        </p:nvSpPr>
        <p:spPr>
          <a:xfrm>
            <a:off x="7000646" y="3476549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상관분석</a:t>
            </a:r>
            <a:endParaRPr lang="en-US" sz="1300" dirty="0"/>
          </a:p>
        </p:txBody>
      </p:sp>
      <p:sp>
        <p:nvSpPr>
          <p:cNvPr id="73" name="Text 50"/>
          <p:cNvSpPr txBox="1"/>
          <p:nvPr/>
        </p:nvSpPr>
        <p:spPr>
          <a:xfrm>
            <a:off x="10287000" y="2952598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예측·설명?</a:t>
            </a:r>
            <a:endParaRPr lang="en-US" sz="1000" dirty="0"/>
          </a:p>
        </p:txBody>
      </p:sp>
      <p:sp>
        <p:nvSpPr>
          <p:cNvPr id="74" name="Text 51"/>
          <p:cNvSpPr txBox="1"/>
          <p:nvPr/>
        </p:nvSpPr>
        <p:spPr>
          <a:xfrm>
            <a:off x="9477756" y="3476549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회귀분석</a:t>
            </a:r>
            <a:endParaRPr lang="en-US" sz="1300" dirty="0"/>
          </a:p>
        </p:txBody>
      </p:sp>
      <p:sp>
        <p:nvSpPr>
          <p:cNvPr id="75" name="Text 52"/>
          <p:cNvSpPr txBox="1"/>
          <p:nvPr/>
        </p:nvSpPr>
        <p:spPr>
          <a:xfrm>
            <a:off x="2286000" y="5762549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변수의 </a:t>
            </a:r>
            <a:r>
              <a:rPr lang="en-US" sz="18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수준</a:t>
            </a: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 </a:t>
            </a:r>
            <a:r>
              <a:rPr lang="en-US" sz="18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집단 수</a:t>
            </a: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 분석 선택의 핵심 기준입니다.</a:t>
            </a:r>
            <a:endParaRPr lang="en-US" sz="1800" dirty="0"/>
          </a:p>
        </p:txBody>
      </p:sp>
      <p:sp>
        <p:nvSpPr>
          <p:cNvPr id="7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e721bdea8e481c56cf9851a871ea16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2569a2d878a0df1c84875feb6d9ceba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2400300"/>
            <a:ext cx="152705" cy="152705"/>
          </a:xfrm>
          <a:prstGeom prst="rect">
            <a:avLst/>
          </a:prstGeom>
        </p:spPr>
      </p:pic>
      <p:pic>
        <p:nvPicPr>
          <p:cNvPr id="16" name="Image 4" descr="gen-dedup-ebd2d0007c29d3588471648090c3b2a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15446" y="2400300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696005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통계 분석 해석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238598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분석별 출력값을 읽고 학술적으로 해석하는 원칙을 익힙니다.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상관분석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 기본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e71f1c8d187be9a40bfe90d7b54016f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1133856"/>
            <a:ext cx="237744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r값의 크기와 방향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|r| = .10 작은, .30 중간, .50 큰 상관(Cohen, 1988).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방향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양(+)은 동시 증가, 음(-)은 반비례를 의미합니다.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9759be92866998a36c966028445a4bf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 판단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.05이면 통계적으로 유의한 상관입니다.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그러나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유의성만으로 실질적 중요성을 판단하지 않습니다.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b8fac1e183d90af34dcb5741e1e41ed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71634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r(98) = .45, p &lt; .001. 자유도와 유의수준을 반드시 함께 보고합니다.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9c0bc2085cb3970d75529b11399b4a5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주의점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722741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상관은 인과를 의미하지 않습니다. 제3변수(교란변수)의 가능성을 항상 고려하세요.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Cohen, J. (1988). Statistical power analysis for the behavioral sciences (2nd ed.). Lawrence Erlbaum.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 </a:t>
            </a: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검정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 기본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c88c7786419f815032d2d1fe36e027f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25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5ea793d4abdb46d627a8031d30be0d82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714646" y="1133856"/>
            <a:ext cx="171907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 구분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독립표본 t검정: 서로 다른 두 집단 비교.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대응표본 t검정: 동일 집단의 전·후 비교.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6fa23294f26cbd1f047a6bc96a8b4a7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출력값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t값(검정통계량), df(자유도), p(유의확률),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차이(Mean Difference)를 확인합니다.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92369e211c46a8e8dd908f337308f28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Cohen's d: 0.2 소, 0.5 중, 0.8 대.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별개로 실질적 차이의 크기를 보고합니다.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1b355282df9fcd63de26ac5e4e0784e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t(38) = 2.31, p = .026, d = 0.73.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통계량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자유도, p값, 효과크기를 모두 포함합니다.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Cohen, J. (1988). Statistical power analysis for the behavioral sciences (2nd ed.). Lawrence Erlbaum. — d 기준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064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ANOVA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</a:t>
            </a:r>
            <a:r>
              <a:rPr lang="en-US" sz="3900" dirty="0"/>
              <a:t> </a:t>
            </a: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8814ad8447565c163b0d7b2d7272010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F값과 자유도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716249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F(집단간 df, 집단내 df)로 집단 간 분산 대비 집단 내 분산의 비를 나타냅니다.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9759be92866998a36c966028445a4bf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 판단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.05이면 적어도 한 쌍의 집단 간 평균 차이가 유의합니다.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집단인지는 사후검정으로 확인합니다.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9eb627688d0fdb04ab12be6b20d4f26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사후검정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7163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Tukey HSD, Scheffé, Bonferroni 등으로 구체적인 집단 간 차이를 식별합니다.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1b355282df9fcd63de26ac5e4e0784e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효과크기와 보고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η²(에타 제곱): .01 소, .06 중, .14 대.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F(2, 87) = 4.56, p = .013, η² = .09.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0" y="6534302"/>
            <a:ext cx="6096305" cy="323698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6096305" y="6534302"/>
            <a:ext cx="6096305" cy="32369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C 각주"/>
          <p:cNvSpPr txBox="1"/>
          <p:nvPr/>
        </p:nvSpPr>
        <p:spPr>
          <a:xfrm>
            <a:off x="762000" y="6667500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Cohen, J. (1988). Statistical power analysis for the behavioral sciences (2nd ed.). Lawrence Erlbaum. — η² 기준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회귀분석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해석의 기본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671338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52643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f34e0af27a45a7a2b4b449261d7181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6145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719241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모형 적합도 (Model Fit)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719241" y="1557222"/>
            <a:ext cx="73142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R²: 독립변수가 종속변수 분산을 설명하는 비율.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R²로 과적합을 보정합니다.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052643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be85cf1da32c6b5a9396cc6738a4ced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6145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719241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회귀계수 (Coefficients)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719241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B(비표준화): 원래 단위의 변화량.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β(표준화): 변수 간 상대적 영향력 비교에 사용합니다.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52643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968e54eb66db76d4fdf88a9d915aaec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6145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719241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다중공선성 (Multicollinearity)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719241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VIF &gt; 10이면 다중공선성 의심.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독립변수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간 높은 상관은 계수 추정을 불안정하게 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052643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1b355282df9fcd63de26ac5e4e0784e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86145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719241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719241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β = .34, t(98) = 3.56, p &lt; .001.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모형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전체의 F값, R², 개별 계수를 모두 보고합니다.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VIF &gt; 10 관례: Kutner, M. H., Nachtsheim, C. J., Neter, J., &amp; Li, W. (2005). Applied linear statistical models (5th ed.). McGraw-Hill/Irwin.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143000"/>
            <a:ext cx="304861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카이제곱과</a:t>
            </a:r>
            <a:endParaRPr lang="en-US" sz="4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범주형 분석 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61695" y="3333902"/>
            <a:ext cx="3047695" cy="2762402"/>
          </a:xfrm>
          <a:prstGeom prst="roundRect">
            <a:avLst>
              <a:gd name="adj" fmla="val 273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5c3d2d381ec0737689d170a8f2c2669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333902"/>
            <a:ext cx="3048874" cy="276240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d0b5bc66c01eedada5e076c277f95c3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원리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72923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관찰빈도와 기대빈도의 차이를 검정합니다.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범주형 변수 간 독립성을 판단합니다.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52a0100e7869aad1127630774966ed2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9277" y="2467051"/>
            <a:ext cx="14264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출력값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χ²(카이제곱 통계량), df(자유도), p(유의확률).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기대빈도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5 미만 셀이 20%를 초과하면 Fisher 정확 검정을 사용합니다.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92369e211c46a8e8dd908f337308f28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Cramer's V: .10 소, .30 중, .50 대. 연관성의 강도를 나타냅니다.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1b355282df9fcd63de26ac5e4e0784e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 형식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χ²(2, N = 120) = 8.45, p = .015, V = .27.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교차표의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빈도와 백분율도 함께 보고합니다.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기대빈도 기준: Cochran, W. G. (1954). Some methods for strengthening the common χ² tests. Biometrics, 10(4), 417–451. · V 기준값: Cohen (1988), 행·열 중 작은 쪽 자유도가 1일 때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6481" y="571500"/>
            <a:ext cx="1089964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출력표 읽는 순서와 핵심 값 찾기</a:t>
            </a:r>
            <a:endParaRPr lang="en-US" sz="39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524305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5224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95224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80644" y="2714854"/>
            <a:ext cx="34152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 확인 + 가정 점검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66598" y="3238805"/>
            <a:ext cx="3238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M, SD, 정규성, 등분산성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전제를 먼저 확인합니다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6598" y="4143146"/>
            <a:ext cx="3238805" cy="1238098"/>
          </a:xfrm>
          <a:prstGeom prst="roundRect">
            <a:avLst>
              <a:gd name="adj" fmla="val 9090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598" y="4143146"/>
            <a:ext cx="47549" cy="1238098"/>
          </a:xfrm>
          <a:prstGeom prst="roundRect">
            <a:avLst>
              <a:gd name="adj" fmla="val 236685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66598" y="4143146"/>
            <a:ext cx="3238805" cy="12390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"Descriptives </a:t>
            </a: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표에서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M과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SD를 먼저 확인"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00500" y="3191256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34256" y="3191256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762549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62549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405579" y="2714854"/>
            <a:ext cx="338968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검정통계량 + p-value 확인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76902" y="3238805"/>
            <a:ext cx="3238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t/F/χ²/r 등 검정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통계량과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찾아 유의성을 판단합니다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476902" y="4143146"/>
            <a:ext cx="3238805" cy="1238098"/>
          </a:xfrm>
          <a:prstGeom prst="roundRect">
            <a:avLst>
              <a:gd name="adj" fmla="val 9090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76902" y="4143146"/>
            <a:ext cx="47549" cy="1238098"/>
          </a:xfrm>
          <a:prstGeom prst="roundRect">
            <a:avLst>
              <a:gd name="adj" fmla="val 236685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476902" y="4143146"/>
            <a:ext cx="3238805" cy="12390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"Sig.(2-tailed) 열에서 p값을 확인"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810805" y="3191256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143646" y="3191256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57285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7285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8278978" y="2714854"/>
            <a:ext cx="326166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 + 신뢰구간 보고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287207" y="3238805"/>
            <a:ext cx="3238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유의성을 넘어 실질적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크기와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범위를 확인합니다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287207" y="4143146"/>
            <a:ext cx="3238805" cy="1238098"/>
          </a:xfrm>
          <a:prstGeom prst="roundRect">
            <a:avLst>
              <a:gd name="adj" fmla="val 9090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287207" y="4143146"/>
            <a:ext cx="47549" cy="1238098"/>
          </a:xfrm>
          <a:prstGeom prst="roundRect">
            <a:avLst>
              <a:gd name="adj" fmla="val 236685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287207" y="4143146"/>
            <a:ext cx="3377255" cy="12390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4130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"Cohen's d 또는 η², 95% CI를 계산"</a:t>
            </a:r>
            <a:endParaRPr lang="en-US" sz="14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857646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33195" y="6096305"/>
            <a:ext cx="9525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출력표를 순서대로 읽으면 핵심 정보를 빠짐없이 보고할 수 있습니다</a:t>
            </a:r>
            <a:endParaRPr lang="en-US" sz="19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462867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714500"/>
            <a:ext cx="3047695" cy="3238805"/>
          </a:xfrm>
          <a:prstGeom prst="roundRect">
            <a:avLst>
              <a:gd name="adj" fmla="val 2250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716329" y="1943100"/>
            <a:ext cx="1143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p-value</a:t>
            </a:r>
            <a:endParaRPr lang="en-US" sz="1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(통계적 유의성)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952805" y="2648102"/>
            <a:ext cx="2667305" cy="657454"/>
          </a:xfrm>
          <a:prstGeom prst="roundRect">
            <a:avLst>
              <a:gd name="adj" fmla="val 3225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2805" y="2648102"/>
            <a:ext cx="2667305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귀무가설이 참일 때 관찰된 </a:t>
            </a:r>
            <a:r>
              <a:rPr lang="en-US" sz="1200" b="1" dirty="0" err="1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이상의</a:t>
            </a: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극단값을 얻을 확률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3493922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.05 → 유의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3845966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.01 → 유의(.01 수준)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198925"/>
            <a:ext cx="3078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7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주의: p값은 효과의 크기를 알려주지 않음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1805" y="1714500"/>
            <a:ext cx="3047695" cy="3238805"/>
          </a:xfrm>
          <a:prstGeom prst="roundRect">
            <a:avLst>
              <a:gd name="adj" fmla="val 2250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15991" y="1943100"/>
            <a:ext cx="9811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endParaRPr lang="en-US" sz="1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(실질적 크기)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4572000" y="2648102"/>
            <a:ext cx="2667305" cy="448056"/>
          </a:xfrm>
          <a:prstGeom prst="roundRect">
            <a:avLst>
              <a:gd name="adj" fmla="val 69475"/>
            </a:avLst>
          </a:prstGeom>
          <a:solidFill>
            <a:srgbClr val="1A365D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4572000" y="2648102"/>
            <a:ext cx="26673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실질적인 차이 또는 관계의 크기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280867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Cohen's d, η², r, R² 등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632911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유의성과 무관하게 항상 보고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984955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 크기에 영향을 받지 않음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01000" y="1714500"/>
            <a:ext cx="3047695" cy="3238805"/>
          </a:xfrm>
          <a:prstGeom prst="roundRect">
            <a:avLst>
              <a:gd name="adj" fmla="val 225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821217" y="1943100"/>
            <a:ext cx="14100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신뢰구간 (CI)</a:t>
            </a:r>
            <a:endParaRPr lang="en-US" sz="1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(추정 정밀도)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8191195" y="2648102"/>
            <a:ext cx="2667305" cy="657454"/>
          </a:xfrm>
          <a:prstGeom prst="roundRect">
            <a:avLst>
              <a:gd name="adj" fmla="val 3225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191195" y="2648102"/>
            <a:ext cx="2667305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모수의 참값이 포함될 </a:t>
            </a:r>
            <a:r>
              <a:rPr lang="en-US" sz="1200" b="1" dirty="0" err="1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것으로</a:t>
            </a: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기대되는</a:t>
            </a: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범위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91195" y="3493922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95% CI: [2.3, 5.7]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191195" y="3845966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0을 포함하지 않으면 유의미함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4198925"/>
            <a:ext cx="2667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폭이 좁을수록 추정 정밀도가 높음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095805" y="5143500"/>
            <a:ext cx="8039405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 w="254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3971239" y="3143707"/>
            <a:ext cx="2578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7590434" y="3143707"/>
            <a:ext cx="2578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p-value, 신뢰구간, 효과크기 이해</a:t>
            </a:r>
            <a:endParaRPr lang="en-US" sz="3100" dirty="0"/>
          </a:p>
        </p:txBody>
      </p:sp>
      <p:sp>
        <p:nvSpPr>
          <p:cNvPr id="34" name="Text 31"/>
          <p:cNvSpPr txBox="1"/>
          <p:nvPr/>
        </p:nvSpPr>
        <p:spPr>
          <a:xfrm>
            <a:off x="3121762" y="5348326"/>
            <a:ext cx="4481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통계적 유의성 + 실질적 크기 + 추정 정밀도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641641" y="5348326"/>
            <a:ext cx="17519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함께 보고해야 함</a:t>
            </a:r>
            <a:endParaRPr lang="en-US" sz="1500" dirty="0"/>
          </a:p>
        </p:txBody>
      </p:sp>
      <p:pic>
        <p:nvPicPr>
          <p:cNvPr id="36" name="Image 1" descr="gen-dedup-b5cf0b413c0617f860541d6871b898ac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6975043" y="5419649"/>
            <a:ext cx="476402" cy="5760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61695" y="595274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"p값만으로 결론 내리지 말고, 효과크기와 신뢰구간을 반드시 함께 보고하세요"</a:t>
            </a:r>
            <a:endParaRPr lang="en-US" sz="16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905756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764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764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0ca480f54d9b3fedc67f27f621f629d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696005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표현 규칙과 AI 해석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91049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 숫자, 단위, 오차 표기 등 학술 규범과 AI 해석 생성 원칙을 다룹니다.</a:t>
            </a:r>
            <a:endParaRPr lang="en-US" sz="16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143000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숫자와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 일관성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cc3fbe3c39f0ab83a5d2df87167c13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038041f71d43d00acd3530c7d3f6e2cb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4690872" y="1133856"/>
            <a:ext cx="219456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소수점 자릿수 원칙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p값: 소수점 3자리(p = .026).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상관계수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/효과크기: 소수점 2자리(r = .45). 평균/SD: 측정도구 정밀도에 맞춤.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4286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gen-dedup-52a0100e7869aad1127630774966ed2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9277" y="2562149"/>
            <a:ext cx="142646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428646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반올림 규칙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857500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마지막 유효 자리에서 반올림합니다.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.001일 때는 정확한 값 대신 "p &lt; .001"로 표기합니다.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85785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gen-dedup-dbd3533318725899b44eaf1d30b0ebcc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714646" y="3991356"/>
            <a:ext cx="171907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857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 표기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286707"/>
            <a:ext cx="720547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단위(점, %, ms, kg 등)를 첫 사용 시 명시하고 이후 일관되게 사용합니다.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286146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5" descr="gen-dedup-7653b2b83b91611ea94f322da1cd8dd1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714646" y="5419649"/>
            <a:ext cx="171907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286146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지표 내 일관성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715000"/>
            <a:ext cx="6477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분석 내 동일 유형 수치는 반드시 같은 소수점 자릿수를 유지합니다.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 = 3.45와 M = 4.5를 혼용하지 않습니다.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표기와 통계 결과 서술 규칙</a:t>
            </a:r>
            <a:endParaRPr lang="en-US" sz="3600" dirty="0"/>
          </a:p>
        </p:txBody>
      </p:sp>
      <p:pic>
        <p:nvPicPr>
          <p:cNvPr id="14" name="Image 1" descr="gen-dedup-ab251e233d8dd139c0cffde8867650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4695" y="2428646"/>
            <a:ext cx="95098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SD vs SE 구분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SD(표준편차): 데이터의 산포.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SE(표준오차): 평균 추정의 정밀도.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혼용하지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말고 맥락에 맞게 선택하세요.</a:t>
            </a:r>
            <a:endParaRPr lang="en-US" sz="1300" dirty="0"/>
          </a:p>
        </p:txBody>
      </p:sp>
      <p:pic>
        <p:nvPicPr>
          <p:cNvPr id="17" name="Image 2" descr="gen-dedup-c00765c98cbc54ec2c4b7014aa1dbbfc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439205" y="2428646"/>
            <a:ext cx="171907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신뢰구간 표기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524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95% CI [2.34, 5.67] 형식으로 대괄호와 콤마를 사용합니다.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0을 포함하면 유의하지 않음을 의미합니다.</a:t>
            </a:r>
            <a:endParaRPr lang="en-US" sz="1300" dirty="0"/>
          </a:p>
        </p:txBody>
      </p:sp>
      <p:pic>
        <p:nvPicPr>
          <p:cNvPr id="20" name="Image 3" descr="gen-dedup-a06796c2c8de51278bbdc651b3d45f9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33372" y="4238244"/>
            <a:ext cx="237744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괄호 내 통계치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형식: </a:t>
            </a:r>
            <a:r>
              <a:rPr lang="en-US" sz="13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(38) = 2.31, </a:t>
            </a:r>
            <a:r>
              <a:rPr lang="en-US" sz="13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= .026.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기호는 이탤릭체, 자유도는 괄호 안에,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/부등호 앞뒤 공백을 넣습니다.</a:t>
            </a:r>
            <a:endParaRPr lang="en-US" sz="1300" dirty="0"/>
          </a:p>
        </p:txBody>
      </p:sp>
      <p:pic>
        <p:nvPicPr>
          <p:cNvPr id="23" name="Image 4" descr="gen-dedup-108267a1caa5a6a6b7e418e7c149bc8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2921" y="4238244"/>
            <a:ext cx="142646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 표기 원칙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4277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= .035 (정확한 값), </a:t>
            </a:r>
            <a:r>
              <a:rPr lang="en-US" sz="13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&lt; .001 (매우 작은 값).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r>
              <a:rPr lang="en-US" sz="1300" i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= .000"은 사용하지 않습니다.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"유의하다/유의하지 않다"로 이분법적 표현을 지양합니다.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6001207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"APA 7판 기준의 표기법을 일관되게 적용하세요"</a:t>
            </a:r>
            <a:endParaRPr lang="en-US" sz="1600" dirty="0"/>
          </a:p>
        </p:txBody>
      </p:sp>
      <p:sp>
        <p:nvSpPr>
          <p:cNvPr id="27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American Psychological Association. (2020). Publication manual of the American Psychological Association (7th ed.). · apastyle.apa.org Tables and Figures (2026-10 확인)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65703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스타일 결과 서술 예시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81579"/>
              </p:ext>
            </p:extLst>
          </p:nvPr>
        </p:nvGraphicFramePr>
        <p:xfrm>
          <a:off x="761695" y="1619402"/>
          <a:ext cx="10984828" cy="4134693"/>
        </p:xfrm>
        <a:graphic>
          <a:graphicData uri="http://schemas.openxmlformats.org/drawingml/2006/table">
            <a:tbl>
              <a:tblPr/>
              <a:tblGrid>
                <a:gridCol w="152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2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0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APA 형식 보고 예시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5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t검정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"실험집단(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4.23,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SD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0.87)은 통제집단(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3.56,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SD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0.92)보다 학업성취가 유의하게 높았다,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(58) = 2.89,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.005,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d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0.75."</a:t>
                      </a:r>
                      <a:endParaRPr lang="en-US" sz="1200" dirty="0"/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5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ANOVA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"교수법 유형에 따른 학업성취 차이가 유의하였다,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(2, 87) = 4.56,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.013,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η²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.09. Tukey 사후검정 결과, 협력학습 집단이 강의식 집단보다 유의하게 높았다(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.009)."</a:t>
                      </a:r>
                      <a:endParaRPr lang="en-US" sz="1200" dirty="0"/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0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상관분석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"자기효능감과 학업성취 간에 유의한 정적 상관이 나타났다,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(98) = .34,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&lt; .001."</a:t>
                      </a:r>
                      <a:endParaRPr lang="en-US" sz="1200" dirty="0"/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5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회귀분석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"자기효능감은 학업성취를 유의하게 예측하였다,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β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.34,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(98) = 3.56,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&lt; .001. 모형의 설명력은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R²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= .11였다,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(1, 98) = 12.67, </a:t>
                      </a:r>
                      <a:r>
                        <a:rPr lang="en-US" sz="1350" i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&lt; .001."</a:t>
                      </a:r>
                      <a:endParaRPr lang="en-US" sz="1200" dirty="0"/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"통계량, 자유도, p값, 효과크기를 빠짐없이 보고하는 것이 핵심입니다"</a:t>
            </a:r>
            <a:endParaRPr lang="en-US" sz="18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11480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 서술 시 흔한 오류</a:t>
            </a:r>
            <a:endParaRPr lang="en-US" sz="3600" dirty="0"/>
          </a:p>
        </p:txBody>
      </p:sp>
      <p:pic>
        <p:nvPicPr>
          <p:cNvPr id="14" name="Image 1" descr="gen-dedup-968e54eb66db76d4fdf88a9d915aaec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57146" y="2428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 단정 오류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"X가 Y를 증가시켰다"와 같은 인과 표현은 상관·회귀에서 사용할 수 없습니다.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"X와 Y 간 유의한 관계가 있었다"로 수정하세요.</a:t>
            </a:r>
            <a:endParaRPr lang="en-US" sz="1300" dirty="0"/>
          </a:p>
        </p:txBody>
      </p:sp>
      <p:pic>
        <p:nvPicPr>
          <p:cNvPr id="17" name="Image 2" descr="gen-dedup-8ad6e417f4a6fb8121dfd9ea7643a60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p-value 오해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411348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 = .04이므로 96% 확률로 맞다"는 틀린 해석입니다.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귀무가설 하에서의 확률이지,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맞을 확률이 아닙니다.</a:t>
            </a:r>
            <a:endParaRPr lang="en-US" sz="1300" dirty="0"/>
          </a:p>
        </p:txBody>
      </p:sp>
      <p:pic>
        <p:nvPicPr>
          <p:cNvPr id="20" name="Image 3" descr="gen-dedup-89e9ed6db1a5300255536a6e8422471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423824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 누락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714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유의성만 보고하고 효과크기를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누락하면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실질적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의미를 판단할 수 없습니다.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d, η², r², Cramer's V 등을 반드시 함께 보고하세요.</a:t>
            </a:r>
            <a:endParaRPr lang="en-US" sz="1300" dirty="0"/>
          </a:p>
        </p:txBody>
      </p:sp>
      <p:pic>
        <p:nvPicPr>
          <p:cNvPr id="23" name="Image 4" descr="gen-dedup-844d117c61860c38c0ebc8b06677d889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39205" y="4238244"/>
            <a:ext cx="171907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표기 불일치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7" y="4476902"/>
            <a:ext cx="411348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논문 내에서 소수점 자릿수, 통계 기호,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괄호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형식이 일관되지 않으면 신뢰도가 떨어집니다.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정확한 표현과 일관된 형식이 학술적 신뢰성의 기본입니다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808824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BE9209BB-7520-EFD7-3A07-04B04919AB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42"/>
          <a:stretch>
            <a:fillRect/>
          </a:stretch>
        </p:blipFill>
        <p:spPr>
          <a:xfrm>
            <a:off x="-153" y="0"/>
            <a:ext cx="12192000" cy="2400300"/>
          </a:xfrm>
          <a:prstGeom prst="rect">
            <a:avLst/>
          </a:prstGeom>
        </p:spPr>
      </p:pic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5143500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1151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1151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429000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838651"/>
            <a:ext cx="9525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생성</a:t>
            </a:r>
            <a:endParaRPr lang="en-US" sz="54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477256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출력에서 해석문 초안을 AI로 생성하고 비판적으로 검토·수정합니다.</a:t>
            </a:r>
            <a:endParaRPr lang="en-US" sz="16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124940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571500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초안 생성 3단계 절차</a:t>
            </a:r>
            <a:endParaRPr lang="en-US" sz="39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524305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48256" y="1714500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048256" y="1714500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81482" y="2619756"/>
            <a:ext cx="30010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출력값 정리 + 프롬프트 구성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SPSS/R/jamovi 출력에서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통계치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(t/F/r/β, df, p, 효과크기)를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프롬프트를 작성합니다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1695" y="4476902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476902"/>
            <a:ext cx="57607" cy="1143000"/>
          </a:xfrm>
          <a:prstGeom prst="roundRect">
            <a:avLst>
              <a:gd name="adj" fmla="val 21164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4476902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"출력표의 핵심 수치를 </a:t>
            </a: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복사하여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프롬프트에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붙여넣기"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43146" y="3333902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28439" y="3333902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762549" y="1714500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62549" y="1714500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057546" y="2619756"/>
            <a:ext cx="20866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 초안 생성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76902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프롬프트에 역할, 분석유형, 출력값,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서술형식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(APA), 주의사항을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해석문 초안을 요청합니다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76902" y="4476902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76902" y="4476902"/>
            <a:ext cx="57607" cy="1143000"/>
          </a:xfrm>
          <a:prstGeom prst="roundRect">
            <a:avLst>
              <a:gd name="adj" fmla="val 21164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476902" y="4476902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"APA 형식으로 t검정 결과를 서술해줘"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58354" y="3333902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143646" y="3333902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477756" y="1714500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477756" y="1714500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8623706" y="2619756"/>
            <a:ext cx="23820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 및 형식 정리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산출물의 수치 정확성, APA 형식,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인과표현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자제, 효과크기 포함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여부를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맥락에 맞게 수정합니다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91195" y="4476902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191195" y="4476902"/>
            <a:ext cx="57607" cy="1143000"/>
          </a:xfrm>
          <a:prstGeom prst="roundRect">
            <a:avLst>
              <a:gd name="adj" fmla="val 21164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191195" y="4476902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"효과크기를 추가하고 인과 </a:t>
            </a: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표현을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표현으로 수정"</a:t>
            </a:r>
            <a:endParaRPr lang="en-US" sz="13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857646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33195" y="6048756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초안을 빠르게 생성하고, 연구자는 정확성과 맥락을 검증합니다</a:t>
            </a:r>
            <a:endParaRPr lang="en-US" sz="21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753040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666951"/>
            <a:ext cx="3276295" cy="4162349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666951"/>
            <a:ext cx="7220102" cy="4143146"/>
          </a:xfrm>
          <a:prstGeom prst="roundRect">
            <a:avLst>
              <a:gd name="adj" fmla="val 1218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666951"/>
            <a:ext cx="75895" cy="4143146"/>
          </a:xfrm>
          <a:prstGeom prst="roundRect">
            <a:avLst>
              <a:gd name="adj" fmla="val 66473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ae05384a24da366173d9d044c1544129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7143" r="-7143"/>
          <a:stretch/>
        </p:blipFill>
        <p:spPr>
          <a:xfrm>
            <a:off x="4381805" y="2476195"/>
            <a:ext cx="381305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해석용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857146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00354" y="2333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2385670"/>
            <a:ext cx="105156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4051" y="2352751"/>
            <a:ext cx="10094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 (Role)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00354" y="26572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2710282"/>
            <a:ext cx="105156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4051" y="2676449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00354" y="298094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3033979"/>
            <a:ext cx="105156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4051" y="3000146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출력값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00354" y="33055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3357677"/>
            <a:ext cx="105156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24051" y="3323844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 형식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00354" y="362925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3681374"/>
            <a:ext cx="105156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24051" y="3648456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정보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00354" y="39529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4005072"/>
            <a:ext cx="105156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24051" y="3972154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주의사항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00354" y="42766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317dd75ea8db3d2b071dafad59a8d972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52474" y="4328770"/>
            <a:ext cx="105156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24051" y="4295851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요구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4286707" y="1904695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4909719" y="2487837"/>
            <a:ext cx="6229807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교육학 분야 통계 전문 에디터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독립표본 t검정 결과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7판 형식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서술해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실험집단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M = 4.23, SD = 0.87 (n = 30)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통제집단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M = 3.56, SD = 0.92 (n = 30)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t(58) = 2.89, p = .005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Cohen's d도 계산하여 포함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 주세요.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 err="1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</a:t>
            </a: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표현은 사용하지 말고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집단 간 차이의 유의성과 실질적 크기를 중심으로 서술해 주세요."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"분석 유형, 핵심 수치, 서술 형식, 주의사항을 명확히 지정할수록 정확한 해석문을 얻습니다"</a:t>
            </a:r>
            <a:endParaRPr lang="en-US" sz="16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570576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81353" y="149399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32843" y="1532396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81353" y="2236484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32843" y="2274889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76743" y="149399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429148" y="1532396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76743" y="2236484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429148" y="2274889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475843" y="5856594"/>
            <a:ext cx="838230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523953" y="2789696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6" name="Shape 8"/>
          <p:cNvSpPr/>
          <p:nvPr/>
        </p:nvSpPr>
        <p:spPr>
          <a:xfrm>
            <a:off x="523953" y="402779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7" name="Shape 9"/>
          <p:cNvSpPr/>
          <p:nvPr/>
        </p:nvSpPr>
        <p:spPr>
          <a:xfrm>
            <a:off x="6619343" y="2789696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8" name="Shape 10"/>
          <p:cNvSpPr/>
          <p:nvPr/>
        </p:nvSpPr>
        <p:spPr>
          <a:xfrm>
            <a:off x="6619343" y="417293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9" name="Text 11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해석문 vs 좋은 해석문 (t검정/ANOVA)</a:t>
            </a:r>
            <a:endParaRPr lang="en-US" sz="3100" dirty="0"/>
          </a:p>
        </p:txBody>
      </p:sp>
      <p:sp>
        <p:nvSpPr>
          <p:cNvPr id="20" name="Text 12"/>
          <p:cNvSpPr txBox="1"/>
          <p:nvPr/>
        </p:nvSpPr>
        <p:spPr>
          <a:xfrm>
            <a:off x="332843" y="1712533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해석문</a:t>
            </a:r>
            <a:endParaRPr lang="en-US" sz="2100" dirty="0"/>
          </a:p>
        </p:txBody>
      </p:sp>
      <p:sp>
        <p:nvSpPr>
          <p:cNvPr id="21" name="Text 13"/>
          <p:cNvSpPr txBox="1"/>
          <p:nvPr/>
        </p:nvSpPr>
        <p:spPr>
          <a:xfrm>
            <a:off x="761697" y="271288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t검정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761697" y="2999094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"두 집단의 평균이 다르므로 유의한 차이가 있다."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90725" y="3356957"/>
            <a:ext cx="4000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(문제: 통계량·df·p·효과크기 미보고)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61697" y="395098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ANOVA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761697" y="4237191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"p가 0.05보다 작으므로 교수법이 효과가 있다."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90725" y="4595054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(문제: F값·η² 누락, 사후검정 미실시, 인과 단정)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429148" y="1712533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해석문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2" y="271288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t검정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858001" y="3086178"/>
            <a:ext cx="45719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"실험집단(M = 4.23, SD = 0.87)은 통제집단(M = 3.56,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SD = 0.92)보다 학업성취가 유의하게 높았다,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t(58) = 2.89, p = .005, d = 0.75(중간~큰 효과)."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6858002" y="409612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ANOVA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1" y="4484079"/>
            <a:ext cx="478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"교수법 유형에 따른 학업성취 차이가 유의하였다,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F(2, 87) = 4.56, p = .013, η² = .09. Tukey 사후검정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협력학습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집단이 강의식 집단보다 유의하게 높았다(p = .009)."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904843" y="3475496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33" name="Text 25"/>
          <p:cNvSpPr txBox="1"/>
          <p:nvPr/>
        </p:nvSpPr>
        <p:spPr>
          <a:xfrm>
            <a:off x="1475843" y="5999240"/>
            <a:ext cx="8382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통계량+자유도+p값+효과크기+사후검정 결과를 빠짐없이 보고하세요</a:t>
            </a:r>
            <a:endParaRPr lang="en-US" sz="1600" dirty="0"/>
          </a:p>
        </p:txBody>
      </p:sp>
      <p:sp>
        <p:nvSpPr>
          <p:cNvPr id="34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Cohen, J. (1988). Statistical power analysis for the behavioral sciences (2nd ed.). Lawrence Erlbaum. — d 기준 0.2·0.5·0.8</a:t>
            </a: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102571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546280" y="1415443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97770" y="1453848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46280" y="215793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97770" y="2196341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41670" y="1415443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394075" y="1453848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41670" y="2157936"/>
            <a:ext cx="176619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394075" y="2196341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619402" y="6011788"/>
            <a:ext cx="8973007" cy="590702"/>
          </a:xfrm>
          <a:prstGeom prst="roundRect">
            <a:avLst>
              <a:gd name="adj" fmla="val 39948"/>
            </a:avLst>
          </a:prstGeom>
          <a:solidFill>
            <a:srgbClr val="F8FAFC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88880" y="271114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6" name="Shape 8"/>
          <p:cNvSpPr/>
          <p:nvPr/>
        </p:nvSpPr>
        <p:spPr>
          <a:xfrm>
            <a:off x="488880" y="4139441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7" name="Shape 9"/>
          <p:cNvSpPr/>
          <p:nvPr/>
        </p:nvSpPr>
        <p:spPr>
          <a:xfrm>
            <a:off x="6584270" y="271114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8" name="Shape 10"/>
          <p:cNvSpPr/>
          <p:nvPr/>
        </p:nvSpPr>
        <p:spPr>
          <a:xfrm>
            <a:off x="6584270" y="4139441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9" name="Text 11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해석문 vs 좋은 해석문 (상관/회귀)</a:t>
            </a:r>
            <a:endParaRPr lang="en-US" sz="3100" dirty="0"/>
          </a:p>
        </p:txBody>
      </p:sp>
      <p:sp>
        <p:nvSpPr>
          <p:cNvPr id="20" name="Text 12"/>
          <p:cNvSpPr txBox="1"/>
          <p:nvPr/>
        </p:nvSpPr>
        <p:spPr>
          <a:xfrm>
            <a:off x="297770" y="163398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해석문</a:t>
            </a:r>
            <a:endParaRPr lang="en-US" sz="2400" dirty="0"/>
          </a:p>
        </p:txBody>
      </p:sp>
      <p:sp>
        <p:nvSpPr>
          <p:cNvPr id="21" name="Text 13"/>
          <p:cNvSpPr txBox="1"/>
          <p:nvPr/>
        </p:nvSpPr>
        <p:spPr>
          <a:xfrm>
            <a:off x="726624" y="263433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상관분석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726624" y="3080201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"자기효능감이 높으면 학업성취가 높아진다."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26624" y="3425976"/>
            <a:ext cx="4000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(문제: 인과 단정, r값·p 미보고)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26624" y="406354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회귀분석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726624" y="4508494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"자기효능감이 학업성취에 영향을 미친다. β = .34"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26624" y="4854269"/>
            <a:ext cx="4000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(문제: t값·p·R²·모형 적합도 누락)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394075" y="163398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해석문</a:t>
            </a:r>
            <a:endParaRPr lang="en-US" sz="2400" dirty="0"/>
          </a:p>
        </p:txBody>
      </p:sp>
      <p:sp>
        <p:nvSpPr>
          <p:cNvPr id="28" name="Text 20"/>
          <p:cNvSpPr txBox="1"/>
          <p:nvPr/>
        </p:nvSpPr>
        <p:spPr>
          <a:xfrm>
            <a:off x="6822929" y="263433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상관분석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822929" y="2920546"/>
            <a:ext cx="4572000" cy="920509"/>
          </a:xfrm>
          <a:prstGeom prst="roundRect">
            <a:avLst>
              <a:gd name="adj" fmla="val 20771"/>
            </a:avLst>
          </a:prstGeom>
          <a:solidFill>
            <a:srgbClr val="EBF8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0" name="Shape 22"/>
          <p:cNvSpPr/>
          <p:nvPr/>
        </p:nvSpPr>
        <p:spPr>
          <a:xfrm>
            <a:off x="6822928" y="2920546"/>
            <a:ext cx="45719" cy="920509"/>
          </a:xfrm>
          <a:prstGeom prst="roundRect">
            <a:avLst>
              <a:gd name="adj" fmla="val 474390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1" name="Text 23"/>
          <p:cNvSpPr txBox="1"/>
          <p:nvPr/>
        </p:nvSpPr>
        <p:spPr>
          <a:xfrm>
            <a:off x="6822929" y="2920546"/>
            <a:ext cx="4572000" cy="9218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"자기효능감과 학업성취 간에 통계적으로 유의한 </a:t>
            </a: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크기의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정적 상관이 나타났다,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(98) = .34,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&lt; .001."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822929" y="406354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회귀분석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6822929" y="4421409"/>
            <a:ext cx="4572000" cy="1205759"/>
          </a:xfrm>
          <a:prstGeom prst="roundRect">
            <a:avLst>
              <a:gd name="adj" fmla="val 11346"/>
            </a:avLst>
          </a:prstGeom>
          <a:solidFill>
            <a:srgbClr val="EBF8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4" name="Shape 26"/>
          <p:cNvSpPr/>
          <p:nvPr/>
        </p:nvSpPr>
        <p:spPr>
          <a:xfrm>
            <a:off x="6822928" y="4421409"/>
            <a:ext cx="45719" cy="1205759"/>
          </a:xfrm>
          <a:prstGeom prst="roundRect">
            <a:avLst>
              <a:gd name="adj" fmla="val 350636"/>
            </a:avLst>
          </a:prstGeom>
          <a:solidFill>
            <a:srgbClr val="3182CE"/>
          </a:solidFill>
          <a:ln w="12700">
            <a:solidFill>
              <a:srgbClr val="3182C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35" name="Text 27"/>
          <p:cNvSpPr txBox="1"/>
          <p:nvPr/>
        </p:nvSpPr>
        <p:spPr>
          <a:xfrm>
            <a:off x="6822929" y="4421409"/>
            <a:ext cx="4572000" cy="11907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"자기효능감은 학업성취를 유의하게 예측하였으며,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β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= .34,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(98) = 3.56,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&lt; .001. 전체 모형의 설명력은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² = .11로,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(1, 98) = 12.67, </a:t>
            </a:r>
            <a:r>
              <a:rPr lang="en-US" sz="1400" i="1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&lt; .001이었다."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4869770" y="3492046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6000" dirty="0"/>
          </a:p>
        </p:txBody>
      </p:sp>
      <p:sp>
        <p:nvSpPr>
          <p:cNvPr id="37" name="Text 29"/>
          <p:cNvSpPr txBox="1"/>
          <p:nvPr/>
        </p:nvSpPr>
        <p:spPr>
          <a:xfrm>
            <a:off x="1300618" y="6164556"/>
            <a:ext cx="8953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상관에서 인과 표현을 배제하고, 회귀에서 모형 전체 정보를 보고하세요</a:t>
            </a:r>
            <a:endParaRPr lang="en-US" sz="16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518584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90549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521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521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9529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9529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 검토 체크리스트</a:t>
            </a:r>
            <a:endParaRPr lang="en-US" sz="3600" dirty="0"/>
          </a:p>
        </p:txBody>
      </p:sp>
      <p:pic>
        <p:nvPicPr>
          <p:cNvPr id="14" name="Image 1" descr="gen-dedup-57eb99d2ef6e78e8ff8b03af13d25301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1867205" y="2381098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38451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 정확성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7" y="2667305"/>
            <a:ext cx="352440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보고한 통계량(t/F/r/β), df, p값이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수치와 정확히 일치하는지 대조합니다.</a:t>
            </a:r>
            <a:endParaRPr lang="en-US" sz="1300" dirty="0"/>
          </a:p>
        </p:txBody>
      </p:sp>
      <p:pic>
        <p:nvPicPr>
          <p:cNvPr id="17" name="Image 2" descr="gen-dedup-12b13c931c840dab4e3c1b3e086935f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381098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38451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완전성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40197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기술통계(M, SD), 검정통계량, p값, 효과크기, 신뢰구간 등 핵심 정보가 빠짐없이 포함되었는지 확인합니다.</a:t>
            </a:r>
            <a:endParaRPr lang="en-US" sz="1300" dirty="0"/>
          </a:p>
        </p:txBody>
      </p:sp>
      <p:pic>
        <p:nvPicPr>
          <p:cNvPr id="20" name="Image 3" descr="gen-dedup-cece88b6672b0a7febc13850bc8c088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4095598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3952951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 표현 자제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381805"/>
            <a:ext cx="3524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"영향을 미쳤다", "증가시켰다" 등 인과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사용되지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않았는지 점검합니다.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/회귀에서는 관계/예측 표현을 사용합니다.</a:t>
            </a:r>
            <a:endParaRPr lang="en-US" sz="1300" dirty="0"/>
          </a:p>
        </p:txBody>
      </p:sp>
      <p:pic>
        <p:nvPicPr>
          <p:cNvPr id="23" name="Image 4" descr="gen-dedup-3823d79289ec30083edf599e8398ee36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39205" y="4095598"/>
            <a:ext cx="171907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3952951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 준수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7" y="4381805"/>
            <a:ext cx="415033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이탤릭체(t, F, p, r, β), 괄호 내 자유도, 소수점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자릿수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공백 등 APA 7판 형식을 준수하는지 확인합니다.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산출물은 반드시 연구자가 직접 검증한 후 최종 보고서에 반영하세요"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344635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5143500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14350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14350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02e73ef83394527f788c158ba3eaeef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8405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2de90ec18f38423de7e8cb839a186794.png"/>
          <p:cNvPicPr>
            <a:picLocks noChangeAspect="1"/>
          </p:cNvPicPr>
          <p:nvPr/>
        </p:nvPicPr>
        <p:blipFill>
          <a:blip r:embed="rId4"/>
          <a:srcRect t="-25452" b="-25452"/>
          <a:stretch/>
        </p:blipFill>
        <p:spPr>
          <a:xfrm>
            <a:off x="961949" y="2400300"/>
            <a:ext cx="75895" cy="152705"/>
          </a:xfrm>
          <a:prstGeom prst="rect">
            <a:avLst/>
          </a:prstGeom>
        </p:spPr>
      </p:pic>
      <p:pic>
        <p:nvPicPr>
          <p:cNvPr id="16" name="Image 4" descr="gen-dedup-527c605b266d567cf55bf1fde989fa56.png"/>
          <p:cNvPicPr>
            <a:picLocks noChangeAspect="1"/>
          </p:cNvPicPr>
          <p:nvPr/>
        </p:nvPicPr>
        <p:blipFill>
          <a:blip r:embed="rId5"/>
          <a:srcRect t="-25452" b="-25452"/>
          <a:stretch/>
        </p:blipFill>
        <p:spPr>
          <a:xfrm>
            <a:off x="11153851" y="2400300"/>
            <a:ext cx="7589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5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743554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429707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출력표를 활용해 AI 해석문을 생성·수정하고 산출물을 완성합니다.</a:t>
            </a:r>
            <a:endParaRPr lang="en-US" sz="16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19816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e77498b076501d070a339fdc566ebe26.png"/>
          <p:cNvPicPr>
            <a:picLocks noChangeAspect="1"/>
          </p:cNvPicPr>
          <p:nvPr/>
        </p:nvPicPr>
        <p:blipFill>
          <a:blip r:embed="rId2"/>
          <a:srcRect t="-396" b="-396"/>
          <a:stretch/>
        </p:blipFill>
        <p:spPr>
          <a:xfrm>
            <a:off x="4190695" y="1524305"/>
            <a:ext cx="3810305" cy="19202"/>
          </a:xfrm>
          <a:prstGeom prst="rect">
            <a:avLst/>
          </a:prstGeom>
        </p:spPr>
      </p:pic>
      <p:pic>
        <p:nvPicPr>
          <p:cNvPr id="5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6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90195" y="571500"/>
            <a:ext cx="11811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1285646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2553005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2553005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2081174" y="3323844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 정리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476756" y="3696005"/>
            <a:ext cx="25722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제공된 통계 출력표에서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(통계량, df, p, 효과크기)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정리합니다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19549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886907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5886907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191049" y="3323844"/>
            <a:ext cx="1815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 생성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09744" y="3696005"/>
            <a:ext cx="25722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템플릿을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APA 형식 해석문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요청합니다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53451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9219895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9219895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555126" y="3323844"/>
            <a:ext cx="1758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 제출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43646" y="3696005"/>
            <a:ext cx="25722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해석문의 수치 정확성, 형식,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인과표현을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수정본을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제출합니다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90195" y="5905195"/>
            <a:ext cx="1181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개인/팀 선택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 해석문 초안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체크리스트 검토 </a:t>
            </a:r>
            <a:r>
              <a:rPr lang="en-US" sz="15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5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수정본 제출</a:t>
            </a:r>
            <a:endParaRPr lang="en-US" sz="15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209182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476402"/>
            <a:ext cx="9525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단계별 가이드</a:t>
            </a:r>
            <a:endParaRPr lang="en-US" sz="36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333195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95805" y="1714500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095805" y="1714500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812341" y="2476195"/>
            <a:ext cx="1143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 분석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06871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제공된 t검정/ANOVA/상관/회귀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출력표에서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검정통계량, p값,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정리합니다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4100585"/>
            <a:ext cx="3238805" cy="857707"/>
          </a:xfrm>
          <a:prstGeom prst="roundRect">
            <a:avLst>
              <a:gd name="adj" fmla="val 1895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10058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4086071"/>
            <a:ext cx="32388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39700" rIns="190500" bIns="139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출력표에서 보고해야 </a:t>
            </a: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할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수치 5가지를 알려줘"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95598" y="2952598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380890" y="2952598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810098" y="1714500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10098" y="1714500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491886" y="2476195"/>
            <a:ext cx="12097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생성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476902" y="306871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정리된 출력값을 프롬프트 템플릿에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APA 형식 해석문 초안을 요청합니다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76902" y="4100585"/>
            <a:ext cx="3238805" cy="857707"/>
          </a:xfrm>
          <a:prstGeom prst="roundRect">
            <a:avLst>
              <a:gd name="adj" fmla="val 1895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76902" y="410058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476902" y="4086071"/>
            <a:ext cx="32388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39700" rIns="190500" bIns="139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"아래 t검정 결과를 APA 7판 </a:t>
            </a: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형식으로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서술해줘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효과크기도 포함해줘"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810805" y="2952598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096098" y="2952598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525305" y="1714500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5305" y="1714500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347911" y="2476195"/>
            <a:ext cx="933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306871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체크리스트(수치정확/완전성/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인과표현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APA형식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/맥락부합)를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해석문을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검토하고 수정합니다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91195" y="4100585"/>
            <a:ext cx="3238805" cy="857707"/>
          </a:xfrm>
          <a:prstGeom prst="roundRect">
            <a:avLst>
              <a:gd name="adj" fmla="val 18953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191195" y="4100585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191195" y="4086071"/>
            <a:ext cx="32388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39700" rIns="190500" bIns="139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해석문에서 APA 형식 </a:t>
            </a: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오류를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찾아서</a:t>
            </a:r>
            <a:r>
              <a:rPr lang="en-US" sz="12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수정해줘"</a:t>
            </a:r>
            <a:endParaRPr lang="en-US" sz="12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715000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33195" y="6001207"/>
            <a:ext cx="9525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 → AI 초안 → 연구자 검토 = 정확하고 효율적인 결과 보고</a:t>
            </a:r>
            <a:endParaRPr lang="en-US" sz="19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1622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200607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1904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943100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1622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200607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1904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943100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00707" y="5524805"/>
            <a:ext cx="819119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45790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17205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388620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4600346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245790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2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예시: 통계 출력 vs AI 해석문</a:t>
            </a:r>
            <a:endParaRPr lang="en-US" sz="31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138074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SPSS 출력 핵심값</a:t>
            </a:r>
            <a:endParaRPr lang="en-US" sz="2100" dirty="0"/>
          </a:p>
        </p:txBody>
      </p:sp>
      <p:sp>
        <p:nvSpPr>
          <p:cNvPr id="22" name="Text 14"/>
          <p:cNvSpPr txBox="1"/>
          <p:nvPr/>
        </p:nvSpPr>
        <p:spPr>
          <a:xfrm>
            <a:off x="1190549" y="2381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190549" y="2667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독립표본 t검정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190549" y="309524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실험집단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33814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 = 4.23, SD = 0.87, n = 30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3810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통제집단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40955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 = 3.56, SD = 0.92, n = 30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45244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결과값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205063" y="4853286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t(58) = 2.89, Sig.(2-tailed) = .005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Mean Difference = 0.67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858000" y="138074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해석문 (수정 후)</a:t>
            </a:r>
            <a:endParaRPr lang="en-US" sz="2100" dirty="0"/>
          </a:p>
        </p:txBody>
      </p:sp>
      <p:sp>
        <p:nvSpPr>
          <p:cNvPr id="31" name="Text 23"/>
          <p:cNvSpPr txBox="1"/>
          <p:nvPr/>
        </p:nvSpPr>
        <p:spPr>
          <a:xfrm>
            <a:off x="7286854" y="2381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해석문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301368" y="2710847"/>
            <a:ext cx="3905402" cy="237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독립표본 t검정 결과, 실험집단(M = 4.23, SD = 0.87)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통제집단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(M = 3.56, SD = 0.92)보다 학업성취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점수가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유의하게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높은 것으로 나타났다,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t(58) = 2.89, p = .005, Cohen's d = 0.75.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중간 이상의 효과크기에 해당하며,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처치가 실질적인 차이를 만들었음을 시사한다.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333695" y="3143707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34" name="Text 26"/>
          <p:cNvSpPr txBox="1"/>
          <p:nvPr/>
        </p:nvSpPr>
        <p:spPr>
          <a:xfrm>
            <a:off x="2095805" y="5667451"/>
            <a:ext cx="8001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출력표의 수치와 해석문의 수치가 정확히 일치하는지 반드시 대조하세요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1909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1909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905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905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핵심 요약</a:t>
            </a:r>
            <a:endParaRPr lang="en-US" sz="3600" dirty="0"/>
          </a:p>
        </p:txBody>
      </p:sp>
      <p:pic>
        <p:nvPicPr>
          <p:cNvPr id="14" name="Image 1" descr="gen-dedup-3dadcb55c7c52897fdc39679cd708f5a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843430" y="2333549"/>
            <a:ext cx="219456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190902"/>
            <a:ext cx="3333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체계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7" y="2619756"/>
            <a:ext cx="352440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연구질문의 유형과 변수의 측정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적합한 통계 분석을 선택합니다.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파악하고 추론통계로 검증합니다.</a:t>
            </a:r>
            <a:endParaRPr lang="en-US" sz="1400" dirty="0"/>
          </a:p>
        </p:txBody>
      </p:sp>
      <p:pic>
        <p:nvPicPr>
          <p:cNvPr id="17" name="Image 2" descr="gen-dedup-33495cc916d30328a199469ea21e603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333549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190902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해석 포인트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19756"/>
            <a:ext cx="38103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분석별 핵심 출력값(t/F/r/β, df, p, 효과크기)을 읽고 학술적으로 해석하는 원칙을 적용합니다.</a:t>
            </a:r>
            <a:endParaRPr lang="en-US" sz="1400" dirty="0"/>
          </a:p>
        </p:txBody>
      </p:sp>
      <p:pic>
        <p:nvPicPr>
          <p:cNvPr id="20" name="Image 3" descr="gen-dedup-b8fac1e183d90af34dcb5741e1e41ed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4048049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3905402"/>
            <a:ext cx="3333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표기 규칙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334256"/>
            <a:ext cx="3333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7판 형식의 유효 숫자, 단위, 오차 표기, 통계 기호 사용법을 일관되게 적용합니다.</a:t>
            </a:r>
            <a:endParaRPr lang="en-US" sz="1400" dirty="0"/>
          </a:p>
        </p:txBody>
      </p:sp>
      <p:pic>
        <p:nvPicPr>
          <p:cNvPr id="23" name="Image 4" descr="gen-dedup-a6ac4039cc1fd5a734c1f0afe1a4ea1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5372" y="4048049"/>
            <a:ext cx="237744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3905402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생성·검토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334256"/>
            <a:ext cx="3810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해석문 초안을 빠르게 생성하되, 수치 정확성, 인과 표현, 형식을 반드시 연구자가 검증합니다.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810098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"정확한 해석과 일관된 보고가 연구의 학술적 신뢰성을 결정합니다"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263448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산출물 정리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1190549" y="1619402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29207" y="1857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1089c05490c35b2f49212f10e27539dd.png"/>
          <p:cNvPicPr>
            <a:picLocks noChangeAspect="1"/>
          </p:cNvPicPr>
          <p:nvPr/>
        </p:nvPicPr>
        <p:blipFill>
          <a:blip r:embed="rId3"/>
          <a:srcRect l="-16667" r="-16667"/>
          <a:stretch/>
        </p:blipFill>
        <p:spPr>
          <a:xfrm>
            <a:off x="1543507" y="197144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29207" y="2467051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 해석문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29207" y="2790749"/>
            <a:ext cx="2667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분석별(t/ANOVA/상관/회귀)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 해석문 각 1개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24451" y="1619402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762195" y="1857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2" descr="gen-dedup-dd5325a1594c56cdbf6d6fbe9943fb5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76495" y="197144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62195" y="2467051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 핵심값 정리표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62195" y="2790749"/>
            <a:ext cx="2667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SPSS/R 출력에서 핵심 통계치를 추출한 정리표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858354" y="1619402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8096098" y="1857146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0" name="Image 3" descr="gen-dedup-670a6ad94d18ad00e61f6d20f88b2768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8210398" y="1971446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96098" y="2467051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해석 프롬프트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096098" y="2790749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해석용 AI 프롬프트 템플릿 1개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190549" y="3810305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1429207" y="40480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4" descr="gen-dedup-c205f9a33e32bbff6f50672b6afdc4b6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1543507" y="4162349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29207" y="4657954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 체크리스트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429207" y="4981651"/>
            <a:ext cx="2667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수치정확/완전성/인과표현/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APA형식</a:t>
            </a:r>
            <a:endParaRPr lang="en-US" sz="1200" dirty="0">
              <a:solidFill>
                <a:srgbClr val="4A5568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/맥락부합 5가지 기준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24451" y="3810305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4762195" y="40480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0" name="Image 5" descr="gen-dedup-90fa3fd45418934eb8b9b4fb45f1237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76495" y="4162349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762195" y="4657954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나쁜/좋은 해석 비교표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4762195" y="4981651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전후 해석문 비교 예시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7858354" y="3810305"/>
            <a:ext cx="3143707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8096098" y="40480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5" name="Image 6" descr="gen-dedup-5ac4affc1a036278caaed36056145d3c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8210398" y="4162349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096098" y="4657954"/>
            <a:ext cx="2667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표기 가이드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8096098" y="4981651"/>
            <a:ext cx="2667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유효 숫자, 오차, p값,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표기 규칙 정리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761695" y="614385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"모든 산출물은 모듈 3에서 Figure 제작의 기반이 됩니다"</a:t>
            </a:r>
            <a:endParaRPr lang="en-US" sz="18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543788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96098" y="476402"/>
            <a:ext cx="1505102" cy="1505102"/>
          </a:xfrm>
          <a:prstGeom prst="ellipse">
            <a:avLst/>
          </a:prstGeom>
          <a:noFill/>
          <a:ln w="508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77195" y="3333902"/>
            <a:ext cx="2095805" cy="2095805"/>
          </a:xfrm>
          <a:prstGeom prst="ellipse">
            <a:avLst/>
          </a:prstGeom>
          <a:solidFill>
            <a:srgbClr val="2B6CB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571500" y="952805"/>
            <a:ext cx="381305" cy="333756"/>
          </a:xfrm>
          <a:prstGeom prst="rect">
            <a:avLst/>
          </a:prstGeom>
          <a:noFill/>
          <a:ln w="254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a107b70daa626f671328c0ed1a2d5b7f.png"/>
          <p:cNvPicPr>
            <a:picLocks noChangeAspect="1"/>
          </p:cNvPicPr>
          <p:nvPr/>
        </p:nvPicPr>
        <p:blipFill>
          <a:blip r:embed="rId2"/>
          <a:srcRect t="-384" b="-384"/>
          <a:stretch/>
        </p:blipFill>
        <p:spPr>
          <a:xfrm>
            <a:off x="666598" y="1333195"/>
            <a:ext cx="952805" cy="19202"/>
          </a:xfrm>
          <a:prstGeom prst="rect">
            <a:avLst/>
          </a:prstGeom>
        </p:spPr>
      </p:pic>
      <p:pic>
        <p:nvPicPr>
          <p:cNvPr id="8" name="Image 1" descr="gen-dedup-62d4101242a237122f7b3ce7dafc3d60.png"/>
          <p:cNvPicPr>
            <a:picLocks noChangeAspect="1"/>
          </p:cNvPicPr>
          <p:nvPr/>
        </p:nvPicPr>
        <p:blipFill>
          <a:blip r:embed="rId3"/>
          <a:srcRect t="-408" b="-408"/>
          <a:stretch/>
        </p:blipFill>
        <p:spPr>
          <a:xfrm>
            <a:off x="666598" y="3047695"/>
            <a:ext cx="1904695" cy="19202"/>
          </a:xfrm>
          <a:prstGeom prst="rect">
            <a:avLst/>
          </a:prstGeom>
        </p:spPr>
      </p:pic>
      <p:pic>
        <p:nvPicPr>
          <p:cNvPr id="9" name="Image 2" descr="gen-dedup-dd9b442323872db900f431b907c13f04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7429500" y="857707"/>
            <a:ext cx="4095598" cy="5143500"/>
          </a:xfrm>
          <a:prstGeom prst="rect">
            <a:avLst/>
          </a:prstGeom>
        </p:spPr>
      </p:pic>
      <p:pic>
        <p:nvPicPr>
          <p:cNvPr id="10" name="Image 3" descr="gen-dedup-d02ed1e543dc45693edad391fc6cb56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857707"/>
            <a:ext cx="4095750" cy="5143500"/>
          </a:xfrm>
          <a:prstGeom prst="rect">
            <a:avLst/>
          </a:prstGeom>
        </p:spPr>
      </p:pic>
      <p:pic>
        <p:nvPicPr>
          <p:cNvPr id="11" name="Image 4" descr="gen-dedup-bcb3cf82b116f6a90e0318dd994b5632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7429500" y="4858207"/>
            <a:ext cx="4095598" cy="1143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39305" y="666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11334902" y="5810098"/>
            <a:ext cx="571500" cy="571500"/>
          </a:xfrm>
          <a:prstGeom prst="ellipse">
            <a:avLst/>
          </a:prstGeom>
          <a:noFill/>
          <a:ln w="1016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666598" y="1524305"/>
            <a:ext cx="5715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7500" dirty="0"/>
          </a:p>
        </p:txBody>
      </p:sp>
      <p:sp>
        <p:nvSpPr>
          <p:cNvPr id="15" name="Text 8"/>
          <p:cNvSpPr txBox="1"/>
          <p:nvPr/>
        </p:nvSpPr>
        <p:spPr>
          <a:xfrm>
            <a:off x="666598" y="3429000"/>
            <a:ext cx="58293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통계 결과를 정확히 읽고 학술적으로 보고하는 </a:t>
            </a:r>
            <a:r>
              <a:rPr lang="en-US" sz="1600" b="1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능력은</a:t>
            </a: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핵심 역량입니다.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AI와 함께 더 정확하고 효율적인 결과 보고를 실현하세요. 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666598" y="4667098"/>
            <a:ext cx="58293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생성형 AI 기반 양적 연구 AI 활용 과정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2: 통계 분석 결과 해석 AI 보조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3: 데이터 시각화와 Figure AI 생성 </a:t>
            </a:r>
            <a:endParaRPr lang="en-US" sz="1300" dirty="0"/>
          </a:p>
        </p:txBody>
      </p:sp>
      <p:pic>
        <p:nvPicPr>
          <p:cNvPr id="17" name="Image 5" descr="gen-dedup-074c6eb0c4c199d8ecd9f5e29a8bc7c3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0" y="6762902"/>
            <a:ext cx="3657600" cy="95098"/>
          </a:xfrm>
          <a:prstGeom prst="rect">
            <a:avLst/>
          </a:prstGeom>
        </p:spPr>
      </p:pic>
      <p:pic>
        <p:nvPicPr>
          <p:cNvPr id="18" name="Image 6" descr="gen-dedup-65b911f495d93814b5400de757589870.png"/>
          <p:cNvPicPr>
            <a:picLocks noChangeAspect="1"/>
          </p:cNvPicPr>
          <p:nvPr/>
        </p:nvPicPr>
        <p:blipFill>
          <a:blip r:embed="rId8"/>
          <a:srcRect l="-78" r="-78"/>
          <a:stretch/>
        </p:blipFill>
        <p:spPr>
          <a:xfrm>
            <a:off x="3657600" y="6762902"/>
            <a:ext cx="8534095" cy="95098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006331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15243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1476756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15243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1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5143500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5095951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5143500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4e4051102f8e9fe758dbfa8744370e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1524305"/>
            <a:ext cx="3619195" cy="3619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39805" y="1333195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9695" y="4953305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1047902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양적 연구 AI 활용 과정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1904695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819095"/>
            <a:ext cx="6667805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</a:t>
            </a: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시각화와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AI 생성 </a:t>
            </a:r>
            <a:endParaRPr lang="en-US" sz="54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429707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대학원생·성인학습자·연구자·교수자 | 형식: 5시간 실습 중심 | 모듈 3/4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781751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결과를 연구용 Figure와 교육용 인포그래픽으로 변환하는 실전 과정</a:t>
            </a:r>
            <a:endParaRPr lang="en-US" sz="1300" dirty="0"/>
          </a:p>
        </p:txBody>
      </p:sp>
      <p:pic>
        <p:nvPicPr>
          <p:cNvPr id="21" name="Image 3" descr="gen-dedup-7caaa6f2b112e5b542b1bb471e0650c4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11344046" y="1447495"/>
            <a:ext cx="171907" cy="152705"/>
          </a:xfrm>
          <a:prstGeom prst="rect">
            <a:avLst/>
          </a:prstGeom>
        </p:spPr>
      </p:pic>
      <p:pic>
        <p:nvPicPr>
          <p:cNvPr id="22" name="Image 4" descr="gen-dedup-a2b9238e96ebe11bbb45589d8658c62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33995" y="5067605"/>
            <a:ext cx="152705" cy="152705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43140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2095805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572000"/>
            <a:ext cx="2857500" cy="9144"/>
          </a:xfrm>
          <a:prstGeom prst="rect">
            <a:avLst/>
          </a:prstGeom>
        </p:spPr>
      </p:pic>
      <p:pic>
        <p:nvPicPr>
          <p:cNvPr id="7" name="Image 2" descr="gen-dedup-141d82f3338f8066817e1bcdebebde3a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5524805" y="1143000"/>
            <a:ext cx="38405" cy="4572000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429207"/>
            <a:ext cx="190195" cy="190195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572207"/>
            <a:ext cx="190195" cy="190195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00446" y="3666744"/>
            <a:ext cx="286207" cy="286207"/>
          </a:xfrm>
          <a:prstGeom prst="ellipse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4858207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761695" y="247619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구조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858207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20시간 4개 모듈 과정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5905195" y="1333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1. (5H)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1600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양적 연구 설계 통합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2476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2. (5H)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743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 결과 해석 AI 보조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3619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3. (5H)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3886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시각화와 Figure AI 생성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4762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4. (5H)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5029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통합 완성</a:t>
            </a:r>
            <a:endParaRPr lang="en-US" sz="2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823103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347327"/>
            <a:ext cx="10668305" cy="9144"/>
          </a:xfrm>
          <a:prstGeom prst="rect">
            <a:avLst/>
          </a:prstGeom>
        </p:spPr>
      </p:pic>
      <p:pic>
        <p:nvPicPr>
          <p:cNvPr id="7" name="Image 1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76349" y="435647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638751" y="435647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401154" y="435647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163556" y="435647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876349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638751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401154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163556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3fab25f948e0e297d76160b37fbde6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1190549"/>
            <a:ext cx="3047729" cy="20482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9195" y="9336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71500" y="2952598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7097a290e22353333645ea7ead54b4ea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3715207" y="1037844"/>
            <a:ext cx="190195" cy="171907"/>
          </a:xfrm>
          <a:prstGeom prst="rect">
            <a:avLst/>
          </a:prstGeom>
        </p:spPr>
      </p:pic>
      <p:pic>
        <p:nvPicPr>
          <p:cNvPr id="20" name="Image 4" descr="gen-dedup-8971e6cdb0e63828f7b92de6fecd64b7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85800" y="3057754"/>
            <a:ext cx="152705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381805" y="1380744"/>
            <a:ext cx="6667805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</a:t>
            </a:r>
            <a:endParaRPr lang="en-US" sz="6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63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63262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918827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 유형 선택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5442778"/>
            <a:ext cx="2382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목적에 맞는 시각화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524098" y="463262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3524098" y="4918827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설계·생성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4098" y="5442778"/>
            <a:ext cx="2382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결과에 적합한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AI로 생성합니다.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286500" y="463262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86500" y="4918827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검증·정제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286500" y="5442778"/>
            <a:ext cx="2382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캡션, 단위, 축, 범례, 색상,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검증합니다.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48902" y="4632620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048902" y="4918827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인포그래픽·구조도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048902" y="5442778"/>
            <a:ext cx="23820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결과를 교육용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구조도로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변환합니다.</a:t>
            </a:r>
            <a:endParaRPr lang="en-US" sz="12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008544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ac30c8d9bd0ee3b4b4f3747fcdca137e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5524805" y="952805"/>
            <a:ext cx="38405" cy="4953305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33319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572207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5048402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5시간 실습 중심 과정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5905195" y="1238098"/>
            <a:ext cx="5524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1. (1.5H)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1505102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 원칙과 유형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2476195"/>
            <a:ext cx="5524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2. (1.5H)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743200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AI 생성과 검증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3715207"/>
            <a:ext cx="5524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3. (1H)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3981298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인포그래픽과 구조도 AI 생성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4953305"/>
            <a:ext cx="5524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4. (1H)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5219395"/>
            <a:ext cx="5524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2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863520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114300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066898"/>
            <a:ext cx="152705" cy="114300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5143500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143500"/>
            <a:ext cx="152705" cy="114300"/>
          </a:xfrm>
          <a:prstGeom prst="rect">
            <a:avLst/>
          </a:prstGeom>
          <a:noFill/>
          <a:ln w="1524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143500"/>
            <a:ext cx="152705" cy="114300"/>
          </a:xfrm>
          <a:prstGeom prst="rect">
            <a:avLst/>
          </a:prstGeom>
          <a:noFill/>
          <a:ln w="1524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476695"/>
            <a:ext cx="6096305" cy="38130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476695"/>
            <a:ext cx="6096305" cy="38130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e721bdea8e481c56cf9851a871ea16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2de90ec18f38423de7e8cb839a186794.png"/>
          <p:cNvPicPr>
            <a:picLocks noChangeAspect="1"/>
          </p:cNvPicPr>
          <p:nvPr/>
        </p:nvPicPr>
        <p:blipFill>
          <a:blip r:embed="rId4"/>
          <a:srcRect t="-25452" b="-25452"/>
          <a:stretch/>
        </p:blipFill>
        <p:spPr>
          <a:xfrm>
            <a:off x="961949" y="2400300"/>
            <a:ext cx="75895" cy="152705"/>
          </a:xfrm>
          <a:prstGeom prst="rect">
            <a:avLst/>
          </a:prstGeom>
        </p:spPr>
      </p:pic>
      <p:pic>
        <p:nvPicPr>
          <p:cNvPr id="16" name="Image 4" descr="gen-dedup-527c605b266d567cf55bf1fde989fa56.png"/>
          <p:cNvPicPr>
            <a:picLocks noChangeAspect="1"/>
          </p:cNvPicPr>
          <p:nvPr/>
        </p:nvPicPr>
        <p:blipFill>
          <a:blip r:embed="rId5"/>
          <a:srcRect t="-25452" b="-25452"/>
          <a:stretch/>
        </p:blipFill>
        <p:spPr>
          <a:xfrm>
            <a:off x="11153851" y="2400300"/>
            <a:ext cx="7589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429000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kern="0" spc="150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924458" y="3838651"/>
            <a:ext cx="1034369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 원칙과 유형</a:t>
            </a:r>
            <a:endParaRPr lang="en-US" sz="54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477256"/>
            <a:ext cx="9525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목적에 맞춘 시각화 선택과 기본 원칙을 정리합니다.</a:t>
            </a:r>
            <a:endParaRPr lang="en-US" sz="18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091881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02701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시각화인가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b45a03159339b85ca7785a1e365c3b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18d5b28a6cc7e592c4866ab3294d8c5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인지 효율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잘 만든 그래프는 수치 표보다 패턴을 빨리 드러냅니다.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복잡한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데이터를 한눈에 파악할 수 있습니다.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9eb627688d0fdb04ab12be6b20d4f26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패턴 발견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표만으로는 보이지 않는 추세, 이상값, 군집을 시각화를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통해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직관적으로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발견할 수 있습니다.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41ab12347e0250d835d7064b9159bbb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81728" y="3800246"/>
            <a:ext cx="237744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커뮤니케이션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5973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결과를 독자, 심사자, 학생에게 효과적으로 전달하는 핵심 수단입니다.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d4de0dd94b78b997f0c928d303e980a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신뢰도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191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정확하고 투명한 시각화는 연구의 재현성과 학술적 신뢰를 높입니다.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591950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29207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3908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3908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1" descr="gen-dedup-13d56747d72b5b83ba2a369ee050e7b3.png"/>
          <p:cNvPicPr>
            <a:picLocks noChangeAspect="1"/>
          </p:cNvPicPr>
          <p:nvPr/>
        </p:nvPicPr>
        <p:blipFill>
          <a:blip r:embed="rId3"/>
          <a:srcRect t="-235" b="-235"/>
          <a:stretch/>
        </p:blipFill>
        <p:spPr>
          <a:xfrm>
            <a:off x="1000354" y="2190902"/>
            <a:ext cx="2190902" cy="10195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0354" y="2190902"/>
            <a:ext cx="21909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838505" y="3866083"/>
            <a:ext cx="2514600" cy="1380744"/>
          </a:xfrm>
          <a:prstGeom prst="roundRect">
            <a:avLst>
              <a:gd name="adj" fmla="val 1096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538935" y="4280306"/>
            <a:ext cx="11192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막대그래프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72261" y="460491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그룹 막대, 누적 막대</a:t>
            </a:r>
            <a:endParaRPr lang="en-US" sz="1300" dirty="0"/>
          </a:p>
        </p:txBody>
      </p:sp>
      <p:pic>
        <p:nvPicPr>
          <p:cNvPr id="14" name="Image 2" descr="gen-dedup-c22f125f201da8c25acbca3c611f64e5.png"/>
          <p:cNvPicPr>
            <a:picLocks noChangeAspect="1"/>
          </p:cNvPicPr>
          <p:nvPr/>
        </p:nvPicPr>
        <p:blipFill>
          <a:blip r:embed="rId4"/>
          <a:srcRect l="-359" r="-359"/>
          <a:stretch/>
        </p:blipFill>
        <p:spPr>
          <a:xfrm>
            <a:off x="2076602" y="3348533"/>
            <a:ext cx="38405" cy="374904"/>
          </a:xfrm>
          <a:prstGeom prst="rect">
            <a:avLst/>
          </a:prstGeom>
        </p:spPr>
      </p:pic>
      <p:pic>
        <p:nvPicPr>
          <p:cNvPr id="15" name="Image 3" descr="gen-dedup-a8ef6a7a0e3d01c0a1f280646a47336b.png"/>
          <p:cNvPicPr>
            <a:picLocks noChangeAspect="1"/>
          </p:cNvPicPr>
          <p:nvPr/>
        </p:nvPicPr>
        <p:blipFill>
          <a:blip r:embed="rId5"/>
          <a:srcRect t="-235" b="-235"/>
          <a:stretch/>
        </p:blipFill>
        <p:spPr>
          <a:xfrm>
            <a:off x="3666744" y="2190902"/>
            <a:ext cx="2190902" cy="10195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66744" y="2190902"/>
            <a:ext cx="21909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추세·변화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3504895" y="3866083"/>
            <a:ext cx="2514600" cy="1380744"/>
          </a:xfrm>
          <a:prstGeom prst="roundRect">
            <a:avLst>
              <a:gd name="adj" fmla="val 1096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4315968" y="4280306"/>
            <a:ext cx="8951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선그래프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803904" y="4604918"/>
            <a:ext cx="19184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 차트, 스파크라인</a:t>
            </a:r>
            <a:endParaRPr lang="en-US" sz="1300" dirty="0"/>
          </a:p>
        </p:txBody>
      </p:sp>
      <p:pic>
        <p:nvPicPr>
          <p:cNvPr id="20" name="Image 4" descr="gen-dedup-c22f125f201da8c25acbca3c611f64e5.png"/>
          <p:cNvPicPr>
            <a:picLocks noChangeAspect="1"/>
          </p:cNvPicPr>
          <p:nvPr/>
        </p:nvPicPr>
        <p:blipFill>
          <a:blip r:embed="rId4"/>
          <a:srcRect l="-359" r="-359"/>
          <a:stretch/>
        </p:blipFill>
        <p:spPr>
          <a:xfrm>
            <a:off x="4743907" y="3348533"/>
            <a:ext cx="38405" cy="374904"/>
          </a:xfrm>
          <a:prstGeom prst="rect">
            <a:avLst/>
          </a:prstGeom>
        </p:spPr>
      </p:pic>
      <p:pic>
        <p:nvPicPr>
          <p:cNvPr id="21" name="Image 5" descr="gen-dedup-6f5a72167c6634a79da02a3fc3aae08c.png"/>
          <p:cNvPicPr>
            <a:picLocks noChangeAspect="1"/>
          </p:cNvPicPr>
          <p:nvPr/>
        </p:nvPicPr>
        <p:blipFill>
          <a:blip r:embed="rId6"/>
          <a:srcRect t="-235" b="-235"/>
          <a:stretch/>
        </p:blipFill>
        <p:spPr>
          <a:xfrm>
            <a:off x="6334049" y="2190902"/>
            <a:ext cx="2190902" cy="10195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334049" y="2190902"/>
            <a:ext cx="21909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관계·분포</a:t>
            </a:r>
            <a:endParaRPr lang="en-US" sz="1900" dirty="0"/>
          </a:p>
        </p:txBody>
      </p:sp>
      <p:sp>
        <p:nvSpPr>
          <p:cNvPr id="23" name="Shape 15"/>
          <p:cNvSpPr/>
          <p:nvPr/>
        </p:nvSpPr>
        <p:spPr>
          <a:xfrm>
            <a:off x="6172200" y="3866083"/>
            <a:ext cx="2514600" cy="1380744"/>
          </a:xfrm>
          <a:prstGeom prst="roundRect">
            <a:avLst>
              <a:gd name="adj" fmla="val 1096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7098487" y="4280306"/>
            <a:ext cx="6720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산점도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6525158" y="4604918"/>
            <a:ext cx="1811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버블차트, 조인트플롯</a:t>
            </a:r>
            <a:endParaRPr lang="en-US" sz="1300" dirty="0"/>
          </a:p>
        </p:txBody>
      </p:sp>
      <p:pic>
        <p:nvPicPr>
          <p:cNvPr id="26" name="Image 6" descr="gen-dedup-c22f125f201da8c25acbca3c611f64e5.png"/>
          <p:cNvPicPr>
            <a:picLocks noChangeAspect="1"/>
          </p:cNvPicPr>
          <p:nvPr/>
        </p:nvPicPr>
        <p:blipFill>
          <a:blip r:embed="rId4"/>
          <a:srcRect l="-359" r="-359"/>
          <a:stretch/>
        </p:blipFill>
        <p:spPr>
          <a:xfrm>
            <a:off x="7410298" y="3348533"/>
            <a:ext cx="38405" cy="374904"/>
          </a:xfrm>
          <a:prstGeom prst="rect">
            <a:avLst/>
          </a:prstGeom>
        </p:spPr>
      </p:pic>
      <p:pic>
        <p:nvPicPr>
          <p:cNvPr id="27" name="Image 7" descr="gen-dedup-b95ef60efca8800e0373c556bebd05d7.png"/>
          <p:cNvPicPr>
            <a:picLocks noChangeAspect="1"/>
          </p:cNvPicPr>
          <p:nvPr/>
        </p:nvPicPr>
        <p:blipFill>
          <a:blip r:embed="rId7"/>
          <a:srcRect t="-235" b="-235"/>
          <a:stretch/>
        </p:blipFill>
        <p:spPr>
          <a:xfrm>
            <a:off x="9001354" y="2190902"/>
            <a:ext cx="2190902" cy="101955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001354" y="2190902"/>
            <a:ext cx="21909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분포·편차</a:t>
            </a:r>
            <a:endParaRPr lang="en-US" sz="1900" dirty="0"/>
          </a:p>
        </p:txBody>
      </p:sp>
      <p:sp>
        <p:nvSpPr>
          <p:cNvPr id="29" name="Shape 19"/>
          <p:cNvSpPr/>
          <p:nvPr/>
        </p:nvSpPr>
        <p:spPr>
          <a:xfrm>
            <a:off x="8839505" y="3866083"/>
            <a:ext cx="2514600" cy="1380744"/>
          </a:xfrm>
          <a:prstGeom prst="roundRect">
            <a:avLst>
              <a:gd name="adj" fmla="val 1096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0"/>
          <p:cNvSpPr txBox="1"/>
          <p:nvPr/>
        </p:nvSpPr>
        <p:spPr>
          <a:xfrm>
            <a:off x="9650578" y="4280306"/>
            <a:ext cx="8951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박스플롯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9191549" y="4604918"/>
            <a:ext cx="1811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히스토그램, 바이올린</a:t>
            </a:r>
            <a:endParaRPr lang="en-US" sz="1300" dirty="0"/>
          </a:p>
        </p:txBody>
      </p:sp>
      <p:pic>
        <p:nvPicPr>
          <p:cNvPr id="32" name="Image 8" descr="gen-dedup-c22f125f201da8c25acbca3c611f64e5.png"/>
          <p:cNvPicPr>
            <a:picLocks noChangeAspect="1"/>
          </p:cNvPicPr>
          <p:nvPr/>
        </p:nvPicPr>
        <p:blipFill>
          <a:blip r:embed="rId4"/>
          <a:srcRect l="-359" r="-359"/>
          <a:stretch/>
        </p:blipFill>
        <p:spPr>
          <a:xfrm>
            <a:off x="10077602" y="3348533"/>
            <a:ext cx="38405" cy="37490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목적별 시각화 선택 원칙</a:t>
            </a:r>
            <a:endParaRPr lang="en-US" sz="3600" dirty="0"/>
          </a:p>
        </p:txBody>
      </p:sp>
      <p:sp>
        <p:nvSpPr>
          <p:cNvPr id="34" name="Text 23"/>
          <p:cNvSpPr txBox="1"/>
          <p:nvPr/>
        </p:nvSpPr>
        <p:spPr>
          <a:xfrm>
            <a:off x="761695" y="5810098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"무엇을 보여주려는가가 시각화 유형 선택의 첫 번째 기준입니다"</a:t>
            </a:r>
            <a:endParaRPr lang="en-US" sz="1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432700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시각화 유형 맵</a:t>
            </a:r>
            <a:endParaRPr lang="en-US" sz="3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96189"/>
              </p:ext>
            </p:extLst>
          </p:nvPr>
        </p:nvGraphicFramePr>
        <p:xfrm>
          <a:off x="761695" y="1429207"/>
          <a:ext cx="10659162" cy="4267508"/>
        </p:xfrm>
        <a:graphic>
          <a:graphicData uri="http://schemas.openxmlformats.org/drawingml/2006/table">
            <a:tbl>
              <a:tblPr/>
              <a:tblGrid>
                <a:gridCol w="1415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시각화 유형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목적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적합 데이터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주의점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막대그래프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 간 비교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범주형 IV + 연속형 DV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축 원점 0 시작 필수, 정렬 순서 일관성 유지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선그래프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시간에 따른 추세 확인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시계열 데이터, 반복 측정 자료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 축은 반드시 등간격 유지, 중간 생략(절단) 주의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산점도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두 변수 간의 관계 파악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두 연속형 변수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과밀도 시 투명도 조절 또는 지터링(Jittering) 적용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박스플롯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분포 형태와 이상값 탐지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연속형 변수의 집단별 분포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중앙값, 사분위수 등 상자의 의미에 대한 명시적 해석 필요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히트맵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행렬 형태의 패턴 확인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상관 행렬, 교차 빈도 테이블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값의 크기를 나타내는 색상 스케일 범례 반드시 포함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4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파이차트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대비 구성 비율 표시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범주형 자료 (3~5개 이하 권장)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범주가 5개를 초과할 경우 가독성 저하로 막대그래프 권장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71947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 목적과 데이터 유형에 가장 적합한 시각화 방법을 선택하세요"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237217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bd23a91ff9e7798de8a0b3c0dafdd7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CBD5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CBD5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결과에 맞는 Figure 선택 기준</a:t>
            </a:r>
            <a:endParaRPr lang="en-US" sz="3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2527"/>
              </p:ext>
            </p:extLst>
          </p:nvPr>
        </p:nvGraphicFramePr>
        <p:xfrm>
          <a:off x="761695" y="1524305"/>
          <a:ext cx="10658246" cy="4047438"/>
        </p:xfrm>
        <a:graphic>
          <a:graphicData uri="http://schemas.openxmlformats.org/drawingml/2006/table">
            <a:tbl>
              <a:tblPr/>
              <a:tblGrid>
                <a:gridCol w="1970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7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유형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적합 Figure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필수 요소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보조 Figure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t검정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평균 비교 막대 + 오차 막대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평균, SD/SE 오차 표시, 유의성 표기(*)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개별 데이터 점 오버레이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ANOVA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집단별 평균 막대 + 오차 막대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사후검정 결과 표시, 집단 레이블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프로파일 플롯(상호작용)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상관분석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산점도 + 회귀선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r값, 신뢰대역(95% CI 밴드)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상관 행렬 히트맵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회귀분석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계수 플롯(forest plot)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β, CI, 유의성 표시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잔차 진단 플롯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7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카이제곱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모자이크 플롯/그룹 막대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관찰·기대빈도 비교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히트맵(잔차)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952744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"분석 유형에 따라 Figure의 필수 요소가 달라집니다"</a:t>
            </a:r>
            <a:endParaRPr lang="en-US" sz="19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660719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46699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505401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20948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2247894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46699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505401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20948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2247894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00707" y="5829599"/>
            <a:ext cx="819119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762701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47684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419099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490514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2762701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347684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048195" y="419099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048195" y="4905140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시각화 vs 좋은 시각화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1685538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시각화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268589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왜곡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2972099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Y축을 0에서 시작하지 않아 차이를 과장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340003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3D 오용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3686245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불필요한 3D 효과로 비율 왜곡과 가독성 저하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411509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 남용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90549" y="4400392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없는 다색 사용으로 정보 해석 방해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90549" y="482924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범례·캡션 누락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190549" y="5114538"/>
            <a:ext cx="4000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보여주는지 알 수 없는 고아 Figure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1685538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시각화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286854" y="2685892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정직한 축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286854" y="297209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 0 시작 또는 절단 시 명시적 표기(//), 스케일 일관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286854" y="3400038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2D 명료성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286854" y="3686245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단순하고 깔끔한 2D로 데이터를 정확히 전달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286854" y="4115099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있는 색상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286854" y="4400392"/>
            <a:ext cx="45253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집단·조건을 구분하는 최소한의 대비 색상, 색각 접근성 확보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286854" y="4829245"/>
            <a:ext cx="3952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완전한 레이블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286854" y="5114538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레이블, 단위, 범례, 캡션(Figure 번호+설명) 완비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333695" y="3448501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000707" y="5972245"/>
            <a:ext cx="8192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시각화는 정직하고, 명료하며, 완전한 정보를 담습니다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461413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축·단위·범례·캡션 작성 원칙</a:t>
            </a:r>
            <a:endParaRPr lang="en-US" sz="3600" dirty="0"/>
          </a:p>
        </p:txBody>
      </p:sp>
      <p:pic>
        <p:nvPicPr>
          <p:cNvPr id="14" name="Image 1" descr="gen-dedup-b0b1f0c44be28759ef92b42c5a1e69c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57146" y="2428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레이블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 이름과 단위를 명확히 표기합니다.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X축과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Y축 모두 생략하지 않으며,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눈금 간격을 일관되게 설정합니다.</a:t>
            </a:r>
            <a:endParaRPr lang="en-US" sz="1300" dirty="0"/>
          </a:p>
        </p:txBody>
      </p:sp>
      <p:pic>
        <p:nvPicPr>
          <p:cNvPr id="17" name="Image 2" descr="gen-dedup-3123fb0e9ca4abed24c3f516f22d360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 표기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409227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괄호 안에 단위를 명시합니다(예: 점수(점), 시간(분)).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Figure 내에서 단위 표기를 일관되게 유지합니다.</a:t>
            </a:r>
            <a:endParaRPr lang="en-US" sz="1300" dirty="0"/>
          </a:p>
        </p:txBody>
      </p:sp>
      <p:pic>
        <p:nvPicPr>
          <p:cNvPr id="20" name="Image 3" descr="gen-dedup-9bed48fb07b634b6b695a615ef83f2f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423824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7" y="4476902"/>
            <a:ext cx="352440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범례는 Figure 내부 또는 바로 옆에 배치합니다.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약어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사용 시 첫 등장에서 풀어 씁니다.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범주가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3개 이하이면 직접 레이블을 권장합니다.</a:t>
            </a:r>
            <a:endParaRPr lang="en-US" sz="1300" dirty="0"/>
          </a:p>
        </p:txBody>
      </p:sp>
      <p:pic>
        <p:nvPicPr>
          <p:cNvPr id="23" name="Image 4" descr="gen-dedup-a398332deba7a6cd058420586c160180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415430" y="4238244"/>
            <a:ext cx="219456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7" y="4476902"/>
            <a:ext cx="409227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APA: Figure 번호(볼드) + 제목(이탤릭). 캡션은 "무엇을, 누구에게, 어떤 조건에서" 측정했는지 포함합니다.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번호·제목은 그림 위에, 주석(Note)은 그림 아래에 둡니다.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"축·단위·범례·캡션은 Figure의 자기 설명력을 결정합니다"</a:t>
            </a:r>
            <a:endParaRPr lang="en-US" sz="1600" dirty="0"/>
          </a:p>
        </p:txBody>
      </p:sp>
      <p:sp>
        <p:nvSpPr>
          <p:cNvPr id="27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American Psychological Association. (2020). Publication manual of the American Psychological Association (7th ed.). · apastyle.apa.org Tables and Figures (2026-10 확인)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383374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844702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8062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8062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1781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구성요소 검토표</a:t>
            </a:r>
            <a:endParaRPr lang="en-US" sz="3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79883"/>
              </p:ext>
            </p:extLst>
          </p:nvPr>
        </p:nvGraphicFramePr>
        <p:xfrm>
          <a:off x="771753" y="1060686"/>
          <a:ext cx="10658247" cy="5132064"/>
        </p:xfrm>
        <a:graphic>
          <a:graphicData uri="http://schemas.openxmlformats.org/drawingml/2006/table">
            <a:tbl>
              <a:tblPr/>
              <a:tblGrid>
                <a:gridCol w="222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4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검토 항목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확인 포인트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축 레이블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변수명+단위 명시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X/Y축 모두 표기, 약어 풀이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축 스케일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원점·간격 일관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 시작 여부, 절단 표기(//)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오차 표시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SD/SE/CI 명시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오차 막대 유형을 범례 또는 캡션에 설명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범례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집단·조건 구분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위치 적절, 약어 풀이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캡션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번호+제목+설명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APA 형식, 측정 대상·조건·N 포함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색상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대비·접근성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흑백 인쇄 호환, 색각 이상 고려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해상도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300dpi 이상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벡터 형식(EPS/SVG) 권장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67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폰트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가독성·일관성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8pt 이상, Figure 전체 동일 폰트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310089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검토표를 Figure 제출 전 반드시 체크하세요"</a:t>
            </a:r>
            <a:endParaRPr lang="en-US" sz="18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878631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5143500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1151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1151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476695"/>
            <a:ext cx="6096305" cy="38130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476695"/>
            <a:ext cx="6096305" cy="38130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e721bdea8e481c56cf9851a871ea16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2569a2d878a0df1c84875feb6d9ceba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2400300"/>
            <a:ext cx="152705" cy="152705"/>
          </a:xfrm>
          <a:prstGeom prst="rect">
            <a:avLst/>
          </a:prstGeom>
        </p:spPr>
      </p:pic>
      <p:pic>
        <p:nvPicPr>
          <p:cNvPr id="16" name="Image 4" descr="gen-dedup-ebd2d0007c29d3588471648090c3b2a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15446" y="2400300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429000"/>
            <a:ext cx="9525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4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877056"/>
            <a:ext cx="9525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AI 생성과 검증</a:t>
            </a:r>
            <a:endParaRPr lang="en-US" sz="54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477256"/>
            <a:ext cx="9525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Figure 초안을 만들고 학술 규범으로 검증·정제합니다.</a:t>
            </a:r>
            <a:endParaRPr lang="en-US" sz="18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212266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571500"/>
            <a:ext cx="9525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연구용 Figure 생성 3단계 절차</a:t>
            </a:r>
            <a:endParaRPr lang="en-US" sz="4000" dirty="0"/>
          </a:p>
        </p:txBody>
      </p:sp>
      <p:pic>
        <p:nvPicPr>
          <p:cNvPr id="5" name="Image 0" descr="gen-dedup-003380d504a8f439663a2126332553db.png"/>
          <p:cNvPicPr>
            <a:picLocks noChangeAspect="1"/>
          </p:cNvPicPr>
          <p:nvPr/>
        </p:nvPicPr>
        <p:blipFill>
          <a:blip r:embed="rId2"/>
          <a:srcRect l="-402" r="-402"/>
          <a:stretch/>
        </p:blipFill>
        <p:spPr>
          <a:xfrm>
            <a:off x="2286000" y="1524305"/>
            <a:ext cx="7619695" cy="283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5224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95224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88874" y="2714854"/>
            <a:ext cx="339882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정리 + 유형 선택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66598" y="3238805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결과를 정리하고 연구 목적에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유형을 선택합니다.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분석유형→Figure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매핑표를 참고하세요</a:t>
            </a:r>
            <a:endParaRPr lang="en-US" sz="1400" dirty="0"/>
          </a:p>
        </p:txBody>
      </p:sp>
      <p:pic>
        <p:nvPicPr>
          <p:cNvPr id="10" name="Image 1" descr="gen-dedup-501e4cafb8723c2b72fcb14667cffee0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666598" y="4286707"/>
            <a:ext cx="3238805" cy="1143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6598" y="4286707"/>
            <a:ext cx="57607" cy="1143000"/>
          </a:xfrm>
          <a:prstGeom prst="roundRect">
            <a:avLst>
              <a:gd name="adj" fmla="val 31746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961949" y="4286707"/>
            <a:ext cx="2943454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"t검정 결과 → 평균 비교 </a:t>
            </a: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막대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+ 오차 막대"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048049" y="3619195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381805" y="3619195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762549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762549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5255971" y="2714854"/>
            <a:ext cx="16888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생성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476902" y="3238805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 데이터와 시각화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요구사항을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전달하여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Python/R 코드를 생성하고 Figure 초안을 만듭니다</a:t>
            </a:r>
            <a:endParaRPr lang="en-US" sz="1400" dirty="0"/>
          </a:p>
        </p:txBody>
      </p:sp>
      <p:pic>
        <p:nvPicPr>
          <p:cNvPr id="19" name="Image 2" descr="gen-dedup-501e4cafb8723c2b72fcb14667cffee0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4476902" y="4286707"/>
            <a:ext cx="3476548" cy="1143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476902" y="4286707"/>
            <a:ext cx="57607" cy="1143000"/>
          </a:xfrm>
          <a:prstGeom prst="roundRect">
            <a:avLst>
              <a:gd name="adj" fmla="val 31746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772253" y="4286707"/>
            <a:ext cx="3181197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데이터로 오차 막대가 </a:t>
            </a: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포함된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막대그래프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Python 코드를 작성해줘"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858354" y="3619195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191195" y="3619195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957285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957285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9079078" y="2714854"/>
            <a:ext cx="166146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+ 정제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8287207" y="3238805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검증 체크리스트(축/단위/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/색상/해상도)를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적용하고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투고 기준에 맞게 정제합니다</a:t>
            </a:r>
            <a:endParaRPr lang="en-US" sz="1400" dirty="0"/>
          </a:p>
        </p:txBody>
      </p:sp>
      <p:pic>
        <p:nvPicPr>
          <p:cNvPr id="28" name="Image 3" descr="gen-dedup-501e4cafb8723c2b72fcb14667cffee0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8287207" y="4286707"/>
            <a:ext cx="3238805" cy="11430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287207" y="4286707"/>
            <a:ext cx="57607" cy="1143000"/>
          </a:xfrm>
          <a:prstGeom prst="roundRect">
            <a:avLst>
              <a:gd name="adj" fmla="val 31746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582558" y="4286707"/>
            <a:ext cx="2943454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41300" rIns="241300" bIns="2413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"축 레이블 추가, 해상도 300dpi, APA 캡션 작성"</a:t>
            </a:r>
            <a:endParaRPr lang="en-US" sz="1400" dirty="0"/>
          </a:p>
        </p:txBody>
      </p:sp>
      <p:pic>
        <p:nvPicPr>
          <p:cNvPr id="31" name="Image 4" descr="gen-dedup-7bd23a91ff9e7798de8a0b3c0dafdd7c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2286000" y="5905195"/>
            <a:ext cx="7619695" cy="91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90295" y="6143854"/>
            <a:ext cx="10211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정리 → 유형 선택 → AI 초안 → 검증 → 정제의 반복이 좋은 Figure를 만듭니다</a:t>
            </a:r>
            <a:endParaRPr lang="en-US" sz="1900" dirty="0"/>
          </a:p>
        </p:txBody>
      </p:sp>
      <p:pic>
        <p:nvPicPr>
          <p:cNvPr id="33" name="Image 5" descr="gen-dedup-2c48bca0947e42727d67028363c04897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6" descr="gen-dedup-d0eb4450f0df06f0fea106621b17d79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24406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5686693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715039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5686693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695651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69600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695444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11182198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4" name="Image 6" descr="gen-dedup-e1333c3d3c0b5cbdf4d279fa06b382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810305"/>
            <a:ext cx="4286707" cy="247707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619195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619195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도구로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</a:t>
            </a:r>
          </a:p>
          <a:p>
            <a:pPr marL="0" indent="0" algn="l">
              <a:buNone/>
            </a:pPr>
            <a:r>
              <a:rPr lang="en-US" sz="48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</a:t>
            </a: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만들기</a:t>
            </a:r>
            <a:endParaRPr lang="en-US" sz="48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75995" y="3733495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4876495" y="3733495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66410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ChatGPT / Claude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997860"/>
            <a:ext cx="5619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자연어로 시각화 요구사항을 설명하면 Python(matplotlib, seaborn)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또는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R(ggplot2) 코드를 생성합니다.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09598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GitHub Copilot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14335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에디터 내에서 시각화 코드를 자동 완성하고 스타일을 조정합니다.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809951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Python 활용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143707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matplotlib, seaborn, plotly로 정적/인터랙티브 Figure를 생성합니다.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810305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R 활용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143146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ggplot2, plotly로 학술 수준의 시각화를 구현합니다.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80974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노코드 도구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431536" y="5143500"/>
            <a:ext cx="6186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Datawrapper, Flourish, Canva 등으로 코딩 없이 시각화를 생성할 수 있습니다.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511801" y="5905195"/>
            <a:ext cx="618682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AI에게 데이터와 요구사항을 명확히 전달할수록 정확한 Figure를 얻습니다.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663147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666951"/>
            <a:ext cx="3276295" cy="4162349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666951"/>
            <a:ext cx="7220102" cy="4143146"/>
          </a:xfrm>
          <a:prstGeom prst="roundRect">
            <a:avLst>
              <a:gd name="adj" fmla="val 1218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666951"/>
            <a:ext cx="75895" cy="4143146"/>
          </a:xfrm>
          <a:prstGeom prst="roundRect">
            <a:avLst>
              <a:gd name="adj" fmla="val 66473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eefc764a4d698f7c789086da12e9bb70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7" r="-17"/>
          <a:stretch/>
        </p:blipFill>
        <p:spPr>
          <a:xfrm>
            <a:off x="4928152" y="2330560"/>
            <a:ext cx="333756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생성용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857146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333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385670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52751"/>
            <a:ext cx="3666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6956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747772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714854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설명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305775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109874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3076956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 유형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4198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471977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438144"/>
            <a:ext cx="8439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축/레이블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78104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834079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800246"/>
            <a:ext cx="10268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색상/스타일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41431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196182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4162349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표시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5052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557370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524451"/>
            <a:ext cx="10268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해상도/출력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1047902" y="48673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7" name="Image 9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919472"/>
            <a:ext cx="95098" cy="1051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371600" y="4886554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금지사항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276039" y="1852574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5419642" y="2476195"/>
            <a:ext cx="5629967" cy="304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논문용 데이터 시각화 전문가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독립표본 t검정 결과를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막대그래프로 시각화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실험집단 M=4.23(SD=0.87), 통제집단 M=3.56(SD=0.92).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막대는 SD 기준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표시하고,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Y축은 0에서 시작해 주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레이블에 변수명과 단위를 포함하고,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흑백 인쇄 호환 가능하게 회색 계열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</a:t>
            </a: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지정해 주세요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 300dpi, APA 형식 캡션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 작성해 주세요."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"데이터, 시각화 유형, 스타일, 접근성 요구를 구체적으로 명시하세요"</a:t>
            </a:r>
            <a:endParaRPr lang="en-US" sz="16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0744811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Figure의 흔한 오류 유형</a:t>
            </a:r>
            <a:endParaRPr lang="en-US" sz="3600" dirty="0"/>
          </a:p>
        </p:txBody>
      </p:sp>
      <p:pic>
        <p:nvPicPr>
          <p:cNvPr id="14" name="Image 1" descr="gen-dedup-44f0d9c259d761efbbdbe858ebfddefa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876349" y="2438705"/>
            <a:ext cx="152705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라벨·단위 누락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714854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축 레이블이나 단위를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생략하거나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잘못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표기하는 경우가 빈번합니다.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변수명과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괄호 안 단위를 반드시 확인하세요.</a:t>
            </a:r>
            <a:endParaRPr lang="en-US" sz="1300" dirty="0"/>
          </a:p>
        </p:txBody>
      </p:sp>
      <p:pic>
        <p:nvPicPr>
          <p:cNvPr id="17" name="Image 2" descr="gen-dedup-48ce316fd0b925198ab647c7e258274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9205" y="2438705"/>
            <a:ext cx="171907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 대비 부족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7" y="2714854"/>
            <a:ext cx="409227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색상이 색각 이상자나 흑백 인쇄에서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구분이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될 수 있습니다.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ColorBrewer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팔레트 등 접근성 검증 도구를 사용하세요.</a:t>
            </a:r>
            <a:endParaRPr lang="en-US" sz="1300" dirty="0"/>
          </a:p>
        </p:txBody>
      </p:sp>
      <p:pic>
        <p:nvPicPr>
          <p:cNvPr id="20" name="Image 3" descr="gen-dedup-3473436033cc4a584d92ca6122693a3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10182" y="4248302"/>
            <a:ext cx="85954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표시 왜곡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524451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막대의 유형(SD/SE/CI)을 명시하지 않거나, 단방향만 표시하는 오류가 있습니다.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오차 유형을 반드시 기재하세요.</a:t>
            </a:r>
            <a:endParaRPr lang="en-US" sz="1300" dirty="0"/>
          </a:p>
        </p:txBody>
      </p:sp>
      <p:pic>
        <p:nvPicPr>
          <p:cNvPr id="23" name="Image 4" descr="gen-dedup-433c25eac2773f59c9067d871ad8231c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429146" y="4248302"/>
            <a:ext cx="190195" cy="17190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범례·캡션 오류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524451"/>
            <a:ext cx="423741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범례가 중복되거나 누락되고, 캡션이 APA 형식에 맞지 않는 경우가 많습니다.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번호+이탤릭 제목+설명 형식을 확인하세요.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5274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생성 Figure는 반드시 연구자가 직접 검증한 후 사용하세요"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940482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1619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619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143707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143707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000500" y="46670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오류 검증 체크리스트</a:t>
            </a:r>
            <a:endParaRPr lang="en-US" sz="3600" dirty="0"/>
          </a:p>
        </p:txBody>
      </p:sp>
      <p:pic>
        <p:nvPicPr>
          <p:cNvPr id="15" name="Image 1" descr="gen-dedup-c998ed0fa2a87f005c757e0c95ad5ab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1876349" y="1772107"/>
            <a:ext cx="152705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81098" y="161940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정확성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381098" y="2000707"/>
            <a:ext cx="33339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Figure의 수치가 원본 통계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출력표와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일치하는지 대조합니다.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오차, N을 재확인하세요.</a:t>
            </a:r>
            <a:endParaRPr lang="en-US" sz="1300" dirty="0"/>
          </a:p>
        </p:txBody>
      </p:sp>
      <p:pic>
        <p:nvPicPr>
          <p:cNvPr id="18" name="Image 2" descr="gen-dedup-f1aa94fe2db747b3056e9163e763ddb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9205" y="1772107"/>
            <a:ext cx="171907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61940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축·스케일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000707"/>
            <a:ext cx="3905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X/Y축 레이블과 단위가 명시되어 있는지,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스케일이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일관적인지(0 시작, 절단 표기) 확인합니다.</a:t>
            </a:r>
            <a:endParaRPr lang="en-US" sz="1300" dirty="0"/>
          </a:p>
        </p:txBody>
      </p:sp>
      <p:pic>
        <p:nvPicPr>
          <p:cNvPr id="21" name="Image 3" descr="gen-dedup-433c25eac2773f59c9067d871ad8231c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1857146" y="3295498"/>
            <a:ext cx="190195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381098" y="3143707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범례·캡션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2381098" y="3524098"/>
            <a:ext cx="33339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범례가 정확하고 위치가 적절한지,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캡션이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형식(Figure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번호+이탤릭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제목+설명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인지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24" name="Image 4" descr="gen-dedup-805fbb4a2cb4cb932ca6e8ddc48d333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9205" y="3295498"/>
            <a:ext cx="171907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143707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색상·접근성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7" y="3524098"/>
            <a:ext cx="390540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색각 이상자도 구분 가능한 색상인지,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흑백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인쇄에서도 패턴/명도로 구분되는지 확인합니다.</a:t>
            </a:r>
            <a:endParaRPr lang="en-US" sz="1300" dirty="0"/>
          </a:p>
        </p:txBody>
      </p:sp>
      <p:pic>
        <p:nvPicPr>
          <p:cNvPr id="27" name="Image 5" descr="gen-dedup-92a38f5d97156f3c37a56c331cfdc20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53205" y="4819802"/>
            <a:ext cx="171907" cy="1719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67098" y="46670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667098" y="5048402"/>
            <a:ext cx="3591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300dpi 이상, 벡터 형식(EPS/SVG) 권장.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체크리스트를 Figure 제출 전 반드시 적용하세요</a:t>
            </a:r>
            <a:endParaRPr lang="en-US" sz="16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390120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bd23a91ff9e7798de8a0b3c0dafdd7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CBD5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CBD5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4666e810198d7312bf76af07c8caa526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15354"/>
            <a:ext cx="6096305" cy="142646"/>
          </a:xfrm>
          <a:prstGeom prst="rect">
            <a:avLst/>
          </a:prstGeom>
        </p:spPr>
      </p:pic>
      <p:pic>
        <p:nvPicPr>
          <p:cNvPr id="8" name="Image 2" descr="gen-dedup-ef9e13b4329c45984459fe84dff2bb58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15354"/>
            <a:ext cx="6096305" cy="1426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투고 기준에 맞는 Figure 정제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61695" y="1524305"/>
          <a:ext cx="10658246" cy="4190748"/>
        </p:xfrm>
        <a:graphic>
          <a:graphicData uri="http://schemas.openxmlformats.org/drawingml/2006/table">
            <a:tbl>
              <a:tblPr/>
              <a:tblGrid>
                <a:gridCol w="200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3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항목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상세 규칙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해상도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300dpi 이상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사진 300dpi·혼합 500dpi·선 그림 1000dpi(예: Elsevier), 벡터(EPS/SVG)는 해상도 무관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파일 형식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학회별 지정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TIFF(무손실), EPS(벡터), PDF(혼합). JPEG는 비권장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색상 모드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인쇄 호환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컬러: CMYK 또는 RGB(학회 확인). 흑백 호환: 패턴/명도 구분 필수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폰트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임베딩 필수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8pt 이상, sans-serif 권장. Figure 내 폰트를 파일에 임베딩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크기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컬럼/페이지 폭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1컬럼 90mm, 2컬럼 190mm(예: Elsevier) — 학회별 상이. 축소 시 가독성 확인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파일명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25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규칙 준수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Figure1.tif, Figure2.eps 등 학회 명명 규칙 따르기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"투고 전 해당 학회의 'Author Guidelines'에서 Figure 규정을 반드시 확인하세요"</a:t>
            </a:r>
            <a:endParaRPr lang="en-US" sz="1600" dirty="0"/>
          </a:p>
        </p:txBody>
      </p:sp>
      <p:sp>
        <p:nvSpPr>
          <p:cNvPr id="12" name="C 각주"/>
          <p:cNvSpPr txBox="1"/>
          <p:nvPr/>
        </p:nvSpPr>
        <p:spPr>
          <a:xfrm>
            <a:off x="762000" y="6524854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Elsevier, 「Artwork sizing」·「Artwork and media instructions」(elsevier.com, 2026-10 확인) — 투고할 학술지의 Author Guidelines 를 우선합니다.</a:t>
            </a: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104461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Figure 스타일 가이드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70926"/>
              </p:ext>
            </p:extLst>
          </p:nvPr>
        </p:nvGraphicFramePr>
        <p:xfrm>
          <a:off x="761695" y="1714500"/>
          <a:ext cx="10657333" cy="4296539"/>
        </p:xfrm>
        <a:graphic>
          <a:graphicData uri="http://schemas.openxmlformats.org/drawingml/2006/table">
            <a:tbl>
              <a:tblPr/>
              <a:tblGrid>
                <a:gridCol w="1807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1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스타일 항목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APA 7판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일반 이공계 학회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교육학/사회과학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번호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1 (볼드)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Fig. 1 또는 Figure 1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1 (볼드)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제목 위치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위(번호 아래), 이탤릭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아래 또는 위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위, 이탤릭(APA 준용)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캡션 구조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번호+제목+그림+주(Note)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번호+짧은 제목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번호+제목+조건 설명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선 두께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규정 없음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학회 지침 확인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학회 지침 확인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폰트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8~14pt sans-serif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학회 지침 확인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8~14pt(APA 준용)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오차 막대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SD/SE/CI 명시 필수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캡션에 유형 기재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SD/SE 명시 필수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183389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"학회마다 Figure 규정이 다르므로 투고 대상 학회의 가이드라인을 우선합니다"</a:t>
            </a:r>
            <a:endParaRPr lang="en-US" sz="1800" dirty="0"/>
          </a:p>
        </p:txBody>
      </p:sp>
      <p:sp>
        <p:nvSpPr>
          <p:cNvPr id="12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American Psychological Association. (2020). Publication manual of the American Psychological Association (7th ed.). · apastyle.apa.org Tables and Figures (2026-10 확인)</a:t>
            </a: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116962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879579" y="148151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31069" y="1519915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79579" y="222400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31069" y="2262408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974969" y="148151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727374" y="1519915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974969" y="222400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727374" y="2262408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965179" y="5844113"/>
            <a:ext cx="8001000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822179" y="2777215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822179" y="3491362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822179" y="420550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822179" y="491965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6917569" y="2777215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6917569" y="3491362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6917569" y="420550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6917569" y="491965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수정 전후 비교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631069" y="170005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전 (문제점)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059923" y="270040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레이블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059923" y="298661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 레이블·단위 누락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059923" y="341455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059923" y="370075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 유형(SD/SE) 미명시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059923" y="4129613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059923" y="441490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빨강·초록 조합으로 색각 이상자 구분 불가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59923" y="484375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059923" y="5129052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번호와 설명 없음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727374" y="170005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후 (교정)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156228" y="270040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레이블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156228" y="298661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"학업성취 점수(점)" 명시, 0 시작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156228" y="3414552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156228" y="370075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캡션에 "오차 막대는 ±1 SD" 명시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156228" y="412961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156228" y="441490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파랑·주황 대비 + 패턴 추가로 접근성 확보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156228" y="484375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156228" y="5129052"/>
            <a:ext cx="4455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"Figure 1. 교수법 유형에 따른 학업성취 점수 비교 (N = 90)" 완비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203069" y="3463015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060276" y="5986759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전후를 비교하면 검증 포인트가 명확해집니다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825086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953305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953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953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ced5d95f96fd850b8e42365b67487f9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120140" y="3743554"/>
            <a:ext cx="99514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인포그래픽과 구조도 AI 생성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238598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결과를 교육·홍보 친화적 시각자료로 재구성합니다.</a:t>
            </a:r>
            <a:endParaRPr lang="en-US" sz="16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624979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064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결과를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인포그래픽으로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9af1f189f74ebee402c8f00e5fdde6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df34e0af27a45a7a2b4b449261d7181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메시지 추출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논문의 주요 발견 1~3가지를 선별하고, 한 문장으로 요약합니다.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"그래서 뭐가 중요한가?"에 답하세요.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ac39f9ad820536342779198be0db4741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714646" y="2467051"/>
            <a:ext cx="171907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 수치 선정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74441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효과크기, 핵심 통계량, 백분율 등 독자에게 임팩트를 줄 수 있는 숫자를 선정합니다.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1a73814215bca6597576f909f5baeae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비주얼 메타포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추상적 개념을 아이콘, 일러스트, 비유적 이미지로 변환합니다.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복잡한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관계를 단순화합니다.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d85a3b1323a86e52def7c14ecd4fbda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스토리 흐름 구성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배경→발견→시사점 순서로 한 화면 안에 논리적 흐름을 구성합니다.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읽는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순서를 시각적으로 유도합니다.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712569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315034eff425605abdf871e02acdad5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A0AEC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A0AEC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 구성요소와 레이아웃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066397"/>
              </p:ext>
            </p:extLst>
          </p:nvPr>
        </p:nvGraphicFramePr>
        <p:xfrm>
          <a:off x="761695" y="1714501"/>
          <a:ext cx="10658246" cy="4141452"/>
        </p:xfrm>
        <a:graphic>
          <a:graphicData uri="http://schemas.openxmlformats.org/drawingml/2006/table">
            <a:tbl>
              <a:tblPr/>
              <a:tblGrid>
                <a:gridCol w="220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49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구성요소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역할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디자인 가이드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메시지를 한 문장으로 전달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큰 폰트, 상단 배치, 색상 강조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키 숫자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대표 통계치로 주목도 확보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대형 폰트(40pt+), 색상 대비, 단위 명시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아이콘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개념의 시각적 표현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일관된 스타일(라인/채움), 의미 직관적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흐름/화살표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논리적 순서와 인과관계 표현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좌→우 또는 상→하, 번호 병기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9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차트/그래프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데이터의 시각적 요약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단순화(3~5개 데이터 포인트), 레이블 직접 부착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출처/면책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출처와 제한사항 명시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하단 소형 폰트, 인용 형식 준수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121400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"하나의 인포그래픽에 하나의 핵심 메시지만 담으세요"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210333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006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666951"/>
            <a:ext cx="3295498" cy="4162349"/>
          </a:xfrm>
          <a:prstGeom prst="roundRect">
            <a:avLst>
              <a:gd name="adj" fmla="val 19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666951"/>
            <a:ext cx="7295998" cy="4143146"/>
          </a:xfrm>
          <a:prstGeom prst="roundRect">
            <a:avLst>
              <a:gd name="adj" fmla="val 1218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666951"/>
            <a:ext cx="75895" cy="4143146"/>
          </a:xfrm>
          <a:prstGeom prst="roundRect">
            <a:avLst>
              <a:gd name="adj" fmla="val 66473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eefc764a4d698f7c789086da12e9bb70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7" r="-17"/>
          <a:stretch/>
        </p:blipFill>
        <p:spPr>
          <a:xfrm>
            <a:off x="4429354" y="2428646"/>
            <a:ext cx="333756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 생성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80898" y="1857146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3335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385670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52751"/>
            <a:ext cx="549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대상자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6572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710282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676449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298094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033979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3000146"/>
            <a:ext cx="13185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포인트 수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3055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357677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323844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 수치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62925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681374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648456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 팔레트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39529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005072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3972154"/>
            <a:ext cx="12088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아이콘 스타일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2766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328770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295851"/>
            <a:ext cx="12088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레이아웃 방향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1047902" y="46003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7" name="Image 9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653382"/>
            <a:ext cx="95098" cy="1051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371600" y="4619549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비율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286707" y="1857146"/>
            <a:ext cx="7220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4992624" y="2385670"/>
            <a:ext cx="6525158" cy="3248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교육용 인포그래픽 디자이너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아래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결과를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대학원생 대상 강의용 인포그래픽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변환해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발견: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자기효능감이 높은 학생의 학업성취가 </a:t>
            </a:r>
            <a:r>
              <a:rPr lang="en-US" sz="15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유의하게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높음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(d = 0.75). 핵심 포인트 3개, 대표 수치 2개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포함해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다크블루 계열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아이콘은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라인 스타일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세로형(9:16) </a:t>
            </a:r>
            <a:r>
              <a:rPr lang="en-US" sz="15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레이아웃</a:t>
            </a: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구성해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주세요. 하단에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표기해 주세요."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"대상자, 핵심 메시지, 스타일을 구체적으로 지정하세요"</a:t>
            </a:r>
            <a:endParaRPr lang="en-US" sz="16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849056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714500"/>
            <a:ext cx="3314700" cy="3696005"/>
          </a:xfrm>
          <a:prstGeom prst="roundRect">
            <a:avLst>
              <a:gd name="adj" fmla="val 2537"/>
            </a:avLst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714500"/>
            <a:ext cx="3696005" cy="3696005"/>
          </a:xfrm>
          <a:prstGeom prst="roundRect">
            <a:avLst>
              <a:gd name="adj" fmla="val 2040"/>
            </a:avLst>
          </a:prstGeom>
          <a:solidFill>
            <a:srgbClr val="F8FAFC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91195" y="1714500"/>
            <a:ext cx="3314700" cy="3696005"/>
          </a:xfrm>
          <a:prstGeom prst="roundRect">
            <a:avLst>
              <a:gd name="adj" fmla="val 2537"/>
            </a:avLst>
          </a:prstGeom>
          <a:solidFill>
            <a:srgbClr val="F8FAFC"/>
          </a:solidFill>
          <a:ln w="25400">
            <a:solidFill>
              <a:srgbClr val="90CDF4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4379a9db2fc321591e01599dd93b1538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923898" y="2476195"/>
            <a:ext cx="1047902" cy="476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3898" y="2476195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</a:t>
            </a:r>
            <a:endParaRPr lang="en-US" sz="1200" dirty="0"/>
          </a:p>
        </p:txBody>
      </p:sp>
      <p:pic>
        <p:nvPicPr>
          <p:cNvPr id="14" name="Image 2" descr="gen-dedup-cdc48e10eb7d2bd1f057814b0910e7ea.png"/>
          <p:cNvPicPr>
            <a:picLocks noChangeAspect="1"/>
          </p:cNvPicPr>
          <p:nvPr/>
        </p:nvPicPr>
        <p:blipFill>
          <a:blip r:embed="rId4"/>
          <a:srcRect t="-323" b="-323"/>
          <a:stretch/>
        </p:blipFill>
        <p:spPr>
          <a:xfrm>
            <a:off x="2381098" y="2857500"/>
            <a:ext cx="28346" cy="190195"/>
          </a:xfrm>
          <a:prstGeom prst="rect">
            <a:avLst/>
          </a:prstGeom>
        </p:spPr>
      </p:pic>
      <p:pic>
        <p:nvPicPr>
          <p:cNvPr id="15" name="Image 3" descr="gen-dedup-4379a9db2fc321591e01599dd93b1538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923898" y="3095244"/>
            <a:ext cx="1047902" cy="476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923898" y="3095244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전처리</a:t>
            </a:r>
            <a:endParaRPr lang="en-US" sz="1200" dirty="0"/>
          </a:p>
        </p:txBody>
      </p:sp>
      <p:pic>
        <p:nvPicPr>
          <p:cNvPr id="17" name="Image 4" descr="gen-dedup-cdc48e10eb7d2bd1f057814b0910e7ea.png"/>
          <p:cNvPicPr>
            <a:picLocks noChangeAspect="1"/>
          </p:cNvPicPr>
          <p:nvPr/>
        </p:nvPicPr>
        <p:blipFill>
          <a:blip r:embed="rId4"/>
          <a:srcRect t="-323" b="-323"/>
          <a:stretch/>
        </p:blipFill>
        <p:spPr>
          <a:xfrm>
            <a:off x="2381098" y="3476549"/>
            <a:ext cx="28346" cy="19019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 rot="2700000">
            <a:off x="2108200" y="3721100"/>
            <a:ext cx="571500" cy="571500"/>
          </a:xfrm>
          <a:prstGeom prst="rect">
            <a:avLst/>
          </a:prstGeom>
          <a:solidFill>
            <a:srgbClr val="E53E3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Text 12"/>
          <p:cNvSpPr txBox="1"/>
          <p:nvPr/>
        </p:nvSpPr>
        <p:spPr>
          <a:xfrm rot="18900000">
            <a:off x="2222500" y="38227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</a:t>
            </a:r>
            <a:endParaRPr lang="en-US" sz="1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</a:t>
            </a:r>
            <a:endParaRPr lang="en-US" sz="1000" dirty="0"/>
          </a:p>
        </p:txBody>
      </p:sp>
      <p:pic>
        <p:nvPicPr>
          <p:cNvPr id="20" name="Image 5" descr="gen-dedup-cdc48e10eb7d2bd1f057814b0910e7ea.png"/>
          <p:cNvPicPr>
            <a:picLocks noChangeAspect="1"/>
          </p:cNvPicPr>
          <p:nvPr/>
        </p:nvPicPr>
        <p:blipFill>
          <a:blip r:embed="rId4"/>
          <a:srcRect t="-323" b="-323"/>
          <a:stretch/>
        </p:blipFill>
        <p:spPr>
          <a:xfrm>
            <a:off x="2381098" y="4292600"/>
            <a:ext cx="28346" cy="1905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447849" y="4330700"/>
            <a:ext cx="2350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Yes</a:t>
            </a:r>
            <a:endParaRPr lang="en-US" sz="900" dirty="0"/>
          </a:p>
        </p:txBody>
      </p:sp>
      <p:pic>
        <p:nvPicPr>
          <p:cNvPr id="22" name="Image 6" descr="gen-dedup-4379a9db2fc321591e01599dd93b1538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923898" y="4524451"/>
            <a:ext cx="1047902" cy="4764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923898" y="4524451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출력</a:t>
            </a:r>
            <a:endParaRPr lang="en-US" sz="1200" dirty="0"/>
          </a:p>
        </p:txBody>
      </p:sp>
      <p:pic>
        <p:nvPicPr>
          <p:cNvPr id="24" name="Image 7" descr="gen-dedup-ef9c83f654543eb105f003386b2c03c8.png"/>
          <p:cNvPicPr>
            <a:picLocks noChangeAspect="1"/>
          </p:cNvPicPr>
          <p:nvPr/>
        </p:nvPicPr>
        <p:blipFill>
          <a:blip r:embed="rId5"/>
          <a:srcRect l="-392" r="-392"/>
          <a:stretch/>
        </p:blipFill>
        <p:spPr>
          <a:xfrm>
            <a:off x="1447495" y="4000500"/>
            <a:ext cx="666598" cy="2834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543507" y="3857854"/>
            <a:ext cx="152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No</a:t>
            </a:r>
            <a:endParaRPr lang="en-US" sz="900" dirty="0"/>
          </a:p>
        </p:txBody>
      </p:sp>
      <p:pic>
        <p:nvPicPr>
          <p:cNvPr id="26" name="Image 8" descr="gen-dedup-e3c8ffdafbb886bfaafbbbb3b8c3d16b.png"/>
          <p:cNvPicPr>
            <a:picLocks noChangeAspect="1"/>
          </p:cNvPicPr>
          <p:nvPr/>
        </p:nvPicPr>
        <p:blipFill>
          <a:blip r:embed="rId6"/>
          <a:srcRect t="-388" b="-388"/>
          <a:stretch/>
        </p:blipFill>
        <p:spPr>
          <a:xfrm>
            <a:off x="1447495" y="3286354"/>
            <a:ext cx="28346" cy="714146"/>
          </a:xfrm>
          <a:prstGeom prst="rect">
            <a:avLst/>
          </a:prstGeom>
        </p:spPr>
      </p:pic>
      <p:pic>
        <p:nvPicPr>
          <p:cNvPr id="27" name="Image 9" descr="gen-dedup-901e9e1a353b57f13b83773f5bcebc65.png"/>
          <p:cNvPicPr>
            <a:picLocks noChangeAspect="1"/>
          </p:cNvPicPr>
          <p:nvPr/>
        </p:nvPicPr>
        <p:blipFill>
          <a:blip r:embed="rId7"/>
          <a:srcRect l="-420" r="-420"/>
          <a:stretch/>
        </p:blipFill>
        <p:spPr>
          <a:xfrm>
            <a:off x="1447495" y="3286354"/>
            <a:ext cx="476402" cy="28346"/>
          </a:xfrm>
          <a:prstGeom prst="rect">
            <a:avLst/>
          </a:prstGeom>
        </p:spPr>
      </p:pic>
      <p:pic>
        <p:nvPicPr>
          <p:cNvPr id="28" name="Image 10" descr="gen-dedup-f7105a082a632b216d6caebca416b025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4686300" y="2572207"/>
            <a:ext cx="1238098" cy="5715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686300" y="2572207"/>
            <a:ext cx="1239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수집</a:t>
            </a:r>
            <a:endParaRPr lang="en-US" sz="1200" dirty="0"/>
          </a:p>
        </p:txBody>
      </p:sp>
      <p:pic>
        <p:nvPicPr>
          <p:cNvPr id="30" name="Image 11" descr="gen-dedup-d6dd278aacf820a61f1af8d287effb8a.png"/>
          <p:cNvPicPr>
            <a:picLocks noChangeAspect="1"/>
          </p:cNvPicPr>
          <p:nvPr/>
        </p:nvPicPr>
        <p:blipFill>
          <a:blip r:embed="rId9"/>
          <a:srcRect l="-404" r="-404"/>
          <a:stretch/>
        </p:blipFill>
        <p:spPr>
          <a:xfrm>
            <a:off x="5829300" y="2809951"/>
            <a:ext cx="571500" cy="28346"/>
          </a:xfrm>
          <a:prstGeom prst="rect">
            <a:avLst/>
          </a:prstGeom>
        </p:spPr>
      </p:pic>
      <p:pic>
        <p:nvPicPr>
          <p:cNvPr id="31" name="Image 12" descr="gen-dedup-f7105a082a632b216d6caebca416b025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6400800" y="2572207"/>
            <a:ext cx="1238098" cy="571500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6400800" y="2572207"/>
            <a:ext cx="1239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정제</a:t>
            </a:r>
            <a:endParaRPr lang="en-US" sz="1200" dirty="0"/>
          </a:p>
        </p:txBody>
      </p:sp>
      <p:pic>
        <p:nvPicPr>
          <p:cNvPr id="33" name="Image 13" descr="gen-dedup-46a26477926211e83e5ef35ebcd8597a.png"/>
          <p:cNvPicPr>
            <a:picLocks noChangeAspect="1"/>
          </p:cNvPicPr>
          <p:nvPr/>
        </p:nvPicPr>
        <p:blipFill>
          <a:blip r:embed="rId10"/>
          <a:srcRect t="-445" b="-445"/>
          <a:stretch/>
        </p:blipFill>
        <p:spPr>
          <a:xfrm>
            <a:off x="6972300" y="3047695"/>
            <a:ext cx="28346" cy="381305"/>
          </a:xfrm>
          <a:prstGeom prst="rect">
            <a:avLst/>
          </a:prstGeom>
        </p:spPr>
      </p:pic>
      <p:pic>
        <p:nvPicPr>
          <p:cNvPr id="34" name="Image 14" descr="gen-dedup-f7105a082a632b216d6caebca416b025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6400800" y="3429000"/>
            <a:ext cx="1238098" cy="571500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6400800" y="3429000"/>
            <a:ext cx="1239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</a:t>
            </a:r>
            <a:endParaRPr lang="en-US" sz="1200" dirty="0"/>
          </a:p>
        </p:txBody>
      </p:sp>
      <p:pic>
        <p:nvPicPr>
          <p:cNvPr id="36" name="Image 15" descr="gen-dedup-d6dd278aacf820a61f1af8d287effb8a.png"/>
          <p:cNvPicPr>
            <a:picLocks noChangeAspect="1"/>
          </p:cNvPicPr>
          <p:nvPr/>
        </p:nvPicPr>
        <p:blipFill>
          <a:blip r:embed="rId9"/>
          <a:srcRect l="-404" r="-404"/>
          <a:stretch/>
        </p:blipFill>
        <p:spPr>
          <a:xfrm rot="10800000">
            <a:off x="5829300" y="3666744"/>
            <a:ext cx="571500" cy="28346"/>
          </a:xfrm>
          <a:prstGeom prst="rect">
            <a:avLst/>
          </a:prstGeom>
        </p:spPr>
      </p:pic>
      <p:pic>
        <p:nvPicPr>
          <p:cNvPr id="37" name="Image 16" descr="gen-dedup-f7105a082a632b216d6caebca416b025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4686300" y="3429000"/>
            <a:ext cx="1238098" cy="571500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4686300" y="3429000"/>
            <a:ext cx="1239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시각화</a:t>
            </a:r>
            <a:endParaRPr lang="en-US" sz="1200" dirty="0"/>
          </a:p>
        </p:txBody>
      </p:sp>
      <p:pic>
        <p:nvPicPr>
          <p:cNvPr id="39" name="Image 17" descr="gen-dedup-46a26477926211e83e5ef35ebcd8597a.png"/>
          <p:cNvPicPr>
            <a:picLocks noChangeAspect="1"/>
          </p:cNvPicPr>
          <p:nvPr/>
        </p:nvPicPr>
        <p:blipFill>
          <a:blip r:embed="rId10"/>
          <a:srcRect t="-445" b="-445"/>
          <a:stretch/>
        </p:blipFill>
        <p:spPr>
          <a:xfrm>
            <a:off x="5257800" y="3905402"/>
            <a:ext cx="28346" cy="381305"/>
          </a:xfrm>
          <a:prstGeom prst="rect">
            <a:avLst/>
          </a:prstGeom>
        </p:spPr>
      </p:pic>
      <p:pic>
        <p:nvPicPr>
          <p:cNvPr id="40" name="Image 18" descr="gen-dedup-c7e9e5447afbbb62c87c269201606287.png"/>
          <p:cNvPicPr>
            <a:picLocks noChangeAspect="1"/>
          </p:cNvPicPr>
          <p:nvPr/>
        </p:nvPicPr>
        <p:blipFill>
          <a:blip r:embed="rId11"/>
          <a:srcRect t="-3" b="-3"/>
          <a:stretch/>
        </p:blipFill>
        <p:spPr>
          <a:xfrm>
            <a:off x="4686300" y="4286707"/>
            <a:ext cx="2952598" cy="571500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4686300" y="4286707"/>
            <a:ext cx="29535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보고서 산출물</a:t>
            </a:r>
            <a:endParaRPr lang="en-US" sz="1200" dirty="0"/>
          </a:p>
        </p:txBody>
      </p:sp>
      <p:sp>
        <p:nvSpPr>
          <p:cNvPr id="42" name="Shape 21"/>
          <p:cNvSpPr/>
          <p:nvPr/>
        </p:nvSpPr>
        <p:spPr>
          <a:xfrm>
            <a:off x="8496605" y="2952598"/>
            <a:ext cx="2704795" cy="1752905"/>
          </a:xfrm>
          <a:prstGeom prst="roundRect">
            <a:avLst>
              <a:gd name="adj" fmla="val 4536"/>
            </a:avLst>
          </a:prstGeom>
          <a:noFill/>
          <a:ln w="25400">
            <a:solidFill>
              <a:srgbClr val="90CDF4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43" name="Text 22"/>
          <p:cNvSpPr txBox="1"/>
          <p:nvPr/>
        </p:nvSpPr>
        <p:spPr>
          <a:xfrm>
            <a:off x="8591702" y="3047695"/>
            <a:ext cx="116768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내부 시스템 경계</a:t>
            </a:r>
            <a:endParaRPr lang="en-US" sz="1000" dirty="0"/>
          </a:p>
        </p:txBody>
      </p:sp>
      <p:pic>
        <p:nvPicPr>
          <p:cNvPr id="44" name="Image 19" descr="gen-dedup-9bf35fa4fb68a8804274889fdecc124c.png"/>
          <p:cNvPicPr>
            <a:picLocks noChangeAspect="1"/>
          </p:cNvPicPr>
          <p:nvPr/>
        </p:nvPicPr>
        <p:blipFill>
          <a:blip r:embed="rId12"/>
          <a:srcRect t="-33" b="-33"/>
          <a:stretch/>
        </p:blipFill>
        <p:spPr>
          <a:xfrm>
            <a:off x="9353398" y="2476195"/>
            <a:ext cx="1047902" cy="381305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9353398" y="2476195"/>
            <a:ext cx="1047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외부 API</a:t>
            </a:r>
            <a:endParaRPr lang="en-US" sz="1200" dirty="0"/>
          </a:p>
        </p:txBody>
      </p:sp>
      <p:pic>
        <p:nvPicPr>
          <p:cNvPr id="46" name="Image 20" descr="gen-dedup-46a26477926211e83e5ef35ebcd8597a.png"/>
          <p:cNvPicPr>
            <a:picLocks noChangeAspect="1"/>
          </p:cNvPicPr>
          <p:nvPr/>
        </p:nvPicPr>
        <p:blipFill>
          <a:blip r:embed="rId10"/>
          <a:srcRect t="-445" b="-445"/>
          <a:stretch/>
        </p:blipFill>
        <p:spPr>
          <a:xfrm>
            <a:off x="9829800" y="2762402"/>
            <a:ext cx="28346" cy="381305"/>
          </a:xfrm>
          <a:prstGeom prst="rect">
            <a:avLst/>
          </a:prstGeom>
        </p:spPr>
      </p:pic>
      <p:pic>
        <p:nvPicPr>
          <p:cNvPr id="47" name="Image 21" descr="gen-dedup-8e7e1f4f69dc1938e65c9ae5c994396c.png"/>
          <p:cNvPicPr>
            <a:picLocks noChangeAspect="1"/>
          </p:cNvPicPr>
          <p:nvPr/>
        </p:nvPicPr>
        <p:blipFill>
          <a:blip r:embed="rId13"/>
          <a:srcRect t="-9" b="-9"/>
          <a:stretch/>
        </p:blipFill>
        <p:spPr>
          <a:xfrm>
            <a:off x="8686800" y="3333902"/>
            <a:ext cx="1047902" cy="476402"/>
          </a:xfrm>
          <a:prstGeom prst="rect">
            <a:avLst/>
          </a:prstGeom>
        </p:spPr>
      </p:pic>
      <p:sp>
        <p:nvSpPr>
          <p:cNvPr id="48" name="Text 24"/>
          <p:cNvSpPr txBox="1"/>
          <p:nvPr/>
        </p:nvSpPr>
        <p:spPr>
          <a:xfrm>
            <a:off x="8686800" y="3333902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처리 모듈</a:t>
            </a:r>
            <a:endParaRPr lang="en-US" sz="1200" dirty="0"/>
          </a:p>
        </p:txBody>
      </p:sp>
      <p:pic>
        <p:nvPicPr>
          <p:cNvPr id="49" name="Image 22" descr="gen-dedup-8e7e1f4f69dc1938e65c9ae5c994396c.png"/>
          <p:cNvPicPr>
            <a:picLocks noChangeAspect="1"/>
          </p:cNvPicPr>
          <p:nvPr/>
        </p:nvPicPr>
        <p:blipFill>
          <a:blip r:embed="rId13"/>
          <a:srcRect t="-9" b="-9"/>
          <a:stretch/>
        </p:blipFill>
        <p:spPr>
          <a:xfrm>
            <a:off x="10019995" y="3333902"/>
            <a:ext cx="1047902" cy="476402"/>
          </a:xfrm>
          <a:prstGeom prst="rect">
            <a:avLst/>
          </a:prstGeom>
        </p:spPr>
      </p:pic>
      <p:sp>
        <p:nvSpPr>
          <p:cNvPr id="50" name="Text 25"/>
          <p:cNvSpPr txBox="1"/>
          <p:nvPr/>
        </p:nvSpPr>
        <p:spPr>
          <a:xfrm>
            <a:off x="10019995" y="3333902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저장 모듈</a:t>
            </a:r>
            <a:endParaRPr lang="en-US" sz="1200" dirty="0"/>
          </a:p>
        </p:txBody>
      </p:sp>
      <p:pic>
        <p:nvPicPr>
          <p:cNvPr id="51" name="Image 23" descr="gen-dedup-ca22d1da31d16cf128bb027a7bf3c33a.png"/>
          <p:cNvPicPr>
            <a:picLocks noChangeAspect="1"/>
          </p:cNvPicPr>
          <p:nvPr/>
        </p:nvPicPr>
        <p:blipFill>
          <a:blip r:embed="rId14"/>
          <a:srcRect l="-445" r="-445"/>
          <a:stretch/>
        </p:blipFill>
        <p:spPr>
          <a:xfrm>
            <a:off x="9639605" y="3524098"/>
            <a:ext cx="381305" cy="28346"/>
          </a:xfrm>
          <a:prstGeom prst="rect">
            <a:avLst/>
          </a:prstGeom>
        </p:spPr>
      </p:pic>
      <p:pic>
        <p:nvPicPr>
          <p:cNvPr id="52" name="Image 24" descr="gen-dedup-f6ceb9cb67a57a4d06203d8e29de9058.png"/>
          <p:cNvPicPr>
            <a:picLocks noChangeAspect="1"/>
          </p:cNvPicPr>
          <p:nvPr/>
        </p:nvPicPr>
        <p:blipFill>
          <a:blip r:embed="rId15"/>
          <a:srcRect t="-9" b="-9"/>
          <a:stretch/>
        </p:blipFill>
        <p:spPr>
          <a:xfrm>
            <a:off x="9353398" y="4000500"/>
            <a:ext cx="1047902" cy="476402"/>
          </a:xfrm>
          <a:prstGeom prst="rect">
            <a:avLst/>
          </a:prstGeom>
        </p:spPr>
      </p:pic>
      <p:sp>
        <p:nvSpPr>
          <p:cNvPr id="53" name="Text 26"/>
          <p:cNvSpPr txBox="1"/>
          <p:nvPr/>
        </p:nvSpPr>
        <p:spPr>
          <a:xfrm>
            <a:off x="9353398" y="4000500"/>
            <a:ext cx="10479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엔진</a:t>
            </a:r>
            <a:endParaRPr lang="en-US" sz="1200" dirty="0"/>
          </a:p>
        </p:txBody>
      </p:sp>
      <p:pic>
        <p:nvPicPr>
          <p:cNvPr id="54" name="Image 25" descr="gen-dedup-615f8767477d8e648419aff4680285e2.png"/>
          <p:cNvPicPr>
            <a:picLocks noChangeAspect="1"/>
          </p:cNvPicPr>
          <p:nvPr/>
        </p:nvPicPr>
        <p:blipFill>
          <a:blip r:embed="rId16"/>
          <a:srcRect t="-485" b="-485"/>
          <a:stretch/>
        </p:blipFill>
        <p:spPr>
          <a:xfrm>
            <a:off x="9163202" y="3715207"/>
            <a:ext cx="28346" cy="286207"/>
          </a:xfrm>
          <a:prstGeom prst="rect">
            <a:avLst/>
          </a:prstGeom>
        </p:spPr>
      </p:pic>
      <p:pic>
        <p:nvPicPr>
          <p:cNvPr id="55" name="Image 26" descr="gen-dedup-615f8767477d8e648419aff4680285e2.png"/>
          <p:cNvPicPr>
            <a:picLocks noChangeAspect="1"/>
          </p:cNvPicPr>
          <p:nvPr/>
        </p:nvPicPr>
        <p:blipFill>
          <a:blip r:embed="rId16"/>
          <a:srcRect t="-485" b="-485"/>
          <a:stretch/>
        </p:blipFill>
        <p:spPr>
          <a:xfrm>
            <a:off x="10496398" y="3715207"/>
            <a:ext cx="28346" cy="286207"/>
          </a:xfrm>
          <a:prstGeom prst="rect">
            <a:avLst/>
          </a:prstGeom>
        </p:spPr>
      </p:pic>
      <p:pic>
        <p:nvPicPr>
          <p:cNvPr id="56" name="Image 27" descr="gen-dedup-615f8767477d8e648419aff4680285e2.png"/>
          <p:cNvPicPr>
            <a:picLocks noChangeAspect="1"/>
          </p:cNvPicPr>
          <p:nvPr/>
        </p:nvPicPr>
        <p:blipFill>
          <a:blip r:embed="rId16"/>
          <a:srcRect t="-485" b="-485"/>
          <a:stretch/>
        </p:blipFill>
        <p:spPr>
          <a:xfrm>
            <a:off x="9829800" y="4381805"/>
            <a:ext cx="28346" cy="286207"/>
          </a:xfrm>
          <a:prstGeom prst="rect">
            <a:avLst/>
          </a:prstGeom>
        </p:spPr>
      </p:pic>
      <p:pic>
        <p:nvPicPr>
          <p:cNvPr id="57" name="Image 28" descr="gen-dedup-9bf35fa4fb68a8804274889fdecc124c.png"/>
          <p:cNvPicPr>
            <a:picLocks noChangeAspect="1"/>
          </p:cNvPicPr>
          <p:nvPr/>
        </p:nvPicPr>
        <p:blipFill>
          <a:blip r:embed="rId12"/>
          <a:srcRect t="-33" b="-33"/>
          <a:stretch/>
        </p:blipFill>
        <p:spPr>
          <a:xfrm>
            <a:off x="9353398" y="4714646"/>
            <a:ext cx="1047902" cy="381305"/>
          </a:xfrm>
          <a:prstGeom prst="rect">
            <a:avLst/>
          </a:prstGeom>
        </p:spPr>
      </p:pic>
      <p:sp>
        <p:nvSpPr>
          <p:cNvPr id="58" name="Text 27"/>
          <p:cNvSpPr txBox="1"/>
          <p:nvPr/>
        </p:nvSpPr>
        <p:spPr>
          <a:xfrm>
            <a:off x="9353398" y="4714646"/>
            <a:ext cx="1047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사용자 UI</a:t>
            </a:r>
            <a:endParaRPr lang="en-US" sz="1200" dirty="0"/>
          </a:p>
        </p:txBody>
      </p:sp>
      <p:sp>
        <p:nvSpPr>
          <p:cNvPr id="59" name="Text 28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알고리즘·공정·시스템 구조도</a:t>
            </a:r>
            <a:endParaRPr lang="en-US" sz="3100" dirty="0"/>
          </a:p>
        </p:txBody>
      </p:sp>
      <p:sp>
        <p:nvSpPr>
          <p:cNvPr id="60" name="Text 29"/>
          <p:cNvSpPr txBox="1"/>
          <p:nvPr/>
        </p:nvSpPr>
        <p:spPr>
          <a:xfrm>
            <a:off x="780898" y="1990649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1) 알고리즘 흐름도</a:t>
            </a:r>
            <a:endParaRPr lang="en-US" sz="1600" dirty="0"/>
          </a:p>
        </p:txBody>
      </p:sp>
      <p:sp>
        <p:nvSpPr>
          <p:cNvPr id="61" name="Text 30"/>
          <p:cNvSpPr txBox="1"/>
          <p:nvPr/>
        </p:nvSpPr>
        <p:spPr>
          <a:xfrm>
            <a:off x="4304995" y="1990649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2) 공정/연구 프로세스도</a:t>
            </a:r>
            <a:endParaRPr lang="en-US" sz="1600" dirty="0"/>
          </a:p>
        </p:txBody>
      </p:sp>
      <p:sp>
        <p:nvSpPr>
          <p:cNvPr id="62" name="Text 31"/>
          <p:cNvSpPr txBox="1"/>
          <p:nvPr/>
        </p:nvSpPr>
        <p:spPr>
          <a:xfrm>
            <a:off x="8210398" y="1990649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3) 시스템 아키텍처도</a:t>
            </a:r>
            <a:endParaRPr lang="en-US" sz="1600" dirty="0"/>
          </a:p>
        </p:txBody>
      </p:sp>
      <p:sp>
        <p:nvSpPr>
          <p:cNvPr id="63" name="Text 32"/>
          <p:cNvSpPr txBox="1"/>
          <p:nvPr/>
        </p:nvSpPr>
        <p:spPr>
          <a:xfrm>
            <a:off x="761695" y="5934456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"구조도는 복잡한 시스템을 단순화하여 이해관계자와 소통하는 핵심 도구입니다"</a:t>
            </a:r>
            <a:endParaRPr lang="en-US" sz="1800" dirty="0"/>
          </a:p>
        </p:txBody>
      </p:sp>
      <p:sp>
        <p:nvSpPr>
          <p:cNvPr id="6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8716837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095451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0570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0570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476756"/>
            <a:ext cx="3276295" cy="4401007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476756"/>
            <a:ext cx="7220102" cy="4381805"/>
          </a:xfrm>
          <a:prstGeom prst="roundRect">
            <a:avLst>
              <a:gd name="adj" fmla="val 1089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476756"/>
            <a:ext cx="75895" cy="4381805"/>
          </a:xfrm>
          <a:prstGeom prst="roundRect">
            <a:avLst>
              <a:gd name="adj" fmla="val 62860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eefc764a4d698f7c789086da12e9bb70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7" r="-17"/>
          <a:stretch/>
        </p:blipFill>
        <p:spPr>
          <a:xfrm>
            <a:off x="4381805" y="2190902"/>
            <a:ext cx="333756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구조도 생성 AI 프롬프트와 도구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666951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2384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290572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257654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구조도 유형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5621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614270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581351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노드 목록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28858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938882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2905049"/>
            <a:ext cx="8439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링크/관계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20954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262579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228746"/>
            <a:ext cx="8439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그룹/경계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53415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586277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552444"/>
            <a:ext cx="12088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레이아웃 방향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385785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909974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3877056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스타일 규칙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181551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233672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200754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형식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4286707" y="1666951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4872380" y="2285085"/>
            <a:ext cx="6477610" cy="3001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아키텍처 시각화 전문가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양적 연구 데이터 분석 파이프라인을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Mermaid 흐름도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작성해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노드: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데이터 수집, 전처리, 탐색적 분석, 가설 검정, 결과 해석, 보고서 작성.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각 노드를 순차적으로 연결하고,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'전처리'에서 '데이터 품질 검증' 분기를 추가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 주세요.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LR(좌→우) 방향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파란색 계열 스타일</a:t>
            </a:r>
            <a:r>
              <a:rPr lang="en-US" sz="15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작성해 주세요."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"Mermaid, draw.io, PlantUML 등 텍스트 기반 도구로 빠르게 구조도를 생성할 수 있습니다"</a:t>
            </a:r>
            <a:endParaRPr lang="en-US" sz="16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5782978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8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715000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4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695651"/>
            <a:ext cx="5143500" cy="91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1182198" y="2667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715000" y="366674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696005"/>
            <a:ext cx="5143500" cy="91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715000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695444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6670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5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734202"/>
            <a:ext cx="5143500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182198" y="5667451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4" name="Image 6" descr="gen-dedup-9a5a5f587c15d7c72fca5941eafc3e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666744"/>
            <a:ext cx="4286707" cy="247707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476549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476549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교육용 시각자료</a:t>
            </a:r>
            <a:endParaRPr lang="en-US" sz="4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4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변환 전략</a:t>
            </a:r>
            <a:endParaRPr lang="en-US" sz="43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75995" y="3590849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4876495" y="3590849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0924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단순화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1143000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Figure의 복잡한 요소를 제거하고 핵심 메시지만 남깁니다.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보조선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세부 눈금, 부가 정보를 줄입니다.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09598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주석 추가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275174" y="2143354"/>
            <a:ext cx="6500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포인트에 화살표, 강조 박스, 텍스트 주석을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추가하여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시선을 유도합니다.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809951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대조색 적용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143707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Figure의 회색 계열을 대비가 강한 색상으로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변환하여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프로젝터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/화면 가독성을 높입니다.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810305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단계별 노출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430622" y="4143146"/>
            <a:ext cx="6189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복잡한 Figure를 여러 슬라이드에 걸쳐 점진적으로 공개하여 학습 부담을 줄입니다.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80974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맥락 텍스트 병기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339182" y="5143500"/>
            <a:ext cx="6372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옆에 해석 가이드 텍스트를 배치하여 학습자가 스스로 읽을 수 있도록 합니다.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715000" y="5905195"/>
            <a:ext cx="56199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Figure를 그대로 강의에 사용하지 말고,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목적에 맞게 재구성하세요.</a:t>
            </a:r>
            <a:endParaRPr lang="en-US" sz="14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2774069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fbf08964b03b90ed8f7a20bca30515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3696005"/>
            <a:ext cx="952530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및 산출물 정리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315407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Figure, 인포그래픽, 구조도 3종을 생성하고 검증 보고서를 완성합니다.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144806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e77498b076501d070a339fdc566ebe26.png"/>
          <p:cNvPicPr>
            <a:picLocks noChangeAspect="1"/>
          </p:cNvPicPr>
          <p:nvPr/>
        </p:nvPicPr>
        <p:blipFill>
          <a:blip r:embed="rId2"/>
          <a:srcRect t="-396" b="-396"/>
          <a:stretch/>
        </p:blipFill>
        <p:spPr>
          <a:xfrm>
            <a:off x="4190695" y="1524305"/>
            <a:ext cx="3810305" cy="19202"/>
          </a:xfrm>
          <a:prstGeom prst="rect">
            <a:avLst/>
          </a:prstGeom>
        </p:spPr>
      </p:pic>
      <p:pic>
        <p:nvPicPr>
          <p:cNvPr id="5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6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81305" y="5715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 (3과제)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1285646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2553005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2553005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783994" y="3323844"/>
            <a:ext cx="1961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초안 생성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476756" y="3696005"/>
            <a:ext cx="25722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2에서 작성한 통계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해석문을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기반으로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AI를 활용해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연구용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1개를 생성하고 검증합니다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19549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886907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5886907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170018" y="3323844"/>
            <a:ext cx="18553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 초안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09744" y="3696005"/>
            <a:ext cx="2572207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핵심 발견을 교육용 인포그래픽 1장으로 변환합니다.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수치, 아이콘,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포함합니다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53451" y="2286000"/>
            <a:ext cx="2952598" cy="3047695"/>
          </a:xfrm>
          <a:prstGeom prst="roundRect">
            <a:avLst>
              <a:gd name="adj" fmla="val 319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9219895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9219895" y="2667305"/>
            <a:ext cx="4197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07324" y="3323844"/>
            <a:ext cx="2245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구조도 초안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43646" y="3696005"/>
            <a:ext cx="25722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자신의 연구 프로세스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또는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분석 파이프라인을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1개로 도식화합니다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81305" y="5810098"/>
            <a:ext cx="11430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준비 </a:t>
            </a:r>
            <a:r>
              <a:rPr lang="en-US" sz="16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6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 생성 </a:t>
            </a:r>
            <a:r>
              <a:rPr lang="en-US" sz="16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6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체크리스트 검증 </a:t>
            </a:r>
            <a:r>
              <a:rPr lang="en-US" sz="1600" b="1" kern="0" spc="38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▶</a:t>
            </a:r>
            <a:r>
              <a:rPr lang="en-US" sz="16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수정·제출</a:t>
            </a:r>
            <a:endParaRPr lang="en-US" sz="1600" dirty="0"/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856870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571500"/>
            <a:ext cx="9525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단계별 가이드</a:t>
            </a:r>
            <a:endParaRPr lang="en-US" sz="36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524305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95805" y="1809598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095805" y="1809598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1014" y="2609698"/>
            <a:ext cx="3169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준비 + 유형 선택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133649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출력 결과를 정리하고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유형을 선택합니다.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선택 매핑표를 참고하세요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1695" y="4181551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181551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4181551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"t검정 결과 → 오차 막대 </a:t>
            </a: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막대그래프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선택"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43146" y="3095244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28439" y="3095244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810098" y="1809598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10098" y="1809598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634533" y="2609698"/>
            <a:ext cx="92994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76902" y="3133649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템플릿을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Figure/인포그래픽/구조도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생성합니다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76902" y="4181551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76902" y="4181551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476902" y="4181551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데이터로 APA 형식 막대그래프 Python 코드를 작성해줘"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63256" y="3095244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048549" y="3095244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525305" y="1809598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5305" y="1809598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8303666" y="2609698"/>
            <a:ext cx="301569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 검증 + 정제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3133649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검증 체크리스트를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/단위/범례/캡션/색상/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점검하고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수정합니다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91195" y="4181551"/>
            <a:ext cx="3238805" cy="1143000"/>
          </a:xfrm>
          <a:prstGeom prst="roundRect">
            <a:avLst>
              <a:gd name="adj" fmla="val 10667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191195" y="4181551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191195" y="4181551"/>
            <a:ext cx="3238805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"축 레이블 추가, 오차 유형 명시,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300dpi 확인"</a:t>
            </a:r>
            <a:endParaRPr lang="en-US" sz="13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857646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33195" y="6048756"/>
            <a:ext cx="9525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 → 검증 → 수정의 반복이 학술 수준의 시각자료를 완성합니다</a:t>
            </a:r>
            <a:endParaRPr lang="en-US" sz="19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227943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1622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200607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1904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943100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1622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200607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1904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943100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95805" y="6001207"/>
            <a:ext cx="8001000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45790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17205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388620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4600346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952805" y="531540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245790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048195" y="317205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048195" y="3886200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7048195" y="4600346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7048195" y="531540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예시: AI Figure 초안과 수정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761695" y="138074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(수정 전)</a:t>
            </a:r>
            <a:endParaRPr lang="en-US" sz="21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2381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2667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t검정 결과 막대그래프 생성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309524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문제1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90549" y="33814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 레이블 "Score"로 영문 표기, 단위 누락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90549" y="3810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문제2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190549" y="40955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오차 막대 유형 미명시(SD/SE 불분명)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190549" y="4524451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문제3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1190549" y="4809744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색상(빨강/파랑)으로 접근성 미확보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190549" y="52385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문제4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190549" y="55248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 없음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5000854" y="3599549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38" name="Text 30"/>
          <p:cNvSpPr txBox="1"/>
          <p:nvPr/>
        </p:nvSpPr>
        <p:spPr>
          <a:xfrm>
            <a:off x="6858000" y="138074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검증·수정 후</a:t>
            </a:r>
            <a:endParaRPr lang="en-US" sz="2100" dirty="0"/>
          </a:p>
        </p:txBody>
      </p:sp>
      <p:sp>
        <p:nvSpPr>
          <p:cNvPr id="39" name="Text 31"/>
          <p:cNvSpPr txBox="1"/>
          <p:nvPr/>
        </p:nvSpPr>
        <p:spPr>
          <a:xfrm>
            <a:off x="7286854" y="2381098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7286854" y="2667305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데이터, APA 형식 적용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7286854" y="3095244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교정1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7286854" y="3381451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Y축 "학업성취 점수(점)"로 한글 표기, 0 시작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7286854" y="3810305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교정2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7286854" y="4095598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캡션에 "오차 막대는 ±1 SD를 나타냄" 명시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7286854" y="4524451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교정3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7286854" y="4809744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파랑/주황 계열 + 빗금 패턴으로 접근성 확보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7286854" y="5238598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교정4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7286854" y="5524805"/>
            <a:ext cx="49423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"Figure 1. 교수법에 따른 학업성취 점수 비교(N=90)" 캡션 추가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2190902" y="6143854"/>
            <a:ext cx="7810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초안은 출발점이며, 학술 기준에 맞는 정제가 핵심입니다</a:t>
            </a:r>
            <a:endParaRPr lang="en-US" sz="16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384386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핵심 요약</a:t>
            </a:r>
            <a:endParaRPr lang="en-US" sz="3600" dirty="0"/>
          </a:p>
        </p:txBody>
      </p:sp>
      <p:pic>
        <p:nvPicPr>
          <p:cNvPr id="14" name="Image 1" descr="gen-dedup-21e5ae21cadc0879cafa8ea2368c1b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48002" y="2419502"/>
            <a:ext cx="209398" cy="20939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 기반 선택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목적(비교/추세/관계/분포)에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적합한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시각화 유형을 선택합니다.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분석유형→Figure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매핑을 활용하세요.</a:t>
            </a:r>
            <a:endParaRPr lang="en-US" sz="1300" dirty="0"/>
          </a:p>
        </p:txBody>
      </p:sp>
      <p:pic>
        <p:nvPicPr>
          <p:cNvPr id="17" name="Image 2" descr="gen-dedup-a3126e8e7a9ec544e29a8435307d8cf1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6391656" y="2419502"/>
            <a:ext cx="267005" cy="209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정직한 Figure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905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원점, 스케일 일관성, 오차 표시,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접근성을 확보하여 데이터를 왜곡 없이 표현합니다.</a:t>
            </a:r>
            <a:endParaRPr lang="en-US" sz="1300" dirty="0"/>
          </a:p>
        </p:txBody>
      </p:sp>
      <p:pic>
        <p:nvPicPr>
          <p:cNvPr id="20" name="Image 3" descr="gen-dedup-c49402389fe2f0e523cd645558229b87.png"/>
          <p:cNvPicPr>
            <a:picLocks noChangeAspect="1"/>
          </p:cNvPicPr>
          <p:nvPr/>
        </p:nvPicPr>
        <p:blipFill>
          <a:blip r:embed="rId5"/>
          <a:srcRect l="-1528" r="-1528"/>
          <a:stretch/>
        </p:blipFill>
        <p:spPr>
          <a:xfrm>
            <a:off x="1871777" y="4229100"/>
            <a:ext cx="161849" cy="20939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습관화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905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검증 체크리스트(데이터정확/축/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/범례/캡션/색상/해상도)를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반드시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적용합니다.</a:t>
            </a:r>
            <a:endParaRPr lang="en-US" sz="1300" dirty="0"/>
          </a:p>
        </p:txBody>
      </p:sp>
      <p:pic>
        <p:nvPicPr>
          <p:cNvPr id="23" name="Image 4" descr="gen-dedup-17987840eec608fb17d2d611cf49c9e5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6391656" y="4229100"/>
            <a:ext cx="267005" cy="20939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교육용 변환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Figure를 단순화·주석화하여 인포그래픽과 구조도로 재구성합니다.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시각화는 정직하고, 명료하며, 완전한 정보를 담습니다"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089342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333195" y="1524305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524305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333195" y="2952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952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333195" y="4381805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86500" y="4381805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 검증 종합 체크리스트</a:t>
            </a:r>
            <a:endParaRPr lang="en-US" sz="3100" dirty="0"/>
          </a:p>
        </p:txBody>
      </p:sp>
      <p:pic>
        <p:nvPicPr>
          <p:cNvPr id="16" name="Image 1" descr="gen-dedup-54adf70953d72a9f2bd420f58da94a96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457554" y="1638605"/>
            <a:ext cx="133502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04695" y="15718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정합성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904695" y="1904695"/>
            <a:ext cx="3715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Figure의 수치가 원본 통계 출력과 정확히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일치하는지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대조합니다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오차, N을 재확인하세요.</a:t>
            </a:r>
            <a:endParaRPr lang="en-US" sz="1200" dirty="0"/>
          </a:p>
        </p:txBody>
      </p:sp>
      <p:pic>
        <p:nvPicPr>
          <p:cNvPr id="19" name="Image 2" descr="gen-dedup-a346ac74c4a71f03712fc9b7f44b7526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6391656" y="1638605"/>
            <a:ext cx="171907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0" y="15718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가독성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1904695"/>
            <a:ext cx="42789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레이블, 범례, 캡션이 명확하고, 폰트 크기가 충분(8pt+)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축소 인쇄 후에도 읽히는지 점검하세요.</a:t>
            </a:r>
            <a:endParaRPr lang="en-US" sz="1200" dirty="0"/>
          </a:p>
        </p:txBody>
      </p:sp>
      <p:pic>
        <p:nvPicPr>
          <p:cNvPr id="22" name="Image 3" descr="gen-dedup-b4a0c44e3809961d1955b8dcc07735e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47495" y="3066898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904695" y="3000146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904695" y="3333902"/>
            <a:ext cx="3715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축 스케일, 오차 유형(SD/SE/CI), 단위 표기가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올바른지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확인합니다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절단 축은 명시적으로 표기하세요.</a:t>
            </a:r>
            <a:endParaRPr lang="en-US" sz="1200" dirty="0"/>
          </a:p>
        </p:txBody>
      </p:sp>
      <p:pic>
        <p:nvPicPr>
          <p:cNvPr id="25" name="Image 4" descr="gen-dedup-826d219690ad3cd55cb4b28ee711d812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409944" y="3066898"/>
            <a:ext cx="133502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0" y="3000146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3333902"/>
            <a:ext cx="4278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논문 내 모든 Figure의 폰트, 색상, 스타일,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형식이 통일되어 있는지 확인합니다.</a:t>
            </a:r>
            <a:endParaRPr lang="en-US" sz="1200" dirty="0"/>
          </a:p>
        </p:txBody>
      </p:sp>
      <p:pic>
        <p:nvPicPr>
          <p:cNvPr id="28" name="Image 5" descr="gen-dedup-e5cef6e417ae8e0d9c450aa02813a8d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47495" y="4496105"/>
            <a:ext cx="152705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904695" y="44293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접근성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1904695" y="4762195"/>
            <a:ext cx="4000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색각 이상자나 흑백 인쇄 환경에서도 정보의 구분이 명확한지 색상 대비와 패턴을 점검합니다.</a:t>
            </a:r>
            <a:endParaRPr lang="en-US" sz="1200" dirty="0"/>
          </a:p>
        </p:txBody>
      </p:sp>
      <p:pic>
        <p:nvPicPr>
          <p:cNvPr id="31" name="Image 6" descr="gen-dedup-d5aaa0c8ccfff59bf3c18c16f77cd423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409944" y="4496105"/>
            <a:ext cx="133502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58000" y="44293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규범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858000" y="4762195"/>
            <a:ext cx="4478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해상도(300dpi 이상), 캡션 형식(APA), 논문 본문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내의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올바른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참조(인용) 등 투고 기준을 준수합니다.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체크리스트를 모든 시각자료 제출 전 반드시 적용하세요"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947872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산출물 정리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1333195" y="1666951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609344" y="194310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5a80190e13917769124ccd476a08a2f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3644" y="20574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9344" y="2553005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연구용 Figure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609344" y="2876702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결과 기반 APA 형식 Figure 1개(축/단위/범례/캡션 완비)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9549" y="1666951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895698" y="194310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2" descr="gen-dedup-8310d0221a2035721f54e41283c9c02b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5038344" y="2057400"/>
            <a:ext cx="1719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95698" y="2553005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검증 보고서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95698" y="2876702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 기반 검증 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</a:t>
            </a:r>
            <a:endParaRPr lang="en-US" sz="1200" dirty="0">
              <a:solidFill>
                <a:srgbClr val="4A5568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(수정 전후 비교 포함)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05902" y="1666951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182051" y="194310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3" descr="gen-dedup-3ede2961b65e63ace79272fa21cb718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96351" y="205740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82051" y="2553005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인포그래픽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182051" y="2876702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핵심 발견을 교육용 인포그래픽 1장으로 변환한 결과물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333195" y="3857854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609344" y="41340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7" name="Image 4" descr="gen-dedup-57f585bcabd8ac5ddd21115678935aa1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709928" y="4248302"/>
            <a:ext cx="256946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9344" y="4743907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구조도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609344" y="5067605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프로세스/데이터 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파이프라인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구조도 1개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619549" y="3857854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4895698" y="41340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2" name="Image 5" descr="gen-dedup-63cc86c0028853179326656b1b4eb12b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996282" y="4248302"/>
            <a:ext cx="256946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95698" y="4743907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생성 프롬프트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4895698" y="5067605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Figure/인포그래픽/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구조도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생성용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 프롬프트 템플릿 3종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905902" y="3857854"/>
            <a:ext cx="2952598" cy="2000707"/>
          </a:xfrm>
          <a:prstGeom prst="roundRect">
            <a:avLst>
              <a:gd name="adj" fmla="val 5223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8182051" y="41340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7" name="Image 6" descr="gen-dedup-512e41e3a5f2640552916f4c2268d53b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8310982" y="4248302"/>
            <a:ext cx="200254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82051" y="4743907"/>
            <a:ext cx="2400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학술지 스타일 가이드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8182051" y="5067605"/>
            <a:ext cx="24003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APA/학회별 Figure 규정 정리 참고표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048756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"모든 산출물은 모듈 4에서 논문 작성 시 직접 활용됩니다"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031375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21909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219249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21909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390277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931122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390277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5333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400446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533369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8" name="Image 4" descr="gen-dedup-15380549b46af24ba8c061b4992386b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619195"/>
            <a:ext cx="4286707" cy="247707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61695" y="3429000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4762195" y="3429000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666598" y="1429207"/>
            <a:ext cx="5236769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 예고</a:t>
            </a:r>
            <a:endParaRPr lang="en-US" sz="4800" dirty="0"/>
          </a:p>
        </p:txBody>
      </p:sp>
      <p:pic>
        <p:nvPicPr>
          <p:cNvPr id="22" name="Image 5" descr="gen-dedup-4bcc8feeb738e3e0ec6b8038b5e682ec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86054" y="3543300"/>
            <a:ext cx="133502" cy="152705"/>
          </a:xfrm>
          <a:prstGeom prst="rect">
            <a:avLst/>
          </a:prstGeom>
        </p:spPr>
      </p:pic>
      <p:pic>
        <p:nvPicPr>
          <p:cNvPr id="23" name="Image 6" descr="gen-dedup-6b39058e9b15072977ed3d65c6f6c68a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895698" y="3543300"/>
            <a:ext cx="114300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715000" y="952805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모듈 4 주제</a:t>
            </a:r>
            <a:endParaRPr lang="en-US" sz="1800" dirty="0"/>
          </a:p>
        </p:txBody>
      </p:sp>
      <p:sp>
        <p:nvSpPr>
          <p:cNvPr id="25" name="Text 16"/>
          <p:cNvSpPr txBox="1"/>
          <p:nvPr/>
        </p:nvSpPr>
        <p:spPr>
          <a:xfrm>
            <a:off x="5715000" y="1285646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통합 완성. Figure와 텍스트를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논문의 결과·논의 섹션을 완성합니다.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5715000" y="2476195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연결 포인트</a:t>
            </a:r>
            <a:endParaRPr lang="en-US" sz="1800" dirty="0"/>
          </a:p>
        </p:txBody>
      </p:sp>
      <p:sp>
        <p:nvSpPr>
          <p:cNvPr id="27" name="Text 18"/>
          <p:cNvSpPr txBox="1"/>
          <p:nvPr/>
        </p:nvSpPr>
        <p:spPr>
          <a:xfrm>
            <a:off x="5715000" y="2809951"/>
            <a:ext cx="5619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1~3의 산출물(연구설계/통계해석/시각화)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4에서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통합합니다.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설계→분석→시각화→보고의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사이클이 완성됩니다.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5715000" y="4188068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준비사항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5715000" y="4521824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1~3의 산출물(연구문제, 가설, 해석문, Figure)을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정리하여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4에 가져오세요.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715000" y="5619902"/>
            <a:ext cx="5619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4에서 여러분의 연구가 학술 논문으로 완성됩니다</a:t>
            </a:r>
            <a:endParaRPr lang="en-US" sz="16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5108997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96098" y="476402"/>
            <a:ext cx="1505102" cy="1505102"/>
          </a:xfrm>
          <a:prstGeom prst="ellipse">
            <a:avLst/>
          </a:prstGeom>
          <a:noFill/>
          <a:ln w="508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77195" y="3333902"/>
            <a:ext cx="2095805" cy="2095805"/>
          </a:xfrm>
          <a:prstGeom prst="ellipse">
            <a:avLst/>
          </a:prstGeom>
          <a:solidFill>
            <a:srgbClr val="2B6CB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571500" y="952805"/>
            <a:ext cx="381305" cy="333756"/>
          </a:xfrm>
          <a:prstGeom prst="rect">
            <a:avLst/>
          </a:prstGeom>
          <a:noFill/>
          <a:ln w="254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fb60d0a96456a45cfe90cdb9d0595048.png"/>
          <p:cNvPicPr>
            <a:picLocks noChangeAspect="1"/>
          </p:cNvPicPr>
          <p:nvPr/>
        </p:nvPicPr>
        <p:blipFill>
          <a:blip r:embed="rId2"/>
          <a:srcRect t="-400" b="-400"/>
          <a:stretch/>
        </p:blipFill>
        <p:spPr>
          <a:xfrm>
            <a:off x="666598" y="1714500"/>
            <a:ext cx="1143000" cy="19202"/>
          </a:xfrm>
          <a:prstGeom prst="rect">
            <a:avLst/>
          </a:prstGeom>
        </p:spPr>
      </p:pic>
      <p:pic>
        <p:nvPicPr>
          <p:cNvPr id="8" name="Image 1" descr="gen-dedup-6c56ef310ce0fbab624d5a695382034e.png"/>
          <p:cNvPicPr>
            <a:picLocks noChangeAspect="1"/>
          </p:cNvPicPr>
          <p:nvPr/>
        </p:nvPicPr>
        <p:blipFill>
          <a:blip r:embed="rId3"/>
          <a:srcRect t="-393" b="-393"/>
          <a:stretch/>
        </p:blipFill>
        <p:spPr>
          <a:xfrm>
            <a:off x="666598" y="3238805"/>
            <a:ext cx="2095805" cy="19202"/>
          </a:xfrm>
          <a:prstGeom prst="rect">
            <a:avLst/>
          </a:prstGeom>
        </p:spPr>
      </p:pic>
      <p:pic>
        <p:nvPicPr>
          <p:cNvPr id="9" name="Image 2" descr="gen-dedup-66550c94426ddf6628fd22b2425525be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429500" y="857707"/>
            <a:ext cx="4095598" cy="4953305"/>
          </a:xfrm>
          <a:prstGeom prst="rect">
            <a:avLst/>
          </a:prstGeom>
        </p:spPr>
      </p:pic>
      <p:pic>
        <p:nvPicPr>
          <p:cNvPr id="10" name="Image 3" descr="gen-dedup-d1e7b2c4e02d1ce69f7c3031cf6f88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857707"/>
            <a:ext cx="4095649" cy="4953305"/>
          </a:xfrm>
          <a:prstGeom prst="rect">
            <a:avLst/>
          </a:prstGeom>
        </p:spPr>
      </p:pic>
      <p:pic>
        <p:nvPicPr>
          <p:cNvPr id="11" name="Image 4" descr="gen-dedup-bcb3cf82b116f6a90e0318dd994b5632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7429500" y="4667098"/>
            <a:ext cx="4095598" cy="1143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39305" y="666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11334902" y="5619902"/>
            <a:ext cx="571500" cy="571500"/>
          </a:xfrm>
          <a:prstGeom prst="ellipse">
            <a:avLst/>
          </a:prstGeom>
          <a:noFill/>
          <a:ln w="1016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666598" y="1904695"/>
            <a:ext cx="5715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7500" dirty="0"/>
          </a:p>
        </p:txBody>
      </p:sp>
      <p:sp>
        <p:nvSpPr>
          <p:cNvPr id="15" name="Text 8"/>
          <p:cNvSpPr txBox="1"/>
          <p:nvPr/>
        </p:nvSpPr>
        <p:spPr>
          <a:xfrm>
            <a:off x="666598" y="3715207"/>
            <a:ext cx="5906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정확한 Figure와 명확한 캡션은 연구 품질을 결정합니다.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 검증을 습관화하고, AI를 효율적으로 활용하세요. 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666598" y="4858207"/>
            <a:ext cx="58293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과정명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생성형 AI 기반 양적 연구 AI 활용 과정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3: 데이터 시각화와 Figure AI 생성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모듈 4: 양적 연구 보고서 통합 완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</a:t>
            </a:r>
            <a:endParaRPr lang="en-US" sz="1500" dirty="0"/>
          </a:p>
        </p:txBody>
      </p:sp>
      <p:pic>
        <p:nvPicPr>
          <p:cNvPr id="17" name="Image 5" descr="gen-dedup-074c6eb0c4c199d8ecd9f5e29a8bc7c3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0" y="6762902"/>
            <a:ext cx="3657600" cy="95098"/>
          </a:xfrm>
          <a:prstGeom prst="rect">
            <a:avLst/>
          </a:prstGeom>
        </p:spPr>
      </p:pic>
      <p:pic>
        <p:nvPicPr>
          <p:cNvPr id="18" name="Image 6" descr="gen-dedup-65b911f495d93814b5400de757589870.png"/>
          <p:cNvPicPr>
            <a:picLocks noChangeAspect="1"/>
          </p:cNvPicPr>
          <p:nvPr/>
        </p:nvPicPr>
        <p:blipFill>
          <a:blip r:embed="rId8"/>
          <a:srcRect l="-78" r="-78"/>
          <a:stretch/>
        </p:blipFill>
        <p:spPr>
          <a:xfrm>
            <a:off x="3657600" y="6762902"/>
            <a:ext cx="8534095" cy="95098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0014912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15243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1476756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15243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1" descr="gen-dedup-9213f02177430c5c84bbc16283ad626b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5143500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5095951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5143500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c2ef93bacfa81dfe1e738960ca28e3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1524305"/>
            <a:ext cx="3619195" cy="3619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39805" y="1333195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619695" y="4953305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1047902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양적 연구 AI 활용 과정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1904695"/>
            <a:ext cx="6667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884932"/>
            <a:ext cx="6667805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</a:t>
            </a: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 보고서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 완성 </a:t>
            </a:r>
            <a:endParaRPr lang="en-US" sz="54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57235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대학원생·성인학습자·연구자·교수자 | 형식: 5시간 실습 중심 | 모듈 4/4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924398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설계·분석·시각화를 통합하여 양적 연구 보고서를 완성하는 최종 과정</a:t>
            </a:r>
            <a:endParaRPr lang="en-US" sz="1300" dirty="0"/>
          </a:p>
        </p:txBody>
      </p:sp>
      <p:pic>
        <p:nvPicPr>
          <p:cNvPr id="21" name="Image 3" descr="gen-dedup-d6c57329d5e7bf9ab09989bd99fe6571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11373307" y="1447495"/>
            <a:ext cx="114300" cy="152705"/>
          </a:xfrm>
          <a:prstGeom prst="rect">
            <a:avLst/>
          </a:prstGeom>
        </p:spPr>
      </p:pic>
      <p:pic>
        <p:nvPicPr>
          <p:cNvPr id="22" name="Image 4" descr="gen-dedup-dbeb5060c5168570de7d8fa3020b829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33995" y="5067605"/>
            <a:ext cx="152705" cy="152705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4821039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762902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0c81ea29a3a3cf64a12bbc8d2419ba92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5524805" y="857707"/>
            <a:ext cx="38405" cy="5048402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143000"/>
            <a:ext cx="190195" cy="190195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476195"/>
            <a:ext cx="190195" cy="190195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810305"/>
            <a:ext cx="190195" cy="190195"/>
          </a:xfrm>
          <a:prstGeom prst="ellipse">
            <a:avLst/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4" descr="gen-dedup-c61c328679c3ce0a08b19f61df20324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29707" y="5124298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구조</a:t>
            </a:r>
            <a:endParaRPr lang="en-US" sz="5400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20시간 4개 모듈 과정</a:t>
            </a:r>
            <a:endParaRPr lang="en-US" sz="1900" dirty="0"/>
          </a:p>
        </p:txBody>
      </p:sp>
      <p:sp>
        <p:nvSpPr>
          <p:cNvPr id="15" name="Text 8"/>
          <p:cNvSpPr txBox="1"/>
          <p:nvPr/>
        </p:nvSpPr>
        <p:spPr>
          <a:xfrm>
            <a:off x="5905195" y="10479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1. (5H)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5905195" y="1314907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양적 연구 설계 통합</a:t>
            </a:r>
            <a:endParaRPr lang="en-US" sz="2400" dirty="0"/>
          </a:p>
        </p:txBody>
      </p:sp>
      <p:sp>
        <p:nvSpPr>
          <p:cNvPr id="17" name="Text 10"/>
          <p:cNvSpPr txBox="1"/>
          <p:nvPr/>
        </p:nvSpPr>
        <p:spPr>
          <a:xfrm>
            <a:off x="5905195" y="23810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2. (5H)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5905195" y="2648102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분석 결과 해석 AI 보조</a:t>
            </a:r>
            <a:endParaRPr lang="en-US" sz="2400" dirty="0"/>
          </a:p>
        </p:txBody>
      </p:sp>
      <p:sp>
        <p:nvSpPr>
          <p:cNvPr id="19" name="Text 12"/>
          <p:cNvSpPr txBox="1"/>
          <p:nvPr/>
        </p:nvSpPr>
        <p:spPr>
          <a:xfrm>
            <a:off x="5905195" y="3715207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3. (5H)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905195" y="3981298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시각화와 Figure AI 생성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5905195" y="5048402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4. (5H)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905195" y="5315407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통합 완성</a:t>
            </a:r>
            <a:endParaRPr lang="en-US" sz="2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637498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85441"/>
            <a:ext cx="10668305" cy="9144"/>
          </a:xfrm>
          <a:prstGeom prst="rect">
            <a:avLst/>
          </a:prstGeom>
        </p:spPr>
      </p:pic>
      <p:pic>
        <p:nvPicPr>
          <p:cNvPr id="7" name="Image 1" descr="gen-dedup-68fa6a8c5181021a5e6f5473aad57f50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6286500"/>
            <a:ext cx="10668305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18995" y="419458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781398" y="419458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543800" y="419458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0306202" y="419458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2018995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781398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543800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10306202" y="621060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0c166c4824e8042bebd13498acb2f4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1190549"/>
            <a:ext cx="3048514" cy="20482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9195" y="1285646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71500" y="2952598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cc9695ba3436d24ce1adc89002c1abee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3733495" y="1399946"/>
            <a:ext cx="152705" cy="152705"/>
          </a:xfrm>
          <a:prstGeom prst="rect">
            <a:avLst/>
          </a:prstGeom>
        </p:spPr>
      </p:pic>
      <p:pic>
        <p:nvPicPr>
          <p:cNvPr id="20" name="Image 4" descr="gen-dedup-cb064f24045e71386516f60c012cc346.png"/>
          <p:cNvPicPr>
            <a:picLocks noChangeAspect="1"/>
          </p:cNvPicPr>
          <p:nvPr/>
        </p:nvPicPr>
        <p:blipFill>
          <a:blip r:embed="rId5"/>
          <a:srcRect t="-27726" b="-27726"/>
          <a:stretch/>
        </p:blipFill>
        <p:spPr>
          <a:xfrm>
            <a:off x="718718" y="3066898"/>
            <a:ext cx="85954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381805" y="1380744"/>
            <a:ext cx="6667805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</a:t>
            </a:r>
            <a:endParaRPr lang="en-US" sz="6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63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63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470734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756941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구조 이해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5184880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전체 구조를 이해하고 결과·논의를 구분한다.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524098" y="4470734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3524098" y="4756941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한계·제언·결론 작성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4098" y="5184880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한계, 후속 연구 제언,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AI로 보조 작성한다.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286500" y="4470734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86500" y="4756941"/>
            <a:ext cx="2667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6286500" y="5184880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참고문헌과 수치 사실 검증을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통해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품질을 높인다.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048902" y="4470734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048902" y="4756941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프로토콜·발표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048902" y="5184880"/>
            <a:ext cx="23820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AI 활용 프로토콜을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정리하고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발표한다.</a:t>
            </a:r>
            <a:endParaRPr lang="en-US" sz="12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274186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286707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714500"/>
            <a:ext cx="2857500" cy="9144"/>
          </a:xfrm>
          <a:prstGeom prst="rect">
            <a:avLst/>
          </a:prstGeom>
        </p:spPr>
      </p:pic>
      <p:pic>
        <p:nvPicPr>
          <p:cNvPr id="6" name="Image 1" descr="gen-dedup-326dacd766c1c4a92ca89da1a76f12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4190695"/>
            <a:ext cx="2857500" cy="9144"/>
          </a:xfrm>
          <a:prstGeom prst="rect">
            <a:avLst/>
          </a:prstGeom>
        </p:spPr>
      </p:pic>
      <p:pic>
        <p:nvPicPr>
          <p:cNvPr id="7" name="Image 2" descr="gen-dedup-b51ea9bd1223ffb36f3e676b1f4503d8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524805" y="1047902"/>
            <a:ext cx="38405" cy="4762195"/>
          </a:xfrm>
          <a:prstGeom prst="rect">
            <a:avLst/>
          </a:prstGeom>
        </p:spPr>
      </p:pic>
      <p:pic>
        <p:nvPicPr>
          <p:cNvPr id="8" name="Image 3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447995" y="1429207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447995" y="2695651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447995" y="3962095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447995" y="5238598"/>
            <a:ext cx="190195" cy="1901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7"/>
          <p:cNvSpPr txBox="1"/>
          <p:nvPr/>
        </p:nvSpPr>
        <p:spPr>
          <a:xfrm>
            <a:off x="761695" y="2095805"/>
            <a:ext cx="30486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</a:t>
            </a:r>
            <a:endParaRPr lang="en-US" sz="5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54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흐름</a:t>
            </a:r>
            <a:endParaRPr lang="en-US" sz="54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44769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5시간 실습 중심 과정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5905195" y="1333195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1. (1.5H)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905195" y="1600200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구조와 결과·논의 작성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5905195" y="2600554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2. (1H)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05195" y="2866644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한계·제언·결론과 품질 검증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5905195" y="3866998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3. (1.5H)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905195" y="4134002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피어리뷰·AI 프로토콜·최종 발표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5905195" y="5143500"/>
            <a:ext cx="5715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4. (1H)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905195" y="5410505"/>
            <a:ext cx="5715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 및 마무리</a:t>
            </a:r>
            <a:endParaRPr lang="en-US" sz="2400" dirty="0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134518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289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3b3f46fc3142eda0c2524280cbfb62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19502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19502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1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950062" y="3696005"/>
            <a:ext cx="102915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구조와 결과·논의 작성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43500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전체 구조를 잡고 결과와 논의를 학술 형식으로 작성합니다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94561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80744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3432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3432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190549" y="1904695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045513" y="2115007"/>
            <a:ext cx="489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53819" y="2419502"/>
            <a:ext cx="1067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배경·목적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</a:t>
            </a:r>
            <a:endParaRPr lang="en-US" sz="1300" dirty="0"/>
          </a:p>
        </p:txBody>
      </p:sp>
      <p:pic>
        <p:nvPicPr>
          <p:cNvPr id="12" name="Image 1" descr="gen-dedup-853929ad9b42cc2886098a9941ef366c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>
            <a:off x="3476549" y="2505456"/>
            <a:ext cx="286207" cy="384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57854" y="1904695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4468673" y="2115007"/>
            <a:ext cx="976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419502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 배경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고찰</a:t>
            </a:r>
            <a:endParaRPr lang="en-US" sz="1300" dirty="0"/>
          </a:p>
        </p:txBody>
      </p:sp>
      <p:pic>
        <p:nvPicPr>
          <p:cNvPr id="16" name="Image 2" descr="gen-dedup-853929ad9b42cc2886098a9941ef366c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>
            <a:off x="6143854" y="2505456"/>
            <a:ext cx="286207" cy="3840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24244" y="1904695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059168" y="2115007"/>
            <a:ext cx="1122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방법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273138" y="2419502"/>
            <a:ext cx="6958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설계·표본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도구·절차</a:t>
            </a:r>
            <a:endParaRPr lang="en-US" sz="1300" dirty="0"/>
          </a:p>
        </p:txBody>
      </p:sp>
      <p:pic>
        <p:nvPicPr>
          <p:cNvPr id="20" name="Image 3" descr="gen-dedup-853929ad9b42cc2886098a9941ef366c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>
            <a:off x="8810244" y="2505456"/>
            <a:ext cx="286207" cy="384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191549" y="1904695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10046513" y="2115007"/>
            <a:ext cx="489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779508" y="2419502"/>
            <a:ext cx="10195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통계분석 보고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</a:t>
            </a:r>
            <a:endParaRPr lang="en-US" sz="1300" dirty="0"/>
          </a:p>
        </p:txBody>
      </p:sp>
      <p:pic>
        <p:nvPicPr>
          <p:cNvPr id="24" name="Image 4" descr="gen-dedup-ed5d6649ac3eec5cca9794687578cef6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10267798" y="3238805"/>
            <a:ext cx="38405" cy="286207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191549" y="3715207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10046513" y="3924605"/>
            <a:ext cx="489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939528" y="4229100"/>
            <a:ext cx="6958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해석·비교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도출</a:t>
            </a:r>
            <a:endParaRPr lang="en-US" sz="1300" dirty="0"/>
          </a:p>
        </p:txBody>
      </p:sp>
      <p:pic>
        <p:nvPicPr>
          <p:cNvPr id="28" name="Image 5" descr="gen-dedup-853929ad9b42cc2886098a9941ef366c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 rot="10800000">
            <a:off x="8810244" y="4315054"/>
            <a:ext cx="286207" cy="384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524244" y="3715207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7380122" y="3924605"/>
            <a:ext cx="489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191756" y="4229100"/>
            <a:ext cx="8577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요약·시사점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한계·제언</a:t>
            </a:r>
            <a:endParaRPr lang="en-US" sz="1300" dirty="0"/>
          </a:p>
        </p:txBody>
      </p:sp>
      <p:pic>
        <p:nvPicPr>
          <p:cNvPr id="32" name="Image 6" descr="gen-dedup-853929ad9b42cc2886098a9941ef366c.png"/>
          <p:cNvPicPr>
            <a:picLocks noChangeAspect="1"/>
          </p:cNvPicPr>
          <p:nvPr/>
        </p:nvPicPr>
        <p:blipFill>
          <a:blip r:embed="rId3"/>
          <a:srcRect t="-320" b="-320"/>
          <a:stretch/>
        </p:blipFill>
        <p:spPr>
          <a:xfrm rot="10800000">
            <a:off x="6143854" y="4315054"/>
            <a:ext cx="286207" cy="3840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3857854" y="3715207"/>
            <a:ext cx="2190902" cy="1238098"/>
          </a:xfrm>
          <a:prstGeom prst="roundRect">
            <a:avLst>
              <a:gd name="adj" fmla="val 13635"/>
            </a:avLst>
          </a:prstGeom>
          <a:solidFill>
            <a:srgbClr val="6C757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149547" y="3924605"/>
            <a:ext cx="1613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참고문헌/부록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4437583" y="4229100"/>
            <a:ext cx="10387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문헌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설문지/데이터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 전체 구조</a:t>
            </a:r>
            <a:endParaRPr lang="en-US" sz="3600" dirty="0"/>
          </a:p>
        </p:txBody>
      </p:sp>
      <p:sp>
        <p:nvSpPr>
          <p:cNvPr id="37" name="Text 28"/>
          <p:cNvSpPr txBox="1"/>
          <p:nvPr/>
        </p:nvSpPr>
        <p:spPr>
          <a:xfrm>
            <a:off x="761695" y="5857646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"각 섹션은 독립적이면서도 논리적으로 연결되어야 합니다"</a:t>
            </a:r>
            <a:endParaRPr lang="en-US" sz="19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0756113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산출물과 보고서 섹션 연결 매핑</a:t>
            </a:r>
            <a:endParaRPr lang="en-US" sz="3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761695" y="1429207"/>
          <a:ext cx="10658247" cy="4291835"/>
        </p:xfrm>
        <a:graphic>
          <a:graphicData uri="http://schemas.openxmlformats.org/drawingml/2006/table">
            <a:tbl>
              <a:tblPr/>
              <a:tblGrid>
                <a:gridCol w="1375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9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31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보고서 섹션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활용 방식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31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모듈 1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연구문제·가설·변수·설문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서론 + 연구 방법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연구문제→서론, 변수/도구→방법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315"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모형 도식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서론 + 방법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변수 관계 모형 Figure로 삽입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31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모듈 2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통계 해석문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+ 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APA 형식 결과 보고→결과, 해석→논의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315"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해석 프롬프트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+ 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해석문 초안 생성 도구로 활용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31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모듈 3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Figure·인포그래픽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+ 부록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통계 Figure→결과, 인포그래픽→부록/발표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315">
                <a:tc v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구조도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방법 + 부록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절차 구조도→방법, 분석 파이프라인→부록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614385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"모듈 1~3의 산출물이 보고서의 모든 섹션을 구성하는 재료입니다"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6765141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섹션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 원리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a77f16598233089c6ff7aa4eb2bc9d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6a099a51c31b34a4780811c9ca2117b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29277" y="1133856"/>
            <a:ext cx="142646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객관적 보고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섹션은 분석 결과를 객관적으로 보고하는 곳입니다.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연구자의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해석이나 의견을 삽입하지 않습니다.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b8663667160f3552dedd29fd18910dd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가설별 순서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 또는 가설의 순서에 따라 결과를 체계적으로 보고합니다.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기술통계→추론통계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순으로 제시합니다.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9f6027dec68e18cd5b685827e0c0ee7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통계치+효과크기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검정통계량(t/F/r/β), 자유도, p값, 효과크기(d/η²/R²)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형식으로 빠짐없이 보고합니다.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47348ff9e6cd19ba9adf57aa6e28c37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1728" y="5134356"/>
            <a:ext cx="237744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Table·Figure 연계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문단에서 Table과 Figure를 인용하고, 핵심 수치를 텍스트로 요약합니다.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"Table 1에 제시된 바와 같이..."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186743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15391" y="666598"/>
            <a:ext cx="1096091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표와 Figure를 문단으로 연결하는 방법</a:t>
            </a:r>
            <a:endParaRPr lang="en-US" sz="39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714500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95805" y="209580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095805" y="209580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219810" y="2905049"/>
            <a:ext cx="2324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Table/Figure 인용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본문에서 표나 Figure를 먼저 인용합니다. "Table 1에 제시된 바와 같이..."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또는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"Figure 1에서 보는 것처럼..."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1695" y="4476902"/>
            <a:ext cx="3238805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476902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4476902"/>
            <a:ext cx="3238805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"Table 1은 집단별 기술통계를 보여준다."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43146" y="3333902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28439" y="3333902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810098" y="209580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810098" y="209580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147158" y="2905049"/>
            <a:ext cx="1904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수치 제시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476902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표/Figure의 모든 수치를 반복하지 않고,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통계치만 본문에 직접 서술합니다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76902" y="4476902"/>
            <a:ext cx="3238805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76902" y="4476902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476902" y="4476902"/>
            <a:ext cx="3238805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"실험집단(M = 4.23, SD = 0.87)</a:t>
            </a: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은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통제집단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(M = 3.56, SD = 0.92)</a:t>
            </a: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보다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높았다</a:t>
            </a: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."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63256" y="3333902"/>
            <a:ext cx="342900" cy="576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048549" y="3333902"/>
            <a:ext cx="57607" cy="342900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525305" y="209580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5305" y="2095805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8357616" y="2905049"/>
            <a:ext cx="291419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의미 요약 (해석 최소)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191195" y="3429000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통계적 유의성을 간결하게 진술하되,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깊은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해석은 논의 섹션으로 미룹니다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91195" y="4476902"/>
            <a:ext cx="3238805" cy="1047902"/>
          </a:xfrm>
          <a:prstGeom prst="roundRect">
            <a:avLst>
              <a:gd name="adj" fmla="val 12692"/>
            </a:avLst>
          </a:prstGeom>
          <a:solidFill>
            <a:srgbClr val="F7FAFC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191195" y="4476902"/>
            <a:ext cx="38405" cy="1047902"/>
          </a:xfrm>
          <a:prstGeom prst="roundRect">
            <a:avLst>
              <a:gd name="adj" fmla="val 34631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191195" y="4476902"/>
            <a:ext cx="3238805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차이는 통계적으로 유의하였다, t(58) = 2.89, p = .005, d = 0.75."</a:t>
            </a:r>
            <a:endParaRPr lang="en-US" sz="1300" dirty="0"/>
          </a:p>
        </p:txBody>
      </p:sp>
      <p:pic>
        <p:nvPicPr>
          <p:cNvPr id="31" name="Image 1" descr="gen-dedup-7bd23a91ff9e7798de8a0b3c0dafdd7c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5905195"/>
            <a:ext cx="7619695" cy="914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071677" y="6143854"/>
            <a:ext cx="100483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섹션에서는 '무엇이 나타났는가'만 보고하고, '왜 그런가'는 논의로 넘깁니다</a:t>
            </a:r>
            <a:endParaRPr lang="en-US" sz="1900" dirty="0"/>
          </a:p>
        </p:txBody>
      </p:sp>
      <p:pic>
        <p:nvPicPr>
          <p:cNvPr id="33" name="Image 2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3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537943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571854"/>
            <a:ext cx="3276295" cy="4257446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571854"/>
            <a:ext cx="7220102" cy="4238244"/>
          </a:xfrm>
          <a:prstGeom prst="roundRect">
            <a:avLst>
              <a:gd name="adj" fmla="val 1164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571854"/>
            <a:ext cx="75895" cy="4238244"/>
          </a:xfrm>
          <a:prstGeom prst="roundRect">
            <a:avLst>
              <a:gd name="adj" fmla="val 64979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eefc764a4d698f7c789086da12e9bb70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7" r="-17"/>
          <a:stretch/>
        </p:blipFill>
        <p:spPr>
          <a:xfrm>
            <a:off x="4381805" y="2286000"/>
            <a:ext cx="333756" cy="3813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762049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286000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338121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05202"/>
            <a:ext cx="3666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638044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691079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657246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분석유형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2991002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043123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3010205"/>
            <a:ext cx="102595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출력값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343046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396082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362249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효과크기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696005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748126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715207"/>
            <a:ext cx="1610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Table/Figure 참조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4048049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100170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4067251"/>
            <a:ext cx="12563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서술 규칙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401007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453128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419295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금지사항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4286707" y="1762049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4919929" y="2382013"/>
            <a:ext cx="6382512" cy="307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교육학 분야 학술 논문 작성 전문가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독립표본 t검정 결과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7판 형식의 결과 섹션 문단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작성해 주세요.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실험집단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M = 4.23, SD = 0.87, n = 30.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통제집단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M = 3.56, SD = 0.92, n = 30.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t(58) = 2.89, p = .005, Cohen's d = 0.75.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 1과 Figure 1을 인용해 주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세요.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해석이나 의견은 포함하지 말고 객관적 보고만 해 주세요.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761695" y="6001207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"결과 섹션에서는 해석을 삽입하지 말라는 금지사항을 반드시 명시하세요"</a:t>
            </a:r>
            <a:endParaRPr lang="en-US" sz="16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2937521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3048610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</a:t>
            </a: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섹션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 원리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cc3fbe3c39f0ab83a5d2df87167c13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d12a8375b2760723c837b4e6a62ac38b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해석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결과가 연구문제와 가설에 대해 무엇을 의미하는지 해석합니다.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지지/기각 여부를 명시합니다.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f3a63d4bc8b2962188922fea13bab976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비교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연구 결과를 선행연구와 비교합니다.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일치하는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경우와 불일치하는 경우 모두 논의합니다.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a8ff6af6a4336c18c1411b35104b05dc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5502" y="380024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이론/실무적 의미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결과가 이론적으로 어떤 기여를 하는지,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실무적으로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어떻게 활용될 수 있는지 논의합니다.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9f384402674e45b37d950a61a9df585e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4705502" y="5134356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제언 연결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711860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말미에서 연구 한계를 인정하고, 후속 연구 제언으로 자연스럽게 연결합니다.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6950732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190469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90469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286354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286354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000500" y="4667098"/>
            <a:ext cx="476402" cy="476402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섹션의 5가지 핵심 구성요소</a:t>
            </a:r>
            <a:endParaRPr lang="en-US" sz="3600" dirty="0"/>
          </a:p>
        </p:txBody>
      </p:sp>
      <p:pic>
        <p:nvPicPr>
          <p:cNvPr id="15" name="Image 1" descr="gen-dedup-33495cc916d30328a199469ea21e603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57146" y="20482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381098" y="190469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해석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381098" y="2286000"/>
            <a:ext cx="3714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결과를 연구문제와 가설에 비추어 해석합니다.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"가설 1은 지지되었다" 형태로 명시합니다.</a:t>
            </a:r>
            <a:endParaRPr lang="en-US" sz="1300" dirty="0"/>
          </a:p>
        </p:txBody>
      </p:sp>
      <p:pic>
        <p:nvPicPr>
          <p:cNvPr id="18" name="Image 2" descr="gen-dedup-031e0632ecebb4bff379e4b6996fd2bc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6429146" y="2048256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0469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비교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286000"/>
            <a:ext cx="4476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결과와 선행연구의 일치/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불일치를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구체적으로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비교합니다.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함께 논거를 제시합니다.</a:t>
            </a:r>
            <a:endParaRPr lang="en-US" sz="1300" dirty="0"/>
          </a:p>
        </p:txBody>
      </p:sp>
      <p:pic>
        <p:nvPicPr>
          <p:cNvPr id="21" name="Image 3" descr="gen-dedup-cd5ce65515bf3ecd8741935b75bc064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3429000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381098" y="3286354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 의미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2381098" y="3666744"/>
            <a:ext cx="360939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결과가 기존 이론을 지지/확장/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도전하는지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 학문적 기여를 명확히 합니다.</a:t>
            </a:r>
            <a:endParaRPr lang="en-US" sz="1300" dirty="0"/>
          </a:p>
        </p:txBody>
      </p:sp>
      <p:pic>
        <p:nvPicPr>
          <p:cNvPr id="24" name="Image 4" descr="gen-dedup-75dda681a9035db50f5da8ab8453a3a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9146" y="3429000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286354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실무적 시사점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666744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 현장, 정책, 실무에서 어떻게 활용될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구체적으로 제안합니다.</a:t>
            </a:r>
            <a:endParaRPr lang="en-US" sz="1300" dirty="0"/>
          </a:p>
        </p:txBody>
      </p:sp>
      <p:pic>
        <p:nvPicPr>
          <p:cNvPr id="27" name="Image 5" descr="gen-dedup-9c76b0527d0e4e157332f170a57513a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43146" y="4809744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67098" y="46670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제언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667098" y="5048402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제한점과 후속 연구 방향을 논의의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마지막에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자연스럽게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연결합니다.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"논의는 결과에 '의미'를 부여하고, 연구의 학술적 가치를 입증하는 핵심 섹션입니다"</a:t>
            </a:r>
            <a:endParaRPr lang="en-US" sz="16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370817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34977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388175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09226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2130668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349770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388175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092263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2130668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095805" y="5524805"/>
            <a:ext cx="8001000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645475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359622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4073768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4787914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2645475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3359622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048195" y="4073768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048195" y="4787914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 vs 논의 섹션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156831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256866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285487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결과를 객관적으로 보고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3282812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356901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통계치, 효과크기, Table/Figure 인용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399787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90549" y="428316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객관적, 사실 중심, 중립적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90549" y="471201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금기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190549" y="4997312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해석, 의견, 선행연구 비교 삽입 금지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1568312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286854" y="256866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286854" y="285487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결과의 의미를 해석하고 학술적 가치 논의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286854" y="3282812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286854" y="356901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해석, 선행연구 비교, 이론/실무적 시사점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286854" y="3997873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286854" y="4283166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비판적, 분석적, 논증적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286854" y="471201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금기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286854" y="4997312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새로운 데이터 제시, 결과에 없는 내용 추가 금지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333695" y="3331275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2095805" y="5524805"/>
            <a:ext cx="800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결과는 '무엇이 나타났는가', 논의는 '그것이 무엇을 의미하는가'를 다룹니다</a:t>
            </a:r>
            <a:endParaRPr lang="en-US" sz="16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9847765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571854"/>
            <a:ext cx="3276295" cy="4352544"/>
          </a:xfrm>
          <a:prstGeom prst="roundRect">
            <a:avLst>
              <a:gd name="adj" fmla="val 1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86707" y="1571854"/>
            <a:ext cx="7220102" cy="4334256"/>
          </a:xfrm>
          <a:prstGeom prst="roundRect">
            <a:avLst>
              <a:gd name="adj" fmla="val 1113"/>
            </a:avLst>
          </a:prstGeom>
          <a:solidFill>
            <a:srgbClr val="EBF8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1571854"/>
            <a:ext cx="75895" cy="4334256"/>
          </a:xfrm>
          <a:prstGeom prst="roundRect">
            <a:avLst>
              <a:gd name="adj" fmla="val 63551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a11724ef2841da58fde896390b943bf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-743" r="-743"/>
          <a:stretch/>
        </p:blipFill>
        <p:spPr>
          <a:xfrm>
            <a:off x="4429354" y="2286000"/>
            <a:ext cx="304495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 AI 프롬프트 템플릿</a:t>
            </a:r>
            <a:endParaRPr lang="en-US" sz="3100" dirty="0"/>
          </a:p>
        </p:txBody>
      </p:sp>
      <p:sp>
        <p:nvSpPr>
          <p:cNvPr id="14" name="Text 10"/>
          <p:cNvSpPr txBox="1"/>
          <p:nvPr/>
        </p:nvSpPr>
        <p:spPr>
          <a:xfrm>
            <a:off x="771754" y="1762049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구성요소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47902" y="2286000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2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338121"/>
            <a:ext cx="95098" cy="1051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305202"/>
            <a:ext cx="3666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47902" y="2609698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3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661818"/>
            <a:ext cx="95098" cy="1051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2628900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맥락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47902" y="2933395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4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2986430"/>
            <a:ext cx="95098" cy="1051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2952598"/>
            <a:ext cx="13185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결과 요약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047902" y="3258007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5" name="Image 5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310128"/>
            <a:ext cx="95098" cy="1051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371600" y="3276295"/>
            <a:ext cx="139171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 키워드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47902" y="3581705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8" name="Image 6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633826"/>
            <a:ext cx="95098" cy="1051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371600" y="3600907"/>
            <a:ext cx="15745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 프레임워크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1047902" y="3905402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1" name="Image 7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3957523"/>
            <a:ext cx="95098" cy="1051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71600" y="3924605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 유형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1047902" y="4229100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4" name="Image 8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281221"/>
            <a:ext cx="95098" cy="10515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248302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제언 방향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1047902" y="4552798"/>
            <a:ext cx="209398" cy="20939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7" name="Image 9" descr="gen-dedup-a0e40bb9280875184ad7e5e910f3626f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1104595" y="4604918"/>
            <a:ext cx="95098" cy="1051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371600" y="4572000"/>
            <a:ext cx="732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금지사항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286707" y="1762049"/>
            <a:ext cx="7144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 예시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4896612" y="2195475"/>
            <a:ext cx="6762902" cy="369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"당신은 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교육학 분야 학술 논문 작성 전문가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입니다.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t검정 결과를 바탕으로 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 작성해 주세요.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결과: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자기효능감 교육 프로그램 참여 집단이 비참여 </a:t>
            </a: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집단보다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학업성취가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유의하게 높음(d = 0.75).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b="1" dirty="0">
              <a:solidFill>
                <a:srgbClr val="2B6CB0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Bandura(1997), Zimmerman(2000)의 자기효능감 이론과 비교해 </a:t>
            </a:r>
            <a:r>
              <a:rPr lang="en-US" sz="1400" dirty="0" err="1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주세요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400" b="1" dirty="0">
              <a:solidFill>
                <a:srgbClr val="2B6CB0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4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해석→선행연구 비교→이론적 의미→실무적 시사점 순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으로 구성해 주세요.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</a:t>
            </a:r>
            <a:r>
              <a:rPr lang="en-US" sz="14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단정 표현은 사용하지 말아 주세요.</a:t>
            </a:r>
            <a:r>
              <a:rPr lang="en-US" sz="1400" dirty="0">
                <a:solidFill>
                  <a:srgbClr val="2D374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1400" dirty="0"/>
          </a:p>
        </p:txBody>
      </p:sp>
      <p:sp>
        <p:nvSpPr>
          <p:cNvPr id="41" name="Text 29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"선행연구와 이론적 프레임워크를 구체적으로 지정할수록 깊이 있는 논의를 얻습니다"</a:t>
            </a:r>
            <a:endParaRPr lang="en-US" sz="1600" dirty="0"/>
          </a:p>
        </p:txBody>
      </p:sp>
      <p:sp>
        <p:nvSpPr>
          <p:cNvPr id="42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Bandura, A. (1997). Self-efficacy: The exercise of control. W. H. Freeman. · Zimmerman, B. J. (2000). Self-efficacy: An essential motive to learn. Contemporary Educational Psychology, 25(1), 82–91.</a:t>
            </a:r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618645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결과·논의 작성 시 흔한 오류</a:t>
            </a:r>
            <a:endParaRPr lang="en-US" sz="3600" dirty="0"/>
          </a:p>
        </p:txBody>
      </p:sp>
      <p:pic>
        <p:nvPicPr>
          <p:cNvPr id="14" name="Image 1" descr="gen-dedup-968e54eb66db76d4fdf88a9d915aaec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57146" y="2428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결과에 해석 삽입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"이러한 결과는 ~때문이다"와 같은 해석을 결과 섹션에 넣는 오류입니다.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객관적 보고만, 해석은 논의로 넘기세요.</a:t>
            </a:r>
            <a:endParaRPr lang="en-US" sz="1300" dirty="0"/>
          </a:p>
        </p:txBody>
      </p:sp>
      <p:pic>
        <p:nvPicPr>
          <p:cNvPr id="17" name="Image 2" descr="gen-dedup-931a05aec9f6c0027a2c581abfe88a0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논의에 새 데이터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73834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섹션에서 결과에 제시하지 않은 새로운 분석이나 수치를 추가하는 오류입니다.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이미 보고된 결과만 다룹니다.</a:t>
            </a:r>
            <a:endParaRPr lang="en-US" sz="1300" dirty="0"/>
          </a:p>
        </p:txBody>
      </p:sp>
      <p:pic>
        <p:nvPicPr>
          <p:cNvPr id="20" name="Image 3" descr="gen-dedup-cece88b6672b0a7febc13850bc8c088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57146" y="423824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 단정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상관/회귀 결과를 "X가 Y에 영향을 미쳤다"로 인과 표현하는 오류입니다.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"X와 Y 간 유의한 관계가 있었다"로 수정하세요.</a:t>
            </a:r>
            <a:endParaRPr lang="en-US" sz="1300" dirty="0"/>
          </a:p>
        </p:txBody>
      </p:sp>
      <p:pic>
        <p:nvPicPr>
          <p:cNvPr id="23" name="Image 4" descr="gen-dedup-8ad6e417f4a6fb8121dfd9ea7643a60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9146" y="4238244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 과해석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 = .04이므로 96% 확률로 가설이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맞다"는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틀린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p값은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가설의 참 확률이 아닙니다.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"결과와 논의의 경계를 명확히 하고, 인과/확률 표현에 주의하세요"</a:t>
            </a:r>
            <a:endParaRPr lang="en-US" sz="18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8524472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905756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764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48764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5d93bfebe9da1571ac9d56bd4b1058f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2de90ec18f38423de7e8cb839a186794.png"/>
          <p:cNvPicPr>
            <a:picLocks noChangeAspect="1"/>
          </p:cNvPicPr>
          <p:nvPr/>
        </p:nvPicPr>
        <p:blipFill>
          <a:blip r:embed="rId4"/>
          <a:srcRect t="-25452" b="-25452"/>
          <a:stretch/>
        </p:blipFill>
        <p:spPr>
          <a:xfrm>
            <a:off x="961949" y="2400300"/>
            <a:ext cx="75895" cy="152705"/>
          </a:xfrm>
          <a:prstGeom prst="rect">
            <a:avLst/>
          </a:prstGeom>
        </p:spPr>
      </p:pic>
      <p:pic>
        <p:nvPicPr>
          <p:cNvPr id="16" name="Image 4" descr="gen-dedup-527c605b266d567cf55bf1fde989fa56.png"/>
          <p:cNvPicPr>
            <a:picLocks noChangeAspect="1"/>
          </p:cNvPicPr>
          <p:nvPr/>
        </p:nvPicPr>
        <p:blipFill>
          <a:blip r:embed="rId5"/>
          <a:srcRect t="-25452" b="-25452"/>
          <a:stretch/>
        </p:blipFill>
        <p:spPr>
          <a:xfrm>
            <a:off x="11153851" y="2400300"/>
            <a:ext cx="7589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936346" y="3696005"/>
            <a:ext cx="103199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한계, 제언, 결론과 품질 검증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191049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제언, 결론을 AI로 보조하고 품질 검증으로 완성도를 높입니다.</a:t>
            </a:r>
            <a:endParaRPr lang="en-US" sz="15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8529583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4764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04749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4764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4767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505102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4767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4761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505456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4761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4765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50489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476549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4769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505249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4769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47725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5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544007"/>
            <a:ext cx="5143500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182198" y="547725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4" name="Image 6" descr="gen-dedup-4d7e79f40e7b84ca4378d1c4315cb2d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762756"/>
            <a:ext cx="4286707" cy="247707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571646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571646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한계 섹션</a:t>
            </a:r>
            <a:endParaRPr lang="en-US" sz="4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보조 작성</a:t>
            </a:r>
            <a:endParaRPr lang="en-US" sz="48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75995" y="3685946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4876495" y="3685946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666598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내적 타당도 한계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100035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 통제 미흡, 혼란 변수 미통제 등 연구 설계상의 제한점을 명시합니다.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666951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외적 타당도 한계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000707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표본의 대표성 부족으로 결과의 일반화가 제한될 수 있음을 기술합니다.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667305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측정 한계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000146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자기보고식 설문의 응답 편향, 척도의 타당도/신뢰도 제한 등을 언급합니다.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666744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표본 한계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000500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 크기, 편의표집, 특정 집단 편중 등 표집 관련 제한을 기술합니다.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667098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AI 프롬프트 활용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715000" y="500085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연구의 설계/표본/측정 한계를 구체적 근거와 함께 작성해줘"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715000" y="5762549"/>
            <a:ext cx="5619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한계는 약점 나열이 아니라,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</a:t>
            </a: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해석의 범위를 정직하게 밝히는 것입니다.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774368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7148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743200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7148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715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743554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715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7146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743907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71464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85764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5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924398"/>
            <a:ext cx="5143500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182198" y="5857646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4" name="Image 6" descr="gen-dedup-4ad73ee9ff074d7a8b245f841e7e44c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524098"/>
            <a:ext cx="4287784" cy="247619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3339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333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후속 연구 제언</a:t>
            </a:r>
            <a:endParaRPr lang="en-US" sz="4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보조 작성</a:t>
            </a:r>
            <a:endParaRPr lang="en-US" sz="42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75995" y="3448202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4876495" y="3448202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577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방법 개선 제언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476342" y="1190549"/>
            <a:ext cx="60981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 설계 개선, 종단 연구, 혼합 방법 설계 등 방법론적 발전 방향을 제안합니다.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5714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표본 확장 제언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190902"/>
            <a:ext cx="5619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다양한 집단, 지역, 맥락으로 표본을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확대하여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일반화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가능성을 높이는 방향을 제안합니다.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905049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측정 정교화 제언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238805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객관적 측정 도구 추가, 행동 관찰, 다중 측정 방법 활용을 제안합니다.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905402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추가 변수/설계 제언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238244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매개·조절 변수 추가, 상호작용 효과 탐색 등 연구 모형 확장을 제안합니다.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90575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AI 프롬프트 활용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715000" y="5238598"/>
            <a:ext cx="5619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연구의 한계를 바탕으로 후속 연구 제언 4가지를 작성해줘.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제언은 한계와 연결하고 구체적 방법을 포함해줘"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311750" y="6096305"/>
            <a:ext cx="64273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제언은 한계에서 자연스럽게 도출되어야 하며, 실현 가능해야 합니다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594446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32054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 섹션 구성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cc3fbe3c39f0ab83a5d2df87167c13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8ea19b0210b9c65e8f9bb8e1b3dccd6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 재진술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출발점이었던 목적과 연구문제를 간결하게 재진술합니다.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일관성을 유지합니다.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ecac9dc2e344b145bd84e0a8d12ec9e8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714646" y="2467051"/>
            <a:ext cx="171907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 요약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가설의 지지/기각 여부를 한 문장씩 간결하게 요약합니다.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통계치는 생략하고 결론만 기술합니다.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4f609509c17796391a104230fa2f9518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29277" y="3800246"/>
            <a:ext cx="142646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78467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시사점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이론적·실무적 시사점을 1~2문장으로 압축합니다.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논의의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핵심을 응축하여 독자에게 전달합니다.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c0610ea9f73316119612b4004dd0d850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714646" y="5134356"/>
            <a:ext cx="171907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477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문장 결론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477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연구의 가장 중요한 메시지를 한 문장으로 마무리합니다.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독자가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 연구를 한마디로 기억할 수 있게 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9851538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2000707"/>
            <a:ext cx="11067898" cy="3353105"/>
          </a:xfrm>
          <a:prstGeom prst="roundRect">
            <a:avLst>
              <a:gd name="adj" fmla="val 24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80644" y="2819095"/>
            <a:ext cx="2009851" cy="1714500"/>
          </a:xfrm>
          <a:prstGeom prst="roundRect">
            <a:avLst>
              <a:gd name="adj" fmla="val 711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80237" y="3374136"/>
            <a:ext cx="12170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해석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82980" y="3736238"/>
            <a:ext cx="12079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발견 요약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81121" y="2819095"/>
            <a:ext cx="2009851" cy="1714500"/>
          </a:xfrm>
          <a:prstGeom prst="roundRect">
            <a:avLst>
              <a:gd name="adj" fmla="val 7111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880714" y="3252521"/>
            <a:ext cx="12170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한계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936492" y="3614623"/>
            <a:ext cx="11055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내적/외적/측정/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표본 한계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3583" y="2819095"/>
            <a:ext cx="2009851" cy="1714500"/>
          </a:xfrm>
          <a:prstGeom prst="roundRect">
            <a:avLst>
              <a:gd name="adj" fmla="val 7111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778447" y="3252521"/>
            <a:ext cx="19046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후속 연구 제언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71639" y="3614623"/>
            <a:ext cx="11146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한계에서 도출된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개선 방향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624060" y="2819095"/>
            <a:ext cx="2009851" cy="1714500"/>
          </a:xfrm>
          <a:prstGeom prst="roundRect">
            <a:avLst>
              <a:gd name="adj" fmla="val 711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362895" y="3252521"/>
            <a:ext cx="529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821570" y="3614623"/>
            <a:ext cx="1619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 재진술 + 시사점 +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문장 마무리</a:t>
            </a:r>
            <a:endParaRPr lang="en-US" sz="1200" dirty="0"/>
          </a:p>
        </p:txBody>
      </p:sp>
      <p:pic>
        <p:nvPicPr>
          <p:cNvPr id="20" name="Image 1" descr="gen-dedup-272afeea79c39138fed4b9c730a3ff80.png"/>
          <p:cNvPicPr>
            <a:picLocks noChangeAspect="1"/>
          </p:cNvPicPr>
          <p:nvPr/>
        </p:nvPicPr>
        <p:blipFill>
          <a:blip r:embed="rId3"/>
          <a:srcRect t="-418" b="-418"/>
          <a:stretch/>
        </p:blipFill>
        <p:spPr>
          <a:xfrm>
            <a:off x="2777947" y="3657600"/>
            <a:ext cx="512978" cy="384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749747" y="3547872"/>
            <a:ext cx="8549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논리적 연결</a:t>
            </a:r>
            <a:endParaRPr lang="en-US" sz="1100" dirty="0"/>
          </a:p>
        </p:txBody>
      </p:sp>
      <p:pic>
        <p:nvPicPr>
          <p:cNvPr id="22" name="Image 2" descr="gen-dedup-513efaff2c524a21dda126a6286179c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820156" y="3767328"/>
            <a:ext cx="571500" cy="38405"/>
          </a:xfrm>
          <a:prstGeom prst="rect">
            <a:avLst/>
          </a:prstGeom>
        </p:spPr>
      </p:pic>
      <p:pic>
        <p:nvPicPr>
          <p:cNvPr id="23" name="Image 3" descr="gen-dedup-272afeea79c39138fed4b9c730a3ff80.png"/>
          <p:cNvPicPr>
            <a:picLocks noChangeAspect="1"/>
          </p:cNvPicPr>
          <p:nvPr/>
        </p:nvPicPr>
        <p:blipFill>
          <a:blip r:embed="rId3"/>
          <a:srcRect t="-418" b="-418"/>
          <a:stretch/>
        </p:blipFill>
        <p:spPr>
          <a:xfrm>
            <a:off x="8919972" y="3657600"/>
            <a:ext cx="512978" cy="3840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한계·제언·결론의 논리적 연결 구조</a:t>
            </a:r>
            <a:endParaRPr lang="en-US" sz="3100" dirty="0"/>
          </a:p>
        </p:txBody>
      </p:sp>
      <p:sp>
        <p:nvSpPr>
          <p:cNvPr id="27" name="Text 21"/>
          <p:cNvSpPr txBox="1"/>
          <p:nvPr/>
        </p:nvSpPr>
        <p:spPr>
          <a:xfrm>
            <a:off x="761695" y="5810098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"한계에서 제언이, 제언에서 결론이 자연스럽게 이어져야 합니다"</a:t>
            </a:r>
            <a:endParaRPr lang="en-US" sz="1900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305973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참고문헌과 수치 사실 검증</a:t>
            </a:r>
            <a:endParaRPr lang="en-US" sz="3600" dirty="0"/>
          </a:p>
        </p:txBody>
      </p:sp>
      <p:pic>
        <p:nvPicPr>
          <p:cNvPr id="14" name="Image 1" descr="gen-dedup-ffa1b88895eac11c15d51762fdd2032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3372" y="2428646"/>
            <a:ext cx="237744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인용-참고문헌 교차검증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714854"/>
            <a:ext cx="3714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본문의 모든 인용(저자, 연도)이 참고문헌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목록에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있는지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참고문헌 목록의 모든 항목이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본문에서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인용되었는지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교차 점검합니다.</a:t>
            </a:r>
            <a:endParaRPr lang="en-US" sz="1300" dirty="0"/>
          </a:p>
        </p:txBody>
      </p:sp>
      <p:pic>
        <p:nvPicPr>
          <p:cNvPr id="17" name="Image 2" descr="gen-dedup-52a0100e7869aad1127630774966ed2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2921" y="2428646"/>
            <a:ext cx="14264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 일치 점검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714854"/>
            <a:ext cx="406659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본문, 표, Figure의 통계치(M, SD, t, F, p, 효과크기)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일치하는지 대조합니다. 반올림 오류도 확인합니다.</a:t>
            </a:r>
            <a:endParaRPr lang="en-US" sz="1300" dirty="0"/>
          </a:p>
        </p:txBody>
      </p:sp>
      <p:pic>
        <p:nvPicPr>
          <p:cNvPr id="20" name="Image 3" descr="gen-dedup-d75944b1db9790a67a32073934e7ce9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33372" y="4238244"/>
            <a:ext cx="237744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 일관성 확인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7" y="4524451"/>
            <a:ext cx="407182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표본 수, 집단별 N, 결측 처리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N이 본문·표·Figure에서 일관적인지 확인합니다.</a:t>
            </a:r>
            <a:endParaRPr lang="en-US" sz="1300" dirty="0"/>
          </a:p>
        </p:txBody>
      </p:sp>
      <p:pic>
        <p:nvPicPr>
          <p:cNvPr id="23" name="Image 4" descr="gen-dedup-c5e2ea513ac80c6923d382ccb6900c43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39205" y="4238244"/>
            <a:ext cx="171907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525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연도·저자명 정확성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524451"/>
            <a:ext cx="4476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인용한 논문의 저자명 철자, 출판 연도, 학술지 정보가 정확한지 확인합니다.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만든 가짜 인용(hallucination)을 반드시 걸러냅니다.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"AI가 생성한 참고문헌은 반드시 원문을 확인하여 실재 여부를 검증하세요"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2057297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캡션, 표기, 인용, 단위 통합 검토</a:t>
            </a:r>
            <a:endParaRPr lang="en-US" sz="3600" dirty="0"/>
          </a:p>
        </p:txBody>
      </p:sp>
      <p:pic>
        <p:nvPicPr>
          <p:cNvPr id="14" name="Image 1" descr="gen-dedup-4a536fc4ea3e8883e34d8e2aec3550f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824228" y="2409444"/>
            <a:ext cx="256946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Table/Figure 캡션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Table: 번호(볼드)+제목(이탤릭), 표 위.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Figure: 번호(볼드)+제목(이탤릭), 그림 위.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대상, 조건, N을 포함합니다.</a:t>
            </a:r>
            <a:endParaRPr lang="en-US" sz="1300" dirty="0"/>
          </a:p>
        </p:txBody>
      </p:sp>
      <p:pic>
        <p:nvPicPr>
          <p:cNvPr id="17" name="Image 2" descr="gen-dedup-4c3e3a96c72b5ee31759ebb8575f2c90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424574" y="2409444"/>
            <a:ext cx="200254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통계 표기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 기호(t, F, p, r, β)는 이탤릭.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괄호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안 자유도. 등호/부등호 앞뒤 공백.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 &lt; .001 표기. 이중부정 회피.</a:t>
            </a:r>
            <a:endParaRPr lang="en-US" sz="1300" dirty="0"/>
          </a:p>
        </p:txBody>
      </p:sp>
      <p:pic>
        <p:nvPicPr>
          <p:cNvPr id="20" name="Image 3" descr="gen-dedup-deed2d73a2c0718c9565315b22c8e78f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852574" y="4219956"/>
            <a:ext cx="200254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형식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 2인: (Kim &amp; Lee, 2024).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3인 이상: (Kim et al., 2024).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직접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인용 시 페이지 번호. et al.은 이탤릭 아님.</a:t>
            </a:r>
            <a:endParaRPr lang="en-US" sz="1300" dirty="0"/>
          </a:p>
        </p:txBody>
      </p:sp>
      <p:pic>
        <p:nvPicPr>
          <p:cNvPr id="23" name="Image 4" descr="gen-dedup-394e3a8ae70e28aa9171a0b04e0e35b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9944" y="421995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단위·기호 일관성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지표 내 소수점 자릿수 통일.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(점, %, ms) 첫 등장 시 명시.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기호와 단위 혼용 금지.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"형식의 일관성은 논문의 전문성과 신뢰도를 결정합니다"</a:t>
            </a:r>
            <a:endParaRPr lang="en-US" sz="1600" dirty="0"/>
          </a:p>
        </p:txBody>
      </p:sp>
      <p:sp>
        <p:nvSpPr>
          <p:cNvPr id="27" name="C 각주"/>
          <p:cNvSpPr txBox="1"/>
          <p:nvPr/>
        </p:nvSpPr>
        <p:spPr>
          <a:xfrm>
            <a:off x="762000" y="6477305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American Psychological Association. (2020). Publication manual of the American Psychological Association (7th ed.). · apastyle.apa.org Tables and Figures (2026-10 확인)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63209757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1619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619402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3191256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191256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714500" y="476219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86500" y="4762195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품질 검증 종합 체크리스트</a:t>
            </a:r>
            <a:endParaRPr lang="en-US" sz="3100" dirty="0"/>
          </a:p>
        </p:txBody>
      </p:sp>
      <p:pic>
        <p:nvPicPr>
          <p:cNvPr id="16" name="Image 1" descr="gen-dedup-3dadcb55c7c52897fdc39679cd708f5a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843430" y="1762049"/>
            <a:ext cx="219456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161940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 완전성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8" y="2000707"/>
            <a:ext cx="3714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서론/선행연구/방법/결과/논의/결론/참고문헌의 모든 섹션이 빠짐없이 포함되어 있는지 확인합니다.</a:t>
            </a:r>
            <a:endParaRPr lang="en-US" sz="1300" dirty="0"/>
          </a:p>
        </p:txBody>
      </p:sp>
      <p:pic>
        <p:nvPicPr>
          <p:cNvPr id="19" name="Image 2" descr="gen-dedup-330b4a7b088907d4bffc34b25e0ec8e2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415430" y="1762049"/>
            <a:ext cx="219456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53098" y="161940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내용 논리성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953098" y="2000707"/>
            <a:ext cx="3714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연구문제→가설→변수→결과→해석의 논리적 연결이 끊기지 않는지 확인합니다.</a:t>
            </a:r>
            <a:endParaRPr lang="en-US" sz="1300" dirty="0"/>
          </a:p>
        </p:txBody>
      </p:sp>
      <p:pic>
        <p:nvPicPr>
          <p:cNvPr id="22" name="Image 3" descr="gen-dedup-3823d79289ec30083edf599e8398ee36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1867205" y="3333902"/>
            <a:ext cx="171907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381098" y="3191256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 일관성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2381097" y="3571646"/>
            <a:ext cx="352440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형식, 폰트, 여백, 제목 수준, 인용, 참고문헌 형식이 일관적인지 확인합니다.</a:t>
            </a:r>
            <a:endParaRPr lang="en-US" sz="1300" dirty="0"/>
          </a:p>
        </p:txBody>
      </p:sp>
      <p:pic>
        <p:nvPicPr>
          <p:cNvPr id="25" name="Image 4" descr="gen-dedup-57eb99d2ef6e78e8ff8b03af13d25301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39205" y="3333902"/>
            <a:ext cx="171907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53098" y="3191256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 정확성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6953098" y="3571646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본문/표/Figure의 모든 수치가 일치하고, 통계치 보고가 완전한지 확인합니다.</a:t>
            </a:r>
            <a:endParaRPr lang="en-US" sz="1300" dirty="0"/>
          </a:p>
        </p:txBody>
      </p:sp>
      <p:pic>
        <p:nvPicPr>
          <p:cNvPr id="28" name="Image 5" descr="gen-dedup-ffa1b88895eac11c15d51762fdd2032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33372" y="4905756"/>
            <a:ext cx="237744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2381098" y="476219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교차 검증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2381098" y="5143500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 인용과 참고문헌 목록이 정확히 1:1로 일치하는지 확인합니다.</a:t>
            </a:r>
            <a:endParaRPr lang="en-US" sz="1300" dirty="0"/>
          </a:p>
        </p:txBody>
      </p:sp>
      <p:pic>
        <p:nvPicPr>
          <p:cNvPr id="31" name="Image 6" descr="gen-dedup-9f6027dec68e18cd5b685827e0c0ee7c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905756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53098" y="476219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시각자료 점검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6953098" y="5143500"/>
            <a:ext cx="39962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Figure와 표가 본문에서 인용되었으며 번호 순서대로 나열되었는지 확인합니다.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61695" y="6191402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"품질 검증은 제출 전 필수 단계이며, 피어리뷰와 병행하면 효과적입니다"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48423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571500"/>
            <a:ext cx="9525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9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수정본 재생성 및 비교 절차</a:t>
            </a:r>
            <a:endParaRPr lang="en-US" sz="39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571854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48256" y="2000707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2048256" y="20007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03681" y="2905049"/>
            <a:ext cx="256214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+ 1차 수정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42900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결과/논의/한계/결론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초안을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생성하고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수치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형식을 1차 점검합니다</a:t>
            </a:r>
            <a:endParaRPr lang="en-US" sz="1400" dirty="0"/>
          </a:p>
        </p:txBody>
      </p:sp>
      <p:pic>
        <p:nvPicPr>
          <p:cNvPr id="10" name="Image 1" descr="gen-dedup-5216fa1c4d7039cb097b804aea234a4f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761695" y="4381805"/>
            <a:ext cx="3238805" cy="1143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4381805"/>
            <a:ext cx="47549" cy="1143000"/>
          </a:xfrm>
          <a:prstGeom prst="roundRect">
            <a:avLst>
              <a:gd name="adj" fmla="val 25640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999439" y="4381805"/>
            <a:ext cx="3001061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초안에서 인과 </a:t>
            </a: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표현과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오류를 수정"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143146" y="3476549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476902" y="3476549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762549" y="2000707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762549" y="20007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4841748" y="2905049"/>
            <a:ext cx="25155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+ 피드백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476902" y="342900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2인 1조로 보고서를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교환하여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/논리/통계/표현/인용을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검토하고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피드백을 제공합니다</a:t>
            </a:r>
            <a:endParaRPr lang="en-US" sz="1400" dirty="0"/>
          </a:p>
        </p:txBody>
      </p:sp>
      <p:pic>
        <p:nvPicPr>
          <p:cNvPr id="19" name="Image 2" descr="gen-dedup-5216fa1c4d7039cb097b804aea234a4f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4476902" y="4381805"/>
            <a:ext cx="3238805" cy="1143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476902" y="4381805"/>
            <a:ext cx="47549" cy="1143000"/>
          </a:xfrm>
          <a:prstGeom prst="roundRect">
            <a:avLst>
              <a:gd name="adj" fmla="val 25640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714646" y="4381805"/>
            <a:ext cx="3001061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"동료의 피드백: </a:t>
            </a: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논의에서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선행연구</a:t>
            </a: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비교 부족"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858354" y="3476549"/>
            <a:ext cx="400507" cy="66751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191195" y="3476549"/>
            <a:ext cx="66751" cy="400507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9477756" y="2000707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9477756" y="2000707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8522208" y="2905049"/>
            <a:ext cx="25795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2차 수정 + 최종본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8191195" y="3429000"/>
            <a:ext cx="3238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피드백을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반영하여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2차 수정하고, 품질 </a:t>
            </a: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체크리스트를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적용합니다</a:t>
            </a:r>
            <a:endParaRPr lang="en-US" sz="1400" dirty="0"/>
          </a:p>
        </p:txBody>
      </p:sp>
      <p:pic>
        <p:nvPicPr>
          <p:cNvPr id="28" name="Image 3" descr="gen-dedup-5216fa1c4d7039cb097b804aea234a4f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8191195" y="4381805"/>
            <a:ext cx="3238805" cy="11430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191195" y="4381805"/>
            <a:ext cx="47549" cy="1143000"/>
          </a:xfrm>
          <a:prstGeom prst="roundRect">
            <a:avLst>
              <a:gd name="adj" fmla="val 256409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428939" y="4381805"/>
            <a:ext cx="3001061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90500" rIns="190500" bIns="1905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"선행연구 비교 추가, 캡션 형식 통일, 최종 체크리스트 확인"</a:t>
            </a:r>
            <a:endParaRPr lang="en-US" sz="1400" dirty="0"/>
          </a:p>
        </p:txBody>
      </p:sp>
      <p:pic>
        <p:nvPicPr>
          <p:cNvPr id="31" name="Image 4" descr="gen-dedup-7bd23a91ff9e7798de8a0b3c0dafdd7c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2286000" y="5905195"/>
            <a:ext cx="7619695" cy="91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33195" y="6143854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→ 1차 수정 → 피어리뷰 → 2차 수정 = 학술 수준의 보고서 완성</a:t>
            </a:r>
            <a:endParaRPr lang="en-US" sz="2100" dirty="0"/>
          </a:p>
        </p:txBody>
      </p:sp>
      <p:pic>
        <p:nvPicPr>
          <p:cNvPr id="33" name="Image 5" descr="gen-dedup-2c48bca0947e42727d67028363c04897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6" descr="gen-dedup-d0eb4450f0df06f0fea106621b17d79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3761003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10205" y="139666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5" name="Image 0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1435067"/>
            <a:ext cx="4572000" cy="9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0205" y="213915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761695" y="2177560"/>
            <a:ext cx="4572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05595" y="139666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1435067"/>
            <a:ext cx="4572000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105595" y="2139155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1" name="Image 3" descr="gen-dedup-930b6c6077c8e250e27121c4b6afe533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858000" y="2177560"/>
            <a:ext cx="4572000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904695" y="5905195"/>
            <a:ext cx="8382305" cy="571500"/>
          </a:xfrm>
          <a:prstGeom prst="roundRect">
            <a:avLst>
              <a:gd name="adj" fmla="val 42667"/>
            </a:avLst>
          </a:prstGeom>
          <a:solidFill>
            <a:srgbClr val="EB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4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5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52805" y="245790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331470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952805" y="4172407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952805" y="5029200"/>
            <a:ext cx="75895" cy="758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7048195" y="2457907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7048195" y="3504895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7048195" y="4362602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7048195" y="5219395"/>
            <a:ext cx="75895" cy="758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Text 15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전후 비교 예시</a:t>
            </a:r>
            <a:endParaRPr lang="en-US" sz="3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161520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전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190549" y="2381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90549" y="2667305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"실험집단이 통제집단보다 높았다."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(통계치 미보고)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1190549" y="32388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190549" y="3524098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"자기효능감이 학업성취를 높였다."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(인과 단정, 선행연구 비교 없음)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1190549" y="40955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190549" y="4381805"/>
            <a:ext cx="3810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"표본이 작다."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(구체적 근거 없음)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90549" y="49533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190549" y="5238598"/>
            <a:ext cx="3810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 검증 요약 없이 느낌으로 마무리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0" y="1615204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후</a:t>
            </a:r>
            <a:endParaRPr lang="en-US" sz="2100" dirty="0"/>
          </a:p>
        </p:txBody>
      </p:sp>
      <p:sp>
        <p:nvSpPr>
          <p:cNvPr id="34" name="Text 26"/>
          <p:cNvSpPr txBox="1"/>
          <p:nvPr/>
        </p:nvSpPr>
        <p:spPr>
          <a:xfrm>
            <a:off x="7286854" y="23810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섹션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286854" y="2667305"/>
            <a:ext cx="443622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"실험집단(M=4.23, SD=0.87)은 통제집단(M=3.56, SD=0.92)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보다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유의하게 높았다, t(58)=2.89, p=.005, d=0.75."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286854" y="3429000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섹션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7286854" y="3715207"/>
            <a:ext cx="4096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결과는 Bandura(1997)의 자기효능감 이론과 일치하며, Zimmerman(2000)의 연구 결과를 지지한다."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286854" y="4286707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7286854" y="4572000"/>
            <a:ext cx="43424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"편의표집(n=60, 단일 대학)으로 일반화에 제한이 있다."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286854" y="5143500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286853" y="5429707"/>
            <a:ext cx="461206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"가설 1은 지지되었으며, 자기효능감 교육의 실무적 가치를 시사한다."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5333695" y="3333902"/>
            <a:ext cx="1524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90CDF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5400" dirty="0"/>
          </a:p>
        </p:txBody>
      </p:sp>
      <p:sp>
        <p:nvSpPr>
          <p:cNvPr id="43" name="Text 35"/>
          <p:cNvSpPr txBox="1"/>
          <p:nvPr/>
        </p:nvSpPr>
        <p:spPr>
          <a:xfrm>
            <a:off x="1904695" y="6048756"/>
            <a:ext cx="8382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수치, 인용, 논리적 연결이 학술 보고서의 품질을 결정합니다</a:t>
            </a:r>
            <a:endParaRPr lang="en-US" sz="1600" dirty="0"/>
          </a:p>
        </p:txBody>
      </p:sp>
      <p:sp>
        <p:nvSpPr>
          <p:cNvPr id="44" name="C 각주"/>
          <p:cNvSpPr txBox="1"/>
          <p:nvPr/>
        </p:nvSpPr>
        <p:spPr>
          <a:xfrm>
            <a:off x="762000" y="6572402"/>
            <a:ext cx="10668000" cy="1651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ko-KR" sz="800">
                <a:solidFill>
                  <a:srgbClr val="6C757D"/>
                </a:solidFill>
                <a:latin typeface="나눔고딕"/>
                <a:ea typeface="나눔고딕"/>
              </a:rPr>
              <a:t>Bandura, A. (1997). Self-efficacy: The exercise of control. W. H. Freeman. · Zimmerman, B. J. (2000). Self-efficacy: An essential motive to learn. Contemporary Educational Psychology, 25(1), 82–91.</a:t>
            </a:r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0465809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48902" y="3105302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1" descr="gen-dedup-c9156ad8edcabf0766bef2be05f78a6c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5095951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50676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48902" y="50676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0" y="6572707"/>
            <a:ext cx="6096305" cy="28620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096305" y="6572707"/>
            <a:ext cx="6096305" cy="286207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2" descr="gen-dedup-ced5d95f96fd850b8e42365b67487f9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4764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5" name="Image 3" descr="gen-dedup-6714d0cf4d77c45dcc2929b0e563e7d4.png"/>
          <p:cNvPicPr>
            <a:picLocks noChangeAspect="1"/>
          </p:cNvPicPr>
          <p:nvPr/>
        </p:nvPicPr>
        <p:blipFill>
          <a:blip r:embed="rId4"/>
          <a:srcRect l="-8283" r="-8283"/>
          <a:stretch/>
        </p:blipFill>
        <p:spPr>
          <a:xfrm>
            <a:off x="933602" y="2400300"/>
            <a:ext cx="133502" cy="152705"/>
          </a:xfrm>
          <a:prstGeom prst="rect">
            <a:avLst/>
          </a:prstGeom>
        </p:spPr>
      </p:pic>
      <p:pic>
        <p:nvPicPr>
          <p:cNvPr id="16" name="Image 4" descr="gen-dedup-ceb7d6a6b06084ae90a08e93024ca03a.png"/>
          <p:cNvPicPr>
            <a:picLocks noChangeAspect="1"/>
          </p:cNvPicPr>
          <p:nvPr/>
        </p:nvPicPr>
        <p:blipFill>
          <a:blip r:embed="rId5"/>
          <a:srcRect l="-8283" r="-8283"/>
          <a:stretch/>
        </p:blipFill>
        <p:spPr>
          <a:xfrm>
            <a:off x="11125505" y="2400300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3381451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8" name="Text 11"/>
          <p:cNvSpPr txBox="1"/>
          <p:nvPr/>
        </p:nvSpPr>
        <p:spPr>
          <a:xfrm>
            <a:off x="213970" y="3791102"/>
            <a:ext cx="1176558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800" b="1" kern="0" spc="-75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피어리뷰, AI 프로토콜, 최종 발표</a:t>
            </a:r>
            <a:endParaRPr lang="en-US" sz="48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381244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 검토로 완성도를 높이고, 개인 AI 활용 프로토콜과 최종 발표를 준비합니다.</a:t>
            </a:r>
            <a:endParaRPr lang="en-US" sz="16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20900440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47902"/>
            <a:ext cx="40640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2인 1조</a:t>
            </a:r>
            <a:endParaRPr lang="en-US" sz="3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900" b="1" kern="0" spc="-112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가이드 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61695" y="3619195"/>
            <a:ext cx="3047695" cy="2476195"/>
          </a:xfrm>
          <a:prstGeom prst="roundRect">
            <a:avLst>
              <a:gd name="adj" fmla="val 3409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6" name="Image 0" descr="gen-dedup-7f58afe2d54e78d7ffac403b303f8d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3619195"/>
            <a:ext cx="3047695" cy="2476682"/>
          </a:xfrm>
          <a:prstGeom prst="rect">
            <a:avLst/>
          </a:prstGeom>
        </p:spPr>
      </p:pic>
      <p:pic>
        <p:nvPicPr>
          <p:cNvPr id="7" name="Image 1" descr="gen-dedup-9f26a6689e5e43d0966d144c0e4e4b3d.png"/>
          <p:cNvPicPr>
            <a:picLocks noChangeAspect="1"/>
          </p:cNvPicPr>
          <p:nvPr/>
        </p:nvPicPr>
        <p:blipFill>
          <a:blip r:embed="rId3"/>
          <a:srcRect t="-2078" b="-2078"/>
          <a:stretch/>
        </p:blipFill>
        <p:spPr>
          <a:xfrm>
            <a:off x="4190695" y="761695"/>
            <a:ext cx="9144" cy="53336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0" y="1000354"/>
            <a:ext cx="457200" cy="4572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2" descr="gen-dedup-df34e0af27a45a7a2b4b449261d7181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5502" y="1133856"/>
            <a:ext cx="190195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238598" y="10003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5238598" y="14292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동료의 시선으로 보고서의 논리적 허점, 수치 오류, 형식 불일치를 발견합니다.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검토로는 놓치기 쉬운 오류를 잡습니다.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0" y="23335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3" descr="gen-dedup-b8663667160f3552dedd29fd18910dd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5502" y="2467051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8598" y="2333549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5238598" y="2762402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보고서를 교환하고 → 체크리스트 기반으로 검토하고 → 구체적 피드백을 작성하고 → 수정 후 재확인합니다.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0" y="3666744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4" descr="gen-dedup-b6a1683787f4feeb7004455b9e023eb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81728" y="3800246"/>
            <a:ext cx="237744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38598" y="366674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5238598" y="4095598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검토자: 비판적이되 건설적인 피드백을 제공합니다.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저자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: 방어하지 않고 피드백을 객관적으로 수용합니다.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0" y="5000854"/>
            <a:ext cx="457200" cy="45720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1" name="Image 5" descr="gen-dedup-d122b60e06ed3d7841501acb7ac817df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1728" y="5134356"/>
            <a:ext cx="237744" cy="19019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38598" y="5000854"/>
            <a:ext cx="61914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예절</a:t>
            </a:r>
            <a:endParaRPr lang="en-US" sz="2100" dirty="0"/>
          </a:p>
        </p:txBody>
      </p:sp>
      <p:sp>
        <p:nvSpPr>
          <p:cNvPr id="23" name="Text 15"/>
          <p:cNvSpPr txBox="1"/>
          <p:nvPr/>
        </p:nvSpPr>
        <p:spPr>
          <a:xfrm>
            <a:off x="5238598" y="5429707"/>
            <a:ext cx="6191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"~가 틀렸다"가 아닌 "~를 확인해 보시면 좋겠습니다" 형태로 작성합니다.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</a:t>
            </a: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위치와 개선 방향을 함께 제시합니다.</a:t>
            </a:r>
            <a:endParaRPr lang="en-US" sz="1400" dirty="0"/>
          </a:p>
        </p:txBody>
      </p:sp>
      <p:pic>
        <p:nvPicPr>
          <p:cNvPr id="24" name="Image 6" descr="gen-dedup-2c48bca0947e42727d67028363c04897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25" name="Image 7" descr="gen-dedup-d0eb4450f0df06f0fea106621b17d79d.png"/>
          <p:cNvPicPr>
            <a:picLocks noChangeAspect="1"/>
          </p:cNvPicPr>
          <p:nvPr/>
        </p:nvPicPr>
        <p:blipFill>
          <a:blip r:embed="rId9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9946537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286000" y="5333695"/>
            <a:ext cx="7772400" cy="761695"/>
          </a:xfrm>
          <a:prstGeom prst="roundRect">
            <a:avLst>
              <a:gd name="adj" fmla="val 36014"/>
            </a:avLst>
          </a:prstGeom>
          <a:solidFill>
            <a:srgbClr val="EBF8F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286000" y="5333695"/>
            <a:ext cx="75895" cy="761695"/>
          </a:xfrm>
          <a:prstGeom prst="roundRect">
            <a:avLst>
              <a:gd name="adj" fmla="val 361447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9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524305" y="1904695"/>
            <a:ext cx="2286000" cy="952805"/>
          </a:xfrm>
          <a:prstGeom prst="roundRect">
            <a:avLst>
              <a:gd name="adj" fmla="val 230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3" descr="gen-dedup-26a6fc940f01cfc4c4d8bf88c1fc9ce5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4091026" y="2286000"/>
            <a:ext cx="200254" cy="228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0" y="1904695"/>
            <a:ext cx="2667305" cy="952805"/>
          </a:xfrm>
          <a:prstGeom prst="roundRect">
            <a:avLst>
              <a:gd name="adj" fmla="val 2303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4" name="Image 4" descr="gen-dedup-26a6fc940f01cfc4c4d8bf88c1fc9ce5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7520026" y="2286000"/>
            <a:ext cx="200254" cy="2286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001000" y="1904695"/>
            <a:ext cx="2286000" cy="952805"/>
          </a:xfrm>
          <a:prstGeom prst="roundRect">
            <a:avLst>
              <a:gd name="adj" fmla="val 23033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5" descr="gen-dedup-6f90c83264a997686e0c151a42f14756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9077249" y="3047695"/>
            <a:ext cx="171907" cy="2286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001000" y="3810305"/>
            <a:ext cx="2286000" cy="952805"/>
          </a:xfrm>
          <a:prstGeom prst="roundRect">
            <a:avLst>
              <a:gd name="adj" fmla="val 2303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8" name="Image 6" descr="gen-dedup-473b7c8293c83e229de8790c050f996b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7520026" y="4190695"/>
            <a:ext cx="200254" cy="2286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4572000" y="3810305"/>
            <a:ext cx="2667305" cy="952805"/>
          </a:xfrm>
          <a:prstGeom prst="roundRect">
            <a:avLst>
              <a:gd name="adj" fmla="val 230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Text 11"/>
          <p:cNvSpPr txBox="1"/>
          <p:nvPr/>
        </p:nvSpPr>
        <p:spPr>
          <a:xfrm>
            <a:off x="761695" y="571500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프로세스 흐름도</a:t>
            </a:r>
            <a:endParaRPr lang="en-US" sz="3100" dirty="0"/>
          </a:p>
        </p:txBody>
      </p:sp>
      <p:sp>
        <p:nvSpPr>
          <p:cNvPr id="21" name="Text 12"/>
          <p:cNvSpPr txBox="1"/>
          <p:nvPr/>
        </p:nvSpPr>
        <p:spPr>
          <a:xfrm>
            <a:off x="1619402" y="2048256"/>
            <a:ext cx="2095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보고서 교환</a:t>
            </a:r>
            <a:endParaRPr lang="en-US" sz="1600" dirty="0"/>
          </a:p>
        </p:txBody>
      </p:sp>
      <p:sp>
        <p:nvSpPr>
          <p:cNvPr id="22" name="Text 13"/>
          <p:cNvSpPr txBox="1"/>
          <p:nvPr/>
        </p:nvSpPr>
        <p:spPr>
          <a:xfrm>
            <a:off x="1619402" y="2394814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2인 1조 파트너와 상호 교환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4550054" y="2048256"/>
            <a:ext cx="27111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체크리스트 기반 검토</a:t>
            </a:r>
            <a:endParaRPr lang="en-US" sz="1600" dirty="0"/>
          </a:p>
        </p:txBody>
      </p:sp>
      <p:sp>
        <p:nvSpPr>
          <p:cNvPr id="24" name="Text 15"/>
          <p:cNvSpPr txBox="1"/>
          <p:nvPr/>
        </p:nvSpPr>
        <p:spPr>
          <a:xfrm>
            <a:off x="4511650" y="2394814"/>
            <a:ext cx="27880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BF8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구조/논리/통계/표현 등 객관적 점검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8096098" y="2048256"/>
            <a:ext cx="2095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피드백 작성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8096098" y="2394814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건설적인 대안과 방향 제시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334195" y="3191256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위치 + 개선방향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8096098" y="3952951"/>
            <a:ext cx="2095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수정 반영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8096098" y="429950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BF8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수용 및 원고 보완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4667098" y="3952951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재확인 및 최종 승인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4667098" y="4299509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사항 확인 및 품질 확보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2361895" y="5577840"/>
            <a:ext cx="7543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피어리뷰는 보고서 품질을 한 단계 끌어올리는 필수 과정입니다</a:t>
            </a:r>
            <a:endParaRPr lang="en-US" sz="18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1022586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524305" y="17145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7145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524305" y="3143707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3143707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524305" y="4572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체크리스트</a:t>
            </a:r>
            <a:endParaRPr lang="en-US" sz="3600" dirty="0"/>
          </a:p>
        </p:txBody>
      </p:sp>
      <p:pic>
        <p:nvPicPr>
          <p:cNvPr id="16" name="Image 1" descr="gen-dedup-3dadcb55c7c52897fdc39679cd708f5a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1652321" y="1857146"/>
            <a:ext cx="219456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90902" y="17145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구조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2190902" y="2095805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서론→방법→결과→논의→결론의 구조가 완전하고, 각 섹션의 역할이 명확한지 확인합니다.</a:t>
            </a:r>
            <a:endParaRPr lang="en-US" sz="1300" dirty="0"/>
          </a:p>
        </p:txBody>
      </p:sp>
      <p:pic>
        <p:nvPicPr>
          <p:cNvPr id="19" name="Image 2" descr="gen-dedup-330b4a7b088907d4bffc34b25e0ec8e2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415430" y="1857146"/>
            <a:ext cx="219456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53098" y="17145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논리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953098" y="2095805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연구문제→가설→변수→결과→해석이 논리적으로 연결되는지, 비약이나 단절이 없는지 확인합니다.</a:t>
            </a:r>
            <a:endParaRPr lang="en-US" sz="1300" dirty="0"/>
          </a:p>
        </p:txBody>
      </p:sp>
      <p:pic>
        <p:nvPicPr>
          <p:cNvPr id="22" name="Image 3" descr="gen-dedup-52a0100e7869aad1127630774966ed2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90726" y="3286354"/>
            <a:ext cx="142646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190902" y="3143707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통계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2190902" y="3524098"/>
            <a:ext cx="390509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통계치(t/F/r/β, df, p, 효과크기)가 정확하고 완전하게 보고되었는지, APA 형식인지 확인합니다.</a:t>
            </a:r>
            <a:endParaRPr lang="en-US" sz="1300" dirty="0"/>
          </a:p>
        </p:txBody>
      </p:sp>
      <p:pic>
        <p:nvPicPr>
          <p:cNvPr id="25" name="Image 4" descr="gen-dedup-b8fac1e183d90af34dcb5741e1e41ed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9146" y="3286354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53098" y="3143707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표현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6953098" y="3524098"/>
            <a:ext cx="3620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인과 단정, p값 과해석, 모호한 표현이 없는지 확인합니다. 결과와 논의의 경계가 명확한지 점검합니다.</a:t>
            </a:r>
            <a:endParaRPr lang="en-US" sz="1300" dirty="0"/>
          </a:p>
        </p:txBody>
      </p:sp>
      <p:pic>
        <p:nvPicPr>
          <p:cNvPr id="28" name="Image 5" descr="gen-dedup-3b2decfca0c09d762ff12567e7169393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676095" y="4714646"/>
            <a:ext cx="171907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2190902" y="45720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인용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2190902" y="4953305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본문 인용과 참고문헌 목록이 교차로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일치하는지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확인합니다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300" dirty="0"/>
          </a:p>
        </p:txBody>
      </p:sp>
      <p:pic>
        <p:nvPicPr>
          <p:cNvPr id="31" name="Image 6" descr="gen-dedup-1a73814215bca6597576f909f5baeae1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714646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53098" y="457200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6. Figure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6953098" y="4953305"/>
            <a:ext cx="3620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표와 Figure가 문단에서 적절히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연결되고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설명되었는지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확인합니다.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61695" y="609630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피어리뷰는 비판이 아닌 개선을 위한 협력입니다</a:t>
            </a:r>
            <a:endParaRPr lang="en-US" sz="16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0508250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16952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16669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27148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743200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2714854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37627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791102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3762756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15000" y="47621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9" name="Image 4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4791456"/>
            <a:ext cx="5143500" cy="91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1182198" y="47621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15000" y="576254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5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829300"/>
            <a:ext cx="5143500" cy="91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1182198" y="5762549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4" name="Image 6" descr="gen-dedup-8d842fe1d73fe73c026b544bc87146f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3524098"/>
            <a:ext cx="4286707" cy="247707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61695" y="3333902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4762195" y="3333902"/>
            <a:ext cx="381305" cy="38130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66598" y="1143000"/>
            <a:ext cx="4286707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AI </a:t>
            </a:r>
            <a:r>
              <a:rPr lang="en-US" sz="42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</a:t>
            </a:r>
            <a:r>
              <a:rPr lang="en-US" sz="42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42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</a:t>
            </a:r>
            <a:r>
              <a:rPr lang="en-US" sz="4200" dirty="0"/>
              <a:t> </a:t>
            </a:r>
            <a:r>
              <a:rPr lang="en-US" sz="4200" b="1" kern="0" spc="-150" dirty="0" err="1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문서화</a:t>
            </a:r>
            <a:endParaRPr lang="en-US" sz="4200" dirty="0"/>
          </a:p>
        </p:txBody>
      </p:sp>
      <p:pic>
        <p:nvPicPr>
          <p:cNvPr id="28" name="Image 7" descr="gen-dedup-6b005e5baacae75efd4730cf7fa8b364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875995" y="3448202"/>
            <a:ext cx="152705" cy="152705"/>
          </a:xfrm>
          <a:prstGeom prst="rect">
            <a:avLst/>
          </a:prstGeom>
        </p:spPr>
      </p:pic>
      <p:pic>
        <p:nvPicPr>
          <p:cNvPr id="29" name="Image 8" descr="gen-dedup-0822663052c1752f50b718428909f459.png"/>
          <p:cNvPicPr>
            <a:picLocks noChangeAspect="1"/>
          </p:cNvPicPr>
          <p:nvPr/>
        </p:nvPicPr>
        <p:blipFill>
          <a:blip r:embed="rId5"/>
          <a:srcRect l="-16666" r="-16666"/>
          <a:stretch/>
        </p:blipFill>
        <p:spPr>
          <a:xfrm>
            <a:off x="4876495" y="3448202"/>
            <a:ext cx="15270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715000" y="857707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연구 단계별 AI 활용 정리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5715000" y="1190549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설계/분석/시각화/보고 각 단계에서 AI를 어떻게 활용했는지 정리합니다.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5715000" y="1857146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도구 목록</a:t>
            </a:r>
            <a:endParaRPr lang="en-US" sz="16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0" y="2190902"/>
            <a:ext cx="5619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사용한 AI 도구(ChatGPT/Claude/Copilot 등)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소프트웨어를 기록합니다.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0" y="2905049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프롬프트 라이브러리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5715000" y="3238805"/>
            <a:ext cx="5619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효과적이었던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유형별</a:t>
            </a:r>
            <a:endParaRPr lang="en-US" sz="12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(설문생성/통계해석/Figure생성/논의작성)로 정리합니다.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5715000" y="3952951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검증 절차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5715000" y="4286707"/>
            <a:ext cx="5619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적용한 검증 기준과 체크리스트를 문서화합니다.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5715000" y="4953305"/>
            <a:ext cx="5619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한계 인식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5384902" y="5286146"/>
            <a:ext cx="62810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활용의 한계(할루시네이션, 맥락 부재, 인과 오류 등)와 대응 전략을 기록합니다.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5715000" y="5952744"/>
            <a:ext cx="595091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프로토콜은 여러분의 연구 역량을 체계적으로 축적하는 자산입니다.</a:t>
            </a:r>
            <a:endParaRPr lang="en-US" sz="15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4342763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29207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3908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390802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프로토콜 구성요소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597221"/>
              </p:ext>
            </p:extLst>
          </p:nvPr>
        </p:nvGraphicFramePr>
        <p:xfrm>
          <a:off x="539262" y="1809598"/>
          <a:ext cx="11172091" cy="3630470"/>
        </p:xfrm>
        <a:graphic>
          <a:graphicData uri="http://schemas.openxmlformats.org/drawingml/2006/table">
            <a:tbl>
              <a:tblPr/>
              <a:tblGrid>
                <a:gridCol w="1465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4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단계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도구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프롬프트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기준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한계 인식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4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설계 (모듈1)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ChatGPT/Claude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2B6CB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"연구문제 후보 5개 제안해줘"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이론적 타당성 검토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맥락 부재, 이론 판단 불가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4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해석 (모듈2)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ChatGPT/Claude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2B6CB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"t검정 결과를 APA로 서술해줘"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수치 정확성 대조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효과크기 누락, 인과 단정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시각화 (모듈3)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ChatGPT+Python/R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2B6CB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"오차막대 포함 막대그래프 코드"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Figure 검증 체크리스트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축/범례 누락, 색상 접근성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4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보고 (모듈4)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ChatGPT/Claude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i="1" dirty="0">
                          <a:solidFill>
                            <a:srgbClr val="2B6CB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"논의 섹션을 APA로 작성해줘"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인용 실재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가짜 인용(hallucination), 해석 편향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761695" y="5673969"/>
            <a:ext cx="10668305" cy="69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테이블을 기반으로 자신만의 AI 활용 프로토콜을 완성하세요"</a:t>
            </a:r>
            <a:endParaRPr lang="en-US" sz="18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9188302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333195" y="476402"/>
            <a:ext cx="95253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2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발표 구성 (5분)</a:t>
            </a:r>
            <a:endParaRPr lang="en-US" sz="4200" dirty="0"/>
          </a:p>
        </p:txBody>
      </p:sp>
      <p:pic>
        <p:nvPicPr>
          <p:cNvPr id="5" name="Image 0" descr="gen-dedup-5030a759d24ef4e2f71f84ca3fbcf019.png"/>
          <p:cNvPicPr>
            <a:picLocks noChangeAspect="1"/>
          </p:cNvPicPr>
          <p:nvPr/>
        </p:nvPicPr>
        <p:blipFill>
          <a:blip r:embed="rId2"/>
          <a:srcRect t="-402" b="-402"/>
          <a:stretch/>
        </p:blipFill>
        <p:spPr>
          <a:xfrm>
            <a:off x="2286000" y="1429207"/>
            <a:ext cx="761969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5224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95224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93953" y="2714854"/>
            <a:ext cx="2591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배경 + 방법 (1분)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333902"/>
            <a:ext cx="3429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목적, 연구문제, 핵심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변수를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간결하게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소개하고,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설계/표본/측정도구를 요약합니다</a:t>
            </a:r>
            <a:endParaRPr lang="en-US" sz="1500" dirty="0"/>
          </a:p>
        </p:txBody>
      </p:sp>
      <p:pic>
        <p:nvPicPr>
          <p:cNvPr id="10" name="Image 1" descr="gen-dedup-8517da13ad625bcb98cf8f90895a7741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4429354"/>
            <a:ext cx="3429000" cy="10479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4429354"/>
            <a:ext cx="57607" cy="1047902"/>
          </a:xfrm>
          <a:prstGeom prst="roundRect">
            <a:avLst>
              <a:gd name="adj" fmla="val 23088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857707" y="4429354"/>
            <a:ext cx="3142793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28600" rIns="228600" bIns="2286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"왜 이 연구가 </a:t>
            </a:r>
            <a:r>
              <a:rPr lang="en-US" sz="1500" i="1" dirty="0" err="1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중요한가를</a:t>
            </a:r>
            <a:r>
              <a:rPr lang="en-US" sz="15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30초 안에 전달"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048049" y="3333902"/>
            <a:ext cx="362102" cy="75895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334256" y="3333902"/>
            <a:ext cx="75895" cy="362102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762549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762549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4508500" y="2714854"/>
            <a:ext cx="3175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+ 핵심 Figure (2분)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381805" y="3333902"/>
            <a:ext cx="3429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가설별 핵심 결과를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통계치와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함께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보고하고, 대표 Figure 1~2개로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시각적으로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전달합니다</a:t>
            </a:r>
            <a:endParaRPr lang="en-US" sz="1500" dirty="0"/>
          </a:p>
        </p:txBody>
      </p:sp>
      <p:pic>
        <p:nvPicPr>
          <p:cNvPr id="19" name="Image 2" descr="gen-dedup-8517da13ad625bcb98cf8f90895a7741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381805" y="4429354"/>
            <a:ext cx="3657600" cy="104790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81805" y="4429354"/>
            <a:ext cx="57607" cy="1047902"/>
          </a:xfrm>
          <a:prstGeom prst="roundRect">
            <a:avLst>
              <a:gd name="adj" fmla="val 23088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508500" y="4429354"/>
            <a:ext cx="3530905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28600" rIns="228600" bIns="2286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"Figure를 가리키며 핵심 수치를 설명"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858354" y="3333902"/>
            <a:ext cx="362102" cy="75895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144561" y="3333902"/>
            <a:ext cx="75895" cy="362102"/>
          </a:xfrm>
          <a:prstGeom prst="rect">
            <a:avLst/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9572854" y="1809598"/>
            <a:ext cx="666598" cy="666598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9572854" y="1809598"/>
            <a:ext cx="667512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8441741" y="2714854"/>
            <a:ext cx="29343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 + 결론 + Q&amp;A (2분)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8191194" y="3333902"/>
            <a:ext cx="3613943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해석, 선행연구 비교, </a:t>
            </a: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시사점을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요약하고</a:t>
            </a: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한계·제언·결론으로 마무리합니다</a:t>
            </a:r>
            <a:endParaRPr lang="en-US" sz="1500" dirty="0"/>
          </a:p>
        </p:txBody>
      </p:sp>
      <p:pic>
        <p:nvPicPr>
          <p:cNvPr id="28" name="Image 3" descr="gen-dedup-8517da13ad625bcb98cf8f90895a7741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191195" y="4429354"/>
            <a:ext cx="3429000" cy="104790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191195" y="4429354"/>
            <a:ext cx="57607" cy="1047902"/>
          </a:xfrm>
          <a:prstGeom prst="roundRect">
            <a:avLst>
              <a:gd name="adj" fmla="val 230881"/>
            </a:avLst>
          </a:prstGeom>
          <a:solidFill>
            <a:srgbClr val="90CDF4"/>
          </a:solidFill>
          <a:ln w="12700">
            <a:solidFill>
              <a:srgbClr val="90CDF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400592" y="4429354"/>
            <a:ext cx="3219603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28600" rIns="228600" bIns="2286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 문장 결론으로 인상 깊게 마무리"</a:t>
            </a:r>
            <a:endParaRPr lang="en-US" sz="1500" dirty="0"/>
          </a:p>
        </p:txBody>
      </p:sp>
      <p:pic>
        <p:nvPicPr>
          <p:cNvPr id="31" name="Image 4" descr="gen-dedup-7bd23a91ff9e7798de8a0b3c0dafdd7c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2286000" y="5905195"/>
            <a:ext cx="7619695" cy="91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33195" y="6143854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5분 안에 연구의 가치를 전달하는 것이 발표의 핵심입니다</a:t>
            </a:r>
            <a:endParaRPr lang="en-US" sz="2100" dirty="0"/>
          </a:p>
        </p:txBody>
      </p:sp>
      <p:pic>
        <p:nvPicPr>
          <p:cNvPr id="33" name="Image 5" descr="gen-dedup-2c48bca0947e42727d67028363c04897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34" name="Image 6" descr="gen-dedup-d0eb4450f0df06f0fea106621b17d79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5892907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1524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524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2952598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2952598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000500" y="43818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476402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체크포인트</a:t>
            </a:r>
            <a:endParaRPr lang="en-US" sz="3100" dirty="0"/>
          </a:p>
        </p:txBody>
      </p:sp>
      <p:pic>
        <p:nvPicPr>
          <p:cNvPr id="15" name="Image 1" descr="gen-dedup-40e6736a0b0ff910933df4cbd0f6895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7944" y="1647749"/>
            <a:ext cx="171907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86000" y="152430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관리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286000" y="1904695"/>
            <a:ext cx="3620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5분 이내로 구성합니다. 배경 1분, 결과 2분,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논의·결론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2분의 비율을 지킵니다.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타이머를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사용하여 연습합니다.</a:t>
            </a:r>
            <a:endParaRPr lang="en-US" sz="1200" dirty="0"/>
          </a:p>
        </p:txBody>
      </p:sp>
      <p:pic>
        <p:nvPicPr>
          <p:cNvPr id="18" name="Image 2" descr="gen-dedup-2b6c6e0ef2339cb668b018c8a85406e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9944" y="1647749"/>
            <a:ext cx="171907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0" y="152430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메시지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1904695"/>
            <a:ext cx="3620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연구의 가장 중요한 발견은 무엇인가"에 한 문장으로 답할 수 있어야 합니다. 복잡한 내용을 단순화합니다.</a:t>
            </a:r>
            <a:endParaRPr lang="en-US" sz="1200" dirty="0"/>
          </a:p>
        </p:txBody>
      </p:sp>
      <p:pic>
        <p:nvPicPr>
          <p:cNvPr id="21" name="Image 3" descr="gen-dedup-7fdd2073aea70543190429e763702e1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837944" y="3076956"/>
            <a:ext cx="171907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286000" y="2952598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시각자료 활용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2286000" y="3333902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대표 Figure 1~2개를 활용하여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결과를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시각적으로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전달합니다.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텍스트가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아닌 그림으로 설명합니다.</a:t>
            </a:r>
            <a:endParaRPr lang="en-US" sz="1200" dirty="0"/>
          </a:p>
        </p:txBody>
      </p:sp>
      <p:pic>
        <p:nvPicPr>
          <p:cNvPr id="24" name="Image 4" descr="gen-dedup-0ca69d1d9dc4d378fbcb273c90e5f19f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6429146" y="3076956"/>
            <a:ext cx="133502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58000" y="2952598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전달력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6858000" y="3333902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천천히, 명확하게, 청중을 바라보며 발표합니다.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수치를 강조할 때 잠시 멈춥니다.</a:t>
            </a:r>
            <a:endParaRPr lang="en-US" sz="1200" dirty="0"/>
          </a:p>
        </p:txBody>
      </p:sp>
      <p:pic>
        <p:nvPicPr>
          <p:cNvPr id="27" name="Image 5" descr="gen-dedup-03c6230963137f171e65963515b20d1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23944" y="4505249"/>
            <a:ext cx="171907" cy="1719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381805"/>
            <a:ext cx="3333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Q&amp;A 대비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762195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질문 3~5개를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미리</a:t>
            </a: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준비합니다</a:t>
            </a:r>
            <a:endParaRPr lang="en-US" sz="12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(한계, 대안적 해석, 실무 적용 등).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5905195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발표는 연구의 가치를 증명하는 마지막 관문입니다</a:t>
            </a:r>
            <a:endParaRPr lang="en-US" sz="16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1444654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476756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4383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714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2286000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714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286500" y="4095598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66659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 핵심 요약</a:t>
            </a:r>
            <a:endParaRPr lang="en-US" sz="3600" dirty="0"/>
          </a:p>
        </p:txBody>
      </p:sp>
      <p:pic>
        <p:nvPicPr>
          <p:cNvPr id="14" name="Image 1" descr="gen-dedup-04e4613d1ca667021abf0119435c38d0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1857146" y="242864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81098" y="2286000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 구조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381097" y="2667305"/>
            <a:ext cx="371490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서론→방법→결과→논의→결론의 전체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구조를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확립하고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, 모듈 1~3 산출물을 각 섹션에 매핑합니다.</a:t>
            </a:r>
            <a:endParaRPr lang="en-US" sz="1300" dirty="0"/>
          </a:p>
        </p:txBody>
      </p:sp>
      <p:pic>
        <p:nvPicPr>
          <p:cNvPr id="17" name="Image 2" descr="gen-dedup-d3e233ec31f6786e3ece73752c5f18f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42864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3098" y="2286000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결과/논의 분리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953098" y="2667305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결과는 객관적 보고, 논의는 해석·비교·의미.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섹션의 목적과 톤을 명확히 구분합니다.</a:t>
            </a:r>
            <a:endParaRPr lang="en-US" sz="1300" dirty="0"/>
          </a:p>
        </p:txBody>
      </p:sp>
      <p:pic>
        <p:nvPicPr>
          <p:cNvPr id="20" name="Image 3" descr="gen-dedup-90e99e9524fcadaa9e6a86be9b280d70.png"/>
          <p:cNvPicPr>
            <a:picLocks noChangeAspect="1"/>
          </p:cNvPicPr>
          <p:nvPr/>
        </p:nvPicPr>
        <p:blipFill>
          <a:blip r:embed="rId5"/>
          <a:srcRect l="-16667" r="-16667"/>
          <a:stretch/>
        </p:blipFill>
        <p:spPr>
          <a:xfrm>
            <a:off x="1857146" y="4238244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81098" y="409559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381098" y="4476902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 정확성, 인용 교차검증, APA 형식,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캡션·단위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일관성을 종합적으로 점검합니다.</a:t>
            </a:r>
            <a:endParaRPr lang="en-US" sz="1300" dirty="0"/>
          </a:p>
        </p:txBody>
      </p:sp>
      <p:pic>
        <p:nvPicPr>
          <p:cNvPr id="23" name="Image 4" descr="gen-dedup-2c888c68485a4a2cf87e918ade1f8d0f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6429146" y="4238244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3098" y="4095598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프로토콜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953098" y="4476902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전 과정에서 AI 활용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도구·프롬프트·검증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절차</a:t>
            </a:r>
            <a:endParaRPr lang="en-US" sz="1300" dirty="0">
              <a:solidFill>
                <a:srgbClr val="6C757D"/>
              </a:solidFill>
              <a:latin typeface="나눔고딕" pitchFamily="34" charset="0"/>
              <a:ea typeface="나눔고딕" pitchFamily="34" charset="-122"/>
              <a:cs typeface="나눔고딕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·한계 인식을 체계적으로 문서화합니다.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916918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"치밀한 검증과 체계적 문서화가 학술적 신뢰성의 완성입니다"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1421321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333195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2957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286000" y="1714500"/>
            <a:ext cx="7638898" cy="4019702"/>
          </a:xfrm>
          <a:prstGeom prst="roundRect">
            <a:avLst>
              <a:gd name="adj" fmla="val 21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d81ddd6bd8d42b7b75290fe99df9b31a.png"/>
          <p:cNvPicPr>
            <a:picLocks noChangeAspect="1"/>
          </p:cNvPicPr>
          <p:nvPr/>
        </p:nvPicPr>
        <p:blipFill>
          <a:blip r:embed="rId3"/>
          <a:srcRect l="-12" r="-12"/>
          <a:stretch/>
        </p:blipFill>
        <p:spPr>
          <a:xfrm>
            <a:off x="2762402" y="2095805"/>
            <a:ext cx="2667305" cy="123809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66237" y="2413102"/>
            <a:ext cx="16596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 설계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8610" y="2775204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연구문제·가설·변수·설문</a:t>
            </a:r>
            <a:endParaRPr lang="en-US" sz="1300" dirty="0"/>
          </a:p>
        </p:txBody>
      </p:sp>
      <p:pic>
        <p:nvPicPr>
          <p:cNvPr id="13" name="Image 2" descr="gen-dedup-4f7b39d9590c6df55e10bece009a6f59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810098" y="2686507"/>
            <a:ext cx="571500" cy="57607"/>
          </a:xfrm>
          <a:prstGeom prst="rect">
            <a:avLst/>
          </a:prstGeom>
        </p:spPr>
      </p:pic>
      <p:pic>
        <p:nvPicPr>
          <p:cNvPr id="14" name="Image 3" descr="gen-dedup-0036ee13752e29c97fd1f6c922458518.png"/>
          <p:cNvPicPr>
            <a:picLocks noChangeAspect="1"/>
          </p:cNvPicPr>
          <p:nvPr/>
        </p:nvPicPr>
        <p:blipFill>
          <a:blip r:embed="rId5"/>
          <a:srcRect l="-12" r="-12"/>
          <a:stretch/>
        </p:blipFill>
        <p:spPr>
          <a:xfrm>
            <a:off x="6762902" y="2095805"/>
            <a:ext cx="2667305" cy="12380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6737" y="2413102"/>
            <a:ext cx="16596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2 해석</a:t>
            </a:r>
            <a:endParaRPr lang="en-US" sz="2100" dirty="0"/>
          </a:p>
        </p:txBody>
      </p:sp>
      <p:sp>
        <p:nvSpPr>
          <p:cNvPr id="16" name="Text 10"/>
          <p:cNvSpPr txBox="1"/>
          <p:nvPr/>
        </p:nvSpPr>
        <p:spPr>
          <a:xfrm>
            <a:off x="6935724" y="2775204"/>
            <a:ext cx="23225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통계분석·APA 보고·AI 해석</a:t>
            </a:r>
            <a:endParaRPr lang="en-US" sz="1300" dirty="0"/>
          </a:p>
        </p:txBody>
      </p:sp>
      <p:pic>
        <p:nvPicPr>
          <p:cNvPr id="17" name="Image 4" descr="gen-dedup-b4d796ef37717f46c66e59f19ad9482b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8067751" y="3476549"/>
            <a:ext cx="57607" cy="476402"/>
          </a:xfrm>
          <a:prstGeom prst="rect">
            <a:avLst/>
          </a:prstGeom>
        </p:spPr>
      </p:pic>
      <p:pic>
        <p:nvPicPr>
          <p:cNvPr id="18" name="Image 5" descr="gen-dedup-6a265d7aeb0155824b7be8519146b457.png"/>
          <p:cNvPicPr>
            <a:picLocks noChangeAspect="1"/>
          </p:cNvPicPr>
          <p:nvPr/>
        </p:nvPicPr>
        <p:blipFill>
          <a:blip r:embed="rId7"/>
          <a:srcRect l="-12" r="-12"/>
          <a:stretch/>
        </p:blipFill>
        <p:spPr>
          <a:xfrm>
            <a:off x="6762902" y="4095598"/>
            <a:ext cx="2667305" cy="123809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127748" y="4413809"/>
            <a:ext cx="194492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3 시각화</a:t>
            </a:r>
            <a:endParaRPr lang="en-US" sz="2100" dirty="0"/>
          </a:p>
        </p:txBody>
      </p:sp>
      <p:sp>
        <p:nvSpPr>
          <p:cNvPr id="20" name="Text 12"/>
          <p:cNvSpPr txBox="1"/>
          <p:nvPr/>
        </p:nvSpPr>
        <p:spPr>
          <a:xfrm>
            <a:off x="6991502" y="4775911"/>
            <a:ext cx="221559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Figure·인포그래픽·구조도</a:t>
            </a:r>
            <a:endParaRPr lang="en-US" sz="1300" dirty="0"/>
          </a:p>
        </p:txBody>
      </p:sp>
      <p:pic>
        <p:nvPicPr>
          <p:cNvPr id="21" name="Image 6" descr="gen-dedup-4f7b39d9590c6df55e10bece009a6f59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810098" y="4686300"/>
            <a:ext cx="571500" cy="57607"/>
          </a:xfrm>
          <a:prstGeom prst="rect">
            <a:avLst/>
          </a:prstGeom>
        </p:spPr>
      </p:pic>
      <p:pic>
        <p:nvPicPr>
          <p:cNvPr id="22" name="Image 7" descr="gen-dedup-d81ddd6bd8d42b7b75290fe99df9b31a.png"/>
          <p:cNvPicPr>
            <a:picLocks noChangeAspect="1"/>
          </p:cNvPicPr>
          <p:nvPr/>
        </p:nvPicPr>
        <p:blipFill>
          <a:blip r:embed="rId3"/>
          <a:srcRect l="-12" r="-12"/>
          <a:stretch/>
        </p:blipFill>
        <p:spPr>
          <a:xfrm>
            <a:off x="2762402" y="4095598"/>
            <a:ext cx="2667305" cy="123809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266237" y="4413809"/>
            <a:ext cx="165963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4 보고</a:t>
            </a:r>
            <a:endParaRPr lang="en-US" sz="2100" dirty="0"/>
          </a:p>
        </p:txBody>
      </p:sp>
      <p:sp>
        <p:nvSpPr>
          <p:cNvPr id="24" name="Text 14"/>
          <p:cNvSpPr txBox="1"/>
          <p:nvPr/>
        </p:nvSpPr>
        <p:spPr>
          <a:xfrm>
            <a:off x="2998318" y="4775911"/>
            <a:ext cx="220370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결과·논의·한계·결론·발표</a:t>
            </a:r>
            <a:endParaRPr lang="en-US" sz="1300" dirty="0"/>
          </a:p>
        </p:txBody>
      </p:sp>
      <p:pic>
        <p:nvPicPr>
          <p:cNvPr id="25" name="Image 8" descr="gen-dedup-b4d796ef37717f46c66e59f19ad9482b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4067251" y="3476549"/>
            <a:ext cx="57607" cy="47640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과정 통합 요약: 설계→해석→시각화→보고</a:t>
            </a:r>
            <a:endParaRPr lang="en-US" sz="3100" dirty="0"/>
          </a:p>
        </p:txBody>
      </p:sp>
      <p:sp>
        <p:nvSpPr>
          <p:cNvPr id="27" name="Shape 16"/>
          <p:cNvSpPr/>
          <p:nvPr/>
        </p:nvSpPr>
        <p:spPr>
          <a:xfrm>
            <a:off x="4190695" y="3429000"/>
            <a:ext cx="3847795" cy="609905"/>
          </a:xfrm>
          <a:prstGeom prst="roundRect">
            <a:avLst>
              <a:gd name="adj" fmla="val 140555"/>
            </a:avLst>
          </a:prstGeom>
          <a:solidFill>
            <a:srgbClr val="FFFFFF"/>
          </a:solidFill>
          <a:ln w="254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8" name="Text 17"/>
          <p:cNvSpPr txBox="1"/>
          <p:nvPr/>
        </p:nvSpPr>
        <p:spPr>
          <a:xfrm>
            <a:off x="4846320" y="3619195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보조 + 연구자 검증</a:t>
            </a:r>
            <a:endParaRPr lang="en-US" sz="1800" dirty="0"/>
          </a:p>
        </p:txBody>
      </p:sp>
      <p:sp>
        <p:nvSpPr>
          <p:cNvPr id="29" name="Text 18"/>
          <p:cNvSpPr txBox="1"/>
          <p:nvPr/>
        </p:nvSpPr>
        <p:spPr>
          <a:xfrm>
            <a:off x="761695" y="6001207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"20시간의 여정이 여러분의 양적 연구 역량으로 축적됩니다"</a:t>
            </a:r>
            <a:endParaRPr lang="en-US" sz="16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8933951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96883d9fc8a7bbb771b9a9f9ef862981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2286000" y="1143000"/>
            <a:ext cx="7619695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10105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29800" y="110459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1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산출물 정리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1238098" y="1714500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514246" y="19906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2" name="Image 1" descr="gen-dedup-b7451b660311481601a03c451beeae28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657807" y="2104949"/>
            <a:ext cx="1719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14246" y="2600554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보고서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14245" y="2924251"/>
            <a:ext cx="277154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서론~결론 전체 구조를 갖춘 학술 보고서 최종본 (결과·논의·한계·결론 포함)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1714500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848149" y="19906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7" name="Image 2" descr="gen-dedup-04d6d246d18ef98914bd227ecc2843c8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934102" y="2104949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8149" y="2600554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프로토콜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8149" y="2924251"/>
            <a:ext cx="269656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연구 단계별 AI 도구·프롬프트·검증 절차·한계 인식 문서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905902" y="1714500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182051" y="1990649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2" name="Image 3" descr="gen-dedup-8c6b1f8218e28e4aceb45b96dd81830e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281721" y="2104949"/>
            <a:ext cx="256946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182051" y="2600554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자료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182051" y="2924251"/>
            <a:ext cx="2496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5분 구조의 최종 발표 슬라이드 (배경→방법→결과→논의→결론)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238098" y="3905402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514246" y="4181551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7" name="Image 4" descr="gen-dedup-5a80190e13917769124ccd476a08a2f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8546" y="4295851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14246" y="479145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Figure + 검증 보고서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514246" y="5115154"/>
            <a:ext cx="2496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 형식 Figure + 검증 체크리스트 기반 검증 결과 보고서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0" y="3905402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4848149" y="4181551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2" name="Image 5" descr="gen-dedup-07521c9dfc6a9861e0962bb707a394eb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4934102" y="4295851"/>
            <a:ext cx="286207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48149" y="479145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피어리뷰 기록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4848149" y="5115154"/>
            <a:ext cx="26965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 검토 피드백과 수정 반영 기록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905902" y="3905402"/>
            <a:ext cx="3047695" cy="1952244"/>
          </a:xfrm>
          <a:prstGeom prst="roundRect">
            <a:avLst>
              <a:gd name="adj" fmla="val 5484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8182051" y="4181551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37" name="Image 6" descr="gen-dedup-63cc86c0028853179326656b1b4eb12b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8281721" y="4295851"/>
            <a:ext cx="256946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82051" y="4791456"/>
            <a:ext cx="2496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라이브러리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8182051" y="5115154"/>
            <a:ext cx="2496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1~4에서 활용한 AI </a:t>
            </a: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템플릿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통합본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 산출물은 향후 학위논문·학술지 투고의 기반 자료로 활용됩니다"</a:t>
            </a:r>
            <a:endParaRPr lang="en-US" sz="16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8534229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694944"/>
            <a:ext cx="5143500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2198" y="666598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22384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0" name="Image 1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2266798"/>
            <a:ext cx="5143500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182198" y="2238451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715000" y="3810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3" name="Image 2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3838651"/>
            <a:ext cx="5143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182198" y="3810305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15000" y="5572354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16" name="Image 3" descr="gen-dedup-e20360e895d0f113b535481c6513b68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952744" y="5639105"/>
            <a:ext cx="5143500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1182198" y="5572354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Text 12"/>
          <p:cNvSpPr txBox="1"/>
          <p:nvPr/>
        </p:nvSpPr>
        <p:spPr>
          <a:xfrm>
            <a:off x="666598" y="1143000"/>
            <a:ext cx="4286707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마무리 및</a:t>
            </a:r>
            <a:endParaRPr lang="en-US" sz="4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향후 안내</a:t>
            </a:r>
            <a:endParaRPr lang="en-US" sz="48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0" y="952805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최종 점검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0" y="1380744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1~4의 핵심 산출물(보고서, 프로토콜, 발표자료)이</a:t>
            </a: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모두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갖춰졌는지 확인합니다.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0" y="2523744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자료 보관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2952598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템플릿, 체크리스트, AI 프로토콜을 개인 아카이브에 보관하세요.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향후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연구에서 바로 활용할 수 있습니다.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715000" y="4095598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후속 연구·투고 가이드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0" y="4524451"/>
            <a:ext cx="5619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과정의 산출물을 학위논문이나 학술지 투고로 발전시킬 수 있습니다.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투고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 해당 학회의 Author Guidelines를 반드시 확인하세요.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519318" y="5857646"/>
            <a:ext cx="6011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과정은 끝이 아니라 여러분의 연구 여정의 시작입니다.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654675" y="3839565"/>
            <a:ext cx="381305" cy="38130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29" name="Image 5" descr="gen-dedup-6b005e5baacae75efd4730cf7fa8b364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768975" y="3953865"/>
            <a:ext cx="152705" cy="152705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AAD8B3-F05F-C146-A040-0AC16E364F43}"/>
              </a:ext>
            </a:extLst>
          </p:cNvPr>
          <p:cNvSpPr/>
          <p:nvPr/>
        </p:nvSpPr>
        <p:spPr>
          <a:xfrm>
            <a:off x="1448273" y="5077663"/>
            <a:ext cx="3048000" cy="25400"/>
          </a:xfrm>
          <a:prstGeom prst="rect">
            <a:avLst/>
          </a:prstGeom>
          <a:solidFill>
            <a:srgbClr val="CBD5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7AA1979-0B35-6A44-9C3E-FF1DC8BF4316}"/>
              </a:ext>
            </a:extLst>
          </p:cNvPr>
          <p:cNvSpPr/>
          <p:nvPr/>
        </p:nvSpPr>
        <p:spPr>
          <a:xfrm>
            <a:off x="1067273" y="4569663"/>
            <a:ext cx="1016000" cy="1016000"/>
          </a:xfrm>
          <a:prstGeom prst="ellipse">
            <a:avLst/>
          </a:prstGeom>
          <a:solidFill>
            <a:srgbClr val="1A36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3" name="포인트가 5개인 별[5] 32">
            <a:extLst>
              <a:ext uri="{FF2B5EF4-FFF2-40B4-BE49-F238E27FC236}">
                <a16:creationId xmlns:a16="http://schemas.microsoft.com/office/drawing/2014/main" id="{D9AFDA1E-FF3D-FF4C-9EBE-175EE8515BF0}"/>
              </a:ext>
            </a:extLst>
          </p:cNvPr>
          <p:cNvSpPr/>
          <p:nvPr/>
        </p:nvSpPr>
        <p:spPr>
          <a:xfrm>
            <a:off x="1372073" y="4874463"/>
            <a:ext cx="406400" cy="406400"/>
          </a:xfrm>
          <a:prstGeom prst="star5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07D93E-7FB0-D44F-B9C1-E8D82726082C}"/>
              </a:ext>
            </a:extLst>
          </p:cNvPr>
          <p:cNvSpPr txBox="1"/>
          <p:nvPr/>
        </p:nvSpPr>
        <p:spPr>
          <a:xfrm>
            <a:off x="1301733" y="5687263"/>
            <a:ext cx="1016000" cy="3803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>
                <a:solidFill>
                  <a:srgbClr val="1A365D"/>
                </a:solidFill>
              </a:rPr>
              <a:t>완료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613B7C9-5035-274F-9576-310142A4FBA8}"/>
              </a:ext>
            </a:extLst>
          </p:cNvPr>
          <p:cNvSpPr/>
          <p:nvPr/>
        </p:nvSpPr>
        <p:spPr>
          <a:xfrm>
            <a:off x="2337273" y="4569663"/>
            <a:ext cx="1016000" cy="1016000"/>
          </a:xfrm>
          <a:prstGeom prst="ellipse">
            <a:avLst/>
          </a:prstGeom>
          <a:solidFill>
            <a:srgbClr val="2B6C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6" name="정육면체 35">
            <a:extLst>
              <a:ext uri="{FF2B5EF4-FFF2-40B4-BE49-F238E27FC236}">
                <a16:creationId xmlns:a16="http://schemas.microsoft.com/office/drawing/2014/main" id="{7353201D-9B6B-B743-902A-3DE264749670}"/>
              </a:ext>
            </a:extLst>
          </p:cNvPr>
          <p:cNvSpPr/>
          <p:nvPr/>
        </p:nvSpPr>
        <p:spPr>
          <a:xfrm>
            <a:off x="2642073" y="4874463"/>
            <a:ext cx="406400" cy="406400"/>
          </a:xfrm>
          <a:prstGeom prst="cub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83E165-39A9-904B-8809-2AD2E0909C19}"/>
              </a:ext>
            </a:extLst>
          </p:cNvPr>
          <p:cNvSpPr txBox="1"/>
          <p:nvPr/>
        </p:nvSpPr>
        <p:spPr>
          <a:xfrm>
            <a:off x="2571733" y="5687263"/>
            <a:ext cx="1016000" cy="3803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>
                <a:solidFill>
                  <a:srgbClr val="1A365D"/>
                </a:solidFill>
              </a:rPr>
              <a:t>보관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C9A852A-91AB-2A48-B7A8-0AB0A2943B34}"/>
              </a:ext>
            </a:extLst>
          </p:cNvPr>
          <p:cNvSpPr/>
          <p:nvPr/>
        </p:nvSpPr>
        <p:spPr>
          <a:xfrm>
            <a:off x="3607273" y="4569663"/>
            <a:ext cx="1016000" cy="1016000"/>
          </a:xfrm>
          <a:prstGeom prst="ellipse">
            <a:avLst/>
          </a:prstGeom>
          <a:solidFill>
            <a:srgbClr val="3182C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39" name="오른쪽 화살표[R] 38">
            <a:extLst>
              <a:ext uri="{FF2B5EF4-FFF2-40B4-BE49-F238E27FC236}">
                <a16:creationId xmlns:a16="http://schemas.microsoft.com/office/drawing/2014/main" id="{4ECEC6EF-030A-A24F-A811-7CB8C11AD5B7}"/>
              </a:ext>
            </a:extLst>
          </p:cNvPr>
          <p:cNvSpPr/>
          <p:nvPr/>
        </p:nvSpPr>
        <p:spPr>
          <a:xfrm>
            <a:off x="3912073" y="4874463"/>
            <a:ext cx="406400" cy="406400"/>
          </a:xfrm>
          <a:prstGeom prst="rightArrow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50000"/>
              </a:lnSpc>
            </a:pP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FC5ABF-919D-C64D-9B6B-014946EDE439}"/>
              </a:ext>
            </a:extLst>
          </p:cNvPr>
          <p:cNvSpPr txBox="1"/>
          <p:nvPr/>
        </p:nvSpPr>
        <p:spPr>
          <a:xfrm>
            <a:off x="3841733" y="5687263"/>
            <a:ext cx="1016000" cy="3803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>
                <a:solidFill>
                  <a:srgbClr val="1A365D"/>
                </a:solidFill>
              </a:rPr>
              <a:t>공유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B2968D-35BC-E44E-958A-F1CC986BE6B8}"/>
              </a:ext>
            </a:extLst>
          </p:cNvPr>
          <p:cNvSpPr txBox="1"/>
          <p:nvPr/>
        </p:nvSpPr>
        <p:spPr>
          <a:xfrm>
            <a:off x="1067273" y="3838534"/>
            <a:ext cx="4292600" cy="42146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rgbClr val="1A365D"/>
                </a:solidFill>
              </a:rPr>
              <a:t>수료 후 다음 단계</a:t>
            </a:r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4417819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096098" y="476402"/>
            <a:ext cx="1505102" cy="1505102"/>
          </a:xfrm>
          <a:prstGeom prst="ellipse">
            <a:avLst/>
          </a:prstGeom>
          <a:noFill/>
          <a:ln w="508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77195" y="3333902"/>
            <a:ext cx="2095805" cy="2095805"/>
          </a:xfrm>
          <a:prstGeom prst="ellipse">
            <a:avLst/>
          </a:prstGeom>
          <a:solidFill>
            <a:srgbClr val="2B6CB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571500" y="952805"/>
            <a:ext cx="381305" cy="333756"/>
          </a:xfrm>
          <a:prstGeom prst="rect">
            <a:avLst/>
          </a:prstGeom>
          <a:noFill/>
          <a:ln w="2540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pic>
        <p:nvPicPr>
          <p:cNvPr id="7" name="Image 0" descr="gen-dedup-a107b70daa626f671328c0ed1a2d5b7f.png"/>
          <p:cNvPicPr>
            <a:picLocks noChangeAspect="1"/>
          </p:cNvPicPr>
          <p:nvPr/>
        </p:nvPicPr>
        <p:blipFill>
          <a:blip r:embed="rId2"/>
          <a:srcRect t="-384" b="-384"/>
          <a:stretch/>
        </p:blipFill>
        <p:spPr>
          <a:xfrm>
            <a:off x="666598" y="1333195"/>
            <a:ext cx="952805" cy="19202"/>
          </a:xfrm>
          <a:prstGeom prst="rect">
            <a:avLst/>
          </a:prstGeom>
        </p:spPr>
      </p:pic>
      <p:pic>
        <p:nvPicPr>
          <p:cNvPr id="8" name="Image 1" descr="gen-dedup-62d4101242a237122f7b3ce7dafc3d60.png"/>
          <p:cNvPicPr>
            <a:picLocks noChangeAspect="1"/>
          </p:cNvPicPr>
          <p:nvPr/>
        </p:nvPicPr>
        <p:blipFill>
          <a:blip r:embed="rId3"/>
          <a:srcRect t="-408" b="-408"/>
          <a:stretch/>
        </p:blipFill>
        <p:spPr>
          <a:xfrm>
            <a:off x="666598" y="3047695"/>
            <a:ext cx="1904695" cy="19202"/>
          </a:xfrm>
          <a:prstGeom prst="rect">
            <a:avLst/>
          </a:prstGeom>
        </p:spPr>
      </p:pic>
      <p:pic>
        <p:nvPicPr>
          <p:cNvPr id="9" name="Image 2" descr="gen-dedup-dd9b442323872db900f431b907c13f04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7429500" y="857707"/>
            <a:ext cx="4095598" cy="5143500"/>
          </a:xfrm>
          <a:prstGeom prst="rect">
            <a:avLst/>
          </a:prstGeom>
        </p:spPr>
      </p:pic>
      <p:pic>
        <p:nvPicPr>
          <p:cNvPr id="10" name="Image 3" descr="gen-dedup-c9746970e256bb75c407d9435a8c753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857707"/>
            <a:ext cx="4095750" cy="5143500"/>
          </a:xfrm>
          <a:prstGeom prst="rect">
            <a:avLst/>
          </a:prstGeom>
        </p:spPr>
      </p:pic>
      <p:pic>
        <p:nvPicPr>
          <p:cNvPr id="11" name="Image 4" descr="gen-dedup-bcb3cf82b116f6a90e0318dd994b5632.png"/>
          <p:cNvPicPr>
            <a:picLocks noChangeAspect="1"/>
          </p:cNvPicPr>
          <p:nvPr/>
        </p:nvPicPr>
        <p:blipFill>
          <a:blip r:embed="rId6"/>
          <a:srcRect t="-2" b="-2"/>
          <a:stretch/>
        </p:blipFill>
        <p:spPr>
          <a:xfrm>
            <a:off x="7429500" y="4858207"/>
            <a:ext cx="4095598" cy="1143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239305" y="666598"/>
            <a:ext cx="381305" cy="38130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11334902" y="5810098"/>
            <a:ext cx="571500" cy="571500"/>
          </a:xfrm>
          <a:prstGeom prst="ellipse">
            <a:avLst/>
          </a:prstGeom>
          <a:noFill/>
          <a:ln w="1016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4" name="Text 7"/>
          <p:cNvSpPr txBox="1"/>
          <p:nvPr/>
        </p:nvSpPr>
        <p:spPr>
          <a:xfrm>
            <a:off x="666598" y="1524305"/>
            <a:ext cx="5715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0" b="1" dirty="0">
                <a:solidFill>
                  <a:srgbClr val="1A365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7500" dirty="0"/>
          </a:p>
        </p:txBody>
      </p:sp>
      <p:sp>
        <p:nvSpPr>
          <p:cNvPr id="15" name="Text 8"/>
          <p:cNvSpPr txBox="1"/>
          <p:nvPr/>
        </p:nvSpPr>
        <p:spPr>
          <a:xfrm>
            <a:off x="666598" y="3333902"/>
            <a:ext cx="58293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20시간의 여정을 함께해 주셔서 </a:t>
            </a:r>
            <a:r>
              <a:rPr lang="en-US" sz="1600" b="1" dirty="0" err="1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AI와 함께 설계하고, 분석하고, 시각화하고, 보고하는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양적 연구 역량이 여러분의 자산이 되길 바랍니다. 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666598" y="4619549"/>
            <a:ext cx="58293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과정명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생성형 AI 기반 양적 연구 AI 활용 과정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20시간 4개 모듈 완료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</a:t>
            </a: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대학원생·성인학습자·연구자·교수자 </a:t>
            </a:r>
            <a:endParaRPr lang="en-US" sz="1300" dirty="0"/>
          </a:p>
        </p:txBody>
      </p:sp>
      <p:pic>
        <p:nvPicPr>
          <p:cNvPr id="18" name="Image 5" descr="gen-dedup-074c6eb0c4c199d8ecd9f5e29a8bc7c3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0" y="6762902"/>
            <a:ext cx="3657600" cy="95098"/>
          </a:xfrm>
          <a:prstGeom prst="rect">
            <a:avLst/>
          </a:prstGeom>
        </p:spPr>
      </p:pic>
      <p:pic>
        <p:nvPicPr>
          <p:cNvPr id="19" name="Image 6" descr="gen-dedup-65b911f495d93814b5400de757589870.png"/>
          <p:cNvPicPr>
            <a:picLocks noChangeAspect="1"/>
          </p:cNvPicPr>
          <p:nvPr/>
        </p:nvPicPr>
        <p:blipFill>
          <a:blip r:embed="rId8"/>
          <a:srcRect l="-78" r="-78"/>
          <a:stretch/>
        </p:blipFill>
        <p:spPr>
          <a:xfrm>
            <a:off x="3657600" y="6762902"/>
            <a:ext cx="8534095" cy="95098"/>
          </a:xfrm>
          <a:prstGeom prst="rect">
            <a:avLst/>
          </a:prstGeom>
        </p:spPr>
      </p:pic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39736731"/>
      </p:ext>
    </p:extLst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EB3482-C3DF-8A4E-B414-9AF20AA9096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194019e-7909-4ced-a57d-4f0c8e19d6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17774</Words>
  <Application>Microsoft Macintosh PowerPoint</Application>
  <PresentationFormat>와이드스크린</PresentationFormat>
  <Paragraphs>2861</Paragraphs>
  <Slides>181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181</vt:i4>
      </vt:variant>
    </vt:vector>
  </HeadingPairs>
  <TitlesOfParts>
    <vt:vector size="184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19</cp:revision>
  <dcterms:created xsi:type="dcterms:W3CDTF">2026-05-28T23:54:33Z</dcterms:created>
  <dcterms:modified xsi:type="dcterms:W3CDTF">2026-06-03T18:04:55Z</dcterms:modified>
</cp:coreProperties>
</file>