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4"/>
  </p:notesMasterIdLst>
  <p:sldIdLst>
    <p:sldId id="358" r:id="rId102"/>
    <p:sldId id="359" r:id="rId109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7" r:id="rId103"/>
    <p:sldId id="360" r:id="rId1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26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2.xml"/><Relationship Id="rId103" Type="http://schemas.openxmlformats.org/officeDocument/2006/relationships/slide" Target="slides/slide101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78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aebon@dreamitbiz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1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8.jpg"/><Relationship Id="rId5" Type="http://schemas.openxmlformats.org/officeDocument/2006/relationships/image" Target="../media/image7.jp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8.jpg"/><Relationship Id="rId5" Type="http://schemas.openxmlformats.org/officeDocument/2006/relationships/image" Target="../media/image7.jp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23.jpg"/><Relationship Id="rId5" Type="http://schemas.openxmlformats.org/officeDocument/2006/relationships/image" Target="../media/image24.jpg"/><Relationship Id="rId6" Type="http://schemas.openxmlformats.org/officeDocument/2006/relationships/image" Target="../media/image25.jpg"/><Relationship Id="rId7" Type="http://schemas.openxmlformats.org/officeDocument/2006/relationships/image" Target="../media/image7.jp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34.jpg"/><Relationship Id="rId5" Type="http://schemas.openxmlformats.org/officeDocument/2006/relationships/image" Target="../media/image7.jpg"/><Relationship Id="rId6" Type="http://schemas.openxmlformats.org/officeDocument/2006/relationships/image" Target="../media/image3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2.png"/><Relationship Id="rId6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1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36.png"/><Relationship Id="rId6" Type="http://schemas.openxmlformats.org/officeDocument/2006/relationships/image" Target="../media/image5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7.jp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56.png"/><Relationship Id="rId7" Type="http://schemas.openxmlformats.org/officeDocument/2006/relationships/image" Target="../media/image57.jpg"/><Relationship Id="rId8" Type="http://schemas.openxmlformats.org/officeDocument/2006/relationships/image" Target="../media/image5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4.png"/><Relationship Id="rId7" Type="http://schemas.openxmlformats.org/officeDocument/2006/relationships/image" Target="../media/image6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56.png"/><Relationship Id="rId7" Type="http://schemas.openxmlformats.org/officeDocument/2006/relationships/image" Target="../media/image6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2.png"/><Relationship Id="rId7" Type="http://schemas.openxmlformats.org/officeDocument/2006/relationships/image" Target="../media/image6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56.png"/><Relationship Id="rId7" Type="http://schemas.openxmlformats.org/officeDocument/2006/relationships/image" Target="../media/image66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7.jpg"/><Relationship Id="rId6" Type="http://schemas.openxmlformats.org/officeDocument/2006/relationships/image" Target="../media/image68.png"/><Relationship Id="rId7" Type="http://schemas.openxmlformats.org/officeDocument/2006/relationships/image" Target="../media/image6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70.png"/><Relationship Id="rId6" Type="http://schemas.openxmlformats.org/officeDocument/2006/relationships/image" Target="../media/image7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56.png"/><Relationship Id="rId6" Type="http://schemas.openxmlformats.org/officeDocument/2006/relationships/image" Target="../media/image72.jpg"/><Relationship Id="rId7" Type="http://schemas.openxmlformats.org/officeDocument/2006/relationships/image" Target="../media/image66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3.jpg"/><Relationship Id="rId3" Type="http://schemas.openxmlformats.org/officeDocument/2006/relationships/image" Target="../media/image54.jpg"/><Relationship Id="rId4" Type="http://schemas.openxmlformats.org/officeDocument/2006/relationships/image" Target="../media/image7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56.png"/><Relationship Id="rId6" Type="http://schemas.openxmlformats.org/officeDocument/2006/relationships/image" Target="../media/image8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jpg"/><Relationship Id="rId9" Type="http://schemas.openxmlformats.org/officeDocument/2006/relationships/image" Target="../media/image93.jpg"/><Relationship Id="rId10" Type="http://schemas.openxmlformats.org/officeDocument/2006/relationships/image" Target="../media/image94.jpg"/><Relationship Id="rId11" Type="http://schemas.openxmlformats.org/officeDocument/2006/relationships/image" Target="../media/image95.jpg"/><Relationship Id="rId12" Type="http://schemas.openxmlformats.org/officeDocument/2006/relationships/image" Target="../media/image96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97.png"/><Relationship Id="rId4" Type="http://schemas.openxmlformats.org/officeDocument/2006/relationships/image" Target="../media/image98.png"/><Relationship Id="rId5" Type="http://schemas.openxmlformats.org/officeDocument/2006/relationships/image" Target="../media/image73.jpg"/><Relationship Id="rId6" Type="http://schemas.openxmlformats.org/officeDocument/2006/relationships/image" Target="../media/image5.jpg"/><Relationship Id="rId7" Type="http://schemas.openxmlformats.org/officeDocument/2006/relationships/image" Target="../media/image80.png"/><Relationship Id="rId8" Type="http://schemas.openxmlformats.org/officeDocument/2006/relationships/image" Target="../media/image99.png"/><Relationship Id="rId9" Type="http://schemas.openxmlformats.org/officeDocument/2006/relationships/image" Target="../media/image100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5.jpg"/><Relationship Id="rId3" Type="http://schemas.openxmlformats.org/officeDocument/2006/relationships/image" Target="../media/image73.jpg"/><Relationship Id="rId4" Type="http://schemas.openxmlformats.org/officeDocument/2006/relationships/image" Target="../media/image5.jpg"/><Relationship Id="rId5" Type="http://schemas.openxmlformats.org/officeDocument/2006/relationships/image" Target="../media/image101.png"/><Relationship Id="rId6" Type="http://schemas.openxmlformats.org/officeDocument/2006/relationships/image" Target="../media/image63.png"/><Relationship Id="rId7" Type="http://schemas.openxmlformats.org/officeDocument/2006/relationships/image" Target="../media/image10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0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Relationship Id="rId6" Type="http://schemas.openxmlformats.org/officeDocument/2006/relationships/image" Target="../media/image10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8.jpg"/><Relationship Id="rId4" Type="http://schemas.openxmlformats.org/officeDocument/2006/relationships/image" Target="../media/image7.jpg"/><Relationship Id="rId5" Type="http://schemas.openxmlformats.org/officeDocument/2006/relationships/image" Target="../media/image105.jp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7.jpg"/><Relationship Id="rId6" Type="http://schemas.openxmlformats.org/officeDocument/2006/relationships/image" Target="../media/image11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Relationship Id="rId8" Type="http://schemas.openxmlformats.org/officeDocument/2006/relationships/image" Target="../media/image11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28.png"/><Relationship Id="rId5" Type="http://schemas.openxmlformats.org/officeDocument/2006/relationships/image" Target="../media/image62.png"/><Relationship Id="rId6" Type="http://schemas.openxmlformats.org/officeDocument/2006/relationships/image" Target="../media/image129.png"/><Relationship Id="rId7" Type="http://schemas.openxmlformats.org/officeDocument/2006/relationships/image" Target="../media/image130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Relationship Id="rId6" Type="http://schemas.openxmlformats.org/officeDocument/2006/relationships/image" Target="../media/image13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8.jpg"/><Relationship Id="rId4" Type="http://schemas.openxmlformats.org/officeDocument/2006/relationships/image" Target="../media/image7.jpg"/><Relationship Id="rId5" Type="http://schemas.openxmlformats.org/officeDocument/2006/relationships/image" Target="../media/image51.png"/><Relationship Id="rId6" Type="http://schemas.openxmlformats.org/officeDocument/2006/relationships/image" Target="../media/image13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62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12.png"/><Relationship Id="rId5" Type="http://schemas.openxmlformats.org/officeDocument/2006/relationships/image" Target="../media/image124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26.png"/><Relationship Id="rId9" Type="http://schemas.openxmlformats.org/officeDocument/2006/relationships/image" Target="../media/image143.png"/><Relationship Id="rId10" Type="http://schemas.openxmlformats.org/officeDocument/2006/relationships/image" Target="../media/image144.png"/><Relationship Id="rId11" Type="http://schemas.openxmlformats.org/officeDocument/2006/relationships/image" Target="../media/image145.png"/><Relationship Id="rId12" Type="http://schemas.openxmlformats.org/officeDocument/2006/relationships/image" Target="../media/image146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Relationship Id="rId3" Type="http://schemas.openxmlformats.org/officeDocument/2006/relationships/image" Target="../media/image14.jpg"/><Relationship Id="rId4" Type="http://schemas.openxmlformats.org/officeDocument/2006/relationships/image" Target="../media/image147.jpg"/><Relationship Id="rId5" Type="http://schemas.openxmlformats.org/officeDocument/2006/relationships/image" Target="../media/image14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Relationship Id="rId6" Type="http://schemas.openxmlformats.org/officeDocument/2006/relationships/image" Target="../media/image14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18.jpg"/><Relationship Id="rId4" Type="http://schemas.openxmlformats.org/officeDocument/2006/relationships/image" Target="../media/image7.jp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15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32.png"/><Relationship Id="rId5" Type="http://schemas.openxmlformats.org/officeDocument/2006/relationships/image" Target="../media/image124.png"/><Relationship Id="rId6" Type="http://schemas.openxmlformats.org/officeDocument/2006/relationships/image" Target="../media/image14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58.png"/><Relationship Id="rId5" Type="http://schemas.openxmlformats.org/officeDocument/2006/relationships/image" Target="../media/image159.jpg"/><Relationship Id="rId6" Type="http://schemas.openxmlformats.org/officeDocument/2006/relationships/image" Target="../media/image160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32.png"/><Relationship Id="rId5" Type="http://schemas.openxmlformats.org/officeDocument/2006/relationships/image" Target="../media/image124.png"/><Relationship Id="rId6" Type="http://schemas.openxmlformats.org/officeDocument/2006/relationships/image" Target="../media/image14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1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35.jpg"/><Relationship Id="rId4" Type="http://schemas.openxmlformats.org/officeDocument/2006/relationships/image" Target="../media/image7.jpg"/><Relationship Id="rId5" Type="http://schemas.openxmlformats.org/officeDocument/2006/relationships/image" Target="../media/image1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31.png"/><Relationship Id="rId5" Type="http://schemas.openxmlformats.org/officeDocument/2006/relationships/image" Target="../media/image162.png"/><Relationship Id="rId6" Type="http://schemas.openxmlformats.org/officeDocument/2006/relationships/image" Target="../media/image163.png"/><Relationship Id="rId7" Type="http://schemas.openxmlformats.org/officeDocument/2006/relationships/image" Target="../media/image164.png"/><Relationship Id="rId8" Type="http://schemas.openxmlformats.org/officeDocument/2006/relationships/image" Target="../media/image16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28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6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82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8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84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5.jpg"/><Relationship Id="rId3" Type="http://schemas.openxmlformats.org/officeDocument/2006/relationships/image" Target="../media/image7.jpg"/><Relationship Id="rId4" Type="http://schemas.openxmlformats.org/officeDocument/2006/relationships/image" Target="../media/image167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8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87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8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8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90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9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92.png"/><Relationship Id="rId5" Type="http://schemas.openxmlformats.org/officeDocument/2006/relationships/image" Target="../media/image193.png"/><Relationship Id="rId6" Type="http://schemas.openxmlformats.org/officeDocument/2006/relationships/image" Target="../media/image194.png"/><Relationship Id="rId7" Type="http://schemas.openxmlformats.org/officeDocument/2006/relationships/image" Target="../media/image195.png"/><Relationship Id="rId8" Type="http://schemas.openxmlformats.org/officeDocument/2006/relationships/image" Target="../media/image196.png"/><Relationship Id="rId9" Type="http://schemas.openxmlformats.org/officeDocument/2006/relationships/image" Target="../media/image197.png"/><Relationship Id="rId10" Type="http://schemas.openxmlformats.org/officeDocument/2006/relationships/image" Target="../media/image19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199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200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2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3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6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178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206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7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76.png"/><Relationship Id="rId11" Type="http://schemas.openxmlformats.org/officeDocument/2006/relationships/image" Target="../media/image208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170.png"/><Relationship Id="rId5" Type="http://schemas.openxmlformats.org/officeDocument/2006/relationships/image" Target="../media/image171.png"/><Relationship Id="rId6" Type="http://schemas.openxmlformats.org/officeDocument/2006/relationships/image" Target="../media/image172.png"/><Relationship Id="rId7" Type="http://schemas.openxmlformats.org/officeDocument/2006/relationships/image" Target="../media/image173.png"/><Relationship Id="rId8" Type="http://schemas.openxmlformats.org/officeDocument/2006/relationships/image" Target="../media/image174.png"/><Relationship Id="rId9" Type="http://schemas.openxmlformats.org/officeDocument/2006/relationships/image" Target="../media/image175.png"/><Relationship Id="rId10" Type="http://schemas.openxmlformats.org/officeDocument/2006/relationships/image" Target="../media/image176.png"/><Relationship Id="rId11" Type="http://schemas.openxmlformats.org/officeDocument/2006/relationships/image" Target="../media/image209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Relationship Id="rId3" Type="http://schemas.openxmlformats.org/officeDocument/2006/relationships/image" Target="../media/image7.jpg"/><Relationship Id="rId4" Type="http://schemas.openxmlformats.org/officeDocument/2006/relationships/image" Target="../media/image210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9213f02177430c5c84bbc16283ad626b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1524305"/>
            <a:ext cx="5333695" cy="91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01207" y="1476756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143854" y="1524305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9213f02177430c5c84bbc16283ad626b.png"/>
          <p:cNvPicPr>
            <a:picLocks noChangeAspect="1"/>
          </p:cNvPicPr>
          <p:nvPr/>
        </p:nvPicPr>
        <p:blipFill>
          <a:blip r:embed="rId3"/>
          <a:srcRect l="-2078" r="-2078"/>
          <a:stretch/>
        </p:blipFill>
        <p:spPr>
          <a:xfrm>
            <a:off x="571500" y="4619549"/>
            <a:ext cx="5333695" cy="91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01207" y="4572000"/>
            <a:ext cx="114300" cy="57607"/>
          </a:xfrm>
          <a:prstGeom prst="rect">
            <a:avLst/>
          </a:prstGeom>
          <a:noFill/>
          <a:ln w="762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6143854" y="4619549"/>
            <a:ext cx="114300" cy="57607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8167231" y="780897"/>
            <a:ext cx="3429000" cy="4190695"/>
          </a:xfrm>
          <a:prstGeom prst="roundRect">
            <a:avLst>
              <a:gd name="adj" fmla="val 118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8358341" y="971092"/>
            <a:ext cx="3047695" cy="476402"/>
          </a:xfrm>
          <a:prstGeom prst="roundRect">
            <a:avLst>
              <a:gd name="adj" fmla="val 46065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11215841" y="542238"/>
            <a:ext cx="418795" cy="41879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881938" y="4828946"/>
            <a:ext cx="418795" cy="4187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571500" y="1047902"/>
            <a:ext cx="6667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</a:t>
            </a:r>
            <a:r>
              <a:rPr lang="ko-KR" altLang="en-US" sz="15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임직원</a:t>
            </a:r>
            <a:r>
              <a:rPr lang="en-US" sz="15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위한 풀스택 AI 개발 워크숍 · 3일 · 21시간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1809598"/>
            <a:ext cx="7239305" cy="229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1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Claude Code와 함께하는</a:t>
            </a:r>
            <a:endParaRPr lang="en-US" sz="5100" dirty="0"/>
          </a:p>
          <a:p>
            <a:r>
              <a:rPr lang="en-US" sz="5100" b="1" kern="0" spc="-15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</a:t>
            </a:r>
            <a:r>
              <a:rPr lang="en-US" sz="51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5100" b="1" kern="0" spc="-15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</a:t>
            </a:r>
            <a:endParaRPr lang="en-US" sz="5100" dirty="0"/>
          </a:p>
          <a:p>
            <a:pPr marL="0" indent="0" algn="l">
              <a:buNone/>
            </a:pPr>
            <a:r>
              <a:rPr lang="en-US" sz="51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실무 워크숍 </a:t>
            </a:r>
            <a:endParaRPr lang="en-US" sz="51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4905756"/>
            <a:ext cx="7239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대상: 회사 </a:t>
            </a:r>
            <a:r>
              <a:rPr lang="ko-KR" alt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임직원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(비개발자 포함) · 방식: 대면 실습형 · 총 시간: 21시간(3일)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5275174"/>
            <a:ext cx="66678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요구하면 코드가 만들어지는 시대 — Cursor IDE · React · Supabase · Streamlit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358341" y="971092"/>
            <a:ext cx="3048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$ vibe-coding --start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358341" y="1637690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Day 1 · Frontend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491843" y="1963216"/>
            <a:ext cx="291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Cursor IDE · React · TypeScript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358341" y="2309774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Day 2 · Fullstack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8491843" y="2635300"/>
            <a:ext cx="291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Express · Supabase · JWT/OAuth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8358341" y="2982772"/>
            <a:ext cx="30486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▸ Day 3 · Data &amp; AI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491843" y="3308298"/>
            <a:ext cx="291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Streamlit · pandas · Claude API</a:t>
            </a:r>
            <a:endParaRPr lang="en-US" sz="1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5DD58972-28CC-6D77-6DAE-4E8660E33C9D}"/>
              </a:ext>
            </a:extLst>
          </p:cNvPr>
          <p:cNvSpPr txBox="1"/>
          <p:nvPr/>
        </p:nvSpPr>
        <p:spPr>
          <a:xfrm>
            <a:off x="5588000" y="5938571"/>
            <a:ext cx="59309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/>
              <a:t>Ph.D. </a:t>
            </a:r>
            <a:r>
              <a:rPr lang="ko-KR" altLang="en-US" sz="1300" b="1" dirty="0"/>
              <a:t>이애본 </a:t>
            </a:r>
            <a:r>
              <a:rPr lang="en-US" altLang="ko-KR" sz="1300" b="1" dirty="0"/>
              <a:t>(</a:t>
            </a:r>
            <a:r>
              <a:rPr lang="en-US" altLang="ko-KR" sz="1300" b="1" dirty="0">
                <a:hlinkClick r:id="rId4"/>
              </a:rPr>
              <a:t>aebon@dreamitbiz.com</a:t>
            </a:r>
            <a:r>
              <a:rPr lang="en-US" altLang="ko-KR" sz="1300" b="1" dirty="0"/>
              <a:t>) / </a:t>
            </a:r>
            <a:r>
              <a:rPr lang="ko-KR" altLang="en-US" sz="1300" b="1" dirty="0" err="1"/>
              <a:t>드림아이티비즈</a:t>
            </a:r>
            <a:r>
              <a:rPr lang="en-US" altLang="ko-KR" sz="1300" b="1" dirty="0"/>
              <a:t>(</a:t>
            </a:r>
            <a:r>
              <a:rPr lang="en-US" altLang="ko-KR" sz="1300" b="1" dirty="0" err="1"/>
              <a:t>DreamIT</a:t>
            </a:r>
            <a:r>
              <a:rPr lang="en-US" altLang="ko-KR" sz="1300" b="1" dirty="0"/>
              <a:t> Biz)</a:t>
            </a:r>
            <a:endParaRPr lang="en-US" sz="1300" b="1" dirty="0"/>
          </a:p>
        </p:txBody>
      </p:sp>
      <p:sp>
        <p:nvSpPr>
          <p:cNvPr id="2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190902"/>
            <a:ext cx="2667305" cy="1524305"/>
          </a:xfrm>
          <a:prstGeom prst="roundRect">
            <a:avLst>
              <a:gd name="adj" fmla="val 599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429000" y="2190902"/>
            <a:ext cx="2667305" cy="1524305"/>
          </a:xfrm>
          <a:prstGeom prst="roundRect">
            <a:avLst>
              <a:gd name="adj" fmla="val 599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2190902"/>
            <a:ext cx="2667305" cy="1524305"/>
          </a:xfrm>
          <a:prstGeom prst="roundRect">
            <a:avLst>
              <a:gd name="adj" fmla="val 599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144000" y="2190902"/>
            <a:ext cx="2476195" cy="1524305"/>
          </a:xfrm>
          <a:prstGeom prst="roundRect">
            <a:avLst>
              <a:gd name="adj" fmla="val 599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b2a1f9d79b3c884e902ab3474190ba9a.png"/>
          <p:cNvPicPr>
            <a:picLocks noChangeAspect="1"/>
          </p:cNvPicPr>
          <p:nvPr/>
        </p:nvPicPr>
        <p:blipFill>
          <a:blip r:embed="rId4"/>
          <a:srcRect l="-450" r="-450"/>
          <a:stretch/>
        </p:blipFill>
        <p:spPr>
          <a:xfrm>
            <a:off x="571500" y="4048049"/>
            <a:ext cx="38405" cy="304495"/>
          </a:xfrm>
          <a:prstGeom prst="rect">
            <a:avLst/>
          </a:prstGeom>
        </p:spPr>
      </p:pic>
      <p:pic>
        <p:nvPicPr>
          <p:cNvPr id="10" name="Image 2" descr="gen-dedup-2c48bca0947e42727d67028363c04897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d0eb4450f0df06f0fea106621b17d79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71500" y="381305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 · 02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761695"/>
            <a:ext cx="8572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워크숍 개요와 준비사항</a:t>
            </a:r>
            <a:endParaRPr lang="en-US" sz="36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1619402"/>
            <a:ext cx="8572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3일간 무엇을, 어떻게, 어떤 도구로 만들 것인지 한 페이지로 확인합니다.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2381098"/>
            <a:ext cx="2286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HOURS</a:t>
            </a:r>
            <a:endParaRPr lang="en-US" sz="10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2667305"/>
            <a:ext cx="2286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r>
              <a:rPr lang="en-US" sz="1800" b="1" kern="0" spc="-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시간</a:t>
            </a:r>
            <a:endParaRPr lang="en-US" sz="48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3381451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· 8h + 8h + 5h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3619195" y="2381098"/>
            <a:ext cx="2286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3619195" y="2667305"/>
            <a:ext cx="2286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r>
              <a:rPr lang="en-US" sz="1800" b="1" kern="0" spc="-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선</a:t>
            </a:r>
            <a:endParaRPr lang="en-US" sz="4800" dirty="0"/>
          </a:p>
        </p:txBody>
      </p:sp>
      <p:sp>
        <p:nvSpPr>
          <p:cNvPr id="20" name="Text 14"/>
          <p:cNvSpPr txBox="1"/>
          <p:nvPr/>
        </p:nvSpPr>
        <p:spPr>
          <a:xfrm>
            <a:off x="3619195" y="3381451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웹·Streamlit·데이터·AI 4분야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6476695" y="2381098"/>
            <a:ext cx="2286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PROD-READY APPS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6476695" y="2667305"/>
            <a:ext cx="228600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r>
              <a:rPr lang="en-US" sz="1800" b="1" kern="0" spc="-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</a:t>
            </a:r>
            <a:endParaRPr lang="en-US" sz="4800" dirty="0"/>
          </a:p>
        </p:txBody>
      </p:sp>
      <p:sp>
        <p:nvSpPr>
          <p:cNvPr id="23" name="Text 17"/>
          <p:cNvSpPr txBox="1"/>
          <p:nvPr/>
        </p:nvSpPr>
        <p:spPr>
          <a:xfrm>
            <a:off x="6476695" y="3381451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 웹 + Streamlit Cloud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9334195" y="2381098"/>
            <a:ext cx="2095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TOOL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9334195" y="2686507"/>
            <a:ext cx="20958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Claude Code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9334195" y="3381451"/>
            <a:ext cx="2095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네이티브 코드 에디터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43407" y="4048049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준비물 체크리스트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71500" y="4619549"/>
            <a:ext cx="5524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노트북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Windows / macOS 모두 가능, 8GB RAM 이상 권장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71500" y="4934102"/>
            <a:ext cx="5524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계정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github.com에서 가입 (무료)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5248656"/>
            <a:ext cx="5524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계정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Supabase / Anthropic / Cursor 가입용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71500" y="5562295"/>
            <a:ext cx="552480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인터넷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AI API 호출, 패키지 다운로드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6476695" y="4619549"/>
            <a:ext cx="5143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태도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"왜 안 되지?"보다 AI에게 물어보기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476695" y="4934102"/>
            <a:ext cx="5143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 설명력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코드보다 의도(intent) 전달이 중요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6476695" y="5248656"/>
            <a:ext cx="5143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페어 학습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막힐 땐 옆자리, 그다음 AI, 그다음 공식 문서</a:t>
            </a:r>
            <a:endParaRPr lang="en-US" sz="1200" dirty="0"/>
          </a:p>
        </p:txBody>
      </p:sp>
      <p:sp>
        <p:nvSpPr>
          <p:cNvPr id="35" name="Text 29"/>
          <p:cNvSpPr txBox="1"/>
          <p:nvPr/>
        </p:nvSpPr>
        <p:spPr>
          <a:xfrm>
            <a:off x="6476695" y="5562295"/>
            <a:ext cx="514350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완성보다 도전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1개라도 끝까지 배포해 보기</a:t>
            </a:r>
            <a:endParaRPr lang="en-US" sz="1200" dirty="0"/>
          </a:p>
        </p:txBody>
      </p:sp>
      <p:sp>
        <p:nvSpPr>
          <p:cNvPr id="3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aad7935b50b1ea5733d6b075d5c07a8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572000" y="1762049"/>
            <a:ext cx="7239305" cy="9144"/>
          </a:xfrm>
          <a:prstGeom prst="rect">
            <a:avLst/>
          </a:prstGeom>
        </p:spPr>
      </p:pic>
      <p:pic>
        <p:nvPicPr>
          <p:cNvPr id="6" name="Image 1" descr="gen-dedup-aad7935b50b1ea5733d6b075d5c07a8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572000" y="3095244"/>
            <a:ext cx="7239305" cy="9144"/>
          </a:xfrm>
          <a:prstGeom prst="rect">
            <a:avLst/>
          </a:prstGeom>
        </p:spPr>
      </p:pic>
      <p:pic>
        <p:nvPicPr>
          <p:cNvPr id="7" name="Image 2" descr="gen-dedup-aad7935b50b1ea5733d6b075d5c07a83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572000" y="4429354"/>
            <a:ext cx="7239305" cy="9144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0" y="5762549"/>
            <a:ext cx="7239305" cy="761695"/>
          </a:xfrm>
          <a:prstGeom prst="roundRect">
            <a:avLst>
              <a:gd name="adj" fmla="val 18007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3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571500" y="761695"/>
            <a:ext cx="342900" cy="3429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4" descr="gen-dedup-0c7c82bcce9f79849ead4c5406cf7075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14646"/>
            <a:ext cx="571500" cy="28346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4572000" y="714146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4572000" y="2048256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4572000" y="3381451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4572000" y="4714646"/>
            <a:ext cx="476402" cy="476402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9"/>
          <p:cNvSpPr txBox="1"/>
          <p:nvPr/>
        </p:nvSpPr>
        <p:spPr>
          <a:xfrm>
            <a:off x="571500" y="133319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1666951"/>
            <a:ext cx="3238805" cy="2371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뒤,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당신은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4가지를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수 있습니다</a:t>
            </a:r>
            <a:endParaRPr lang="en-US" sz="4000" dirty="0"/>
          </a:p>
        </p:txBody>
      </p:sp>
      <p:sp>
        <p:nvSpPr>
          <p:cNvPr id="18" name="Text 11"/>
          <p:cNvSpPr txBox="1"/>
          <p:nvPr/>
        </p:nvSpPr>
        <p:spPr>
          <a:xfrm>
            <a:off x="571500" y="4905756"/>
            <a:ext cx="3238805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의도를 설명하면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코드를 생성하는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개발 방식</a:t>
            </a: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동작하는 서비스를 만듭니다.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5333695" y="743407"/>
            <a:ext cx="6477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패러다임을 체득한다</a:t>
            </a:r>
            <a:endParaRPr lang="en-US" sz="1900" dirty="0"/>
          </a:p>
        </p:txBody>
      </p:sp>
      <p:sp>
        <p:nvSpPr>
          <p:cNvPr id="20" name="Text 13"/>
          <p:cNvSpPr txBox="1"/>
          <p:nvPr/>
        </p:nvSpPr>
        <p:spPr>
          <a:xfrm>
            <a:off x="5333695" y="1123798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IDE의 Cmd+K, Cmd+L, Agent를 손에 익히고, AI에게 "무엇을 만들지" 명확하게 전달하는 프롬프트 감각을 갖춥니다.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5333695" y="2076602"/>
            <a:ext cx="6477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기반 프론트엔드를 만든다</a:t>
            </a:r>
            <a:endParaRPr lang="en-US" sz="1900" dirty="0"/>
          </a:p>
        </p:txBody>
      </p:sp>
      <p:sp>
        <p:nvSpPr>
          <p:cNvPr id="22" name="Text 15"/>
          <p:cNvSpPr txBox="1"/>
          <p:nvPr/>
        </p:nvSpPr>
        <p:spPr>
          <a:xfrm>
            <a:off x="5333695" y="2457907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컴포넌트·Props·State·Router 개념을 이해하고, AI에게 요구사항을 전달해 화면 단위로 UI를 조립할 수 있습니다.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5333695" y="3409798"/>
            <a:ext cx="6477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DB와 인증까지 풀스택을 연결한다</a:t>
            </a:r>
            <a:endParaRPr lang="en-US" sz="1900" dirty="0"/>
          </a:p>
        </p:txBody>
      </p:sp>
      <p:sp>
        <p:nvSpPr>
          <p:cNvPr id="24" name="Text 17"/>
          <p:cNvSpPr txBox="1"/>
          <p:nvPr/>
        </p:nvSpPr>
        <p:spPr>
          <a:xfrm>
            <a:off x="5333695" y="3791102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· Supabase(PostgreSQL) · JWT/OAuth로 회원가입·로그인이 동작하는 진짜 서비스를 완성합니다.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5333695" y="4743907"/>
            <a:ext cx="6477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앱 + AI 챗봇을 배포한다</a:t>
            </a:r>
            <a:endParaRPr lang="en-US" sz="1900" dirty="0"/>
          </a:p>
        </p:txBody>
      </p:sp>
      <p:sp>
        <p:nvSpPr>
          <p:cNvPr id="26" name="Text 19"/>
          <p:cNvSpPr txBox="1"/>
          <p:nvPr/>
        </p:nvSpPr>
        <p:spPr>
          <a:xfrm>
            <a:off x="5333695" y="5124298"/>
            <a:ext cx="6477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Streamlit으로 전력 데이터 대시보드를 만들고 Claude API를 연동해 Streamlit Cloud에 무료 배포까지 마칩니다.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838090" y="5876849"/>
            <a:ext cx="67821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것은 "AI가 코드를 쓰게 하는 것"이 아니라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"AI와 함께 더 빠르게, 더 잘 동작하는 결과물을 만드는 것"</a:t>
            </a:r>
            <a:r>
              <a:rPr lang="en-US" sz="12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714146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2048256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3381451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714646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096805" y="476402"/>
            <a:ext cx="1524305" cy="666598"/>
          </a:xfrm>
          <a:prstGeom prst="roundRect">
            <a:avLst>
              <a:gd name="adj" fmla="val 23516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1333195"/>
            <a:ext cx="3619195" cy="5143500"/>
          </a:xfrm>
          <a:prstGeom prst="roundRect">
            <a:avLst>
              <a:gd name="adj" fmla="val 1064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81805" y="1333195"/>
            <a:ext cx="3619195" cy="5143500"/>
          </a:xfrm>
          <a:prstGeom prst="roundRect">
            <a:avLst>
              <a:gd name="adj" fmla="val 1064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191195" y="1333195"/>
            <a:ext cx="3429000" cy="5143500"/>
          </a:xfrm>
          <a:prstGeom prst="roundRect">
            <a:avLst>
              <a:gd name="adj" fmla="val 1185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284ca7ff23c5396da702c02ee67574a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d86f51514ef1bef00f9ee5d214fa3660.png"/>
          <p:cNvPicPr>
            <a:picLocks noChangeAspect="1"/>
          </p:cNvPicPr>
          <p:nvPr/>
        </p:nvPicPr>
        <p:blipFill>
          <a:blip r:embed="rId5"/>
          <a:srcRect l="-16" r="-16"/>
          <a:stretch/>
        </p:blipFill>
        <p:spPr>
          <a:xfrm>
            <a:off x="571500" y="1333195"/>
            <a:ext cx="3619195" cy="761695"/>
          </a:xfrm>
          <a:prstGeom prst="rect">
            <a:avLst/>
          </a:prstGeom>
        </p:spPr>
      </p:pic>
      <p:pic>
        <p:nvPicPr>
          <p:cNvPr id="11" name="Image 3" descr="gen-dedup-e1cba1b461642704dd21864b79060721.png"/>
          <p:cNvPicPr>
            <a:picLocks noChangeAspect="1"/>
          </p:cNvPicPr>
          <p:nvPr/>
        </p:nvPicPr>
        <p:blipFill>
          <a:blip r:embed="rId6"/>
          <a:srcRect l="-16" r="-16"/>
          <a:stretch/>
        </p:blipFill>
        <p:spPr>
          <a:xfrm>
            <a:off x="4381805" y="1333195"/>
            <a:ext cx="3619195" cy="761695"/>
          </a:xfrm>
          <a:prstGeom prst="rect">
            <a:avLst/>
          </a:prstGeom>
        </p:spPr>
      </p:pic>
      <p:pic>
        <p:nvPicPr>
          <p:cNvPr id="12" name="Image 4" descr="gen-dedup-914224289e0583d294a985b4b4ea374f.png"/>
          <p:cNvPicPr>
            <a:picLocks noChangeAspect="1"/>
          </p:cNvPicPr>
          <p:nvPr/>
        </p:nvPicPr>
        <p:blipFill>
          <a:blip r:embed="rId7"/>
          <a:srcRect l="-20" r="-20"/>
          <a:stretch/>
        </p:blipFill>
        <p:spPr>
          <a:xfrm>
            <a:off x="8191195" y="1333195"/>
            <a:ext cx="3429000" cy="761695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571500" y="286207"/>
            <a:ext cx="5715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CURRICULUM AT A GLANCE · 21H</a:t>
            </a:r>
            <a:endParaRPr lang="en-US" sz="11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571500"/>
            <a:ext cx="8572500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3일, 21시간 — 한 페이지 커리큘럼</a:t>
            </a:r>
            <a:endParaRPr lang="en-US" sz="3100" dirty="0"/>
          </a:p>
        </p:txBody>
      </p:sp>
      <p:sp>
        <p:nvSpPr>
          <p:cNvPr id="15" name="Text 8"/>
          <p:cNvSpPr txBox="1"/>
          <p:nvPr/>
        </p:nvSpPr>
        <p:spPr>
          <a:xfrm>
            <a:off x="10096805" y="571500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0096805" y="752551"/>
            <a:ext cx="1524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21H · 3일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1476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8H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1733702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+ 프론트엔드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333549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12:00 · 3H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247619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바이브코딩 &amp; 개발 환경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2713025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 · Node.js · Git · GitHub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069641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15:00 · 2H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21320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서비스 기획 &amp; 요구사항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3449117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· AI 기획서 · 폴더 구조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3805733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15:00 — 16:00 · 1H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3949294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HTML/CSS/JS 기초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4185209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Flexbox · TypeScript · 핵심 문법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4542739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16:00 — 18:00 · 2H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4685386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4. React UI 구현 실습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4921301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JSX · Props · State · Router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1476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8H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0" y="1733702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+ 풀스택 통합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0" y="2333549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12:00 · 3H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4572000" y="247619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REST API &amp; Node.js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72000" y="2713025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· CRUD · 미들웨어 · Postman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4572000" y="3069641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16:00 · 3H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0" y="321320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DB &amp; 프론트–백 통합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0" y="3449117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· PostgreSQL · RLS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4572000" y="3805733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16:00 — 18:00 · 2H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3949294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인증·인가 (JWT/OAuth)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4572000" y="4185209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로그인·회원가입 · Google/Kakao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572000" y="4657039"/>
            <a:ext cx="3238805" cy="828446"/>
          </a:xfrm>
          <a:prstGeom prst="roundRect">
            <a:avLst>
              <a:gd name="adj" fmla="val 1014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6"/>
          <p:cNvSpPr/>
          <p:nvPr/>
        </p:nvSpPr>
        <p:spPr>
          <a:xfrm>
            <a:off x="4572000" y="4657039"/>
            <a:ext cx="38405" cy="828446"/>
          </a:xfrm>
          <a:prstGeom prst="roundRect">
            <a:avLst>
              <a:gd name="adj" fmla="val 218937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7"/>
          <p:cNvSpPr txBox="1"/>
          <p:nvPr/>
        </p:nvSpPr>
        <p:spPr>
          <a:xfrm>
            <a:off x="4743907" y="4789627"/>
            <a:ext cx="2934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실습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4743907" y="4970678"/>
            <a:ext cx="29343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프론트엔드와 연결하여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동작하는 풀스택 앱 완성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8382305" y="1476756"/>
            <a:ext cx="3048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5H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8382305" y="1733702"/>
            <a:ext cx="3493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데이터 · AI 배포</a:t>
            </a:r>
            <a:endParaRPr lang="en-US" sz="1600" dirty="0"/>
          </a:p>
        </p:txBody>
      </p:sp>
      <p:sp>
        <p:nvSpPr>
          <p:cNvPr id="48" name="Text 41"/>
          <p:cNvSpPr txBox="1"/>
          <p:nvPr/>
        </p:nvSpPr>
        <p:spPr>
          <a:xfrm>
            <a:off x="8382305" y="2333549"/>
            <a:ext cx="3048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11:00 · 2H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8382305" y="2476195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 Streamlit + Python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8382305" y="2713025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· 위젯 · 자기소개 앱</a:t>
            </a:r>
            <a:endParaRPr lang="en-US" sz="900" dirty="0"/>
          </a:p>
        </p:txBody>
      </p:sp>
      <p:sp>
        <p:nvSpPr>
          <p:cNvPr id="51" name="Text 44"/>
          <p:cNvSpPr txBox="1"/>
          <p:nvPr/>
        </p:nvSpPr>
        <p:spPr>
          <a:xfrm>
            <a:off x="8382305" y="3069641"/>
            <a:ext cx="3048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11:00 — 12:00 · 1H</a:t>
            </a:r>
            <a:endParaRPr lang="en-US" sz="900" dirty="0"/>
          </a:p>
        </p:txBody>
      </p:sp>
      <p:sp>
        <p:nvSpPr>
          <p:cNvPr id="52" name="Text 45"/>
          <p:cNvSpPr txBox="1"/>
          <p:nvPr/>
        </p:nvSpPr>
        <p:spPr>
          <a:xfrm>
            <a:off x="8382305" y="3213202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 데이터 앱 개발</a:t>
            </a:r>
            <a:endParaRPr lang="en-US" sz="1200" dirty="0"/>
          </a:p>
        </p:txBody>
      </p:sp>
      <p:sp>
        <p:nvSpPr>
          <p:cNvPr id="53" name="Text 46"/>
          <p:cNvSpPr txBox="1"/>
          <p:nvPr/>
        </p:nvSpPr>
        <p:spPr>
          <a:xfrm>
            <a:off x="8382305" y="3449117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 · 차트 · 전력 대시보드</a:t>
            </a:r>
            <a:endParaRPr lang="en-US" sz="900" dirty="0"/>
          </a:p>
        </p:txBody>
      </p:sp>
      <p:sp>
        <p:nvSpPr>
          <p:cNvPr id="54" name="Text 47"/>
          <p:cNvSpPr txBox="1"/>
          <p:nvPr/>
        </p:nvSpPr>
        <p:spPr>
          <a:xfrm>
            <a:off x="8382305" y="3805733"/>
            <a:ext cx="3048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15:00 · 2H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8382305" y="3949294"/>
            <a:ext cx="30486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 AI 연동 + Cloud 배포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8382305" y="4185209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· Streamlit Cloud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8382305" y="4657039"/>
            <a:ext cx="3047695" cy="828446"/>
          </a:xfrm>
          <a:prstGeom prst="roundRect">
            <a:avLst>
              <a:gd name="adj" fmla="val 1014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1"/>
          <p:cNvSpPr txBox="1"/>
          <p:nvPr/>
        </p:nvSpPr>
        <p:spPr>
          <a:xfrm>
            <a:off x="8515807" y="4789627"/>
            <a:ext cx="2781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FINALE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8515807" y="4970678"/>
            <a:ext cx="2781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프로젝트 발표</a:t>
            </a:r>
            <a:endParaRPr lang="en-US" sz="1000" dirty="0"/>
          </a:p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상호 피드백</a:t>
            </a:r>
            <a:endParaRPr lang="en-US" sz="1000" dirty="0"/>
          </a:p>
        </p:txBody>
      </p:sp>
      <p:sp>
        <p:nvSpPr>
          <p:cNvPr id="6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915" y="0"/>
            <a:ext cx="12191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109cc2ce2cff5793a8eb31c4e61bbc2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6" name="Image 1" descr="gen-dedup-f0981059295ec0e5e6f12472a28814f3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571500" y="4524451"/>
            <a:ext cx="761695" cy="38405"/>
          </a:xfrm>
          <a:prstGeom prst="rect">
            <a:avLst/>
          </a:prstGeom>
        </p:spPr>
      </p:pic>
      <p:pic>
        <p:nvPicPr>
          <p:cNvPr id="7" name="Image 2" descr="gen-dedup-11e45eb0d139f3da66429993f9071326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8667598" y="1619402"/>
            <a:ext cx="761695" cy="192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12380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ONE · 8 HOURS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666951"/>
            <a:ext cx="76206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kern="0" spc="-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9500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4714646"/>
            <a:ext cx="762061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입문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프론트엔드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8667598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SCHEDULE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667598" y="1904695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09:00 — 12:00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8667598" y="2078431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1. 바이브코딩 개요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개발 환경 구성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667598" y="2569464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3H · Cursor · Node · Git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8667598" y="2936138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13:00 — 15:00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8667598" y="3109874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2. 서비스 기획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요구사항 정의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667598" y="3600907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2H · Figma · AI 기획서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8667598" y="3967582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15:00 — 16:00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667598" y="4141318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3. HTML/CSS/JS 기초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667598" y="4405579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1H · TypeScript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8667598" y="4772254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16:00 — 18:00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8667598" y="4945990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4. React UI 구현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667598" y="5210251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2H · 실습</a:t>
            </a:r>
            <a:endParaRPr lang="en-US" sz="800" dirty="0"/>
          </a:p>
        </p:txBody>
      </p:sp>
      <p:sp>
        <p:nvSpPr>
          <p:cNvPr id="24" name="Text 19"/>
          <p:cNvSpPr txBox="1"/>
          <p:nvPr/>
        </p:nvSpPr>
        <p:spPr>
          <a:xfrm>
            <a:off x="647395" y="6286500"/>
            <a:ext cx="7544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끝에는 — AI에게 자연어로 요청해 React Todo 앱을 만들 수 있습니다.</a:t>
            </a:r>
            <a:endParaRPr lang="en-US" sz="11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04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12:00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· 도입 세션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개요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개발 환경 구성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857293" y="40480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바이브코딩의 정의와 작동 원리 이해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857293" y="43909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 설치 및 핵심 단축키 숙지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857293" y="47338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· Git · GitHub 환경 구성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857293" y="50767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+ React + TS 프로젝트 생성</a:t>
            </a:r>
            <a:endParaRPr lang="en-US" sz="13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33369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333695" cy="2667305"/>
          </a:xfrm>
          <a:prstGeom prst="roundRect">
            <a:avLst>
              <a:gd name="adj" fmla="val 244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d3ade11a0a0eb67218789f7e6f842ecc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571500" y="4714646"/>
            <a:ext cx="38405" cy="2862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5191049"/>
            <a:ext cx="3638398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286707" y="5191049"/>
            <a:ext cx="3638398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001000" y="5191049"/>
            <a:ext cx="3619195" cy="1333195"/>
          </a:xfrm>
          <a:prstGeom prst="roundRect">
            <a:avLst>
              <a:gd name="adj" fmla="val 783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gen-dedup-4e77c3377c6c45a4b5b45870d0212f95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2" name="Image 3" descr="gen-dedup-7c191023a29c0b20792b375ad724e728.png"/>
          <p:cNvPicPr>
            <a:picLocks noChangeAspect="1"/>
          </p:cNvPicPr>
          <p:nvPr/>
        </p:nvPicPr>
        <p:blipFill>
          <a:blip r:embed="rId6"/>
          <a:srcRect t="-19" b="-19"/>
          <a:stretch/>
        </p:blipFill>
        <p:spPr>
          <a:xfrm>
            <a:off x="571500" y="1762049"/>
            <a:ext cx="5333695" cy="476402"/>
          </a:xfrm>
          <a:prstGeom prst="rect">
            <a:avLst/>
          </a:prstGeom>
        </p:spPr>
      </p:pic>
      <p:pic>
        <p:nvPicPr>
          <p:cNvPr id="13" name="Image 4" descr="gen-dedup-3d29bf193cdff171ebf1013e433ae5d5.png"/>
          <p:cNvPicPr>
            <a:picLocks noChangeAspect="1"/>
          </p:cNvPicPr>
          <p:nvPr/>
        </p:nvPicPr>
        <p:blipFill>
          <a:blip r:embed="rId7"/>
          <a:srcRect t="-19" b="-19"/>
          <a:stretch/>
        </p:blipFill>
        <p:spPr>
          <a:xfrm>
            <a:off x="6286500" y="1762049"/>
            <a:ext cx="5333695" cy="4764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 · 1/5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바이브코딩(Vibe Coding)이란?</a:t>
            </a:r>
            <a:endParaRPr lang="en-US" sz="33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자연어로 의도(vibe)를 전달하면, AI가 코드를 생성하는 새로운 개발 방식.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37590" y="1886407"/>
            <a:ext cx="4877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· 기존 코딩</a:t>
            </a:r>
            <a:endParaRPr lang="en-US" sz="12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428646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1. 문법을 외운다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651760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[todos, setTodos] = useState([])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2874874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2. 한 줄 한 줄 직접 타이핑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097987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 = (t) =&gt; setTodos([...todos, t])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320186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3. 에러 메시지 검색 → StackOverflow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543300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4. 동작할 때까지 디버깅 반복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3861511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문법·디버깅에 시간 대부분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6552590" y="1886407"/>
            <a:ext cx="48774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· 바이브코딩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476695" y="242864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vibe-coding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6476695" y="272216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"할 일 관리 앱 만들어줘.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6476695" y="295076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입력창, 체크박스, 삭제 버튼.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6476695" y="317936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완료된 건 취소선으로.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40796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TypeScript로."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476695" y="377007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AI generates working code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4063594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 설명·검토에 시간 대부분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743407" y="47146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바이브코딩의 3가지 핵심 변화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761695" y="53629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"HOW" TO "WHAT"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61695" y="5639105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문법 → 의도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61695" y="5982005"/>
            <a:ext cx="3429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"어떻게 짤지"가 아니라 "무엇을 만들지"에 집중합니다.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4476902" y="53629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 PROTOTYPE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476902" y="5639105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시제품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4476902" y="598200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며칠 걸리던 시제품을 훨씬 짧은 시간에 만들어 봅니다.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8191195" y="53629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REVIEWER, NOT TYPIST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8191195" y="5639105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= 리뷰어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8191195" y="5982005"/>
            <a:ext cx="34299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코드를 "쓰는 사람"에서 "지시하고 검증하는 사람"으로.</a:t>
            </a:r>
            <a:endParaRPr lang="en-US" sz="900" dirty="0"/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14500"/>
            <a:ext cx="5333695" cy="1904695"/>
          </a:xfrm>
          <a:prstGeom prst="roundRect">
            <a:avLst>
              <a:gd name="adj" fmla="val 4801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14500"/>
            <a:ext cx="5333695" cy="1904695"/>
          </a:xfrm>
          <a:prstGeom prst="roundRect">
            <a:avLst>
              <a:gd name="adj" fmla="val 480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d3ade11a0a0eb67218789f7e6f842ecc.png"/>
          <p:cNvPicPr>
            <a:picLocks noChangeAspect="1"/>
          </p:cNvPicPr>
          <p:nvPr/>
        </p:nvPicPr>
        <p:blipFill>
          <a:blip r:embed="rId4"/>
          <a:srcRect l="-320" r="-320"/>
          <a:stretch/>
        </p:blipFill>
        <p:spPr>
          <a:xfrm>
            <a:off x="571500" y="3952951"/>
            <a:ext cx="38405" cy="2862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429354"/>
            <a:ext cx="2704795" cy="2133295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3429000" y="4429354"/>
            <a:ext cx="2686507" cy="2115007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6286500" y="4429354"/>
            <a:ext cx="2704795" cy="2133295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9144000" y="4429354"/>
            <a:ext cx="2495398" cy="2115007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gen-dedup-4e77c3377c6c45a4b5b45870d0212f95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3" name="Image 3" descr="gen-dedup-8387775d3a1e19b5ae15a6a6c28f3ac3.png"/>
          <p:cNvPicPr>
            <a:picLocks noChangeAspect="1"/>
          </p:cNvPicPr>
          <p:nvPr/>
        </p:nvPicPr>
        <p:blipFill>
          <a:blip r:embed="rId6"/>
          <a:srcRect t="-193" b="-193"/>
          <a:stretch/>
        </p:blipFill>
        <p:spPr>
          <a:xfrm>
            <a:off x="571500" y="1714500"/>
            <a:ext cx="75895" cy="1904695"/>
          </a:xfrm>
          <a:prstGeom prst="rect">
            <a:avLst/>
          </a:prstGeom>
        </p:spPr>
      </p:pic>
      <p:pic>
        <p:nvPicPr>
          <p:cNvPr id="14" name="Image 4" descr="gen-dedup-aa0d9306243340372e09137918ebbd1d.png"/>
          <p:cNvPicPr>
            <a:picLocks noChangeAspect="1"/>
          </p:cNvPicPr>
          <p:nvPr/>
        </p:nvPicPr>
        <p:blipFill>
          <a:blip r:embed="rId7"/>
          <a:srcRect t="-193" b="-193"/>
          <a:stretch/>
        </p:blipFill>
        <p:spPr>
          <a:xfrm>
            <a:off x="6286500" y="1714500"/>
            <a:ext cx="75895" cy="1904695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61695" y="4619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3619195" y="4619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17" name="Shape 10"/>
          <p:cNvSpPr/>
          <p:nvPr/>
        </p:nvSpPr>
        <p:spPr>
          <a:xfrm>
            <a:off x="6476695" y="4619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C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8" name="Shape 11"/>
          <p:cNvSpPr/>
          <p:nvPr/>
        </p:nvSpPr>
        <p:spPr>
          <a:xfrm>
            <a:off x="9334195" y="4619549"/>
            <a:ext cx="476402" cy="476402"/>
          </a:xfrm>
          <a:prstGeom prst="roundRect">
            <a:avLst>
              <a:gd name="adj" fmla="val 61420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9" name="Text 12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 · 2/5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Agent와 코딩 어시스턴트</a:t>
            </a:r>
            <a:endParaRPr lang="en-US" sz="33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가지를 구분하면 어떤 도구를 언제 써야 하는지 명확해집니다.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857707" y="1904695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CODING ASSISTANT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857707" y="2190902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 어시스턴트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857707" y="2667305"/>
            <a:ext cx="4953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당신이 코드를 쓰고, AI가 옆에서 돕는 모드.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완성, 에러 수정, 리팩토링, 한 줄 설명을 보조합니다.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6572707" y="1904695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AGENT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6572707" y="2190902"/>
            <a:ext cx="49533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</a:t>
            </a:r>
            <a:endParaRPr lang="en-US" sz="2100" dirty="0"/>
          </a:p>
        </p:txBody>
      </p:sp>
      <p:sp>
        <p:nvSpPr>
          <p:cNvPr id="27" name="Text 20"/>
          <p:cNvSpPr txBox="1"/>
          <p:nvPr/>
        </p:nvSpPr>
        <p:spPr>
          <a:xfrm>
            <a:off x="6572707" y="2667305"/>
            <a:ext cx="4953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목표를 주면 AI가 스스로 일합니다.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계획 → 파일 생성 → 코드 작성 → 테스트 실행까지 자율적으로 수행.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43407" y="395295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대표적인 4가지 도구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1380744" y="4619549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1380744" y="4886554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RECOMMENDED · 본 강의</a:t>
            </a:r>
            <a:endParaRPr lang="en-US" sz="8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5286146"/>
            <a:ext cx="228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네이티브 코드 에디터.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GPT·Claude·Gemini 등 모델 선택.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모드로 여러 파일을 한 번에 편집.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4238244" y="4619549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4238244" y="4886554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Code 확장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3619195" y="5286146"/>
            <a:ext cx="2286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Code에 붙여 쓰는 보조 도구.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자동완성 강점.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환경에서 널리 쓰임.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7095744" y="4619549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095744" y="4886554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TERMINAL · 본 강의</a:t>
            </a:r>
            <a:endParaRPr lang="en-US" sz="8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5286146"/>
            <a:ext cx="228600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터미널·IDE에서 동작하는 AI 코딩 Agent.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컨텍스트, 멀티파일,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실행에 강합니다.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9953244" y="4619549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Windsurf</a:t>
            </a:r>
            <a:endParaRPr lang="en-US" sz="1500" dirty="0"/>
          </a:p>
        </p:txBody>
      </p:sp>
      <p:sp>
        <p:nvSpPr>
          <p:cNvPr id="39" name="Text 32"/>
          <p:cNvSpPr txBox="1"/>
          <p:nvPr/>
        </p:nvSpPr>
        <p:spPr>
          <a:xfrm>
            <a:off x="9953244" y="4886554"/>
            <a:ext cx="16669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PAIR PROGRAMMING</a:t>
            </a:r>
            <a:endParaRPr lang="en-US" sz="800" dirty="0"/>
          </a:p>
        </p:txBody>
      </p:sp>
      <p:sp>
        <p:nvSpPr>
          <p:cNvPr id="40" name="Text 33"/>
          <p:cNvSpPr txBox="1"/>
          <p:nvPr/>
        </p:nvSpPr>
        <p:spPr>
          <a:xfrm>
            <a:off x="9334195" y="5286146"/>
            <a:ext cx="20958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페어 프로그래밍 IDE.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에이전트(Cascade)와 함께 짜는 IDE.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761695" y="4619549"/>
            <a:ext cx="4764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</a:t>
            </a:r>
            <a:endParaRPr lang="en-US" sz="18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2686507" cy="4591202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329671361f4416547c4a14abe7628e6a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1695" y="3952951"/>
            <a:ext cx="2286000" cy="91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429000" y="1762049"/>
            <a:ext cx="2667305" cy="4572000"/>
          </a:xfrm>
          <a:prstGeom prst="roundRect">
            <a:avLst>
              <a:gd name="adj" fmla="val 244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gen-dedup-8ad9cf03e5f70c94b5641e377284d51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3619195" y="3952951"/>
            <a:ext cx="2286000" cy="91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286500" y="1762049"/>
            <a:ext cx="2686507" cy="4591202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3" descr="gen-dedup-329671361f4416547c4a14abe7628e6a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6476695" y="3952951"/>
            <a:ext cx="2286000" cy="9144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9144000" y="1762049"/>
            <a:ext cx="2495398" cy="4591202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8b78d8262e3509a33220a8bf8cd9defe.png"/>
          <p:cNvPicPr>
            <a:picLocks noChangeAspect="1"/>
          </p:cNvPicPr>
          <p:nvPr/>
        </p:nvPicPr>
        <p:blipFill>
          <a:blip r:embed="rId6"/>
          <a:srcRect l="-2089" r="-2089"/>
          <a:stretch/>
        </p:blipFill>
        <p:spPr>
          <a:xfrm>
            <a:off x="9334195" y="3952951"/>
            <a:ext cx="2095805" cy="9144"/>
          </a:xfrm>
          <a:prstGeom prst="rect">
            <a:avLst/>
          </a:prstGeom>
        </p:spPr>
      </p:pic>
      <p:pic>
        <p:nvPicPr>
          <p:cNvPr id="13" name="Image 5" descr="gen-dedup-4e77c3377c6c45a4b5b45870d0212f95.png"/>
          <p:cNvPicPr>
            <a:picLocks noChangeAspect="1"/>
          </p:cNvPicPr>
          <p:nvPr/>
        </p:nvPicPr>
        <p:blipFill>
          <a:blip r:embed="rId7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4" name="Image 6" descr="gen-dedup-3ffd5fb8104cc37027bfa4d43c33b813.png"/>
          <p:cNvPicPr>
            <a:picLocks noChangeAspect="1"/>
          </p:cNvPicPr>
          <p:nvPr/>
        </p:nvPicPr>
        <p:blipFill>
          <a:blip r:embed="rId8"/>
          <a:srcRect l="-207" r="-207"/>
          <a:stretch/>
        </p:blipFill>
        <p:spPr>
          <a:xfrm>
            <a:off x="571500" y="1762049"/>
            <a:ext cx="2667305" cy="75895"/>
          </a:xfrm>
          <a:prstGeom prst="rect">
            <a:avLst/>
          </a:prstGeom>
        </p:spPr>
      </p:pic>
      <p:pic>
        <p:nvPicPr>
          <p:cNvPr id="15" name="Image 7" descr="gen-dedup-9d7c816b32d64b0de7893ed06f58f8dd.png"/>
          <p:cNvPicPr>
            <a:picLocks noChangeAspect="1"/>
          </p:cNvPicPr>
          <p:nvPr/>
        </p:nvPicPr>
        <p:blipFill>
          <a:blip r:embed="rId9"/>
          <a:srcRect l="-207" r="-207"/>
          <a:stretch/>
        </p:blipFill>
        <p:spPr>
          <a:xfrm>
            <a:off x="3429000" y="1762049"/>
            <a:ext cx="2667305" cy="75895"/>
          </a:xfrm>
          <a:prstGeom prst="rect">
            <a:avLst/>
          </a:prstGeom>
        </p:spPr>
      </p:pic>
      <p:pic>
        <p:nvPicPr>
          <p:cNvPr id="16" name="Image 8" descr="gen-dedup-c12f75179b83d7f822271691e1fdf832.png"/>
          <p:cNvPicPr>
            <a:picLocks noChangeAspect="1"/>
          </p:cNvPicPr>
          <p:nvPr/>
        </p:nvPicPr>
        <p:blipFill>
          <a:blip r:embed="rId10"/>
          <a:srcRect l="-207" r="-207"/>
          <a:stretch/>
        </p:blipFill>
        <p:spPr>
          <a:xfrm>
            <a:off x="6286500" y="1762049"/>
            <a:ext cx="2667305" cy="75895"/>
          </a:xfrm>
          <a:prstGeom prst="rect">
            <a:avLst/>
          </a:prstGeom>
        </p:spPr>
      </p:pic>
      <p:pic>
        <p:nvPicPr>
          <p:cNvPr id="17" name="Image 9" descr="gen-dedup-85b88f23fd2cc05efddf5c6ed0a35c03.png"/>
          <p:cNvPicPr>
            <a:picLocks noChangeAspect="1"/>
          </p:cNvPicPr>
          <p:nvPr/>
        </p:nvPicPr>
        <p:blipFill>
          <a:blip r:embed="rId11"/>
          <a:srcRect l="-195" r="-195"/>
          <a:stretch/>
        </p:blipFill>
        <p:spPr>
          <a:xfrm>
            <a:off x="9144000" y="1762049"/>
            <a:ext cx="2476195" cy="75895"/>
          </a:xfrm>
          <a:prstGeom prst="rect">
            <a:avLst/>
          </a:prstGeom>
        </p:spPr>
      </p:pic>
      <p:sp>
        <p:nvSpPr>
          <p:cNvPr id="18" name="Shape 6"/>
          <p:cNvSpPr/>
          <p:nvPr/>
        </p:nvSpPr>
        <p:spPr>
          <a:xfrm>
            <a:off x="761695" y="23810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2800" dirty="0"/>
              <a:t>N</a:t>
            </a:r>
            <a:endParaRPr lang="ko-KR" altLang="en-US" sz="2800" dirty="0"/>
          </a:p>
        </p:txBody>
      </p:sp>
      <p:sp>
        <p:nvSpPr>
          <p:cNvPr id="19" name="Shape 7"/>
          <p:cNvSpPr/>
          <p:nvPr/>
        </p:nvSpPr>
        <p:spPr>
          <a:xfrm>
            <a:off x="3619195" y="23810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8"/>
          <p:cNvSpPr/>
          <p:nvPr/>
        </p:nvSpPr>
        <p:spPr>
          <a:xfrm>
            <a:off x="6476695" y="23810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2000" dirty="0"/>
              <a:t>git</a:t>
            </a:r>
            <a:endParaRPr lang="ko-KR" altLang="en-US" sz="2000" dirty="0"/>
          </a:p>
        </p:txBody>
      </p:sp>
      <p:sp>
        <p:nvSpPr>
          <p:cNvPr id="21" name="Shape 9"/>
          <p:cNvSpPr/>
          <p:nvPr/>
        </p:nvSpPr>
        <p:spPr>
          <a:xfrm>
            <a:off x="9334195" y="23810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Git</a:t>
            </a:r>
            <a:endParaRPr lang="ko-KR" altLang="en-US" dirty="0"/>
          </a:p>
        </p:txBody>
      </p:sp>
      <p:sp>
        <p:nvSpPr>
          <p:cNvPr id="22" name="Text 10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 · 3/5</a:t>
            </a:r>
            <a:endParaRPr lang="en-US" sz="900" dirty="0"/>
          </a:p>
        </p:txBody>
      </p:sp>
      <p:sp>
        <p:nvSpPr>
          <p:cNvPr id="23" name="Text 11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환경 4종 세트</a:t>
            </a:r>
            <a:endParaRPr lang="en-US" sz="3300" dirty="0"/>
          </a:p>
        </p:txBody>
      </p:sp>
      <p:sp>
        <p:nvSpPr>
          <p:cNvPr id="24" name="Text 12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네 가지가 깔려 있어야 바이브코딩이 시작됩니다. 하나씩 같이 설치합니다.</a:t>
            </a:r>
            <a:endParaRPr lang="en-US" sz="1300" dirty="0"/>
          </a:p>
        </p:txBody>
      </p:sp>
      <p:sp>
        <p:nvSpPr>
          <p:cNvPr id="25" name="Text 13"/>
          <p:cNvSpPr txBox="1"/>
          <p:nvPr/>
        </p:nvSpPr>
        <p:spPr>
          <a:xfrm>
            <a:off x="761695" y="2048256"/>
            <a:ext cx="2286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RUNTIME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761695" y="3238805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1900" dirty="0"/>
          </a:p>
        </p:txBody>
      </p:sp>
      <p:sp>
        <p:nvSpPr>
          <p:cNvPr id="27" name="Text 15"/>
          <p:cNvSpPr txBox="1"/>
          <p:nvPr/>
        </p:nvSpPr>
        <p:spPr>
          <a:xfrm>
            <a:off x="761695" y="3600907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v24 LTS</a:t>
            </a:r>
            <a:endParaRPr lang="en-US" sz="900" dirty="0"/>
          </a:p>
        </p:txBody>
      </p:sp>
      <p:sp>
        <p:nvSpPr>
          <p:cNvPr id="28" name="Text 16"/>
          <p:cNvSpPr txBox="1"/>
          <p:nvPr/>
        </p:nvSpPr>
        <p:spPr>
          <a:xfrm>
            <a:off x="761695" y="4143146"/>
            <a:ext cx="22860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 런타임.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프로젝트 생성, npm 패키지 설치, 개발 서버 실행에 필수입니다.</a:t>
            </a:r>
            <a:endParaRPr lang="en-US" sz="900" dirty="0"/>
          </a:p>
        </p:txBody>
      </p:sp>
      <p:sp>
        <p:nvSpPr>
          <p:cNvPr id="29" name="Text 17"/>
          <p:cNvSpPr txBox="1"/>
          <p:nvPr/>
        </p:nvSpPr>
        <p:spPr>
          <a:xfrm>
            <a:off x="761695" y="5810098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node -v</a:t>
            </a:r>
            <a:endParaRPr lang="en-US" sz="800" dirty="0"/>
          </a:p>
        </p:txBody>
      </p:sp>
      <p:sp>
        <p:nvSpPr>
          <p:cNvPr id="30" name="Text 18"/>
          <p:cNvSpPr txBox="1"/>
          <p:nvPr/>
        </p:nvSpPr>
        <p:spPr>
          <a:xfrm>
            <a:off x="761695" y="5977433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v24.21.0</a:t>
            </a:r>
            <a:endParaRPr lang="en-US" sz="800" dirty="0"/>
          </a:p>
        </p:txBody>
      </p:sp>
      <p:sp>
        <p:nvSpPr>
          <p:cNvPr id="31" name="Text 19"/>
          <p:cNvSpPr txBox="1"/>
          <p:nvPr/>
        </p:nvSpPr>
        <p:spPr>
          <a:xfrm>
            <a:off x="3619195" y="2048256"/>
            <a:ext cx="2286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CORE TOOL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3619195" y="3238805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</a:t>
            </a:r>
            <a:endParaRPr lang="en-US" sz="1900" dirty="0"/>
          </a:p>
        </p:txBody>
      </p:sp>
      <p:sp>
        <p:nvSpPr>
          <p:cNvPr id="33" name="Text 21"/>
          <p:cNvSpPr txBox="1"/>
          <p:nvPr/>
        </p:nvSpPr>
        <p:spPr>
          <a:xfrm>
            <a:off x="3619195" y="3600907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</a:t>
            </a:r>
            <a:endParaRPr lang="en-US" sz="900" dirty="0"/>
          </a:p>
        </p:txBody>
      </p:sp>
      <p:sp>
        <p:nvSpPr>
          <p:cNvPr id="34" name="Text 22"/>
          <p:cNvSpPr txBox="1"/>
          <p:nvPr/>
        </p:nvSpPr>
        <p:spPr>
          <a:xfrm>
            <a:off x="3619195" y="4143146"/>
            <a:ext cx="22860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네이티브 코드 에디터.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GPT·Claude 등 모델 선택.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바이브코딩의 본진</a:t>
            </a: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900" dirty="0"/>
          </a:p>
        </p:txBody>
      </p:sp>
      <p:sp>
        <p:nvSpPr>
          <p:cNvPr id="35" name="Text 23"/>
          <p:cNvSpPr txBox="1"/>
          <p:nvPr/>
        </p:nvSpPr>
        <p:spPr>
          <a:xfrm>
            <a:off x="3619195" y="5810098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cursor.com</a:t>
            </a:r>
            <a:endParaRPr lang="en-US" sz="800" dirty="0"/>
          </a:p>
        </p:txBody>
      </p:sp>
      <p:sp>
        <p:nvSpPr>
          <p:cNvPr id="36" name="Text 24"/>
          <p:cNvSpPr txBox="1"/>
          <p:nvPr/>
        </p:nvSpPr>
        <p:spPr>
          <a:xfrm>
            <a:off x="3619195" y="5977433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Download &amp; Sign in</a:t>
            </a:r>
            <a:endParaRPr lang="en-US" sz="800" dirty="0"/>
          </a:p>
        </p:txBody>
      </p:sp>
      <p:sp>
        <p:nvSpPr>
          <p:cNvPr id="37" name="Text 25"/>
          <p:cNvSpPr txBox="1"/>
          <p:nvPr/>
        </p:nvSpPr>
        <p:spPr>
          <a:xfrm>
            <a:off x="6476695" y="2048256"/>
            <a:ext cx="2286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VERSION CONTROL</a:t>
            </a:r>
            <a:endParaRPr lang="en-US" sz="900" dirty="0"/>
          </a:p>
        </p:txBody>
      </p:sp>
      <p:sp>
        <p:nvSpPr>
          <p:cNvPr id="38" name="Text 26"/>
          <p:cNvSpPr txBox="1"/>
          <p:nvPr/>
        </p:nvSpPr>
        <p:spPr>
          <a:xfrm>
            <a:off x="6476695" y="3238805"/>
            <a:ext cx="2286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900" dirty="0"/>
          </a:p>
        </p:txBody>
      </p:sp>
      <p:sp>
        <p:nvSpPr>
          <p:cNvPr id="39" name="Text 27"/>
          <p:cNvSpPr txBox="1"/>
          <p:nvPr/>
        </p:nvSpPr>
        <p:spPr>
          <a:xfrm>
            <a:off x="6476695" y="3600907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Latest</a:t>
            </a:r>
            <a:endParaRPr lang="en-US" sz="900" dirty="0"/>
          </a:p>
        </p:txBody>
      </p:sp>
      <p:sp>
        <p:nvSpPr>
          <p:cNvPr id="40" name="Text 28"/>
          <p:cNvSpPr txBox="1"/>
          <p:nvPr/>
        </p:nvSpPr>
        <p:spPr>
          <a:xfrm>
            <a:off x="6476695" y="4143146"/>
            <a:ext cx="2286000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시스템.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변경 이력 추적, 브랜치 분기, 되돌리기가 가능합니다.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6476695" y="5810098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git --version</a:t>
            </a:r>
            <a:endParaRPr lang="en-US" sz="800" dirty="0"/>
          </a:p>
        </p:txBody>
      </p:sp>
      <p:sp>
        <p:nvSpPr>
          <p:cNvPr id="42" name="Text 30"/>
          <p:cNvSpPr txBox="1"/>
          <p:nvPr/>
        </p:nvSpPr>
        <p:spPr>
          <a:xfrm>
            <a:off x="6476695" y="5977433"/>
            <a:ext cx="2286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 version 2.43.0</a:t>
            </a:r>
            <a:endParaRPr lang="en-US" sz="800" dirty="0"/>
          </a:p>
        </p:txBody>
      </p:sp>
      <p:sp>
        <p:nvSpPr>
          <p:cNvPr id="43" name="Text 31"/>
          <p:cNvSpPr txBox="1"/>
          <p:nvPr/>
        </p:nvSpPr>
        <p:spPr>
          <a:xfrm>
            <a:off x="9334195" y="2048256"/>
            <a:ext cx="2095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REMOTE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9334195" y="3238805"/>
            <a:ext cx="2095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900" dirty="0"/>
          </a:p>
        </p:txBody>
      </p:sp>
      <p:sp>
        <p:nvSpPr>
          <p:cNvPr id="45" name="Text 33"/>
          <p:cNvSpPr txBox="1"/>
          <p:nvPr/>
        </p:nvSpPr>
        <p:spPr>
          <a:xfrm>
            <a:off x="9334195" y="3600907"/>
            <a:ext cx="2095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Free 계정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9334195" y="4143146"/>
            <a:ext cx="2095805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원격 저장소 + 무료 배포.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Pages로 정적 사이트를 무료로 호스팅할 수 있습니다.</a:t>
            </a:r>
            <a:endParaRPr lang="en-US" sz="900" dirty="0"/>
          </a:p>
        </p:txBody>
      </p:sp>
      <p:sp>
        <p:nvSpPr>
          <p:cNvPr id="47" name="Text 35"/>
          <p:cNvSpPr txBox="1"/>
          <p:nvPr/>
        </p:nvSpPr>
        <p:spPr>
          <a:xfrm>
            <a:off x="9334195" y="5810098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github.com</a:t>
            </a:r>
            <a:endParaRPr lang="en-US" sz="800" dirty="0"/>
          </a:p>
        </p:txBody>
      </p:sp>
      <p:sp>
        <p:nvSpPr>
          <p:cNvPr id="48" name="Text 36"/>
          <p:cNvSpPr txBox="1"/>
          <p:nvPr/>
        </p:nvSpPr>
        <p:spPr>
          <a:xfrm>
            <a:off x="9334195" y="5977433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Sign up · 무료</a:t>
            </a:r>
            <a:endParaRPr lang="en-US" sz="800" dirty="0"/>
          </a:p>
        </p:txBody>
      </p:sp>
      <p:sp>
        <p:nvSpPr>
          <p:cNvPr id="49" name="Text 37"/>
          <p:cNvSpPr txBox="1"/>
          <p:nvPr/>
        </p:nvSpPr>
        <p:spPr>
          <a:xfrm>
            <a:off x="3619195" y="2381098"/>
            <a:ext cx="66751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&gt;_</a:t>
            </a:r>
            <a:endParaRPr lang="en-US" sz="24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809598"/>
            <a:ext cx="5524805" cy="1904695"/>
          </a:xfrm>
          <a:prstGeom prst="roundRect">
            <a:avLst>
              <a:gd name="adj" fmla="val 4801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809598"/>
            <a:ext cx="5524805" cy="1904695"/>
          </a:xfrm>
          <a:prstGeom prst="roundRect">
            <a:avLst>
              <a:gd name="adj" fmla="val 4801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3905402"/>
            <a:ext cx="5524805" cy="1904695"/>
          </a:xfrm>
          <a:prstGeom prst="roundRect">
            <a:avLst>
              <a:gd name="adj" fmla="val 480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3905402"/>
            <a:ext cx="5524805" cy="1904695"/>
          </a:xfrm>
          <a:prstGeom prst="roundRect">
            <a:avLst>
              <a:gd name="adj" fmla="val 4801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" y="6048756"/>
            <a:ext cx="11239805" cy="476402"/>
          </a:xfrm>
          <a:prstGeom prst="roundRect">
            <a:avLst>
              <a:gd name="adj" fmla="val 46065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1" name="Image 2" descr="gen-dedup-2c072b088382f36106683ee5e2bab6be.png"/>
          <p:cNvPicPr>
            <a:picLocks noChangeAspect="1"/>
          </p:cNvPicPr>
          <p:nvPr/>
        </p:nvPicPr>
        <p:blipFill>
          <a:blip r:embed="rId5"/>
          <a:srcRect l="-408" r="-408"/>
          <a:stretch/>
        </p:blipFill>
        <p:spPr>
          <a:xfrm>
            <a:off x="571500" y="1809598"/>
            <a:ext cx="57607" cy="1904695"/>
          </a:xfrm>
          <a:prstGeom prst="rect">
            <a:avLst/>
          </a:prstGeom>
        </p:spPr>
      </p:pic>
      <p:pic>
        <p:nvPicPr>
          <p:cNvPr id="12" name="Image 3" descr="gen-dedup-2c072b088382f36106683ee5e2bab6be.png"/>
          <p:cNvPicPr>
            <a:picLocks noChangeAspect="1"/>
          </p:cNvPicPr>
          <p:nvPr/>
        </p:nvPicPr>
        <p:blipFill>
          <a:blip r:embed="rId5"/>
          <a:srcRect l="-408" r="-408"/>
          <a:stretch/>
        </p:blipFill>
        <p:spPr>
          <a:xfrm>
            <a:off x="6286500" y="1809598"/>
            <a:ext cx="57607" cy="1904695"/>
          </a:xfrm>
          <a:prstGeom prst="rect">
            <a:avLst/>
          </a:prstGeom>
        </p:spPr>
      </p:pic>
      <p:pic>
        <p:nvPicPr>
          <p:cNvPr id="13" name="Image 4" descr="gen-dedup-bc3201b90a2814c052c43a813117e54c.png"/>
          <p:cNvPicPr>
            <a:picLocks noChangeAspect="1"/>
          </p:cNvPicPr>
          <p:nvPr/>
        </p:nvPicPr>
        <p:blipFill>
          <a:blip r:embed="rId6"/>
          <a:srcRect l="-408" r="-408"/>
          <a:stretch/>
        </p:blipFill>
        <p:spPr>
          <a:xfrm>
            <a:off x="571500" y="3905402"/>
            <a:ext cx="57607" cy="1904695"/>
          </a:xfrm>
          <a:prstGeom prst="rect">
            <a:avLst/>
          </a:prstGeom>
        </p:spPr>
      </p:pic>
      <p:pic>
        <p:nvPicPr>
          <p:cNvPr id="14" name="Image 5" descr="gen-dedup-2c072b088382f36106683ee5e2bab6be.png"/>
          <p:cNvPicPr>
            <a:picLocks noChangeAspect="1"/>
          </p:cNvPicPr>
          <p:nvPr/>
        </p:nvPicPr>
        <p:blipFill>
          <a:blip r:embed="rId5"/>
          <a:srcRect l="-408" r="-408"/>
          <a:stretch/>
        </p:blipFill>
        <p:spPr>
          <a:xfrm>
            <a:off x="6286500" y="3905402"/>
            <a:ext cx="57607" cy="1904695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 · 4/5</a:t>
            </a:r>
            <a:endParaRPr lang="en-US" sz="9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 핵심 단축키 4개</a:t>
            </a:r>
            <a:endParaRPr lang="en-US" sz="3300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네 가지 단축키만 손에 익으면, 오늘부터 바이브코딩이 가능합니다.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857707" y="2000707"/>
            <a:ext cx="5048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INLINE GENERATE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857707" y="2286000"/>
            <a:ext cx="5048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 K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(Windows: Ctrl+K)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857707" y="2809951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 코드 생성·수정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857707" y="3124505"/>
            <a:ext cx="54077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위에서 누르면 → 자연어로 변경 요청. 선택한 코드 블록만 정확히 바꿔줍니다.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6572707" y="2000707"/>
            <a:ext cx="5048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CHAT PANEL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6572707" y="2286000"/>
            <a:ext cx="5048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 L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(Windows: Ctrl+L)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6572707" y="2809951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채팅 패널 열기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6572707" y="3124505"/>
            <a:ext cx="50484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오른쪽 사이드에 챗 패널이 열립니다. 코드 외 일반 질문이나 설계 상의에 사용.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857707" y="4095598"/>
            <a:ext cx="5048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MODE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857707" y="4381805"/>
            <a:ext cx="5048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⌘ I</a:t>
            </a: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(Agent)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857707" y="4905756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· 멀티파일 자율 편집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857707" y="5219395"/>
            <a:ext cx="55997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"Todo 앱 만들어줘"처럼 큰 작업을 던지면 여러 파일을 한 번에 만들거나 수정합니다.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6572707" y="4095598"/>
            <a:ext cx="5048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REFERENCE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6572707" y="4381805"/>
            <a:ext cx="50484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@파일명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 chat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6572707" y="4905756"/>
            <a:ext cx="50484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파일 참조 대화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572707" y="5219395"/>
            <a:ext cx="57598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"@App.tsx 이 컴포넌트를 분리해줘"처럼 정확한 파일을 콕 집어 컨텍스트를 제공합니다.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856793" y="6152998"/>
            <a:ext cx="1076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팁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큰 작업은 Agent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(⌘I)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한 줄 수정은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인라인(⌘K)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의논은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채팅(⌘L)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이 3개로 끝납니다.</a:t>
            </a:r>
            <a:endParaRPr lang="en-US" sz="11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667305"/>
          </a:xfrm>
          <a:prstGeom prst="roundRect">
            <a:avLst>
              <a:gd name="adj" fmla="val 244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667305"/>
          </a:xfrm>
          <a:prstGeom prst="roundRect">
            <a:avLst>
              <a:gd name="adj" fmla="val 244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4667098"/>
            <a:ext cx="11239805" cy="1857146"/>
          </a:xfrm>
          <a:prstGeom prst="roundRect">
            <a:avLst>
              <a:gd name="adj" fmla="val 50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cf7883e6d257e4d09741ea08a8baf634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571500" y="1762049"/>
            <a:ext cx="5524805" cy="342900"/>
          </a:xfrm>
          <a:prstGeom prst="rect">
            <a:avLst/>
          </a:prstGeom>
        </p:spPr>
      </p:pic>
      <p:pic>
        <p:nvPicPr>
          <p:cNvPr id="10" name="Image 3" descr="gen-dedup-cf7883e6d257e4d09741ea08a8baf634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286500" y="1762049"/>
            <a:ext cx="5524805" cy="342900"/>
          </a:xfrm>
          <a:prstGeom prst="rect">
            <a:avLst/>
          </a:prstGeom>
        </p:spPr>
      </p:pic>
      <p:pic>
        <p:nvPicPr>
          <p:cNvPr id="11" name="Image 4" descr="gen-dedup-a172a9f45e5eecb546b52551c8a29d28.png"/>
          <p:cNvPicPr>
            <a:picLocks noChangeAspect="1"/>
          </p:cNvPicPr>
          <p:nvPr/>
        </p:nvPicPr>
        <p:blipFill>
          <a:blip r:embed="rId6"/>
          <a:srcRect l="-406" r="-406"/>
          <a:stretch/>
        </p:blipFill>
        <p:spPr>
          <a:xfrm>
            <a:off x="571500" y="4667098"/>
            <a:ext cx="57607" cy="1857146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1 · 5/5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npm·Git 핵심 명령어 + 첫 프로젝트 실습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외우지 마세요. 이 페이지를 옆에 두고 하나씩 따라쳐 보면 됩니다.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1009498" y="1837944"/>
            <a:ext cx="48956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Step 1 · Vite + React + TS 프로젝트 생성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28600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버전 확인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49631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node -v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&amp;&amp;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npm -v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78069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새 프로젝트 생성 (Vite + React + TypeScript)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99100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npm create vite@latest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my-app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--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--template react-ts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27446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의존성 설치 + 개발 서버 실행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48477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cd my-app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&amp;&amp;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npm install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71155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npm run dev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99501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http://localhost:5173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6724498" y="1837944"/>
            <a:ext cx="48956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Step 2 · Git으로 첫 커밋 → GitHub 푸시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6476695" y="228600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저장소 초기화 + 첫 커밋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476695" y="249631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init -b main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6476695" y="2723083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add .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476695" y="2949854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commit -m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"첫 번째 커밋"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476695" y="323331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GitHub 원격 연결 + 푸시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344363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remote add origin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&lt;repo-url&gt;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476695" y="367040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git push -u origin main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395478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GitHub에 코드 업로드 완료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915314" y="4858207"/>
            <a:ext cx="18480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HANDS-ON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857707" y="5143500"/>
            <a:ext cx="107634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IDE로 첫 React 프로젝트 만들고 카운터 앱 생성하기</a:t>
            </a:r>
            <a:endParaRPr lang="en-US" sz="2100" dirty="0"/>
          </a:p>
        </p:txBody>
      </p:sp>
      <p:sp>
        <p:nvSpPr>
          <p:cNvPr id="35" name="Text 28"/>
          <p:cNvSpPr txBox="1"/>
          <p:nvPr/>
        </p:nvSpPr>
        <p:spPr>
          <a:xfrm>
            <a:off x="857707" y="5715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Vite + React + TS 프로젝트 생성 → 개발 서버 실행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57707" y="5941771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Cursor에서 ⌘I → "간단한 카운터 앱 만들어줘"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286500" y="5715000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동작 확인 후 git init → 첫 커밋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6286500" y="5941771"/>
            <a:ext cx="5334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GitHub에 새 리포 만들고 푸시</a:t>
            </a:r>
            <a:endParaRPr lang="en-US" sz="10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2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04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15:00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기획 세션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서비스 기획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요구사항 정의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"코드를 짜기 전에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만들지 정하는 것"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진짜 시작입니다.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5556809"/>
            <a:ext cx="6858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기획서·와이어프레임·폴더 구조를 AI와 함께 한 시간 안에 완성합니다.</a:t>
            </a:r>
            <a:endParaRPr lang="en-US" sz="1200" dirty="0"/>
          </a:p>
        </p:txBody>
      </p:sp>
      <p:sp>
        <p:nvSpPr>
          <p:cNvPr id="1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pic>
        <p:nvPicPr>
          <p:cNvPr id="5" name="Image 1" descr="gen-dedup-347877944cd06c87ac068459d5c1ed76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333195" y="2857500"/>
            <a:ext cx="9525305" cy="384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4762195"/>
            <a:ext cx="11239805" cy="1714500"/>
          </a:xfrm>
          <a:prstGeom prst="roundRect">
            <a:avLst>
              <a:gd name="adj" fmla="val 5926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2" descr="gen-dedup-4e77c3377c6c45a4b5b45870d0212f95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3" descr="gen-dedup-3b87f57300fd430e87722faceece19cf.png"/>
          <p:cNvPicPr>
            <a:picLocks noChangeAspect="1"/>
          </p:cNvPicPr>
          <p:nvPr/>
        </p:nvPicPr>
        <p:blipFill>
          <a:blip r:embed="rId6"/>
          <a:srcRect t="-398" b="-398"/>
          <a:stretch/>
        </p:blipFill>
        <p:spPr>
          <a:xfrm>
            <a:off x="1333195" y="2857500"/>
            <a:ext cx="9525305" cy="3840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143000" y="2667305"/>
            <a:ext cx="418795" cy="4187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3047695" y="2667305"/>
            <a:ext cx="418795" cy="4187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4953305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6858000" y="2667305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8762695" y="2667305"/>
            <a:ext cx="418795" cy="41879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2 · 1/3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서비스 기획 5단계</a:t>
            </a:r>
            <a:endParaRPr lang="en-US" sz="33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코드는 AI가 짜더라도 — "무엇을 만들지" 결정은 사람이 합니다. 5단계로 정리합니다.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0007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216255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도출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3238805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</a:t>
            </a: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해결할 것인가?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467258" y="3544214"/>
            <a:ext cx="192298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 반복되는 업무 일지 작성 부담</a:t>
            </a:r>
            <a:endParaRPr lang="en-US" sz="800" dirty="0"/>
          </a:p>
        </p:txBody>
      </p:sp>
      <p:sp>
        <p:nvSpPr>
          <p:cNvPr id="21" name="Text 15"/>
          <p:cNvSpPr txBox="1"/>
          <p:nvPr/>
        </p:nvSpPr>
        <p:spPr>
          <a:xfrm>
            <a:off x="2667305" y="20007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2667305" y="216255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2307031" y="3238805"/>
            <a:ext cx="20546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어떤 상황에서 </a:t>
            </a: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하는가?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2476195" y="3544214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페르소나 1~2명 구체화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20007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0" y="216255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정의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4381805" y="3238805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 vs </a:t>
            </a: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부가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기능 분리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4381805" y="3544214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우선</a:t>
            </a:r>
            <a:endParaRPr lang="en-US" sz="800" dirty="0"/>
          </a:p>
        </p:txBody>
      </p:sp>
      <p:sp>
        <p:nvSpPr>
          <p:cNvPr id="29" name="Text 23"/>
          <p:cNvSpPr txBox="1"/>
          <p:nvPr/>
        </p:nvSpPr>
        <p:spPr>
          <a:xfrm>
            <a:off x="6476695" y="20007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476695" y="216255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286500" y="3238805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와이어프레임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프로토타입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6286500" y="3544214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Figma로 한 화면씩</a:t>
            </a:r>
            <a:endParaRPr lang="en-US" sz="800" dirty="0"/>
          </a:p>
        </p:txBody>
      </p:sp>
      <p:sp>
        <p:nvSpPr>
          <p:cNvPr id="33" name="Text 27"/>
          <p:cNvSpPr txBox="1"/>
          <p:nvPr/>
        </p:nvSpPr>
        <p:spPr>
          <a:xfrm>
            <a:off x="8382305" y="20007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5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8382305" y="2162556"/>
            <a:ext cx="1334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8191195" y="3238805"/>
            <a:ext cx="1714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프론트·DB·배포</a:t>
            </a: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환경 확정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8191195" y="3544214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강의: React + Supabase</a:t>
            </a:r>
            <a:endParaRPr lang="en-US" sz="800" dirty="0"/>
          </a:p>
        </p:txBody>
      </p:sp>
      <p:sp>
        <p:nvSpPr>
          <p:cNvPr id="37" name="Text 31"/>
          <p:cNvSpPr txBox="1"/>
          <p:nvPr/>
        </p:nvSpPr>
        <p:spPr>
          <a:xfrm>
            <a:off x="1028700" y="5000854"/>
            <a:ext cx="5639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BIG IDEA · 본 강의의 접근법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952805" y="5333695"/>
            <a:ext cx="76206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기획부터 시킵니다.</a:t>
            </a:r>
            <a:endParaRPr lang="en-US" sz="2400" dirty="0"/>
          </a:p>
        </p:txBody>
      </p:sp>
      <p:sp>
        <p:nvSpPr>
          <p:cNvPr id="39" name="Text 33"/>
          <p:cNvSpPr txBox="1"/>
          <p:nvPr/>
        </p:nvSpPr>
        <p:spPr>
          <a:xfrm>
            <a:off x="952805" y="5905195"/>
            <a:ext cx="104781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한 줄을 던지면 AI가 → 페르소나·기능 목록·화면 흐름·DB 스키마·API 엔드포인트까지 한 번에 초안을 만듭니다. </a:t>
            </a:r>
          </a:p>
          <a:p>
            <a:pPr marL="0" indent="0" algn="l">
              <a:buNone/>
            </a:pPr>
            <a:r>
              <a:rPr lang="en-US" sz="120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</a:t>
            </a:r>
            <a:r>
              <a:rPr lang="en-US" sz="12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그것을 </a:t>
            </a: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검토하고 다듬는 역할</a:t>
            </a:r>
            <a:r>
              <a:rPr lang="en-US" sz="12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1143000" y="2667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3047695" y="2667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4953305" y="2667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0" y="2667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38"/>
          <p:cNvSpPr txBox="1"/>
          <p:nvPr/>
        </p:nvSpPr>
        <p:spPr>
          <a:xfrm>
            <a:off x="8762695" y="2667305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90519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667805" y="5715000"/>
            <a:ext cx="5143500" cy="761695"/>
          </a:xfrm>
          <a:prstGeom prst="roundRect">
            <a:avLst>
              <a:gd name="adj" fmla="val 2401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fbc76b656c2fbe5a9c064378deb9adc6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571500" y="1762049"/>
            <a:ext cx="5905195" cy="3429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667805" y="214335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0" name="Shape 5"/>
          <p:cNvSpPr/>
          <p:nvPr/>
        </p:nvSpPr>
        <p:spPr>
          <a:xfrm>
            <a:off x="6667805" y="2857500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Shape 6"/>
          <p:cNvSpPr/>
          <p:nvPr/>
        </p:nvSpPr>
        <p:spPr>
          <a:xfrm>
            <a:off x="6667805" y="3571646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2" name="Shape 7"/>
          <p:cNvSpPr/>
          <p:nvPr/>
        </p:nvSpPr>
        <p:spPr>
          <a:xfrm>
            <a:off x="6667805" y="4286707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Shape 8"/>
          <p:cNvSpPr/>
          <p:nvPr/>
        </p:nvSpPr>
        <p:spPr>
          <a:xfrm>
            <a:off x="6667805" y="5000854"/>
            <a:ext cx="457200" cy="457200"/>
          </a:xfrm>
          <a:prstGeom prst="roundRect">
            <a:avLst>
              <a:gd name="adj" fmla="val 66667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2 · 2/3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619049"/>
            <a:ext cx="898398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요구사항 정의서 받는 프롬프트</a:t>
            </a:r>
            <a:endParaRPr lang="en-US" sz="33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"기획서 좀 짜줘" — 이런 두루뭉술한 요청 대신, 5요소를 채워 보냅니다.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009498" y="1837944"/>
            <a:ext cx="52770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Cursor Chat · 기획 프롬프트 템플릿</a:t>
            </a:r>
            <a:endParaRPr lang="en-US" sz="90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2286000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너는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웹 서비스 기획 전문가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야.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2572207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다음 조건의 요구사항 정의서를 작성해줘.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2935224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[조건]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3145536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 서비스: 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할 일 관리(Todo)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웹앱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761695" y="335676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 사용자: 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개인 직장인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3567074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 핵심 기능: 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CRUD + 완료체크 + 카테고리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761695" y="3777386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 기술 스택: 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 + Supabase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761695" y="3987698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 인증: 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이메일 로그인 + Google OAuth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761695" y="4350715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[출력 형식]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4561027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1. 프로젝트 개요 (목적·범위)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761695" y="4771339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2. 기능 목록 (필수/선택 구분)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761695" y="4981651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3. 화면 목록 (페이지 명세)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761695" y="5191963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4. 데이터 모델 (테이블 설계)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761695" y="5403190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5. API 엔드포인트 목록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761695" y="576529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마크다운 표 형식으로 출력해줘.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667805" y="1762049"/>
            <a:ext cx="5143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기획 프롬프트의 5요소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7334402" y="2143354"/>
            <a:ext cx="4476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 · 역할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7334402" y="2400300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◯◯ 전문가야" — 답변 톤이 결정됩니다.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7334402" y="2857500"/>
            <a:ext cx="4476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Objective · 목적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7334402" y="3114446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만들지" — 결과물의 형태를 적습니다.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7334402" y="3571646"/>
            <a:ext cx="4476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Context · 맥락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7334402" y="3829507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사용자·도메인·제약 등 배경 정보 전달.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7334402" y="4286707"/>
            <a:ext cx="4476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 · 형식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7334402" y="4543654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표·리스트·코드 블록 등 출력 구조 지정.</a:t>
            </a:r>
            <a:endParaRPr lang="en-US" sz="900" dirty="0"/>
          </a:p>
        </p:txBody>
      </p:sp>
      <p:sp>
        <p:nvSpPr>
          <p:cNvPr id="42" name="Text 37"/>
          <p:cNvSpPr txBox="1"/>
          <p:nvPr/>
        </p:nvSpPr>
        <p:spPr>
          <a:xfrm>
            <a:off x="7334402" y="5000854"/>
            <a:ext cx="4476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Constraint · 조건</a:t>
            </a:r>
            <a:endParaRPr lang="en-US" sz="1300" dirty="0"/>
          </a:p>
        </p:txBody>
      </p:sp>
      <p:sp>
        <p:nvSpPr>
          <p:cNvPr id="43" name="Text 38"/>
          <p:cNvSpPr txBox="1"/>
          <p:nvPr/>
        </p:nvSpPr>
        <p:spPr>
          <a:xfrm>
            <a:off x="7334402" y="5257800"/>
            <a:ext cx="44769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길이·어조·반드시 포함/제외할 사항.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6915607" y="5857646"/>
            <a:ext cx="4705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6858000" y="6080760"/>
            <a:ext cx="4763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처음엔 두루뭉술해도 OK — AI에게 추가 질문을 받으며 점점 구체화하세요.</a:t>
            </a:r>
            <a:endParaRPr lang="en-US" sz="10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59d9839de8e1fe2875c6c371ed851711.png"/>
          <p:cNvPicPr>
            <a:picLocks noChangeAspect="1"/>
          </p:cNvPicPr>
          <p:nvPr/>
        </p:nvPicPr>
        <p:blipFill>
          <a:blip r:embed="rId5"/>
          <a:srcRect l="-204" r="-204"/>
          <a:stretch/>
        </p:blipFill>
        <p:spPr>
          <a:xfrm>
            <a:off x="571500" y="1762049"/>
            <a:ext cx="5524805" cy="75895"/>
          </a:xfrm>
          <a:prstGeom prst="rect">
            <a:avLst/>
          </a:prstGeom>
        </p:spPr>
      </p:pic>
      <p:pic>
        <p:nvPicPr>
          <p:cNvPr id="9" name="Image 3" descr="gen-dedup-79b91527b2c708191011a9827eca9e2f.png"/>
          <p:cNvPicPr>
            <a:picLocks noChangeAspect="1"/>
          </p:cNvPicPr>
          <p:nvPr/>
        </p:nvPicPr>
        <p:blipFill>
          <a:blip r:embed="rId6"/>
          <a:srcRect l="-204" r="-204"/>
          <a:stretch/>
        </p:blipFill>
        <p:spPr>
          <a:xfrm>
            <a:off x="6286500" y="1762049"/>
            <a:ext cx="5524805" cy="7589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857707" y="2905049"/>
            <a:ext cx="1561795" cy="1943100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5"/>
          <p:cNvSpPr/>
          <p:nvPr/>
        </p:nvSpPr>
        <p:spPr>
          <a:xfrm>
            <a:off x="2572207" y="2905049"/>
            <a:ext cx="1561795" cy="1943100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6"/>
          <p:cNvSpPr/>
          <p:nvPr/>
        </p:nvSpPr>
        <p:spPr>
          <a:xfrm>
            <a:off x="4286707" y="2905049"/>
            <a:ext cx="1561795" cy="1943100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4" descr="gen-dedup-0dd517b7524d99dd205a2a1286c88aa1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952805" y="3000146"/>
            <a:ext cx="1333195" cy="11430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952805" y="3191256"/>
            <a:ext cx="1333195" cy="304495"/>
          </a:xfrm>
          <a:prstGeom prst="roundRect">
            <a:avLst>
              <a:gd name="adj" fmla="val 75075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5" descr="gen-dedup-c5dbf40530804129f80a00e8e3930a8c.png"/>
          <p:cNvPicPr>
            <a:picLocks noChangeAspect="1"/>
          </p:cNvPicPr>
          <p:nvPr/>
        </p:nvPicPr>
        <p:blipFill>
          <a:blip r:embed="rId8"/>
          <a:srcRect l="-190" r="-190"/>
          <a:stretch/>
        </p:blipFill>
        <p:spPr>
          <a:xfrm>
            <a:off x="952805" y="3590849"/>
            <a:ext cx="1333195" cy="75895"/>
          </a:xfrm>
          <a:prstGeom prst="rect">
            <a:avLst/>
          </a:prstGeom>
        </p:spPr>
      </p:pic>
      <p:pic>
        <p:nvPicPr>
          <p:cNvPr id="16" name="Image 6" descr="gen-dedup-c5dbf40530804129f80a00e8e3930a8c.png"/>
          <p:cNvPicPr>
            <a:picLocks noChangeAspect="1"/>
          </p:cNvPicPr>
          <p:nvPr/>
        </p:nvPicPr>
        <p:blipFill>
          <a:blip r:embed="rId8"/>
          <a:srcRect l="-190" r="-190"/>
          <a:stretch/>
        </p:blipFill>
        <p:spPr>
          <a:xfrm>
            <a:off x="952805" y="3762756"/>
            <a:ext cx="1333195" cy="75895"/>
          </a:xfrm>
          <a:prstGeom prst="rect">
            <a:avLst/>
          </a:prstGeom>
        </p:spPr>
      </p:pic>
      <p:pic>
        <p:nvPicPr>
          <p:cNvPr id="17" name="Image 7" descr="gen-dedup-c5dbf40530804129f80a00e8e3930a8c.png"/>
          <p:cNvPicPr>
            <a:picLocks noChangeAspect="1"/>
          </p:cNvPicPr>
          <p:nvPr/>
        </p:nvPicPr>
        <p:blipFill>
          <a:blip r:embed="rId8"/>
          <a:srcRect l="-190" r="-190"/>
          <a:stretch/>
        </p:blipFill>
        <p:spPr>
          <a:xfrm>
            <a:off x="952805" y="3933749"/>
            <a:ext cx="1333195" cy="7589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952805" y="4105656"/>
            <a:ext cx="761695" cy="228600"/>
          </a:xfrm>
          <a:prstGeom prst="roundRect">
            <a:avLst>
              <a:gd name="adj" fmla="val 13333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8" descr="gen-dedup-0dd517b7524d99dd205a2a1286c88aa1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2667305" y="3000146"/>
            <a:ext cx="1333195" cy="114300"/>
          </a:xfrm>
          <a:prstGeom prst="rect">
            <a:avLst/>
          </a:prstGeom>
        </p:spPr>
      </p:pic>
      <p:sp>
        <p:nvSpPr>
          <p:cNvPr id="20" name="Shape 9"/>
          <p:cNvSpPr/>
          <p:nvPr/>
        </p:nvSpPr>
        <p:spPr>
          <a:xfrm>
            <a:off x="2667305" y="3191256"/>
            <a:ext cx="1333195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0"/>
          <p:cNvSpPr/>
          <p:nvPr/>
        </p:nvSpPr>
        <p:spPr>
          <a:xfrm>
            <a:off x="2667305" y="3429000"/>
            <a:ext cx="1333195" cy="171907"/>
          </a:xfrm>
          <a:prstGeom prst="roundRect">
            <a:avLst>
              <a:gd name="adj" fmla="val 118203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1"/>
          <p:cNvSpPr/>
          <p:nvPr/>
        </p:nvSpPr>
        <p:spPr>
          <a:xfrm>
            <a:off x="2667305" y="3666744"/>
            <a:ext cx="1333195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2"/>
          <p:cNvSpPr/>
          <p:nvPr/>
        </p:nvSpPr>
        <p:spPr>
          <a:xfrm>
            <a:off x="2667305" y="3905402"/>
            <a:ext cx="1333195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3"/>
          <p:cNvSpPr/>
          <p:nvPr/>
        </p:nvSpPr>
        <p:spPr>
          <a:xfrm>
            <a:off x="2667305" y="4143146"/>
            <a:ext cx="1333195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9" descr="gen-dedup-0dd517b7524d99dd205a2a1286c88aa1.png"/>
          <p:cNvPicPr>
            <a:picLocks noChangeAspect="1"/>
          </p:cNvPicPr>
          <p:nvPr/>
        </p:nvPicPr>
        <p:blipFill>
          <a:blip r:embed="rId7"/>
          <a:srcRect t="-11" b="-11"/>
          <a:stretch/>
        </p:blipFill>
        <p:spPr>
          <a:xfrm>
            <a:off x="4381805" y="3000146"/>
            <a:ext cx="1333195" cy="114300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4381805" y="3191256"/>
            <a:ext cx="571500" cy="571500"/>
          </a:xfrm>
          <a:prstGeom prst="ellipse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0" descr="gen-dedup-24770b52d07b1313dcef558ca2836d01.png"/>
          <p:cNvPicPr>
            <a:picLocks noChangeAspect="1"/>
          </p:cNvPicPr>
          <p:nvPr/>
        </p:nvPicPr>
        <p:blipFill>
          <a:blip r:embed="rId9"/>
          <a:srcRect l="-68" r="-68"/>
          <a:stretch/>
        </p:blipFill>
        <p:spPr>
          <a:xfrm>
            <a:off x="5048402" y="3238805"/>
            <a:ext cx="666598" cy="95098"/>
          </a:xfrm>
          <a:prstGeom prst="rect">
            <a:avLst/>
          </a:prstGeom>
        </p:spPr>
      </p:pic>
      <p:pic>
        <p:nvPicPr>
          <p:cNvPr id="28" name="Image 11" descr="gen-dedup-d78756e138e7415cb65f56441676a4a4.png"/>
          <p:cNvPicPr>
            <a:picLocks noChangeAspect="1"/>
          </p:cNvPicPr>
          <p:nvPr/>
        </p:nvPicPr>
        <p:blipFill>
          <a:blip r:embed="rId10"/>
          <a:srcRect l="-217" r="-217"/>
          <a:stretch/>
        </p:blipFill>
        <p:spPr>
          <a:xfrm>
            <a:off x="5048402" y="3409798"/>
            <a:ext cx="476402" cy="75895"/>
          </a:xfrm>
          <a:prstGeom prst="rect">
            <a:avLst/>
          </a:prstGeom>
        </p:spPr>
      </p:pic>
      <p:pic>
        <p:nvPicPr>
          <p:cNvPr id="29" name="Image 12" descr="gen-dedup-c5dbf40530804129f80a00e8e3930a8c.png"/>
          <p:cNvPicPr>
            <a:picLocks noChangeAspect="1"/>
          </p:cNvPicPr>
          <p:nvPr/>
        </p:nvPicPr>
        <p:blipFill>
          <a:blip r:embed="rId8"/>
          <a:srcRect l="-190" r="-190"/>
          <a:stretch/>
        </p:blipFill>
        <p:spPr>
          <a:xfrm>
            <a:off x="4381805" y="3905402"/>
            <a:ext cx="1333195" cy="75895"/>
          </a:xfrm>
          <a:prstGeom prst="rect">
            <a:avLst/>
          </a:prstGeom>
        </p:spPr>
      </p:pic>
      <p:pic>
        <p:nvPicPr>
          <p:cNvPr id="30" name="Image 13" descr="gen-dedup-c5dbf40530804129f80a00e8e3930a8c.png"/>
          <p:cNvPicPr>
            <a:picLocks noChangeAspect="1"/>
          </p:cNvPicPr>
          <p:nvPr/>
        </p:nvPicPr>
        <p:blipFill>
          <a:blip r:embed="rId8"/>
          <a:srcRect l="-190" r="-190"/>
          <a:stretch/>
        </p:blipFill>
        <p:spPr>
          <a:xfrm>
            <a:off x="4381805" y="4076395"/>
            <a:ext cx="1333195" cy="75895"/>
          </a:xfrm>
          <a:prstGeom prst="rect">
            <a:avLst/>
          </a:prstGeom>
        </p:spPr>
      </p:pic>
      <p:pic>
        <p:nvPicPr>
          <p:cNvPr id="31" name="Image 14" descr="gen-dedup-ca3ccdb95baccd5214dfc52aee8b953e.png"/>
          <p:cNvPicPr>
            <a:picLocks noChangeAspect="1"/>
          </p:cNvPicPr>
          <p:nvPr/>
        </p:nvPicPr>
        <p:blipFill>
          <a:blip r:embed="rId11"/>
          <a:srcRect l="-201" r="-201"/>
          <a:stretch/>
        </p:blipFill>
        <p:spPr>
          <a:xfrm>
            <a:off x="4381805" y="4248302"/>
            <a:ext cx="1143000" cy="75895"/>
          </a:xfrm>
          <a:prstGeom prst="rect">
            <a:avLst/>
          </a:prstGeom>
        </p:spPr>
      </p:pic>
      <p:sp>
        <p:nvSpPr>
          <p:cNvPr id="32" name="Text 1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2 · 3/3</a:t>
            </a:r>
            <a:endParaRPr lang="en-US" sz="900" dirty="0"/>
          </a:p>
        </p:txBody>
      </p:sp>
      <p:sp>
        <p:nvSpPr>
          <p:cNvPr id="33" name="Text 1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설계 + 폴더 구조</a:t>
            </a:r>
            <a:endParaRPr lang="en-US" sz="3300" dirty="0"/>
          </a:p>
        </p:txBody>
      </p:sp>
      <p:sp>
        <p:nvSpPr>
          <p:cNvPr id="34" name="Text 1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기획서가 끝나면 → Figma로 화면을 그리고 → 폴더 구조까지 한 번에 만듭니다.</a:t>
            </a:r>
            <a:endParaRPr lang="en-US" sz="1300" dirty="0"/>
          </a:p>
        </p:txBody>
      </p:sp>
      <p:sp>
        <p:nvSpPr>
          <p:cNvPr id="35" name="Text 18"/>
          <p:cNvSpPr txBox="1"/>
          <p:nvPr/>
        </p:nvSpPr>
        <p:spPr>
          <a:xfrm>
            <a:off x="857707" y="2048256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· 화면 설계</a:t>
            </a:r>
            <a:endParaRPr lang="en-US" sz="900" dirty="0"/>
          </a:p>
        </p:txBody>
      </p:sp>
      <p:sp>
        <p:nvSpPr>
          <p:cNvPr id="36" name="Text 19"/>
          <p:cNvSpPr txBox="1"/>
          <p:nvPr/>
        </p:nvSpPr>
        <p:spPr>
          <a:xfrm>
            <a:off x="857707" y="2333549"/>
            <a:ext cx="495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와이어프레임부터 그립니다</a:t>
            </a:r>
            <a:endParaRPr lang="en-US" sz="2200" dirty="0"/>
          </a:p>
        </p:txBody>
      </p:sp>
      <p:sp>
        <p:nvSpPr>
          <p:cNvPr id="37" name="Text 20"/>
          <p:cNvSpPr txBox="1"/>
          <p:nvPr/>
        </p:nvSpPr>
        <p:spPr>
          <a:xfrm>
            <a:off x="857707" y="4905756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Login</a:t>
            </a:r>
            <a:endParaRPr lang="en-US" sz="900" dirty="0"/>
          </a:p>
        </p:txBody>
      </p:sp>
      <p:sp>
        <p:nvSpPr>
          <p:cNvPr id="38" name="Text 21"/>
          <p:cNvSpPr txBox="1"/>
          <p:nvPr/>
        </p:nvSpPr>
        <p:spPr>
          <a:xfrm>
            <a:off x="2572207" y="4905756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 List</a:t>
            </a:r>
            <a:endParaRPr lang="en-US" sz="900" dirty="0"/>
          </a:p>
        </p:txBody>
      </p:sp>
      <p:sp>
        <p:nvSpPr>
          <p:cNvPr id="39" name="Text 22"/>
          <p:cNvSpPr txBox="1"/>
          <p:nvPr/>
        </p:nvSpPr>
        <p:spPr>
          <a:xfrm>
            <a:off x="4286707" y="4905756"/>
            <a:ext cx="1524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 Page</a:t>
            </a:r>
            <a:endParaRPr lang="en-US" sz="900" dirty="0"/>
          </a:p>
        </p:txBody>
      </p:sp>
      <p:sp>
        <p:nvSpPr>
          <p:cNvPr id="40" name="Text 23"/>
          <p:cNvSpPr txBox="1"/>
          <p:nvPr/>
        </p:nvSpPr>
        <p:spPr>
          <a:xfrm>
            <a:off x="857707" y="53336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 1.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픽셀 단위 디자인은 나중에. 처음엔 박스와 선만 그립니다.</a:t>
            </a:r>
            <a:endParaRPr lang="en-US" sz="1000" dirty="0"/>
          </a:p>
        </p:txBody>
      </p:sp>
      <p:sp>
        <p:nvSpPr>
          <p:cNvPr id="41" name="Text 24"/>
          <p:cNvSpPr txBox="1"/>
          <p:nvPr/>
        </p:nvSpPr>
        <p:spPr>
          <a:xfrm>
            <a:off x="857707" y="5560466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 2.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Cursor에서 Figma 화면을 스크린샷으로 첨부 → AI가 코드로 변환.</a:t>
            </a:r>
            <a:endParaRPr lang="en-US" sz="1000" dirty="0"/>
          </a:p>
        </p:txBody>
      </p:sp>
      <p:sp>
        <p:nvSpPr>
          <p:cNvPr id="42" name="Text 25"/>
          <p:cNvSpPr txBox="1"/>
          <p:nvPr/>
        </p:nvSpPr>
        <p:spPr>
          <a:xfrm>
            <a:off x="857707" y="5787238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Tip 3.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화면 흐름(이동 경로)을 화살표로 표시하면 라우터 설계가 쉬워집니다.</a:t>
            </a:r>
            <a:endParaRPr lang="en-US" sz="1000" dirty="0"/>
          </a:p>
        </p:txBody>
      </p:sp>
      <p:sp>
        <p:nvSpPr>
          <p:cNvPr id="43" name="Text 26"/>
          <p:cNvSpPr txBox="1"/>
          <p:nvPr/>
        </p:nvSpPr>
        <p:spPr>
          <a:xfrm>
            <a:off x="6572707" y="2048256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FOLDER STRUCTURE · React 표준</a:t>
            </a:r>
            <a:endParaRPr lang="en-US" sz="900" dirty="0"/>
          </a:p>
        </p:txBody>
      </p:sp>
      <p:sp>
        <p:nvSpPr>
          <p:cNvPr id="44" name="Text 27"/>
          <p:cNvSpPr txBox="1"/>
          <p:nvPr/>
        </p:nvSpPr>
        <p:spPr>
          <a:xfrm>
            <a:off x="6572707" y="2333549"/>
            <a:ext cx="495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my-app/ 디렉토리</a:t>
            </a:r>
            <a:endParaRPr lang="en-US" sz="2200" dirty="0"/>
          </a:p>
        </p:txBody>
      </p:sp>
      <p:sp>
        <p:nvSpPr>
          <p:cNvPr id="45" name="Text 28"/>
          <p:cNvSpPr txBox="1"/>
          <p:nvPr/>
        </p:nvSpPr>
        <p:spPr>
          <a:xfrm>
            <a:off x="6572707" y="285750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my-app/</a:t>
            </a:r>
            <a:endParaRPr lang="en-US" sz="1000" dirty="0"/>
          </a:p>
        </p:txBody>
      </p:sp>
      <p:sp>
        <p:nvSpPr>
          <p:cNvPr id="46" name="Text 29"/>
          <p:cNvSpPr txBox="1"/>
          <p:nvPr/>
        </p:nvSpPr>
        <p:spPr>
          <a:xfrm>
            <a:off x="6572707" y="309798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public/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정적 파일 (이미지·아이콘)</a:t>
            </a:r>
            <a:endParaRPr lang="en-US" sz="1000" dirty="0"/>
          </a:p>
        </p:txBody>
      </p:sp>
      <p:sp>
        <p:nvSpPr>
          <p:cNvPr id="47" name="Text 30"/>
          <p:cNvSpPr txBox="1"/>
          <p:nvPr/>
        </p:nvSpPr>
        <p:spPr>
          <a:xfrm>
            <a:off x="6572707" y="333756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</a:t>
            </a:r>
            <a:endParaRPr lang="en-US" sz="1000" dirty="0"/>
          </a:p>
        </p:txBody>
      </p:sp>
      <p:sp>
        <p:nvSpPr>
          <p:cNvPr id="48" name="Text 31"/>
          <p:cNvSpPr txBox="1"/>
          <p:nvPr/>
        </p:nvSpPr>
        <p:spPr>
          <a:xfrm>
            <a:off x="6572707" y="357804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components/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재사용 UI</a:t>
            </a:r>
            <a:endParaRPr lang="en-US" sz="1000" dirty="0"/>
          </a:p>
        </p:txBody>
      </p:sp>
      <p:sp>
        <p:nvSpPr>
          <p:cNvPr id="49" name="Text 32"/>
          <p:cNvSpPr txBox="1"/>
          <p:nvPr/>
        </p:nvSpPr>
        <p:spPr>
          <a:xfrm>
            <a:off x="6572707" y="381762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pages/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페이지 단위</a:t>
            </a:r>
            <a:endParaRPr lang="en-US" sz="1000" dirty="0"/>
          </a:p>
        </p:txBody>
      </p:sp>
      <p:sp>
        <p:nvSpPr>
          <p:cNvPr id="50" name="Text 33"/>
          <p:cNvSpPr txBox="1"/>
          <p:nvPr/>
        </p:nvSpPr>
        <p:spPr>
          <a:xfrm>
            <a:off x="6572707" y="405810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contexts/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전역 상태</a:t>
            </a:r>
            <a:endParaRPr lang="en-US" sz="1000" dirty="0"/>
          </a:p>
        </p:txBody>
      </p:sp>
      <p:sp>
        <p:nvSpPr>
          <p:cNvPr id="51" name="Text 34"/>
          <p:cNvSpPr txBox="1"/>
          <p:nvPr/>
        </p:nvSpPr>
        <p:spPr>
          <a:xfrm>
            <a:off x="6572707" y="429768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utils/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헬퍼 함수</a:t>
            </a:r>
            <a:endParaRPr lang="en-US" sz="1000" dirty="0"/>
          </a:p>
        </p:txBody>
      </p:sp>
      <p:sp>
        <p:nvSpPr>
          <p:cNvPr id="52" name="Text 35"/>
          <p:cNvSpPr txBox="1"/>
          <p:nvPr/>
        </p:nvSpPr>
        <p:spPr>
          <a:xfrm>
            <a:off x="6572707" y="453816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types/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타입 정의</a:t>
            </a:r>
            <a:endParaRPr lang="en-US" sz="1000" dirty="0"/>
          </a:p>
        </p:txBody>
      </p:sp>
      <p:sp>
        <p:nvSpPr>
          <p:cNvPr id="53" name="Text 36"/>
          <p:cNvSpPr txBox="1"/>
          <p:nvPr/>
        </p:nvSpPr>
        <p:spPr>
          <a:xfrm>
            <a:off x="6572707" y="477774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├──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App.tsx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라우터 설정</a:t>
            </a:r>
            <a:endParaRPr lang="en-US" sz="1000" dirty="0"/>
          </a:p>
        </p:txBody>
      </p:sp>
      <p:sp>
        <p:nvSpPr>
          <p:cNvPr id="54" name="Text 37"/>
          <p:cNvSpPr txBox="1"/>
          <p:nvPr/>
        </p:nvSpPr>
        <p:spPr>
          <a:xfrm>
            <a:off x="6572707" y="501822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│ └──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main.tsx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// 엔트리</a:t>
            </a:r>
            <a:endParaRPr lang="en-US" sz="1000" dirty="0"/>
          </a:p>
        </p:txBody>
      </p:sp>
      <p:sp>
        <p:nvSpPr>
          <p:cNvPr id="55" name="Text 38"/>
          <p:cNvSpPr txBox="1"/>
          <p:nvPr/>
        </p:nvSpPr>
        <p:spPr>
          <a:xfrm>
            <a:off x="6572707" y="525780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package.json</a:t>
            </a:r>
            <a:endParaRPr lang="en-US" sz="1000" dirty="0"/>
          </a:p>
        </p:txBody>
      </p:sp>
      <p:sp>
        <p:nvSpPr>
          <p:cNvPr id="56" name="Text 39"/>
          <p:cNvSpPr txBox="1"/>
          <p:nvPr/>
        </p:nvSpPr>
        <p:spPr>
          <a:xfrm>
            <a:off x="6572707" y="549828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├──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tsconfig.json</a:t>
            </a:r>
            <a:endParaRPr lang="en-US" sz="1000" dirty="0"/>
          </a:p>
        </p:txBody>
      </p:sp>
      <p:sp>
        <p:nvSpPr>
          <p:cNvPr id="57" name="Text 40"/>
          <p:cNvSpPr txBox="1"/>
          <p:nvPr/>
        </p:nvSpPr>
        <p:spPr>
          <a:xfrm>
            <a:off x="6572707" y="573786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└──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vite.config.ts</a:t>
            </a:r>
            <a:endParaRPr lang="en-US" sz="1000" dirty="0"/>
          </a:p>
        </p:txBody>
      </p:sp>
      <p:sp>
        <p:nvSpPr>
          <p:cNvPr id="5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3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04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15:00 — 16:00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· 압축 세션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기초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· CSS · JS · TS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PHILOSOPHY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"모든 문법을 외우지 않아도 됩니다."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593031"/>
            <a:ext cx="6858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개념·구조·핵심 키워드만 이해하면 됩니다.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나머지는 AI가 정확하게 채워줄 수 있습니다.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838090" y="5339182"/>
            <a:ext cx="67821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비개발자도 1시간이면 핵심을 잡을 수 있도록 설계되었습니다.</a:t>
            </a:r>
            <a:endParaRPr lang="en-US" sz="10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3200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cf7883e6d257e4d09741ea08a8baf634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571500" y="1762049"/>
            <a:ext cx="5524805" cy="342900"/>
          </a:xfrm>
          <a:prstGeom prst="rect">
            <a:avLst/>
          </a:prstGeom>
        </p:spPr>
      </p:pic>
      <p:pic>
        <p:nvPicPr>
          <p:cNvPr id="9" name="Image 3" descr="gen-dedup-59d9839de8e1fe2875c6c371ed851711.png"/>
          <p:cNvPicPr>
            <a:picLocks noChangeAspect="1"/>
          </p:cNvPicPr>
          <p:nvPr/>
        </p:nvPicPr>
        <p:blipFill>
          <a:blip r:embed="rId6"/>
          <a:srcRect l="-204" r="-204"/>
          <a:stretch/>
        </p:blipFill>
        <p:spPr>
          <a:xfrm>
            <a:off x="6286500" y="1762049"/>
            <a:ext cx="5524805" cy="75895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572707" y="2428646"/>
            <a:ext cx="4953305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5"/>
          <p:cNvSpPr/>
          <p:nvPr/>
        </p:nvSpPr>
        <p:spPr>
          <a:xfrm>
            <a:off x="6572707" y="3666744"/>
            <a:ext cx="4953305" cy="11430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6"/>
          <p:cNvSpPr/>
          <p:nvPr/>
        </p:nvSpPr>
        <p:spPr>
          <a:xfrm>
            <a:off x="6572707" y="4905756"/>
            <a:ext cx="4953305" cy="1429207"/>
          </a:xfrm>
          <a:prstGeom prst="roundRect">
            <a:avLst>
              <a:gd name="adj" fmla="val 68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3 · 1/2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시맨틱 + CSS Flexbox / Grid</a:t>
            </a:r>
            <a:endParaRPr lang="en-US" sz="33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3가지만 기억하세요 — 의미·정렬·반응형.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837590" y="1837944"/>
            <a:ext cx="5067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HTML · 시맨틱 태그가 핵심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28600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&lt;!DOCTYPE html&gt;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249631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&lt;html lang=</a:t>
            </a:r>
            <a:r>
              <a:rPr lang="en-US" sz="12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"ko"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895198" y="2706624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&gt;...&lt;/</a:t>
            </a:r>
            <a:r>
              <a:rPr lang="en-US" sz="12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95198" y="2916936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1028700" y="3128162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header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페이지 상단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1162202" y="3338474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&gt;할 일 관리&lt;/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h1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1162202" y="3548786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&gt;네비&lt;/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nav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1028700" y="3759098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header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1028700" y="3969410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메인 콘텐츠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162202" y="4179722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&gt;...&lt;/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section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1162202" y="4390034"/>
            <a:ext cx="47439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ul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&gt;&lt;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&gt;...&lt;/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ul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1028700" y="4601261"/>
            <a:ext cx="48774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</a:t>
            </a: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main</a:t>
            </a:r>
            <a:r>
              <a:rPr lang="en-US" sz="12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95198" y="4811573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</a:t>
            </a:r>
            <a:r>
              <a:rPr lang="en-US" sz="12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body</a:t>
            </a:r>
            <a:r>
              <a:rPr lang="en-US" sz="120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61695" y="523859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시맨틱 태그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61695" y="5465369"/>
            <a:ext cx="55385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header · nav · main · section · article · aside · footer · ul/li · button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761695" y="573328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&lt;div&gt; 대신 의미 있는 태그를 — SEO와 접근성에 유리합니다.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6630314" y="2048256"/>
            <a:ext cx="48956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 · 핵심 3가지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6762902" y="2572207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Flexbox · 1차원 정렬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762902" y="2857500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.header { 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display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:flex; 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justify-content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:space-between;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6762902" y="3052267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align-items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:center; }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6762902" y="3246120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좌·우 자동 분리. 가장 자주 쓰는 레이아웃.</a:t>
            </a:r>
            <a:endParaRPr lang="en-US" sz="1050" dirty="0"/>
          </a:p>
        </p:txBody>
      </p:sp>
      <p:sp>
        <p:nvSpPr>
          <p:cNvPr id="38" name="Text 32"/>
          <p:cNvSpPr txBox="1"/>
          <p:nvPr/>
        </p:nvSpPr>
        <p:spPr>
          <a:xfrm>
            <a:off x="6762902" y="3810305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Grid · 2차원 카드 레이아웃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6762902" y="409559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.cards { 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display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:grid;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6762902" y="429036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grid-template-columns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:repeat(3, 1fr); gap:16px; }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762902" y="4484218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카드를 3열로 정렬. 대시보드 단골.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6762902" y="5048402"/>
            <a:ext cx="4572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@media · 반응형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6762902" y="533369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@media (max-width: 768px) {</a:t>
            </a:r>
            <a:endParaRPr lang="en-US" sz="1050" dirty="0"/>
          </a:p>
        </p:txBody>
      </p:sp>
      <p:sp>
        <p:nvSpPr>
          <p:cNvPr id="44" name="Text 38"/>
          <p:cNvSpPr txBox="1"/>
          <p:nvPr/>
        </p:nvSpPr>
        <p:spPr>
          <a:xfrm>
            <a:off x="6762902" y="5528462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.cards {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grid-template-columns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1fr; }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6762902" y="5722315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46" name="Text 40"/>
          <p:cNvSpPr txBox="1"/>
          <p:nvPr/>
        </p:nvSpPr>
        <p:spPr>
          <a:xfrm>
            <a:off x="6762902" y="5954573"/>
            <a:ext cx="45720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모바일에선 1열로 자동 전환.</a:t>
            </a:r>
            <a:endParaRPr lang="en-US" sz="1050" dirty="0"/>
          </a:p>
        </p:txBody>
      </p:sp>
      <p:sp>
        <p:nvSpPr>
          <p:cNvPr id="47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4381805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8191195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571500" y="34765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4381805" y="34765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8191195" y="3476549"/>
            <a:ext cx="3619195" cy="1524305"/>
          </a:xfrm>
          <a:prstGeom prst="roundRect">
            <a:avLst>
              <a:gd name="adj" fmla="val 599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8"/>
          <p:cNvSpPr/>
          <p:nvPr/>
        </p:nvSpPr>
        <p:spPr>
          <a:xfrm>
            <a:off x="571500" y="5238598"/>
            <a:ext cx="11239805" cy="1238098"/>
          </a:xfrm>
          <a:prstGeom prst="roundRect">
            <a:avLst>
              <a:gd name="adj" fmla="val 11362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3" name="Image 2" descr="gen-dedup-d66930ce88b841cbb57d38ccff5812d9.png"/>
          <p:cNvPicPr>
            <a:picLocks noChangeAspect="1"/>
          </p:cNvPicPr>
          <p:nvPr/>
        </p:nvPicPr>
        <p:blipFill>
          <a:blip r:embed="rId5"/>
          <a:srcRect t="-211" b="-211"/>
          <a:stretch/>
        </p:blipFill>
        <p:spPr>
          <a:xfrm>
            <a:off x="571500" y="1762049"/>
            <a:ext cx="75895" cy="1524305"/>
          </a:xfrm>
          <a:prstGeom prst="rect">
            <a:avLst/>
          </a:prstGeom>
        </p:spPr>
      </p:pic>
      <p:pic>
        <p:nvPicPr>
          <p:cNvPr id="14" name="Image 3" descr="gen-dedup-d66930ce88b841cbb57d38ccff5812d9.png"/>
          <p:cNvPicPr>
            <a:picLocks noChangeAspect="1"/>
          </p:cNvPicPr>
          <p:nvPr/>
        </p:nvPicPr>
        <p:blipFill>
          <a:blip r:embed="rId5"/>
          <a:srcRect t="-211" b="-211"/>
          <a:stretch/>
        </p:blipFill>
        <p:spPr>
          <a:xfrm>
            <a:off x="4381805" y="1762049"/>
            <a:ext cx="75895" cy="1524305"/>
          </a:xfrm>
          <a:prstGeom prst="rect">
            <a:avLst/>
          </a:prstGeom>
        </p:spPr>
      </p:pic>
      <p:pic>
        <p:nvPicPr>
          <p:cNvPr id="15" name="Image 4" descr="gen-dedup-d66930ce88b841cbb57d38ccff5812d9.png"/>
          <p:cNvPicPr>
            <a:picLocks noChangeAspect="1"/>
          </p:cNvPicPr>
          <p:nvPr/>
        </p:nvPicPr>
        <p:blipFill>
          <a:blip r:embed="rId5"/>
          <a:srcRect t="-211" b="-211"/>
          <a:stretch/>
        </p:blipFill>
        <p:spPr>
          <a:xfrm>
            <a:off x="8191195" y="1762049"/>
            <a:ext cx="75895" cy="1524305"/>
          </a:xfrm>
          <a:prstGeom prst="rect">
            <a:avLst/>
          </a:prstGeom>
        </p:spPr>
      </p:pic>
      <p:pic>
        <p:nvPicPr>
          <p:cNvPr id="16" name="Image 5" descr="gen-dedup-e7359be04aca1734b8337f98e31560b4.png"/>
          <p:cNvPicPr>
            <a:picLocks noChangeAspect="1"/>
          </p:cNvPicPr>
          <p:nvPr/>
        </p:nvPicPr>
        <p:blipFill>
          <a:blip r:embed="rId6"/>
          <a:srcRect t="-211" b="-211"/>
          <a:stretch/>
        </p:blipFill>
        <p:spPr>
          <a:xfrm>
            <a:off x="571500" y="3476549"/>
            <a:ext cx="75895" cy="1524305"/>
          </a:xfrm>
          <a:prstGeom prst="rect">
            <a:avLst/>
          </a:prstGeom>
        </p:spPr>
      </p:pic>
      <p:pic>
        <p:nvPicPr>
          <p:cNvPr id="17" name="Image 6" descr="gen-dedup-e7359be04aca1734b8337f98e31560b4.png"/>
          <p:cNvPicPr>
            <a:picLocks noChangeAspect="1"/>
          </p:cNvPicPr>
          <p:nvPr/>
        </p:nvPicPr>
        <p:blipFill>
          <a:blip r:embed="rId6"/>
          <a:srcRect t="-211" b="-211"/>
          <a:stretch/>
        </p:blipFill>
        <p:spPr>
          <a:xfrm>
            <a:off x="4381805" y="3476549"/>
            <a:ext cx="75895" cy="1524305"/>
          </a:xfrm>
          <a:prstGeom prst="rect">
            <a:avLst/>
          </a:prstGeom>
        </p:spPr>
      </p:pic>
      <p:pic>
        <p:nvPicPr>
          <p:cNvPr id="18" name="Image 7" descr="gen-dedup-67e8eb18c0019fc23066d13492c7e025.png"/>
          <p:cNvPicPr>
            <a:picLocks noChangeAspect="1"/>
          </p:cNvPicPr>
          <p:nvPr/>
        </p:nvPicPr>
        <p:blipFill>
          <a:blip r:embed="rId7"/>
          <a:srcRect l="-406" r="-406"/>
          <a:stretch/>
        </p:blipFill>
        <p:spPr>
          <a:xfrm>
            <a:off x="571500" y="5238598"/>
            <a:ext cx="57607" cy="1238098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3 · 2/2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 · TypeScript 핵심</a:t>
            </a:r>
            <a:endParaRPr lang="en-US" sz="3300" dirty="0"/>
          </a:p>
        </p:txBody>
      </p:sp>
      <p:sp>
        <p:nvSpPr>
          <p:cNvPr id="21" name="Text 11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React를 만지기 전에, 이 6가지만 직관적으로 이해하면 충분합니다.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800100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변수 선언</a:t>
            </a:r>
            <a:endParaRPr lang="en-US" sz="1050" dirty="0"/>
          </a:p>
        </p:txBody>
      </p:sp>
      <p:sp>
        <p:nvSpPr>
          <p:cNvPr id="23" name="Text 13"/>
          <p:cNvSpPr txBox="1"/>
          <p:nvPr/>
        </p:nvSpPr>
        <p:spPr>
          <a:xfrm>
            <a:off x="800100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const &amp; let</a:t>
            </a:r>
            <a:endParaRPr lang="en-US" dirty="0"/>
          </a:p>
        </p:txBody>
      </p:sp>
      <p:sp>
        <p:nvSpPr>
          <p:cNvPr id="24" name="Text 14"/>
          <p:cNvSpPr txBox="1"/>
          <p:nvPr/>
        </p:nvSpPr>
        <p:spPr>
          <a:xfrm>
            <a:off x="800100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 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"홍길동"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상수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800100" y="27349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count = 0;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변경 가능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4610405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함수</a:t>
            </a:r>
            <a:endParaRPr lang="en-US" sz="1050" dirty="0"/>
          </a:p>
        </p:txBody>
      </p:sp>
      <p:sp>
        <p:nvSpPr>
          <p:cNvPr id="27" name="Text 17"/>
          <p:cNvSpPr txBox="1"/>
          <p:nvPr/>
        </p:nvSpPr>
        <p:spPr>
          <a:xfrm>
            <a:off x="4610405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 함수</a:t>
            </a:r>
            <a:endParaRPr lang="en-US" dirty="0"/>
          </a:p>
        </p:txBody>
      </p:sp>
      <p:sp>
        <p:nvSpPr>
          <p:cNvPr id="28" name="Text 18"/>
          <p:cNvSpPr txBox="1"/>
          <p:nvPr/>
        </p:nvSpPr>
        <p:spPr>
          <a:xfrm>
            <a:off x="4610405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 = (a, b) =&gt; a + b;</a:t>
            </a:r>
            <a:endParaRPr lang="en-US" sz="1050" dirty="0"/>
          </a:p>
        </p:txBody>
      </p:sp>
      <p:sp>
        <p:nvSpPr>
          <p:cNvPr id="29" name="Text 19"/>
          <p:cNvSpPr txBox="1"/>
          <p:nvPr/>
        </p:nvSpPr>
        <p:spPr>
          <a:xfrm>
            <a:off x="4610405" y="27349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add(1, 2)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3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8419795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배열 메서드</a:t>
            </a:r>
            <a:endParaRPr lang="en-US" sz="1050" dirty="0"/>
          </a:p>
        </p:txBody>
      </p:sp>
      <p:sp>
        <p:nvSpPr>
          <p:cNvPr id="31" name="Text 21"/>
          <p:cNvSpPr txBox="1"/>
          <p:nvPr/>
        </p:nvSpPr>
        <p:spPr>
          <a:xfrm>
            <a:off x="8419795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· filter</a:t>
            </a:r>
            <a:endParaRPr lang="en-US" dirty="0"/>
          </a:p>
        </p:txBody>
      </p:sp>
      <p:sp>
        <p:nvSpPr>
          <p:cNvPr id="32" name="Text 22"/>
          <p:cNvSpPr txBox="1"/>
          <p:nvPr/>
        </p:nvSpPr>
        <p:spPr>
          <a:xfrm>
            <a:off x="8419795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(x =&gt; x * 2)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8419795" y="27349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arr.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filter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(x =&gt; x &gt; 0)</a:t>
            </a:r>
            <a:endParaRPr lang="en-US" sz="1050" dirty="0"/>
          </a:p>
        </p:txBody>
      </p:sp>
      <p:sp>
        <p:nvSpPr>
          <p:cNvPr id="34" name="Text 24"/>
          <p:cNvSpPr txBox="1"/>
          <p:nvPr/>
        </p:nvSpPr>
        <p:spPr>
          <a:xfrm>
            <a:off x="800100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객체 다루기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800100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구조분해 + 스프레드</a:t>
            </a:r>
            <a:endParaRPr lang="en-US" dirty="0"/>
          </a:p>
        </p:txBody>
      </p:sp>
      <p:sp>
        <p:nvSpPr>
          <p:cNvPr id="36" name="Text 26"/>
          <p:cNvSpPr txBox="1"/>
          <p:nvPr/>
        </p:nvSpPr>
        <p:spPr>
          <a:xfrm>
            <a:off x="800100" y="42382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{name, age} = user;</a:t>
            </a:r>
            <a:endParaRPr lang="en-US" sz="1050" dirty="0"/>
          </a:p>
        </p:txBody>
      </p:sp>
      <p:sp>
        <p:nvSpPr>
          <p:cNvPr id="37" name="Text 27"/>
          <p:cNvSpPr txBox="1"/>
          <p:nvPr/>
        </p:nvSpPr>
        <p:spPr>
          <a:xfrm>
            <a:off x="800100" y="44494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arr2 = [...arr, item];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4610405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비동기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4610405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 / await</a:t>
            </a:r>
            <a:endParaRPr lang="en-US" dirty="0"/>
          </a:p>
        </p:txBody>
      </p:sp>
      <p:sp>
        <p:nvSpPr>
          <p:cNvPr id="40" name="Text 30"/>
          <p:cNvSpPr txBox="1"/>
          <p:nvPr/>
        </p:nvSpPr>
        <p:spPr>
          <a:xfrm>
            <a:off x="4610405" y="42382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 = 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fetch(url);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4610405" y="44494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API 호출에 자주 사용</a:t>
            </a:r>
            <a:endParaRPr lang="en-US" sz="1050" dirty="0"/>
          </a:p>
        </p:txBody>
      </p:sp>
      <p:sp>
        <p:nvSpPr>
          <p:cNvPr id="42" name="Text 32"/>
          <p:cNvSpPr txBox="1"/>
          <p:nvPr/>
        </p:nvSpPr>
        <p:spPr>
          <a:xfrm>
            <a:off x="8419795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타입</a:t>
            </a:r>
            <a:endParaRPr lang="en-US" sz="1050" dirty="0"/>
          </a:p>
        </p:txBody>
      </p:sp>
      <p:sp>
        <p:nvSpPr>
          <p:cNvPr id="43" name="Text 33"/>
          <p:cNvSpPr txBox="1"/>
          <p:nvPr/>
        </p:nvSpPr>
        <p:spPr>
          <a:xfrm>
            <a:off x="8419795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 interface</a:t>
            </a:r>
            <a:endParaRPr lang="en-US" dirty="0"/>
          </a:p>
        </p:txBody>
      </p:sp>
      <p:sp>
        <p:nvSpPr>
          <p:cNvPr id="44" name="Text 34"/>
          <p:cNvSpPr txBox="1"/>
          <p:nvPr/>
        </p:nvSpPr>
        <p:spPr>
          <a:xfrm>
            <a:off x="8419795" y="42382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 {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8419795" y="44494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id: number; title: string;</a:t>
            </a:r>
            <a:endParaRPr lang="en-US" sz="1050" dirty="0"/>
          </a:p>
        </p:txBody>
      </p:sp>
      <p:sp>
        <p:nvSpPr>
          <p:cNvPr id="46" name="Text 36"/>
          <p:cNvSpPr txBox="1"/>
          <p:nvPr/>
        </p:nvSpPr>
        <p:spPr>
          <a:xfrm>
            <a:off x="8419795" y="4659782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47" name="Text 37"/>
          <p:cNvSpPr txBox="1"/>
          <p:nvPr/>
        </p:nvSpPr>
        <p:spPr>
          <a:xfrm>
            <a:off x="933602" y="5429707"/>
            <a:ext cx="10687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팁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857707" y="5715000"/>
            <a:ext cx="10763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"문법은 외우지 마세요. </a:t>
            </a:r>
            <a:r>
              <a:rPr lang="en-US" sz="1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개념만 이해</a:t>
            </a: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AI에게 정확히 요청하세요."</a:t>
            </a:r>
            <a:endParaRPr lang="en-US" sz="1800" dirty="0"/>
          </a:p>
        </p:txBody>
      </p:sp>
      <p:sp>
        <p:nvSpPr>
          <p:cNvPr id="49" name="Text 39"/>
          <p:cNvSpPr txBox="1"/>
          <p:nvPr/>
        </p:nvSpPr>
        <p:spPr>
          <a:xfrm>
            <a:off x="857707" y="6115507"/>
            <a:ext cx="10763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것은 "</a:t>
            </a:r>
            <a:r>
              <a:rPr lang="en-US" sz="10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만들고 싶은지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"를 명확하게 전달하는 것. 세부 문법은 AI가 대신 작성합니다.</a:t>
            </a:r>
            <a:endParaRPr lang="en-US" sz="10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6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4 · FINALE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04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16:00 — 18:00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첫 결과물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4.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기반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UI 구현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DELIVERABLE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동작하는 Todo 앱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577486"/>
            <a:ext cx="6858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· Props · State · Router · 자동 컴포넌트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생성까지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Day 1의 모든 도구를 한 화면 안에서 통합합니다.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838090" y="5324551"/>
            <a:ext cx="6782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끝에는 — 친구에게 URL 공유 가능한 완성된 앱이 나옵니다.</a:t>
            </a:r>
            <a:endParaRPr lang="en-US" sz="11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2210105" cy="3181198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6" name="Shape 3"/>
          <p:cNvSpPr/>
          <p:nvPr/>
        </p:nvSpPr>
        <p:spPr>
          <a:xfrm>
            <a:off x="2933395" y="1762049"/>
            <a:ext cx="2210105" cy="3181198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7" name="Shape 4"/>
          <p:cNvSpPr/>
          <p:nvPr/>
        </p:nvSpPr>
        <p:spPr>
          <a:xfrm>
            <a:off x="5296205" y="1762049"/>
            <a:ext cx="2171700" cy="3143707"/>
          </a:xfrm>
          <a:prstGeom prst="roundRect">
            <a:avLst>
              <a:gd name="adj" fmla="val 369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8" name="Shape 5"/>
          <p:cNvSpPr/>
          <p:nvPr/>
        </p:nvSpPr>
        <p:spPr>
          <a:xfrm>
            <a:off x="7658100" y="1762049"/>
            <a:ext cx="2171700" cy="3143707"/>
          </a:xfrm>
          <a:prstGeom prst="roundRect">
            <a:avLst>
              <a:gd name="adj" fmla="val 369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9" name="Shape 6"/>
          <p:cNvSpPr/>
          <p:nvPr/>
        </p:nvSpPr>
        <p:spPr>
          <a:xfrm>
            <a:off x="10019995" y="1762049"/>
            <a:ext cx="1828800" cy="3181198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000"/>
          </a:p>
        </p:txBody>
      </p:sp>
      <p:sp>
        <p:nvSpPr>
          <p:cNvPr id="10" name="Shape 7"/>
          <p:cNvSpPr/>
          <p:nvPr/>
        </p:nvSpPr>
        <p:spPr>
          <a:xfrm>
            <a:off x="571500" y="5143500"/>
            <a:ext cx="11239805" cy="1333195"/>
          </a:xfrm>
          <a:prstGeom prst="roundRect">
            <a:avLst>
              <a:gd name="adj" fmla="val 979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2" name="Image 2" descr="gen-dedup-aaa6fb00aee259ee6a42637f1ccabee2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571500" y="1762049"/>
            <a:ext cx="2171700" cy="514807"/>
          </a:xfrm>
          <a:prstGeom prst="rect">
            <a:avLst/>
          </a:prstGeom>
        </p:spPr>
      </p:pic>
      <p:pic>
        <p:nvPicPr>
          <p:cNvPr id="13" name="Image 3" descr="gen-dedup-aaa6fb00aee259ee6a42637f1ccabee2.png"/>
          <p:cNvPicPr>
            <a:picLocks noChangeAspect="1"/>
          </p:cNvPicPr>
          <p:nvPr/>
        </p:nvPicPr>
        <p:blipFill>
          <a:blip r:embed="rId5"/>
          <a:srcRect t="-44" b="-44"/>
          <a:stretch/>
        </p:blipFill>
        <p:spPr>
          <a:xfrm>
            <a:off x="2933395" y="1762049"/>
            <a:ext cx="2171700" cy="514807"/>
          </a:xfrm>
          <a:prstGeom prst="rect">
            <a:avLst/>
          </a:prstGeom>
        </p:spPr>
      </p:pic>
      <p:pic>
        <p:nvPicPr>
          <p:cNvPr id="14" name="Image 4" descr="gen-dedup-19fa44727e54bf31a5b30438ffde13b7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5296205" y="1762049"/>
            <a:ext cx="2171700" cy="514807"/>
          </a:xfrm>
          <a:prstGeom prst="rect">
            <a:avLst/>
          </a:prstGeom>
        </p:spPr>
      </p:pic>
      <p:pic>
        <p:nvPicPr>
          <p:cNvPr id="15" name="Image 5" descr="gen-dedup-19fa44727e54bf31a5b30438ffde13b7.png"/>
          <p:cNvPicPr>
            <a:picLocks noChangeAspect="1"/>
          </p:cNvPicPr>
          <p:nvPr/>
        </p:nvPicPr>
        <p:blipFill>
          <a:blip r:embed="rId6"/>
          <a:srcRect t="-44" b="-44"/>
          <a:stretch/>
        </p:blipFill>
        <p:spPr>
          <a:xfrm>
            <a:off x="7658100" y="1762049"/>
            <a:ext cx="2171700" cy="514807"/>
          </a:xfrm>
          <a:prstGeom prst="rect">
            <a:avLst/>
          </a:prstGeom>
        </p:spPr>
      </p:pic>
      <p:pic>
        <p:nvPicPr>
          <p:cNvPr id="16" name="Image 6" descr="gen-dedup-b5b4003cc28b72bfc915691153ea6881.png"/>
          <p:cNvPicPr>
            <a:picLocks noChangeAspect="1"/>
          </p:cNvPicPr>
          <p:nvPr/>
        </p:nvPicPr>
        <p:blipFill>
          <a:blip r:embed="rId7"/>
          <a:srcRect t="-53" b="-53"/>
          <a:stretch/>
        </p:blipFill>
        <p:spPr>
          <a:xfrm>
            <a:off x="10019995" y="1762049"/>
            <a:ext cx="1790395" cy="514807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4 · 1/3</a:t>
            </a:r>
            <a:endParaRPr lang="en-US" sz="900" dirty="0"/>
          </a:p>
        </p:txBody>
      </p:sp>
      <p:sp>
        <p:nvSpPr>
          <p:cNvPr id="18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핵심 5개념</a:t>
            </a:r>
            <a:endParaRPr lang="en-US" sz="3300" dirty="0"/>
          </a:p>
        </p:txBody>
      </p:sp>
      <p:sp>
        <p:nvSpPr>
          <p:cNvPr id="19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5가지 단어만 정확히 이해하면 — React 화면을 AI에게 요청할 수 있습니다.</a:t>
            </a:r>
            <a:endParaRPr lang="en-US" sz="1300" dirty="0"/>
          </a:p>
        </p:txBody>
      </p:sp>
      <p:sp>
        <p:nvSpPr>
          <p:cNvPr id="20" name="Text 11"/>
          <p:cNvSpPr txBox="1"/>
          <p:nvPr/>
        </p:nvSpPr>
        <p:spPr>
          <a:xfrm>
            <a:off x="761695" y="1904695"/>
            <a:ext cx="17913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01</a:t>
            </a:r>
            <a:endParaRPr lang="en-US" sz="1000" dirty="0"/>
          </a:p>
        </p:txBody>
      </p:sp>
      <p:sp>
        <p:nvSpPr>
          <p:cNvPr id="21" name="Text 12"/>
          <p:cNvSpPr txBox="1"/>
          <p:nvPr/>
        </p:nvSpPr>
        <p:spPr>
          <a:xfrm>
            <a:off x="761695" y="2048256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function block</a:t>
            </a:r>
            <a:endParaRPr lang="en-US" sz="1000" dirty="0"/>
          </a:p>
        </p:txBody>
      </p:sp>
      <p:sp>
        <p:nvSpPr>
          <p:cNvPr id="22" name="Text 13"/>
          <p:cNvSpPr txBox="1"/>
          <p:nvPr/>
        </p:nvSpPr>
        <p:spPr>
          <a:xfrm>
            <a:off x="761695" y="2476195"/>
            <a:ext cx="1791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Component</a:t>
            </a:r>
            <a:endParaRPr lang="en-US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2809951"/>
            <a:ext cx="1791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UI의 재사용 가능한 조각.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레고 블록 같은 것.</a:t>
            </a:r>
            <a:endParaRPr lang="en-US" sz="1050" dirty="0"/>
          </a:p>
        </p:txBody>
      </p:sp>
      <p:sp>
        <p:nvSpPr>
          <p:cNvPr id="24" name="Text 15"/>
          <p:cNvSpPr txBox="1"/>
          <p:nvPr/>
        </p:nvSpPr>
        <p:spPr>
          <a:xfrm>
            <a:off x="761695" y="361919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TodoItem() {</a:t>
            </a:r>
            <a:endParaRPr lang="en-US" sz="1000" dirty="0"/>
          </a:p>
        </p:txBody>
      </p:sp>
      <p:sp>
        <p:nvSpPr>
          <p:cNvPr id="25" name="Text 16"/>
          <p:cNvSpPr txBox="1"/>
          <p:nvPr/>
        </p:nvSpPr>
        <p:spPr>
          <a:xfrm>
            <a:off x="761695" y="3813962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&lt;li&gt;...&lt;/li&gt;;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761695" y="400781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3124505" y="1904695"/>
            <a:ext cx="17913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02</a:t>
            </a:r>
            <a:endParaRPr lang="en-US" sz="1000" dirty="0"/>
          </a:p>
        </p:txBody>
      </p:sp>
      <p:sp>
        <p:nvSpPr>
          <p:cNvPr id="28" name="Text 19"/>
          <p:cNvSpPr txBox="1"/>
          <p:nvPr/>
        </p:nvSpPr>
        <p:spPr>
          <a:xfrm>
            <a:off x="3124505" y="2048256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 + HTML</a:t>
            </a:r>
            <a:endParaRPr lang="en-US" sz="1000" dirty="0"/>
          </a:p>
        </p:txBody>
      </p:sp>
      <p:sp>
        <p:nvSpPr>
          <p:cNvPr id="29" name="Text 20"/>
          <p:cNvSpPr txBox="1"/>
          <p:nvPr/>
        </p:nvSpPr>
        <p:spPr>
          <a:xfrm>
            <a:off x="3124505" y="2476195"/>
            <a:ext cx="1791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JSX</a:t>
            </a:r>
            <a:endParaRPr lang="en-US" dirty="0"/>
          </a:p>
        </p:txBody>
      </p:sp>
      <p:sp>
        <p:nvSpPr>
          <p:cNvPr id="30" name="Text 21"/>
          <p:cNvSpPr txBox="1"/>
          <p:nvPr/>
        </p:nvSpPr>
        <p:spPr>
          <a:xfrm>
            <a:off x="3124505" y="2809951"/>
            <a:ext cx="1791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 안에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HTML을 쓰는 문법.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3124505" y="361919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el =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3124505" y="3813962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&lt;h1&gt;Hello {name}&lt;/h1&gt;;</a:t>
            </a:r>
            <a:endParaRPr lang="en-US" sz="1000" dirty="0"/>
          </a:p>
        </p:txBody>
      </p:sp>
      <p:sp>
        <p:nvSpPr>
          <p:cNvPr id="33" name="Text 24"/>
          <p:cNvSpPr txBox="1"/>
          <p:nvPr/>
        </p:nvSpPr>
        <p:spPr>
          <a:xfrm>
            <a:off x="3124505" y="400781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변수 → 중괄호로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5486400" y="1904695"/>
            <a:ext cx="17913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03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5486400" y="2048256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parent → child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5486400" y="2476195"/>
            <a:ext cx="1791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Props</a:t>
            </a:r>
            <a:endParaRPr lang="en-US" dirty="0"/>
          </a:p>
        </p:txBody>
      </p:sp>
      <p:sp>
        <p:nvSpPr>
          <p:cNvPr id="37" name="Text 28"/>
          <p:cNvSpPr txBox="1"/>
          <p:nvPr/>
        </p:nvSpPr>
        <p:spPr>
          <a:xfrm>
            <a:off x="5486400" y="2809951"/>
            <a:ext cx="1791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부모 → 자식 컴포넌트로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내려주는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통로.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5486400" y="361919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&lt;TodoItem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486400" y="3813962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title=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"공부"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5486400" y="4007815"/>
            <a:ext cx="17913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done={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 /&gt;</a:t>
            </a:r>
            <a:endParaRPr lang="en-US" sz="1000" dirty="0"/>
          </a:p>
        </p:txBody>
      </p:sp>
      <p:sp>
        <p:nvSpPr>
          <p:cNvPr id="41" name="Text 32"/>
          <p:cNvSpPr txBox="1"/>
          <p:nvPr/>
        </p:nvSpPr>
        <p:spPr>
          <a:xfrm>
            <a:off x="7848295" y="1904695"/>
            <a:ext cx="17913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04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7848295" y="2048256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internal data</a:t>
            </a:r>
            <a:endParaRPr lang="en-US" sz="1000" dirty="0"/>
          </a:p>
        </p:txBody>
      </p:sp>
      <p:sp>
        <p:nvSpPr>
          <p:cNvPr id="43" name="Text 34"/>
          <p:cNvSpPr txBox="1"/>
          <p:nvPr/>
        </p:nvSpPr>
        <p:spPr>
          <a:xfrm>
            <a:off x="7848295" y="2476195"/>
            <a:ext cx="1791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</a:t>
            </a:r>
            <a:endParaRPr lang="en-US" dirty="0"/>
          </a:p>
        </p:txBody>
      </p:sp>
      <p:sp>
        <p:nvSpPr>
          <p:cNvPr id="44" name="Text 35"/>
          <p:cNvSpPr txBox="1"/>
          <p:nvPr/>
        </p:nvSpPr>
        <p:spPr>
          <a:xfrm>
            <a:off x="7848295" y="2809951"/>
            <a:ext cx="17913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내부의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가능한 데이터.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7848295" y="3619195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[n, setN] =</a:t>
            </a:r>
            <a:endParaRPr lang="en-US" sz="900" dirty="0"/>
          </a:p>
        </p:txBody>
      </p:sp>
      <p:sp>
        <p:nvSpPr>
          <p:cNvPr id="46" name="Text 37"/>
          <p:cNvSpPr txBox="1"/>
          <p:nvPr/>
        </p:nvSpPr>
        <p:spPr>
          <a:xfrm>
            <a:off x="7848295" y="3797503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useState(0);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7848295" y="3975811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setN(n + 1) </a:t>
            </a: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변경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0211105" y="1904695"/>
            <a:ext cx="14100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05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211105" y="2048256"/>
            <a:ext cx="14100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 effects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10211105" y="2476195"/>
            <a:ext cx="14100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Effect</a:t>
            </a:r>
            <a:endParaRPr lang="en-US" dirty="0"/>
          </a:p>
        </p:txBody>
      </p:sp>
      <p:sp>
        <p:nvSpPr>
          <p:cNvPr id="51" name="Text 42"/>
          <p:cNvSpPr txBox="1"/>
          <p:nvPr/>
        </p:nvSpPr>
        <p:spPr>
          <a:xfrm>
            <a:off x="10211105" y="2809951"/>
            <a:ext cx="1410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 후 부가 작업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(API · 타이머 등).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10211105" y="3619195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useEffect(() =&gt; {</a:t>
            </a:r>
            <a:endParaRPr lang="en-US" sz="900" dirty="0"/>
          </a:p>
        </p:txBody>
      </p:sp>
      <p:sp>
        <p:nvSpPr>
          <p:cNvPr id="53" name="Text 44"/>
          <p:cNvSpPr txBox="1"/>
          <p:nvPr/>
        </p:nvSpPr>
        <p:spPr>
          <a:xfrm>
            <a:off x="10211105" y="3797503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fetchData();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10211105" y="3975811"/>
            <a:ext cx="1410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}, []);</a:t>
            </a:r>
            <a:endParaRPr lang="en-US" sz="900" dirty="0"/>
          </a:p>
        </p:txBody>
      </p:sp>
      <p:sp>
        <p:nvSpPr>
          <p:cNvPr id="55" name="Text 46"/>
          <p:cNvSpPr txBox="1"/>
          <p:nvPr/>
        </p:nvSpPr>
        <p:spPr>
          <a:xfrm>
            <a:off x="933602" y="5333695"/>
            <a:ext cx="10687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FLOW · 한 줄 요약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857707" y="5639105"/>
            <a:ext cx="10763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State 변경</a:t>
            </a: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컴포넌트 </a:t>
            </a:r>
            <a:r>
              <a:rPr lang="en-US" sz="1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렌더</a:t>
            </a: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16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Props로</a:t>
            </a: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자식에게 새 값 전달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857707" y="6077102"/>
            <a:ext cx="10763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데이터는 </a:t>
            </a: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위에서 아래로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 흐릅니다. 자식이 부모를 바꾸려면 → 부모가 전달한 함수(콜백)를 호출합니다.</a:t>
            </a:r>
            <a:endParaRPr lang="en-US" sz="1000" dirty="0"/>
          </a:p>
        </p:txBody>
      </p:sp>
      <p:sp>
        <p:nvSpPr>
          <p:cNvPr id="5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90519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6" name="Shape 3"/>
          <p:cNvSpPr/>
          <p:nvPr/>
        </p:nvSpPr>
        <p:spPr>
          <a:xfrm>
            <a:off x="6667805" y="1762049"/>
            <a:ext cx="5143500" cy="4762195"/>
          </a:xfrm>
          <a:prstGeom prst="roundRect">
            <a:avLst>
              <a:gd name="adj" fmla="val 76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fbc76b656c2fbe5a9c064378deb9adc6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571500" y="1762049"/>
            <a:ext cx="5905195" cy="342900"/>
          </a:xfrm>
          <a:prstGeom prst="rect">
            <a:avLst/>
          </a:prstGeom>
        </p:spPr>
      </p:pic>
      <p:pic>
        <p:nvPicPr>
          <p:cNvPr id="9" name="Image 3" descr="gen-dedup-6248fc3cdefaffefc2418977189c75e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67805" y="1762049"/>
            <a:ext cx="5143500" cy="3429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4 · 2/3</a:t>
            </a:r>
            <a:endParaRPr lang="en-US" sz="9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Component + useState 실전</a:t>
            </a:r>
            <a:endParaRPr lang="en-US" sz="33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 앱의 핵심 두 가지 — 한 줄로 새 할 일 추가하고 체크하는 로직.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819302" y="1837944"/>
            <a:ext cx="5467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TodoItem.tsx · 자식 컴포넌트</a:t>
            </a:r>
            <a:endParaRPr lang="en-US" sz="1100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2286000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1) Props 타입을 먼저 정의 — TS의 핵심</a:t>
            </a:r>
            <a:endParaRPr lang="en-US" sz="1100" dirty="0"/>
          </a:p>
        </p:txBody>
      </p:sp>
      <p:sp>
        <p:nvSpPr>
          <p:cNvPr id="15" name="Text 9"/>
          <p:cNvSpPr txBox="1"/>
          <p:nvPr/>
        </p:nvSpPr>
        <p:spPr>
          <a:xfrm>
            <a:off x="761695" y="249631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Props {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2706624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todo: { id: number; title: string; done: boolean };</a:t>
            </a:r>
            <a:endParaRPr lang="en-US" sz="11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2916936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onToggle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(id: number) =&gt; void;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761695" y="312816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61695" y="343357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2) Props를 구조분해로 받기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761695" y="3643884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TodoItem = ({ todo, onToggle }: Props) =&gt; (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61695" y="3854196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className={todo.done ?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'done'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: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}&gt;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4064508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type=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"checkbox"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4274820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checked={todo.done}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61695" y="4486046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onChange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={() =&gt; onToggle(todo.id)} /&gt;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61695" y="4696358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&gt;{todo.title}&lt;/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761695" y="4906670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&lt;/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</a:t>
            </a:r>
            <a:endParaRPr lang="en-US" sz="1100" dirty="0"/>
          </a:p>
        </p:txBody>
      </p:sp>
      <p:sp>
        <p:nvSpPr>
          <p:cNvPr id="27" name="Text 21"/>
          <p:cNvSpPr txBox="1"/>
          <p:nvPr/>
        </p:nvSpPr>
        <p:spPr>
          <a:xfrm>
            <a:off x="761695" y="5116982"/>
            <a:ext cx="5524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915607" y="1837944"/>
            <a:ext cx="47055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App.tsx · 부모 컴포넌트 (useState)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858000" y="2286000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1) State 선언 (배열)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2480767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[todos, setTodos] = useState&lt;Todo[]&gt;([]);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6858000" y="2674620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[input, setInput] = useState(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''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6858000" y="296448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2) 새 할 일 추가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6858000" y="3158338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addTodo = () =&gt; {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6858000" y="335310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(!input.trim()) 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100" dirty="0"/>
          </a:p>
        </p:txBody>
      </p:sp>
      <p:sp>
        <p:nvSpPr>
          <p:cNvPr id="35" name="Text 29"/>
          <p:cNvSpPr txBox="1"/>
          <p:nvPr/>
        </p:nvSpPr>
        <p:spPr>
          <a:xfrm>
            <a:off x="6858000" y="3546958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setTodos(prev =&gt; [...prev,</a:t>
            </a:r>
            <a:endParaRPr lang="en-US" sz="1100" dirty="0"/>
          </a:p>
        </p:txBody>
      </p:sp>
      <p:sp>
        <p:nvSpPr>
          <p:cNvPr id="36" name="Text 30"/>
          <p:cNvSpPr txBox="1"/>
          <p:nvPr/>
        </p:nvSpPr>
        <p:spPr>
          <a:xfrm>
            <a:off x="6858000" y="374172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id: Date.now(), title: input, done: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6858000" y="3935578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]);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6858000" y="413034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setInput(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''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100" dirty="0"/>
          </a:p>
        </p:txBody>
      </p:sp>
      <p:sp>
        <p:nvSpPr>
          <p:cNvPr id="39" name="Text 33"/>
          <p:cNvSpPr txBox="1"/>
          <p:nvPr/>
        </p:nvSpPr>
        <p:spPr>
          <a:xfrm>
            <a:off x="6858000" y="4324198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};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858000" y="4614062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3) 완료 토글 (map으로 불변 업데이트)</a:t>
            </a:r>
            <a:endParaRPr lang="en-US" sz="1100" dirty="0"/>
          </a:p>
        </p:txBody>
      </p:sp>
      <p:sp>
        <p:nvSpPr>
          <p:cNvPr id="41" name="Text 35"/>
          <p:cNvSpPr txBox="1"/>
          <p:nvPr/>
        </p:nvSpPr>
        <p:spPr>
          <a:xfrm>
            <a:off x="6858000" y="480791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toggle = (id: number) =&gt;</a:t>
            </a:r>
            <a:endParaRPr lang="en-US" sz="1100" dirty="0"/>
          </a:p>
        </p:txBody>
      </p:sp>
      <p:sp>
        <p:nvSpPr>
          <p:cNvPr id="42" name="Text 36"/>
          <p:cNvSpPr txBox="1"/>
          <p:nvPr/>
        </p:nvSpPr>
        <p:spPr>
          <a:xfrm>
            <a:off x="6858000" y="5002682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setTodos(prev =&gt; prev.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 =&gt;</a:t>
            </a:r>
            <a:endParaRPr lang="en-US" sz="1100" dirty="0"/>
          </a:p>
        </p:txBody>
      </p:sp>
      <p:sp>
        <p:nvSpPr>
          <p:cNvPr id="43" name="Text 37"/>
          <p:cNvSpPr txBox="1"/>
          <p:nvPr/>
        </p:nvSpPr>
        <p:spPr>
          <a:xfrm>
            <a:off x="6858000" y="5196535"/>
            <a:ext cx="4763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t.id === id ? { ...t, done: !t.done } : t));</a:t>
            </a:r>
            <a:endParaRPr lang="en-US" sz="11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096305" y="1762049"/>
            <a:ext cx="5715000" cy="2190902"/>
          </a:xfrm>
          <a:prstGeom prst="roundRect">
            <a:avLst>
              <a:gd name="adj" fmla="val 362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4143146"/>
            <a:ext cx="11239805" cy="2381098"/>
          </a:xfrm>
          <a:prstGeom prst="roundRect">
            <a:avLst>
              <a:gd name="adj" fmla="val 3072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e848160cfe8508822a5006ba284bb51b.png"/>
          <p:cNvPicPr>
            <a:picLocks noChangeAspect="1"/>
          </p:cNvPicPr>
          <p:nvPr/>
        </p:nvPicPr>
        <p:blipFill>
          <a:blip r:embed="rId5"/>
          <a:srcRect l="-397" r="-397"/>
          <a:stretch/>
        </p:blipFill>
        <p:spPr>
          <a:xfrm>
            <a:off x="571500" y="1762049"/>
            <a:ext cx="57607" cy="2190902"/>
          </a:xfrm>
          <a:prstGeom prst="rect">
            <a:avLst/>
          </a:prstGeom>
        </p:spPr>
      </p:pic>
      <p:pic>
        <p:nvPicPr>
          <p:cNvPr id="10" name="Image 3" descr="gen-dedup-a651441ff343c94c160d8367cd8c3535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6305" y="1762049"/>
            <a:ext cx="5715000" cy="342900"/>
          </a:xfrm>
          <a:prstGeom prst="rect">
            <a:avLst/>
          </a:prstGeom>
        </p:spPr>
      </p:pic>
      <p:pic>
        <p:nvPicPr>
          <p:cNvPr id="11" name="Image 4" descr="gen-dedup-e18f9745162b268c87884da71b010201.png"/>
          <p:cNvPicPr>
            <a:picLocks noChangeAspect="1"/>
          </p:cNvPicPr>
          <p:nvPr/>
        </p:nvPicPr>
        <p:blipFill>
          <a:blip r:embed="rId7"/>
          <a:srcRect l="-403" r="-403"/>
          <a:stretch/>
        </p:blipFill>
        <p:spPr>
          <a:xfrm>
            <a:off x="571500" y="4143146"/>
            <a:ext cx="57607" cy="238109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57707" y="5286146"/>
            <a:ext cx="26865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3715207" y="5286146"/>
            <a:ext cx="26865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6572707" y="5286146"/>
            <a:ext cx="2686507" cy="1067105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9430207" y="5286146"/>
            <a:ext cx="2190902" cy="1047902"/>
          </a:xfrm>
          <a:prstGeom prst="roundRect">
            <a:avLst>
              <a:gd name="adj" fmla="val 1269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047902" y="5429707"/>
            <a:ext cx="304495" cy="3044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3905402" y="5429707"/>
            <a:ext cx="304495" cy="3044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6762902" y="5429707"/>
            <a:ext cx="304495" cy="3044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9620402" y="5429707"/>
            <a:ext cx="304495" cy="30449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PART 4 · 3/3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Router + AI에게 UI 만들어달라기 + 실습</a:t>
            </a:r>
            <a:endParaRPr lang="en-US" sz="33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페이지를 분리하고, AI에게 정확하게 컴포넌트를 만들어 달라고 요청하는 패턴.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857707" y="1952244"/>
            <a:ext cx="4763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Router · 페이지 분리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857707" y="2286000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BrowserRouter, Routes, Route } 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'react-router-dom'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857707" y="2553919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&lt;BrowserRouter&gt;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857707" y="2764231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&lt;Routes&gt;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857707" y="2974543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&lt;Route path=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element={&lt;Home/&gt;} /&gt;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857707" y="3184855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&lt;Route path=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"/todos"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element={&lt;TodoApp/&gt;} /&gt;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857707" y="3395167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&lt;/Routes&gt;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857707" y="3605479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&lt;/BrowserRouter&gt;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6362395" y="1837944"/>
            <a:ext cx="525871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Cursor · ⌘I (Agent) 프롬프트 예시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286500" y="2238451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관리 앱의 메인 페이지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만들어줘.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6286500" y="2489911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상단에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폼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하단에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할 일 목록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표시되고,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286500" y="2702966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 항목엔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체크박스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 버튼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있어.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6286500" y="2916936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완료된 항목은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취소선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표시.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286500" y="3129991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깔끔하고 모던한 </a:t>
            </a:r>
            <a:r>
              <a:rPr lang="en-US" sz="100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 함께 작성해줘.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286500" y="3343961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TypeScript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로, </a:t>
            </a:r>
            <a:r>
              <a:rPr lang="en-US" sz="10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useState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사용."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915314" y="4334256"/>
            <a:ext cx="27998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1일차 최종 결과물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857707" y="4619549"/>
            <a:ext cx="107634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요청해서 Todo 앱 완성하기 (2시간)</a:t>
            </a:r>
            <a:endParaRPr lang="en-US" sz="2100" dirty="0"/>
          </a:p>
        </p:txBody>
      </p:sp>
      <p:sp>
        <p:nvSpPr>
          <p:cNvPr id="40" name="Text 33"/>
          <p:cNvSpPr txBox="1"/>
          <p:nvPr/>
        </p:nvSpPr>
        <p:spPr>
          <a:xfrm>
            <a:off x="1447495" y="5447995"/>
            <a:ext cx="1905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 요청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47902" y="58100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⌘I → 위 프롬프트 그대로 붙여넣고 Enter.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4304995" y="5447995"/>
            <a:ext cx="1905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검토 · Accept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3905402" y="58100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파일을 한 번 훑고 Accept all.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7162495" y="5447995"/>
            <a:ext cx="19056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· 동작 확인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6762902" y="5810098"/>
            <a:ext cx="23820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run dev → 브라우저에서 동작 점검.</a:t>
            </a:r>
            <a:endParaRPr lang="en-US" sz="900" dirty="0"/>
          </a:p>
        </p:txBody>
      </p:sp>
      <p:sp>
        <p:nvSpPr>
          <p:cNvPr id="46" name="Text 39"/>
          <p:cNvSpPr txBox="1"/>
          <p:nvPr/>
        </p:nvSpPr>
        <p:spPr>
          <a:xfrm>
            <a:off x="10019995" y="5447995"/>
            <a:ext cx="1524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요청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9620402" y="5810098"/>
            <a:ext cx="205922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"카테고리 필터 추가해줘" 등 반복.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047902" y="54297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2"/>
          <p:cNvSpPr txBox="1"/>
          <p:nvPr/>
        </p:nvSpPr>
        <p:spPr>
          <a:xfrm>
            <a:off x="3905402" y="54297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3"/>
          <p:cNvSpPr txBox="1"/>
          <p:nvPr/>
        </p:nvSpPr>
        <p:spPr>
          <a:xfrm>
            <a:off x="6762902" y="54297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51" name="Text 44"/>
          <p:cNvSpPr txBox="1"/>
          <p:nvPr/>
        </p:nvSpPr>
        <p:spPr>
          <a:xfrm>
            <a:off x="9620402" y="5429707"/>
            <a:ext cx="3054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5" y="0"/>
            <a:ext cx="12191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572500" y="-952805"/>
            <a:ext cx="4572000" cy="4572000"/>
          </a:xfrm>
          <a:prstGeom prst="ellipse">
            <a:avLst/>
          </a:prstGeom>
          <a:solidFill>
            <a:srgbClr val="2B6CB0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01707" y="3619195"/>
            <a:ext cx="2667305" cy="2667305"/>
          </a:xfrm>
          <a:prstGeom prst="ellipse">
            <a:avLst/>
          </a:prstGeom>
          <a:solidFill>
            <a:srgbClr val="90CDF4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d0eb4450f0df06f0fea106621b17d79d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1" descr="gen-dedup-daa38de7c4e222d466f0c08484d2c0b2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1143000"/>
            <a:ext cx="1904695" cy="342900"/>
          </a:xfrm>
          <a:prstGeom prst="roundRect">
            <a:avLst>
              <a:gd name="adj" fmla="val 266667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0e31adeeb28852bb1c065cad406c252e.png"/>
          <p:cNvPicPr>
            <a:picLocks noChangeAspect="1"/>
          </p:cNvPicPr>
          <p:nvPr/>
        </p:nvPicPr>
        <p:blipFill>
          <a:blip r:embed="rId5"/>
          <a:srcRect t="-420" b="-420"/>
          <a:stretch/>
        </p:blipFill>
        <p:spPr>
          <a:xfrm>
            <a:off x="761695" y="4238244"/>
            <a:ext cx="761695" cy="384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1143000"/>
            <a:ext cx="1905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2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A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762049"/>
            <a:ext cx="8572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ESSENTIALS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190902"/>
            <a:ext cx="85725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2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문법 10선</a:t>
            </a:r>
            <a:endParaRPr lang="en-US" sz="66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4429354"/>
            <a:ext cx="8572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데이터 분석 · AI API 연동에 꼭 필요한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문법만 골라서 — 10장으로 정리.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5715000"/>
            <a:ext cx="10668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1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variables · strings · list · dict · if · for · def · comprehension · import · try/except</a:t>
            </a:r>
            <a:endParaRPr lang="en-US" sz="14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858000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715707" y="1904695"/>
            <a:ext cx="3905402" cy="1028700"/>
          </a:xfrm>
          <a:prstGeom prst="roundRect">
            <a:avLst>
              <a:gd name="adj" fmla="val 1316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7715707" y="3047695"/>
            <a:ext cx="3905402" cy="1028700"/>
          </a:xfrm>
          <a:prstGeom prst="roundRect">
            <a:avLst>
              <a:gd name="adj" fmla="val 1316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7715707" y="4190695"/>
            <a:ext cx="3905402" cy="1028700"/>
          </a:xfrm>
          <a:prstGeom prst="roundRect">
            <a:avLst>
              <a:gd name="adj" fmla="val 1316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7715707" y="5333695"/>
            <a:ext cx="3905402" cy="1143000"/>
          </a:xfrm>
          <a:prstGeom prst="roundRect">
            <a:avLst>
              <a:gd name="adj" fmla="val 10667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0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2" name="Image 3" descr="gen-dedup-c5dc842471877778e7d4e30cf992f0da.png"/>
          <p:cNvPicPr>
            <a:picLocks noChangeAspect="1"/>
          </p:cNvPicPr>
          <p:nvPr/>
        </p:nvPicPr>
        <p:blipFill>
          <a:blip r:embed="rId6"/>
          <a:srcRect t="-40" b="-40"/>
          <a:stretch/>
        </p:blipFill>
        <p:spPr>
          <a:xfrm>
            <a:off x="571500" y="1904695"/>
            <a:ext cx="6858000" cy="381305"/>
          </a:xfrm>
          <a:prstGeom prst="rect">
            <a:avLst/>
          </a:prstGeom>
        </p:spPr>
      </p:pic>
      <p:pic>
        <p:nvPicPr>
          <p:cNvPr id="13" name="Image 4" descr="gen-dedup-4aac4917893913d47bf97d9c8dd70b21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7715707" y="1904695"/>
            <a:ext cx="57607" cy="1028700"/>
          </a:xfrm>
          <a:prstGeom prst="rect">
            <a:avLst/>
          </a:prstGeom>
        </p:spPr>
      </p:pic>
      <p:pic>
        <p:nvPicPr>
          <p:cNvPr id="14" name="Image 5" descr="gen-dedup-4aac4917893913d47bf97d9c8dd70b21.png"/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7715707" y="3047695"/>
            <a:ext cx="57607" cy="1028700"/>
          </a:xfrm>
          <a:prstGeom prst="rect">
            <a:avLst/>
          </a:prstGeom>
        </p:spPr>
      </p:pic>
      <p:pic>
        <p:nvPicPr>
          <p:cNvPr id="15" name="Image 6" descr="gen-dedup-ae2cce94043516e29a1dfc5b25b96113.png"/>
          <p:cNvPicPr>
            <a:picLocks noChangeAspect="1"/>
          </p:cNvPicPr>
          <p:nvPr/>
        </p:nvPicPr>
        <p:blipFill>
          <a:blip r:embed="rId8"/>
          <a:srcRect l="-400" r="-400"/>
          <a:stretch/>
        </p:blipFill>
        <p:spPr>
          <a:xfrm>
            <a:off x="7715707" y="4190695"/>
            <a:ext cx="57607" cy="10287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01 / 10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변수와 자료형 — 모든 데이터의 출발점</a:t>
            </a:r>
            <a:endParaRPr lang="en-US" sz="3300" dirty="0"/>
          </a:p>
        </p:txBody>
      </p:sp>
      <p:sp>
        <p:nvSpPr>
          <p:cNvPr id="18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타입을 선언하지 않아도 됩니다. 값을 넣으면 Python이 알아서 판단합니다.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761695" y="2000707"/>
            <a:ext cx="6477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variables.py</a:t>
            </a:r>
            <a:endParaRPr lang="en-US" sz="1050" dirty="0"/>
          </a:p>
        </p:txBody>
      </p:sp>
      <p:sp>
        <p:nvSpPr>
          <p:cNvPr id="20" name="Text 11"/>
          <p:cNvSpPr txBox="1"/>
          <p:nvPr/>
        </p:nvSpPr>
        <p:spPr>
          <a:xfrm>
            <a:off x="761695" y="2428646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숫자 — 정수, 실수</a:t>
            </a:r>
            <a:endParaRPr lang="en-US" sz="1400" dirty="0"/>
          </a:p>
        </p:txBody>
      </p:sp>
      <p:sp>
        <p:nvSpPr>
          <p:cNvPr id="21" name="Text 12"/>
          <p:cNvSpPr txBox="1"/>
          <p:nvPr/>
        </p:nvSpPr>
        <p:spPr>
          <a:xfrm>
            <a:off x="761695" y="2700223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int</a:t>
            </a:r>
            <a:endParaRPr lang="en-US" sz="1400" dirty="0"/>
          </a:p>
        </p:txBody>
      </p:sp>
      <p:sp>
        <p:nvSpPr>
          <p:cNvPr id="22" name="Text 13"/>
          <p:cNvSpPr txBox="1"/>
          <p:nvPr/>
        </p:nvSpPr>
        <p:spPr>
          <a:xfrm>
            <a:off x="761695" y="2971800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9.5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float</a:t>
            </a:r>
            <a:endParaRPr lang="en-US" sz="14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331927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문자열 — 따옴표면 OK</a:t>
            </a:r>
            <a:endParaRPr lang="en-US" sz="1400" dirty="0"/>
          </a:p>
        </p:txBody>
      </p:sp>
      <p:sp>
        <p:nvSpPr>
          <p:cNvPr id="24" name="Text 15"/>
          <p:cNvSpPr txBox="1"/>
          <p:nvPr/>
        </p:nvSpPr>
        <p:spPr>
          <a:xfrm>
            <a:off x="761695" y="3590849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= "홍길동"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str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761695" y="3938321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참/거짓</a:t>
            </a:r>
            <a:endParaRPr 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761695" y="4209898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is_admin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bool</a:t>
            </a:r>
            <a:endParaRPr lang="en-US" sz="1400" dirty="0"/>
          </a:p>
        </p:txBody>
      </p:sp>
      <p:sp>
        <p:nvSpPr>
          <p:cNvPr id="27" name="Text 18"/>
          <p:cNvSpPr txBox="1"/>
          <p:nvPr/>
        </p:nvSpPr>
        <p:spPr>
          <a:xfrm>
            <a:off x="761695" y="4557370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값이 없음 — None</a:t>
            </a:r>
            <a:endParaRPr lang="en-US" sz="1400" dirty="0"/>
          </a:p>
        </p:txBody>
      </p:sp>
      <p:sp>
        <p:nvSpPr>
          <p:cNvPr id="28" name="Text 19"/>
          <p:cNvSpPr txBox="1"/>
          <p:nvPr/>
        </p:nvSpPr>
        <p:spPr>
          <a:xfrm>
            <a:off x="761695" y="4828946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# NoneType</a:t>
            </a:r>
            <a:endParaRPr lang="en-US" sz="14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5176418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⑤ 타입 확인 · 변환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761695" y="5447995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4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(age)) 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&lt;class 'int'&gt;</a:t>
            </a:r>
            <a:endParaRPr lang="en-US" sz="1400" dirty="0"/>
          </a:p>
        </p:txBody>
      </p:sp>
      <p:sp>
        <p:nvSpPr>
          <p:cNvPr id="31" name="Text 22"/>
          <p:cNvSpPr txBox="1"/>
          <p:nvPr/>
        </p:nvSpPr>
        <p:spPr>
          <a:xfrm>
            <a:off x="761695" y="571957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"42"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문자열 → 숫자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7953451" y="2076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POINT 01 · 타입 자동 추론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7953451" y="2333549"/>
            <a:ext cx="3620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값을 대입하는 순간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타입이 정해진다.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JavaScript처럼 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 / const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없음.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7953451" y="3219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POINT 02 · 변수명 규칙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7953451" y="3476549"/>
            <a:ext cx="36201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snake_case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사용. 숫자로 시작 ✗,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예약어(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· for · class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사용 ✗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7953451" y="4362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POINT 03 · f-string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7953451" y="4619549"/>
            <a:ext cx="3620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"길동"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7953451" y="4829861"/>
            <a:ext cx="3620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f"안녕, {name}님"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7963510" y="5505602"/>
            <a:ext cx="3467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현업에서 자주 쓰는 패턴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7905902" y="5772607"/>
            <a:ext cx="35250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설정값은 대문자 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API_KEY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임시 변수는 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비공개는 앞에 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_name</a:t>
            </a:r>
            <a:endParaRPr lang="en-US" sz="11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4286707" y="1904695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8001000" y="1904695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571500" y="4286707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4286707" y="4286707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8001000" y="4286707"/>
            <a:ext cx="36383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2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3" name="Image 3" descr="gen-dedup-39ff61590f2e9a7976c8b6eb64e94ff5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571500" y="1904695"/>
            <a:ext cx="3619195" cy="457200"/>
          </a:xfrm>
          <a:prstGeom prst="rect">
            <a:avLst/>
          </a:prstGeom>
        </p:spPr>
      </p:pic>
      <p:pic>
        <p:nvPicPr>
          <p:cNvPr id="14" name="Image 4" descr="gen-dedup-39ff61590f2e9a7976c8b6eb64e94ff5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4286707" y="1904695"/>
            <a:ext cx="3619195" cy="457200"/>
          </a:xfrm>
          <a:prstGeom prst="rect">
            <a:avLst/>
          </a:prstGeom>
        </p:spPr>
      </p:pic>
      <p:pic>
        <p:nvPicPr>
          <p:cNvPr id="15" name="Image 5" descr="gen-dedup-39ff61590f2e9a7976c8b6eb64e94ff5.png"/>
          <p:cNvPicPr>
            <a:picLocks noChangeAspect="1"/>
          </p:cNvPicPr>
          <p:nvPr/>
        </p:nvPicPr>
        <p:blipFill>
          <a:blip r:embed="rId6"/>
          <a:srcRect t="-4" b="-4"/>
          <a:stretch/>
        </p:blipFill>
        <p:spPr>
          <a:xfrm>
            <a:off x="8001000" y="1904695"/>
            <a:ext cx="3619195" cy="457200"/>
          </a:xfrm>
          <a:prstGeom prst="rect">
            <a:avLst/>
          </a:prstGeom>
        </p:spPr>
      </p:pic>
      <p:pic>
        <p:nvPicPr>
          <p:cNvPr id="16" name="Image 6" descr="gen-dedup-4884a7d24a6942c8c4cbefb059bb305a.png"/>
          <p:cNvPicPr>
            <a:picLocks noChangeAspect="1"/>
          </p:cNvPicPr>
          <p:nvPr/>
        </p:nvPicPr>
        <p:blipFill>
          <a:blip r:embed="rId7"/>
          <a:srcRect t="-4" b="-4"/>
          <a:stretch/>
        </p:blipFill>
        <p:spPr>
          <a:xfrm>
            <a:off x="571500" y="4286707"/>
            <a:ext cx="3619195" cy="457200"/>
          </a:xfrm>
          <a:prstGeom prst="rect">
            <a:avLst/>
          </a:prstGeom>
        </p:spPr>
      </p:pic>
      <p:pic>
        <p:nvPicPr>
          <p:cNvPr id="17" name="Image 7" descr="gen-dedup-4884a7d24a6942c8c4cbefb059bb305a.png"/>
          <p:cNvPicPr>
            <a:picLocks noChangeAspect="1"/>
          </p:cNvPicPr>
          <p:nvPr/>
        </p:nvPicPr>
        <p:blipFill>
          <a:blip r:embed="rId7"/>
          <a:srcRect t="-4" b="-4"/>
          <a:stretch/>
        </p:blipFill>
        <p:spPr>
          <a:xfrm>
            <a:off x="4286707" y="4286707"/>
            <a:ext cx="3619195" cy="457200"/>
          </a:xfrm>
          <a:prstGeom prst="rect">
            <a:avLst/>
          </a:prstGeom>
        </p:spPr>
      </p:pic>
      <p:pic>
        <p:nvPicPr>
          <p:cNvPr id="18" name="Image 8" descr="gen-dedup-3651697dd611dc83cd84c00853382ed6.png"/>
          <p:cNvPicPr>
            <a:picLocks noChangeAspect="1"/>
          </p:cNvPicPr>
          <p:nvPr/>
        </p:nvPicPr>
        <p:blipFill>
          <a:blip r:embed="rId8"/>
          <a:srcRect t="-4" b="-4"/>
          <a:stretch/>
        </p:blipFill>
        <p:spPr>
          <a:xfrm>
            <a:off x="8001000" y="4286707"/>
            <a:ext cx="3619195" cy="457200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02 / 10</a:t>
            </a:r>
            <a:endParaRPr lang="en-US" sz="900" dirty="0"/>
          </a:p>
        </p:txBody>
      </p:sp>
      <p:sp>
        <p:nvSpPr>
          <p:cNvPr id="20" name="Text 9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다루기 — 핵심 메서드 6개</a:t>
            </a:r>
            <a:endParaRPr lang="en-US" sz="3300" dirty="0"/>
          </a:p>
        </p:txBody>
      </p:sp>
      <p:sp>
        <p:nvSpPr>
          <p:cNvPr id="21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입력·CSV·API 응답은 모두 문자열에서 시작합니다.</a:t>
            </a:r>
            <a:endParaRPr lang="en-US" sz="1300" dirty="0"/>
          </a:p>
        </p:txBody>
      </p:sp>
      <p:sp>
        <p:nvSpPr>
          <p:cNvPr id="22" name="Text 11"/>
          <p:cNvSpPr txBox="1"/>
          <p:nvPr/>
        </p:nvSpPr>
        <p:spPr>
          <a:xfrm>
            <a:off x="761695" y="2048256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.upper() · .lower()</a:t>
            </a:r>
            <a:endParaRPr lang="en-US" sz="1600" dirty="0"/>
          </a:p>
        </p:txBody>
      </p:sp>
      <p:sp>
        <p:nvSpPr>
          <p:cNvPr id="23" name="Text 12"/>
          <p:cNvSpPr txBox="1"/>
          <p:nvPr/>
        </p:nvSpPr>
        <p:spPr>
          <a:xfrm>
            <a:off x="761695" y="2523744"/>
            <a:ext cx="37590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대문자·소문자 변환.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검색·비교 전 정규화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자주 사용.</a:t>
            </a:r>
            <a:endParaRPr lang="en-US" sz="1100" dirty="0"/>
          </a:p>
        </p:txBody>
      </p:sp>
      <p:sp>
        <p:nvSpPr>
          <p:cNvPr id="24" name="Text 13"/>
          <p:cNvSpPr txBox="1"/>
          <p:nvPr/>
        </p:nvSpPr>
        <p:spPr>
          <a:xfrm>
            <a:off x="761695" y="3191256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"DATA"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.lower()</a:t>
            </a:r>
            <a:endParaRPr lang="en-US" sz="1050" dirty="0"/>
          </a:p>
        </p:txBody>
      </p:sp>
      <p:sp>
        <p:nvSpPr>
          <p:cNvPr id="25" name="Text 14"/>
          <p:cNvSpPr txBox="1"/>
          <p:nvPr/>
        </p:nvSpPr>
        <p:spPr>
          <a:xfrm>
            <a:off x="761695" y="341345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"data"</a:t>
            </a:r>
            <a:endParaRPr lang="en-US" sz="1050" dirty="0"/>
          </a:p>
        </p:txBody>
      </p:sp>
      <p:sp>
        <p:nvSpPr>
          <p:cNvPr id="26" name="Text 15"/>
          <p:cNvSpPr txBox="1"/>
          <p:nvPr/>
        </p:nvSpPr>
        <p:spPr>
          <a:xfrm>
            <a:off x="4476902" y="2048256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.strip()</a:t>
            </a:r>
            <a:endParaRPr lang="en-US" sz="1600" dirty="0"/>
          </a:p>
        </p:txBody>
      </p:sp>
      <p:sp>
        <p:nvSpPr>
          <p:cNvPr id="27" name="Text 16"/>
          <p:cNvSpPr txBox="1"/>
          <p:nvPr/>
        </p:nvSpPr>
        <p:spPr>
          <a:xfrm>
            <a:off x="4476902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앞뒤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공백·줄바꿈 제거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사용자 입력 정리에 필수.</a:t>
            </a:r>
            <a:endParaRPr lang="en-US" sz="1100" dirty="0"/>
          </a:p>
        </p:txBody>
      </p:sp>
      <p:sp>
        <p:nvSpPr>
          <p:cNvPr id="28" name="Text 17"/>
          <p:cNvSpPr txBox="1"/>
          <p:nvPr/>
        </p:nvSpPr>
        <p:spPr>
          <a:xfrm>
            <a:off x="4476902" y="3191256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 hello 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.strip()</a:t>
            </a:r>
            <a:endParaRPr lang="en-US" sz="1050" dirty="0"/>
          </a:p>
        </p:txBody>
      </p:sp>
      <p:sp>
        <p:nvSpPr>
          <p:cNvPr id="29" name="Text 18"/>
          <p:cNvSpPr txBox="1"/>
          <p:nvPr/>
        </p:nvSpPr>
        <p:spPr>
          <a:xfrm>
            <a:off x="4476902" y="341345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"hello"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8191195" y="2048256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.split() · .join()</a:t>
            </a:r>
            <a:endParaRPr lang="en-US" sz="1600" dirty="0"/>
          </a:p>
        </p:txBody>
      </p:sp>
      <p:sp>
        <p:nvSpPr>
          <p:cNvPr id="31" name="Text 20"/>
          <p:cNvSpPr txBox="1"/>
          <p:nvPr/>
        </p:nvSpPr>
        <p:spPr>
          <a:xfrm>
            <a:off x="8191195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구분자로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자르기/합치기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CSV·URL 파싱 단골.</a:t>
            </a:r>
            <a:endParaRPr lang="en-US" sz="1100" dirty="0"/>
          </a:p>
        </p:txBody>
      </p:sp>
      <p:sp>
        <p:nvSpPr>
          <p:cNvPr id="32" name="Text 21"/>
          <p:cNvSpPr txBox="1"/>
          <p:nvPr/>
        </p:nvSpPr>
        <p:spPr>
          <a:xfrm>
            <a:off x="8191195" y="3191256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"a,b,c"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.split(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","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8191195" y="341345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['a', 'b', 'c']</a:t>
            </a:r>
            <a:endParaRPr lang="en-US" sz="1050" dirty="0"/>
          </a:p>
        </p:txBody>
      </p:sp>
      <p:sp>
        <p:nvSpPr>
          <p:cNvPr id="34" name="Text 23"/>
          <p:cNvSpPr txBox="1"/>
          <p:nvPr/>
        </p:nvSpPr>
        <p:spPr>
          <a:xfrm>
            <a:off x="761695" y="4429354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.replace()</a:t>
            </a:r>
            <a:endParaRPr lang="en-US" sz="1600" dirty="0"/>
          </a:p>
        </p:txBody>
      </p:sp>
      <p:sp>
        <p:nvSpPr>
          <p:cNvPr id="35" name="Text 24"/>
          <p:cNvSpPr txBox="1"/>
          <p:nvPr/>
        </p:nvSpPr>
        <p:spPr>
          <a:xfrm>
            <a:off x="761695" y="4905756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문자열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치환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두 번째 인자는 새 문자열.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761695" y="557235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"010-1234"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.replace(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"-"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Text 26"/>
          <p:cNvSpPr txBox="1"/>
          <p:nvPr/>
        </p:nvSpPr>
        <p:spPr>
          <a:xfrm>
            <a:off x="761695" y="5795467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"0101234"</a:t>
            </a:r>
            <a:endParaRPr lang="en-US" sz="1050" dirty="0"/>
          </a:p>
        </p:txBody>
      </p:sp>
      <p:sp>
        <p:nvSpPr>
          <p:cNvPr id="38" name="Text 27"/>
          <p:cNvSpPr txBox="1"/>
          <p:nvPr/>
        </p:nvSpPr>
        <p:spPr>
          <a:xfrm>
            <a:off x="4476902" y="442935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in · 포함 검사</a:t>
            </a:r>
            <a:endParaRPr lang="en-US" sz="1600" dirty="0"/>
          </a:p>
        </p:txBody>
      </p:sp>
      <p:sp>
        <p:nvSpPr>
          <p:cNvPr id="39" name="Text 28"/>
          <p:cNvSpPr txBox="1"/>
          <p:nvPr/>
        </p:nvSpPr>
        <p:spPr>
          <a:xfrm>
            <a:off x="4476902" y="4905756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부분 문자열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포함 여부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True/False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반환.</a:t>
            </a:r>
            <a:endParaRPr lang="en-US" sz="1100" dirty="0"/>
          </a:p>
        </p:txBody>
      </p:sp>
      <p:sp>
        <p:nvSpPr>
          <p:cNvPr id="40" name="Text 29"/>
          <p:cNvSpPr txBox="1"/>
          <p:nvPr/>
        </p:nvSpPr>
        <p:spPr>
          <a:xfrm>
            <a:off x="4476902" y="557235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"py"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"python"</a:t>
            </a:r>
            <a:endParaRPr lang="en-US" sz="1050" dirty="0"/>
          </a:p>
        </p:txBody>
      </p:sp>
      <p:sp>
        <p:nvSpPr>
          <p:cNvPr id="41" name="Text 30"/>
          <p:cNvSpPr txBox="1"/>
          <p:nvPr/>
        </p:nvSpPr>
        <p:spPr>
          <a:xfrm>
            <a:off x="4476902" y="5795467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True</a:t>
            </a:r>
            <a:endParaRPr lang="en-US" sz="1050" dirty="0"/>
          </a:p>
        </p:txBody>
      </p:sp>
      <p:sp>
        <p:nvSpPr>
          <p:cNvPr id="42" name="Text 31"/>
          <p:cNvSpPr txBox="1"/>
          <p:nvPr/>
        </p:nvSpPr>
        <p:spPr>
          <a:xfrm>
            <a:off x="8248802" y="4429354"/>
            <a:ext cx="31811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f-string</a:t>
            </a:r>
            <a:endParaRPr lang="en-US" sz="1600" dirty="0"/>
          </a:p>
        </p:txBody>
      </p:sp>
      <p:sp>
        <p:nvSpPr>
          <p:cNvPr id="43" name="Text 32"/>
          <p:cNvSpPr txBox="1"/>
          <p:nvPr/>
        </p:nvSpPr>
        <p:spPr>
          <a:xfrm>
            <a:off x="8191195" y="4905756"/>
            <a:ext cx="34555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 삽입 +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서식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까지. 가장 자주 쓰는 출력 방식.</a:t>
            </a:r>
            <a:endParaRPr lang="en-US" sz="1100" dirty="0"/>
          </a:p>
        </p:txBody>
      </p:sp>
      <p:sp>
        <p:nvSpPr>
          <p:cNvPr id="44" name="Text 33"/>
          <p:cNvSpPr txBox="1"/>
          <p:nvPr/>
        </p:nvSpPr>
        <p:spPr>
          <a:xfrm>
            <a:off x="8191195" y="557235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f"가격: {price:,.0f}원"</a:t>
            </a:r>
            <a:endParaRPr lang="en-US" sz="1050" dirty="0"/>
          </a:p>
        </p:txBody>
      </p:sp>
      <p:sp>
        <p:nvSpPr>
          <p:cNvPr id="45" name="Text 34"/>
          <p:cNvSpPr txBox="1"/>
          <p:nvPr/>
        </p:nvSpPr>
        <p:spPr>
          <a:xfrm>
            <a:off x="8191195" y="5795467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→ "가격: 9,500원"</a:t>
            </a:r>
            <a:endParaRPr lang="en-US" sz="105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72100" cy="2229307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6286500" y="4286707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8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0f571cf9328b6d6529447b55d46a1ee7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571500" y="1904695"/>
            <a:ext cx="5524805" cy="476402"/>
          </a:xfrm>
          <a:prstGeom prst="rect">
            <a:avLst/>
          </a:prstGeom>
        </p:spPr>
      </p:pic>
      <p:pic>
        <p:nvPicPr>
          <p:cNvPr id="11" name="Image 4" descr="gen-dedup-47dd560162fda9d6df48d145e058d36b.png"/>
          <p:cNvPicPr>
            <a:picLocks noChangeAspect="1"/>
          </p:cNvPicPr>
          <p:nvPr/>
        </p:nvPicPr>
        <p:blipFill>
          <a:blip r:embed="rId7"/>
          <a:srcRect t="-19" b="-19"/>
          <a:stretch/>
        </p:blipFill>
        <p:spPr>
          <a:xfrm>
            <a:off x="6286500" y="1904695"/>
            <a:ext cx="5333695" cy="4764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03 / 10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리스트 · 튜플 — 순서 있는 묶음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여러 개일 때 가장 먼저 떠올리는 자료형입니다.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37590" y="2048256"/>
            <a:ext cx="5067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 — 수정 가능한 묶음 [ ]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52374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생성 — 대괄호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777033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"개발"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"운영"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"기획"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107131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인덱싱 — 0부터, 음수는 뒤에서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36042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"개발"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1370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-1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"기획"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942893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슬라이싱 [시작:끝]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19618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['개발', '운영']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52628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추가 · 삭제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77956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"디자인"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503285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teams.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remove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"운영"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36204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길이 · 정렬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61533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(teams)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3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86861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sorted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(teams)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새 정렬 리스트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6552590" y="2048256"/>
            <a:ext cx="4877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tuple — 수정 불가 ( )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2523744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좌표·RGB·고정 설정에 사용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6476695" y="2777033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point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3030322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rgb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54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93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476695" y="3283610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x, y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point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언패킹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476695" y="4457700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무엇을 쓸까?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6476695" y="4809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 [ ]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476695" y="511515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동적 데이터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추가·삭제 빈번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사용자가 선택한 항목들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대부분의 경우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048902" y="48097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tuple ( )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9048902" y="5115154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좌표 · 색상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함수가 여러 값 반환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dict의 키로 사용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변하지 않을 값</a:t>
            </a:r>
            <a:endParaRPr lang="en-US" sz="11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704819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810805" y="1904695"/>
            <a:ext cx="3847795" cy="4610405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7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8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9" name="Image 3" descr="gen-dedup-ff5f148b4bed0996ed20e6382a971714.png"/>
          <p:cNvPicPr>
            <a:picLocks noChangeAspect="1"/>
          </p:cNvPicPr>
          <p:nvPr/>
        </p:nvPicPr>
        <p:blipFill>
          <a:blip r:embed="rId6"/>
          <a:srcRect t="-18" b="-18"/>
          <a:stretch/>
        </p:blipFill>
        <p:spPr>
          <a:xfrm>
            <a:off x="571500" y="1904695"/>
            <a:ext cx="7048195" cy="476402"/>
          </a:xfrm>
          <a:prstGeom prst="rect">
            <a:avLst/>
          </a:prstGeom>
        </p:spPr>
      </p:pic>
      <p:pic>
        <p:nvPicPr>
          <p:cNvPr id="10" name="Image 4" descr="gen-dedup-a5267c10e9fc3be97f58cf41558df41f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7810805" y="1904695"/>
            <a:ext cx="3810305" cy="476402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04 / 10</a:t>
            </a:r>
            <a:endParaRPr lang="en-US" sz="900" dirty="0"/>
          </a:p>
        </p:txBody>
      </p:sp>
      <p:sp>
        <p:nvSpPr>
          <p:cNvPr id="12" name="Text 5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dict · set — 키로 찾고, 중복 없이 모으기</a:t>
            </a:r>
            <a:endParaRPr lang="en-US" sz="33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응답·DB 행·설정값을 다룰 때 가장 많이 등장합니다.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837590" y="2048256"/>
            <a:ext cx="65919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dict — 키:값 쌍 { }</a:t>
            </a:r>
            <a:endParaRPr lang="en-US" sz="16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2400300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생성</a:t>
            </a:r>
            <a:endParaRPr lang="en-US" sz="11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653589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906878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"name"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"홍길동"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160166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"age"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413455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"team"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"개발"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6674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995928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값 읽기 · 수정 · 추가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249217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"홍길동"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502506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"age"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29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수정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75579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"email"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"a@example.com"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추가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5085893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안전한 조회 (없으면 기본값)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339182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"phone"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"미입력"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668366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키 · 값 · 항목 순회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921654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k, v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6174943"/>
            <a:ext cx="6667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(k, v)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8076895" y="2048256"/>
            <a:ext cx="3353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 — 중복 없는 묶음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001000" y="2523744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중복 자동 제거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8001000" y="2759659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"DB"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001000" y="2994660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{"AI", "DB"}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8001000" y="3324758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리스트의 중복 제거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8001000" y="3559759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unique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(arr))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8001000" y="3890772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멤버십 검사 (매우 빠름)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8001000" y="4125773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tags 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True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8001000" y="4455871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집합 연산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8001000" y="4690872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 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합집합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8001000" y="4926787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&amp;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 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교집합</a:t>
            </a:r>
            <a:endParaRPr lang="en-US" sz="1050" dirty="0"/>
          </a:p>
        </p:txBody>
      </p:sp>
      <p:sp>
        <p:nvSpPr>
          <p:cNvPr id="41" name="Text 34"/>
          <p:cNvSpPr txBox="1"/>
          <p:nvPr/>
        </p:nvSpPr>
        <p:spPr>
          <a:xfrm>
            <a:off x="8001000" y="5161788"/>
            <a:ext cx="34290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 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차집합</a:t>
            </a:r>
            <a:endParaRPr lang="en-US" sz="105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858000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715707" y="1904695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7715707" y="3476549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7715707" y="5048402"/>
            <a:ext cx="3905402" cy="1429207"/>
          </a:xfrm>
          <a:prstGeom prst="roundRect">
            <a:avLst>
              <a:gd name="adj" fmla="val 68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400"/>
          </a:p>
        </p:txBody>
      </p:sp>
      <p:pic>
        <p:nvPicPr>
          <p:cNvPr id="9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c5dc842471877778e7d4e30cf992f0da.png"/>
          <p:cNvPicPr>
            <a:picLocks noChangeAspect="1"/>
          </p:cNvPicPr>
          <p:nvPr/>
        </p:nvPicPr>
        <p:blipFill>
          <a:blip r:embed="rId6"/>
          <a:srcRect t="-40" b="-40"/>
          <a:stretch/>
        </p:blipFill>
        <p:spPr>
          <a:xfrm>
            <a:off x="571500" y="1904695"/>
            <a:ext cx="6858000" cy="381305"/>
          </a:xfrm>
          <a:prstGeom prst="rect">
            <a:avLst/>
          </a:prstGeom>
        </p:spPr>
      </p:pic>
      <p:pic>
        <p:nvPicPr>
          <p:cNvPr id="12" name="Image 4" descr="gen-dedup-7b83c4f0eeadb76aa38b9dae4347bcbe.png"/>
          <p:cNvPicPr>
            <a:picLocks noChangeAspect="1"/>
          </p:cNvPicPr>
          <p:nvPr/>
        </p:nvPicPr>
        <p:blipFill>
          <a:blip r:embed="rId7"/>
          <a:srcRect l="-411" r="-411"/>
          <a:stretch/>
        </p:blipFill>
        <p:spPr>
          <a:xfrm>
            <a:off x="7715707" y="1904695"/>
            <a:ext cx="57607" cy="1447495"/>
          </a:xfrm>
          <a:prstGeom prst="rect">
            <a:avLst/>
          </a:prstGeom>
        </p:spPr>
      </p:pic>
      <p:pic>
        <p:nvPicPr>
          <p:cNvPr id="13" name="Image 5" descr="gen-dedup-7b83c4f0eeadb76aa38b9dae4347bcbe.png"/>
          <p:cNvPicPr>
            <a:picLocks noChangeAspect="1"/>
          </p:cNvPicPr>
          <p:nvPr/>
        </p:nvPicPr>
        <p:blipFill>
          <a:blip r:embed="rId7"/>
          <a:srcRect l="-411" r="-411"/>
          <a:stretch/>
        </p:blipFill>
        <p:spPr>
          <a:xfrm>
            <a:off x="7715707" y="3476549"/>
            <a:ext cx="57607" cy="14474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05 / 10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조건문 — if · elif · else</a:t>
            </a:r>
            <a:endParaRPr lang="en-US" sz="33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중괄호 없이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들여쓰기 4칸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블록을 구분합니다.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2000707"/>
            <a:ext cx="6477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grade.py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428646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85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795321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score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90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3066898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grade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"A"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3338474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elif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score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610051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grade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"B"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1695" y="3881628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elif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score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70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4153205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grade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"C"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761695" y="4424782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else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761695" y="4695444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grade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"F"</a:t>
            </a:r>
            <a:endParaRPr lang="en-US" sz="1400" dirty="0"/>
          </a:p>
        </p:txBody>
      </p:sp>
      <p:sp>
        <p:nvSpPr>
          <p:cNvPr id="27" name="Text 19"/>
          <p:cNvSpPr txBox="1"/>
          <p:nvPr/>
        </p:nvSpPr>
        <p:spPr>
          <a:xfrm>
            <a:off x="761695" y="5100523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한 줄 if — 삼항 연산자</a:t>
            </a:r>
            <a:endParaRPr lang="en-US" sz="1400" dirty="0"/>
          </a:p>
        </p:txBody>
      </p:sp>
      <p:sp>
        <p:nvSpPr>
          <p:cNvPr id="28" name="Text 20"/>
          <p:cNvSpPr txBox="1"/>
          <p:nvPr/>
        </p:nvSpPr>
        <p:spPr>
          <a:xfrm>
            <a:off x="761695" y="5372100"/>
            <a:ext cx="6477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msg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"합격"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if</a:t>
            </a:r>
            <a:r>
              <a:rPr lang="en-US" sz="14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score 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&gt;= 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r>
              <a:rPr lang="en-US" sz="14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else</a:t>
            </a:r>
            <a:r>
              <a:rPr lang="en-US" sz="14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"불합격"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7953451" y="2076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연산자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7953451" y="2361895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같다 </a:t>
            </a: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다르다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7953451" y="2597810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&gt;= &lt; &lt;=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7953451" y="2832811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포함 </a:t>
            </a: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in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미포함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7953451" y="3648456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연산자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7953451" y="3933749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둘 다 참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953451" y="4168750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둘 중 하나라도 참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7953451" y="4404665"/>
            <a:ext cx="362011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반대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7963510" y="5219395"/>
            <a:ext cx="3467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들여쓰기 = 문법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7905902" y="5505602"/>
            <a:ext cx="35250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스페이스 4칸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통일.</a:t>
            </a:r>
            <a:endParaRPr lang="en-US" sz="11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탭과 스페이스를 섞으면 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IndentationError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발생.</a:t>
            </a:r>
            <a:endParaRPr lang="en-US" sz="11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72100" cy="2229307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6286500" y="4286707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0f571cf9328b6d6529447b55d46a1ee7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571500" y="1904695"/>
            <a:ext cx="5524805" cy="476402"/>
          </a:xfrm>
          <a:prstGeom prst="rect">
            <a:avLst/>
          </a:prstGeom>
        </p:spPr>
      </p:pic>
      <p:pic>
        <p:nvPicPr>
          <p:cNvPr id="11" name="Image 4" descr="gen-dedup-47dd560162fda9d6df48d145e058d36b.png"/>
          <p:cNvPicPr>
            <a:picLocks noChangeAspect="1"/>
          </p:cNvPicPr>
          <p:nvPr/>
        </p:nvPicPr>
        <p:blipFill>
          <a:blip r:embed="rId7"/>
          <a:srcRect t="-19" b="-19"/>
          <a:stretch/>
        </p:blipFill>
        <p:spPr>
          <a:xfrm>
            <a:off x="6286500" y="1904695"/>
            <a:ext cx="5333695" cy="4764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06 / 10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반복문 — for · while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Python의 for는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"꺼내서 처리"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인덱스가 아니라 값을 직접 받습니다.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37590" y="2048256"/>
            <a:ext cx="5067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— 컬렉션을 순회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52374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리스트 순회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777033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"길동"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"영희"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]: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03032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(name)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37962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숫자 범위 — range()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32911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range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0,1,2,3,4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88620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(i)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234586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인덱스가 필요할 때 — enumerate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487875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idx, name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enumerate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(arr):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74116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f"{idx}: {name}"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508955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dict 순회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34283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k, v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():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59612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(k, v)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552590" y="2048256"/>
            <a:ext cx="48774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while — 조건이 참인 동안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6476695" y="2523744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2777033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count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6476695" y="3030322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(count)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3283610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count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+=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★ 꼭 증가시켜야 함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6476695" y="4457700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제어 — break · continue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6476695" y="4762195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range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6476695" y="4998110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6476695" y="5233111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break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반복 즉시 종료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5468112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if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6476695" y="5704027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continue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다음 회차로 점프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476695" y="5939028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(n)</a:t>
            </a:r>
            <a:endParaRPr lang="en-US" sz="105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3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614830"/>
            <a:ext cx="6858000" cy="4914900"/>
          </a:xfrm>
          <a:prstGeom prst="roundRect">
            <a:avLst>
              <a:gd name="adj" fmla="val 72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715707" y="1614830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7715707" y="3185770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7715707" y="4757623"/>
            <a:ext cx="3905402" cy="1429207"/>
          </a:xfrm>
          <a:prstGeom prst="roundRect">
            <a:avLst>
              <a:gd name="adj" fmla="val 68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9" name="Image 1" descr="gen-dedup-2c48bca0947e42727d67028363c04897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c5dc842471877778e7d4e30cf992f0da.png"/>
          <p:cNvPicPr>
            <a:picLocks noChangeAspect="1"/>
          </p:cNvPicPr>
          <p:nvPr/>
        </p:nvPicPr>
        <p:blipFill>
          <a:blip r:embed="rId6"/>
          <a:srcRect t="-40" b="-40"/>
          <a:stretch/>
        </p:blipFill>
        <p:spPr>
          <a:xfrm>
            <a:off x="571500" y="1614830"/>
            <a:ext cx="6858000" cy="381305"/>
          </a:xfrm>
          <a:prstGeom prst="rect">
            <a:avLst/>
          </a:prstGeom>
        </p:spPr>
      </p:pic>
      <p:pic>
        <p:nvPicPr>
          <p:cNvPr id="12" name="Image 4" descr="gen-dedup-7b83c4f0eeadb76aa38b9dae4347bcbe.png"/>
          <p:cNvPicPr>
            <a:picLocks noChangeAspect="1"/>
          </p:cNvPicPr>
          <p:nvPr/>
        </p:nvPicPr>
        <p:blipFill>
          <a:blip r:embed="rId7"/>
          <a:srcRect l="-411" r="-411"/>
          <a:stretch/>
        </p:blipFill>
        <p:spPr>
          <a:xfrm>
            <a:off x="7715707" y="1614830"/>
            <a:ext cx="57607" cy="1447495"/>
          </a:xfrm>
          <a:prstGeom prst="rect">
            <a:avLst/>
          </a:prstGeom>
        </p:spPr>
      </p:pic>
      <p:pic>
        <p:nvPicPr>
          <p:cNvPr id="13" name="Image 5" descr="gen-dedup-7b83c4f0eeadb76aa38b9dae4347bcbe.png"/>
          <p:cNvPicPr>
            <a:picLocks noChangeAspect="1"/>
          </p:cNvPicPr>
          <p:nvPr/>
        </p:nvPicPr>
        <p:blipFill>
          <a:blip r:embed="rId7"/>
          <a:srcRect l="-411" r="-411"/>
          <a:stretch/>
        </p:blipFill>
        <p:spPr>
          <a:xfrm>
            <a:off x="7715707" y="3185770"/>
            <a:ext cx="57607" cy="14474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07 / 10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정의 — def · 인자 · return</a:t>
            </a:r>
            <a:endParaRPr lang="en-US" sz="33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반복되는 코드는 함수로.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"이름 붙이기 = 추상화의 시작"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1709928"/>
            <a:ext cx="6477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functions.py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07660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기본 형태</a:t>
            </a:r>
            <a:endParaRPr lang="en-US" sz="110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329891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greet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(name):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2583180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return f"안녕, {name}님"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2836469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greet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"길동"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→ "안녕, 길동님"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184855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기본값 — 인자 생략 가능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761695" y="3438144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power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(x, n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3691433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</a:t>
            </a:r>
            <a:endParaRPr lang="en-US" sz="1100" dirty="0"/>
          </a:p>
        </p:txBody>
      </p:sp>
      <p:sp>
        <p:nvSpPr>
          <p:cNvPr id="25" name="Text 17"/>
          <p:cNvSpPr txBox="1"/>
          <p:nvPr/>
        </p:nvSpPr>
        <p:spPr>
          <a:xfrm>
            <a:off x="761695" y="394472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9 (n=2 사용)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761695" y="4198010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27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761695" y="4546397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여러 값 반환 — 튜플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761695" y="479968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stats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(nums):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5052974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min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(nums),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(nums),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(nums)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5306263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lo, hi, total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stats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5655564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타입 힌트 (선택, 추천)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61695" y="5908853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add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(a: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b: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761695" y="616214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7953451" y="1785823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4구성 요소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953451" y="2072030"/>
            <a:ext cx="36201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키워드 </a:t>
            </a: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함수 이름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인자(괄호 안) </a:t>
            </a: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반환값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953451" y="3357677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인자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7953451" y="3642970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이름으로 전달 — 순서 무관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7953451" y="3866083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x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7963510" y="4929530"/>
            <a:ext cx="3467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= 단일 책임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7905902" y="5214823"/>
            <a:ext cx="35250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이름을 </a:t>
            </a: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동사로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짓고,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함수는 </a:t>
            </a:r>
            <a:r>
              <a:rPr lang="en-US" sz="11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가지만</a:t>
            </a: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하도록. AI도 이런 함수를 더 잘 만듭니다.</a:t>
            </a:r>
            <a:endParaRPr lang="en-US" sz="11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3369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381805"/>
            <a:ext cx="3638398" cy="2115007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4286707" y="4381805"/>
            <a:ext cx="3638398" cy="2115007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8001000" y="4381805"/>
            <a:ext cx="3638398" cy="2115007"/>
          </a:xfrm>
          <a:prstGeom prst="roundRect">
            <a:avLst>
              <a:gd name="adj" fmla="val 3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0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1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2" name="Image 3" descr="gen-dedup-d047cb288adc54d381a81db1c155467b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286500" y="1904695"/>
            <a:ext cx="57607" cy="2286000"/>
          </a:xfrm>
          <a:prstGeom prst="rect">
            <a:avLst/>
          </a:prstGeom>
        </p:spPr>
      </p:pic>
      <p:pic>
        <p:nvPicPr>
          <p:cNvPr id="13" name="Image 4" descr="gen-dedup-756bef8b7530fe4be5f87ad28aa964db.png"/>
          <p:cNvPicPr>
            <a:picLocks noChangeAspect="1"/>
          </p:cNvPicPr>
          <p:nvPr/>
        </p:nvPicPr>
        <p:blipFill>
          <a:blip r:embed="rId6"/>
          <a:srcRect t="-61" b="-61"/>
          <a:stretch/>
        </p:blipFill>
        <p:spPr>
          <a:xfrm>
            <a:off x="571500" y="4381805"/>
            <a:ext cx="3619195" cy="400507"/>
          </a:xfrm>
          <a:prstGeom prst="rect">
            <a:avLst/>
          </a:prstGeom>
        </p:spPr>
      </p:pic>
      <p:pic>
        <p:nvPicPr>
          <p:cNvPr id="14" name="Image 5" descr="gen-dedup-756bef8b7530fe4be5f87ad28aa964db.png"/>
          <p:cNvPicPr>
            <a:picLocks noChangeAspect="1"/>
          </p:cNvPicPr>
          <p:nvPr/>
        </p:nvPicPr>
        <p:blipFill>
          <a:blip r:embed="rId6"/>
          <a:srcRect t="-61" b="-61"/>
          <a:stretch/>
        </p:blipFill>
        <p:spPr>
          <a:xfrm>
            <a:off x="4286707" y="4381805"/>
            <a:ext cx="3619195" cy="400507"/>
          </a:xfrm>
          <a:prstGeom prst="rect">
            <a:avLst/>
          </a:prstGeom>
        </p:spPr>
      </p:pic>
      <p:pic>
        <p:nvPicPr>
          <p:cNvPr id="15" name="Image 6" descr="gen-dedup-ad050bd181681deaa825df6391a5dbeb.png"/>
          <p:cNvPicPr>
            <a:picLocks noChangeAspect="1"/>
          </p:cNvPicPr>
          <p:nvPr/>
        </p:nvPicPr>
        <p:blipFill>
          <a:blip r:embed="rId7"/>
          <a:srcRect t="-61" b="-61"/>
          <a:stretch/>
        </p:blipFill>
        <p:spPr>
          <a:xfrm>
            <a:off x="8001000" y="4381805"/>
            <a:ext cx="3619195" cy="400507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08 / 10</a:t>
            </a:r>
            <a:endParaRPr lang="en-US" sz="900" dirty="0"/>
          </a:p>
        </p:txBody>
      </p:sp>
      <p:sp>
        <p:nvSpPr>
          <p:cNvPr id="17" name="Text 8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컴프리헨션 — 한 줄로 끝내는 반복</a:t>
            </a:r>
            <a:endParaRPr lang="en-US" sz="3300" dirty="0"/>
          </a:p>
        </p:txBody>
      </p:sp>
      <p:sp>
        <p:nvSpPr>
          <p:cNvPr id="18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"리스트를 만들기 위해 빈 리스트 + for + append" 패턴을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줄로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300" dirty="0"/>
          </a:p>
        </p:txBody>
      </p:sp>
      <p:sp>
        <p:nvSpPr>
          <p:cNvPr id="19" name="Text 10"/>
          <p:cNvSpPr txBox="1"/>
          <p:nvPr/>
        </p:nvSpPr>
        <p:spPr>
          <a:xfrm>
            <a:off x="819302" y="2076602"/>
            <a:ext cx="50858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— for문 3줄</a:t>
            </a:r>
            <a:endParaRPr lang="en-US" sz="1100" dirty="0"/>
          </a:p>
        </p:txBody>
      </p:sp>
      <p:sp>
        <p:nvSpPr>
          <p:cNvPr id="20" name="Text 11"/>
          <p:cNvSpPr txBox="1"/>
          <p:nvPr/>
        </p:nvSpPr>
        <p:spPr>
          <a:xfrm>
            <a:off x="761695" y="2428646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squares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[]</a:t>
            </a:r>
            <a:endParaRPr lang="en-US" sz="1100" dirty="0"/>
          </a:p>
        </p:txBody>
      </p:sp>
      <p:sp>
        <p:nvSpPr>
          <p:cNvPr id="21" name="Text 12"/>
          <p:cNvSpPr txBox="1"/>
          <p:nvPr/>
        </p:nvSpPr>
        <p:spPr>
          <a:xfrm>
            <a:off x="761695" y="2681935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range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100" dirty="0"/>
          </a:p>
        </p:txBody>
      </p:sp>
      <p:sp>
        <p:nvSpPr>
          <p:cNvPr id="22" name="Text 13"/>
          <p:cNvSpPr txBox="1"/>
          <p:nvPr/>
        </p:nvSpPr>
        <p:spPr>
          <a:xfrm>
            <a:off x="761695" y="293522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squares.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(n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3" name="Text 14"/>
          <p:cNvSpPr txBox="1"/>
          <p:nvPr/>
        </p:nvSpPr>
        <p:spPr>
          <a:xfrm>
            <a:off x="761695" y="3322015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[0, 1, 4, 9, 16]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6581851" y="2076602"/>
            <a:ext cx="48956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— 컴프리헨션 1줄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6524244" y="2428646"/>
            <a:ext cx="49533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squares </a:t>
            </a:r>
            <a:r>
              <a:rPr lang="en-US" sz="16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[n</a:t>
            </a:r>
            <a:r>
              <a:rPr lang="en-US" sz="16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</a:t>
            </a:r>
            <a:r>
              <a:rPr lang="en-US" sz="16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6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</a:t>
            </a: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6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6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range</a:t>
            </a: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6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r>
              <a:rPr lang="en-US" sz="16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)]</a:t>
            </a:r>
            <a:endParaRPr lang="en-US" sz="1600" dirty="0"/>
          </a:p>
        </p:txBody>
      </p:sp>
      <p:sp>
        <p:nvSpPr>
          <p:cNvPr id="26" name="Text 17"/>
          <p:cNvSpPr txBox="1"/>
          <p:nvPr/>
        </p:nvSpPr>
        <p:spPr>
          <a:xfrm>
            <a:off x="6524244" y="2852014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[0, 1, 4, 9, 16]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6524244" y="3220517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 </a:t>
            </a: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표현식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for </a:t>
            </a:r>
            <a:r>
              <a:rPr lang="en-US" sz="1100" b="1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변수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 </a:t>
            </a: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컬렉션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]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761695" y="4496105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 조건 필터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490575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짝수만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761695" y="514075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nums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761695" y="5375758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%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==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761695" y="566836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→ [2, 4, 6]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4476902" y="4496105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문자열 가공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476902" y="490575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모두 대문자로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4476902" y="514075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[n.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upper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4476902" y="5375758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names]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4476902" y="566836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["KIM", "LEE", "PARK"]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8191195" y="4496105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dict comprehension</a:t>
            </a:r>
            <a:endParaRPr lang="en-US" sz="1100" dirty="0"/>
          </a:p>
        </p:txBody>
      </p:sp>
      <p:sp>
        <p:nvSpPr>
          <p:cNvPr id="39" name="Text 30"/>
          <p:cNvSpPr txBox="1"/>
          <p:nvPr/>
        </p:nvSpPr>
        <p:spPr>
          <a:xfrm>
            <a:off x="8191195" y="490575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{키: 값} 만들기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8191195" y="514075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{n: n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**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8191195" y="5375758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range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)}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8191195" y="566836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{0:0, 1:1, 2:4, 3:9}</a:t>
            </a:r>
            <a:endParaRPr lang="en-US" sz="1050" dirty="0"/>
          </a:p>
        </p:txBody>
      </p:sp>
      <p:sp>
        <p:nvSpPr>
          <p:cNvPr id="4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0F25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4286707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1904695"/>
            <a:ext cx="5333695" cy="4572000"/>
          </a:xfrm>
          <a:prstGeom prst="roundRect">
            <a:avLst>
              <a:gd name="adj" fmla="val 8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1986590740760cf5fac0f998b03c0f09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571500" y="1904695"/>
            <a:ext cx="5524805" cy="342900"/>
          </a:xfrm>
          <a:prstGeom prst="rect">
            <a:avLst/>
          </a:prstGeom>
        </p:spPr>
      </p:pic>
      <p:pic>
        <p:nvPicPr>
          <p:cNvPr id="11" name="Image 4" descr="gen-dedup-aec60622880378dd3614c817c2aaf42a.png"/>
          <p:cNvPicPr>
            <a:picLocks noChangeAspect="1"/>
          </p:cNvPicPr>
          <p:nvPr/>
        </p:nvPicPr>
        <p:blipFill>
          <a:blip r:embed="rId6"/>
          <a:srcRect t="-37" b="-37"/>
          <a:stretch/>
        </p:blipFill>
        <p:spPr>
          <a:xfrm>
            <a:off x="571500" y="4286707"/>
            <a:ext cx="5524805" cy="381305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743407" y="2029054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905256" y="2029054"/>
            <a:ext cx="95098" cy="9509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1067105" y="2029054"/>
            <a:ext cx="95098" cy="9509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09 / 10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· pip — 남의 코드 가져 쓰기</a:t>
            </a:r>
            <a:endParaRPr lang="en-US" sz="33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Python의 진짜 강점은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방대한 라이브러리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 pip로 설치하고 import로 씁니다.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333195" y="1990649"/>
            <a:ext cx="4572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terminal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38109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streamlit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2634386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pandas plotly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2887675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anthropic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23606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설치된 패키지 목록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48935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list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374263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freeze &gt; requirements.txt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837590" y="4381805"/>
            <a:ext cx="5067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4가지 패턴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476219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pandas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494507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pandas.DataFrame(...) — 전체 사용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185562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pandas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5368442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pd.DataFrame(...) — 별명 (관례)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560801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pandas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DataFrame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579089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DataFrame(...) — 특정 것만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6031382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datetime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datetime, timedelta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6534302" y="2095805"/>
            <a:ext cx="48956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과정에서 꼭 알아야 할 6개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6476695" y="2523744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streamlit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웹 UI 프레임워크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6476695" y="277154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streamlit as st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476695" y="3191256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표 형태 데이터 처리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3438144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pandas as pd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6476695" y="3857854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인터랙티브 차트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6476695" y="410565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plotly.express as px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6476695" y="4524451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Claude API 클라이언트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6476695" y="4772254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anthropic import Anthropic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6476695" y="5191049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requests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HTTP 요청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6476695" y="543885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requests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6476695" y="5857646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openpyxl</a:t>
            </a: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Excel 파일 읽기/쓰기</a:t>
            </a:r>
            <a:endParaRPr lang="en-US" sz="1100" dirty="0"/>
          </a:p>
        </p:txBody>
      </p:sp>
      <p:sp>
        <p:nvSpPr>
          <p:cNvPr id="45" name="Text 38"/>
          <p:cNvSpPr txBox="1"/>
          <p:nvPr/>
        </p:nvSpPr>
        <p:spPr>
          <a:xfrm>
            <a:off x="6476695" y="6105449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import openpyxl</a:t>
            </a:r>
            <a:endParaRPr lang="en-US" sz="9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858000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000"/>
          </a:p>
        </p:txBody>
      </p:sp>
      <p:sp>
        <p:nvSpPr>
          <p:cNvPr id="6" name="Shape 3"/>
          <p:cNvSpPr/>
          <p:nvPr/>
        </p:nvSpPr>
        <p:spPr>
          <a:xfrm>
            <a:off x="7715707" y="1904695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000"/>
          </a:p>
        </p:txBody>
      </p:sp>
      <p:sp>
        <p:nvSpPr>
          <p:cNvPr id="7" name="Shape 4"/>
          <p:cNvSpPr/>
          <p:nvPr/>
        </p:nvSpPr>
        <p:spPr>
          <a:xfrm>
            <a:off x="7715707" y="3476549"/>
            <a:ext cx="3905402" cy="1447495"/>
          </a:xfrm>
          <a:prstGeom prst="roundRect">
            <a:avLst>
              <a:gd name="adj" fmla="val 665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000"/>
          </a:p>
        </p:txBody>
      </p:sp>
      <p:sp>
        <p:nvSpPr>
          <p:cNvPr id="8" name="Shape 5"/>
          <p:cNvSpPr/>
          <p:nvPr/>
        </p:nvSpPr>
        <p:spPr>
          <a:xfrm>
            <a:off x="7715707" y="5048402"/>
            <a:ext cx="3905402" cy="1429207"/>
          </a:xfrm>
          <a:prstGeom prst="roundRect">
            <a:avLst>
              <a:gd name="adj" fmla="val 682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200000"/>
              </a:lnSpc>
            </a:pPr>
            <a:endParaRPr lang="ko-KR" altLang="en-US" sz="2000"/>
          </a:p>
        </p:txBody>
      </p:sp>
      <p:pic>
        <p:nvPicPr>
          <p:cNvPr id="9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c5dc842471877778e7d4e30cf992f0da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571500" y="1904695"/>
            <a:ext cx="6858000" cy="381305"/>
          </a:xfrm>
          <a:prstGeom prst="rect">
            <a:avLst/>
          </a:prstGeom>
        </p:spPr>
      </p:pic>
      <p:pic>
        <p:nvPicPr>
          <p:cNvPr id="12" name="Image 4" descr="gen-dedup-57e6126042fa849d737e62adc5e6e638.png"/>
          <p:cNvPicPr>
            <a:picLocks noChangeAspect="1"/>
          </p:cNvPicPr>
          <p:nvPr/>
        </p:nvPicPr>
        <p:blipFill>
          <a:blip r:embed="rId6"/>
          <a:srcRect l="-411" r="-411"/>
          <a:stretch/>
        </p:blipFill>
        <p:spPr>
          <a:xfrm>
            <a:off x="7715707" y="1904695"/>
            <a:ext cx="57607" cy="1447495"/>
          </a:xfrm>
          <a:prstGeom prst="rect">
            <a:avLst/>
          </a:prstGeom>
        </p:spPr>
      </p:pic>
      <p:pic>
        <p:nvPicPr>
          <p:cNvPr id="13" name="Image 5" descr="gen-dedup-7b83c4f0eeadb76aa38b9dae4347bcbe.png"/>
          <p:cNvPicPr>
            <a:picLocks noChangeAspect="1"/>
          </p:cNvPicPr>
          <p:nvPr/>
        </p:nvPicPr>
        <p:blipFill>
          <a:blip r:embed="rId7"/>
          <a:srcRect l="-411" r="-411"/>
          <a:stretch/>
        </p:blipFill>
        <p:spPr>
          <a:xfrm>
            <a:off x="7715707" y="3476549"/>
            <a:ext cx="57607" cy="144749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A · PYTHON · 10 / 10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 — try · except · finally</a:t>
            </a:r>
            <a:endParaRPr lang="en-US" sz="33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에러를 만나도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프로그램이 안 죽도록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API · 파일 · 사용자 입력에 필수.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2000707"/>
            <a:ext cx="6477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api_call.py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324405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Claude API 호출 — 실패할 수 있음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577694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try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5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283098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response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client.messages.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(...)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3084271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answer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response.content[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].text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432658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APIConnectionError: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761695" y="368594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answer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"네트워크 연결 실패"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4034333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RateLimitError: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761695" y="428762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answer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"요청 한도 초과 — 잠시 후 재시도"</a:t>
            </a:r>
            <a:endParaRPr lang="en-US" sz="1050" dirty="0"/>
          </a:p>
        </p:txBody>
      </p:sp>
      <p:sp>
        <p:nvSpPr>
          <p:cNvPr id="26" name="Text 18"/>
          <p:cNvSpPr txBox="1"/>
          <p:nvPr/>
        </p:nvSpPr>
        <p:spPr>
          <a:xfrm>
            <a:off x="761695" y="4636008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Exception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e: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761695" y="4889297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f"예상 못한 에러: {e}"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761695" y="514258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answer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None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549188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finally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5745175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"요청 종료 — 로그 기록"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6008218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try → 시도 / except → 실패 시 / finally → 무조건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7953451" y="2076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kern="0" spc="150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만나는 예외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7953451" y="2361895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ValueError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형변환 실패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7953451" y="2567635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KeyError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dict 키 없음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7953451" y="2773375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FileNotFoundError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파일 없음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7953451" y="2979115"/>
            <a:ext cx="36201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ZeroDivisionError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0으로 나눔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953451" y="3648456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일으키기 — raise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953451" y="3933749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spc="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00" spc="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age </a:t>
            </a:r>
            <a:r>
              <a:rPr lang="en-US" sz="1000" spc="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</a:t>
            </a:r>
            <a:r>
              <a:rPr lang="en-US" sz="1000" spc="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00" spc="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spc="100" dirty="0"/>
          </a:p>
        </p:txBody>
      </p:sp>
      <p:sp>
        <p:nvSpPr>
          <p:cNvPr id="39" name="Text 31"/>
          <p:cNvSpPr txBox="1"/>
          <p:nvPr/>
        </p:nvSpPr>
        <p:spPr>
          <a:xfrm>
            <a:off x="7953451" y="4156862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raise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ValueError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"음수 불가"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7963510" y="5219395"/>
            <a:ext cx="34674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규칙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7905902" y="5505602"/>
            <a:ext cx="3525012" cy="638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</a:t>
            </a: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예상되는 예외만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잡기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광범위한 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except:</a:t>
            </a: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단독은 금지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except 안에서 </a:t>
            </a: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+ 대체값</a:t>
            </a:r>
            <a:endParaRPr lang="en-US" sz="10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52" y="0"/>
            <a:ext cx="12191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572500" y="-952805"/>
            <a:ext cx="4572000" cy="4572000"/>
          </a:xfrm>
          <a:prstGeom prst="ellipse">
            <a:avLst/>
          </a:prstGeom>
          <a:solidFill>
            <a:srgbClr val="FF4B4B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01707" y="3619195"/>
            <a:ext cx="2667305" cy="2667305"/>
          </a:xfrm>
          <a:prstGeom prst="ellipse">
            <a:avLst/>
          </a:prstGeom>
          <a:solidFill>
            <a:srgbClr val="90CDF4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gen-dedup-10458ade240e681ae3516d2f99b560f0.png"/>
          <p:cNvPicPr>
            <a:picLocks noChangeAspect="1"/>
          </p:cNvPicPr>
          <p:nvPr/>
        </p:nvPicPr>
        <p:blipFill>
          <a:blip r:embed="rId2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1" descr="gen-dedup-daa38de7c4e222d466f0c08484d2c0b2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61695" y="1143000"/>
            <a:ext cx="1904695" cy="342900"/>
          </a:xfrm>
          <a:prstGeom prst="roundRect">
            <a:avLst>
              <a:gd name="adj" fmla="val 266667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0c8a236fc68afa327fc93d0adffd2507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761695" y="4238244"/>
            <a:ext cx="761695" cy="384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61695" y="1143000"/>
            <a:ext cx="1905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· B</a:t>
            </a:r>
            <a:endParaRPr lang="en-US" sz="1000" dirty="0"/>
          </a:p>
        </p:txBody>
      </p:sp>
      <p:sp>
        <p:nvSpPr>
          <p:cNvPr id="11" name="Text 6"/>
          <p:cNvSpPr txBox="1"/>
          <p:nvPr/>
        </p:nvSpPr>
        <p:spPr>
          <a:xfrm>
            <a:off x="761695" y="1762049"/>
            <a:ext cx="8572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ESSENTIALS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2190902"/>
            <a:ext cx="8572500" cy="1848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6600" dirty="0"/>
          </a:p>
          <a:p>
            <a:pPr marL="0" indent="0" algn="l">
              <a:buNone/>
            </a:pPr>
            <a:r>
              <a:rPr lang="en-US" sz="6600" b="1" kern="0" spc="-2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문법 10선</a:t>
            </a:r>
            <a:endParaRPr lang="en-US" sz="66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4429354"/>
            <a:ext cx="85725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한 파일로 — 데이터 앱이 웹이 됩니다.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4B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</a:t>
            </a:r>
            <a:r>
              <a:rPr lang="en-US" sz="16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글자로 모든 위젯을 호출하세요.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5715000"/>
            <a:ext cx="10668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· text · input · select · button · data · chart · layout · session_state</a:t>
            </a:r>
            <a:endParaRPr lang="en-US" sz="1200" dirty="0"/>
          </a:p>
        </p:txBody>
      </p:sp>
      <p:sp>
        <p:nvSpPr>
          <p:cNvPr id="1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0F25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571500" y="4286707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0F254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4286707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852f05cddaaabf2b87065a04f2de43b3.png"/>
          <p:cNvPicPr>
            <a:picLocks noChangeAspect="1"/>
          </p:cNvPicPr>
          <p:nvPr/>
        </p:nvPicPr>
        <p:blipFill>
          <a:blip r:embed="rId5"/>
          <a:srcRect t="-37" b="-37"/>
          <a:stretch/>
        </p:blipFill>
        <p:spPr>
          <a:xfrm>
            <a:off x="571500" y="1904695"/>
            <a:ext cx="5524805" cy="381305"/>
          </a:xfrm>
          <a:prstGeom prst="rect">
            <a:avLst/>
          </a:prstGeom>
        </p:spPr>
      </p:pic>
      <p:pic>
        <p:nvPicPr>
          <p:cNvPr id="12" name="Image 4" descr="gen-dedup-c20c57c26d1ebf8ff3ecae8604eecb0a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6286500" y="1904695"/>
            <a:ext cx="5333695" cy="381305"/>
          </a:xfrm>
          <a:prstGeom prst="rect">
            <a:avLst/>
          </a:prstGeom>
        </p:spPr>
      </p:pic>
      <p:pic>
        <p:nvPicPr>
          <p:cNvPr id="13" name="Image 5" descr="gen-dedup-0e5a0302b76f895043f70c1d4f7d888a.png"/>
          <p:cNvPicPr>
            <a:picLocks noChangeAspect="1"/>
          </p:cNvPicPr>
          <p:nvPr/>
        </p:nvPicPr>
        <p:blipFill>
          <a:blip r:embed="rId7"/>
          <a:srcRect t="-37" b="-37"/>
          <a:stretch/>
        </p:blipFill>
        <p:spPr>
          <a:xfrm>
            <a:off x="571500" y="4286707"/>
            <a:ext cx="5524805" cy="381305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01 / 10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→ 실행까지 60초</a:t>
            </a:r>
            <a:endParaRPr lang="en-US" sz="33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HTML도 CSS도 React도 없이 —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파일 하나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곧 웹 앱입니다.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2000707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 · 설치</a:t>
            </a:r>
            <a:endParaRPr lang="en-US" sz="100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428646"/>
            <a:ext cx="5143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streamlit</a:t>
            </a:r>
            <a:endParaRPr lang="en-US" sz="120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84012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가상환경 권장 (Mac/Linux):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3063240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python -m venv venv</a:t>
            </a:r>
            <a:endParaRPr lang="en-US" sz="10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3316529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source venv/bin/activate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56981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pip install streamlit</a:t>
            </a:r>
            <a:endParaRPr lang="en-US" sz="1000" dirty="0"/>
          </a:p>
        </p:txBody>
      </p:sp>
      <p:sp>
        <p:nvSpPr>
          <p:cNvPr id="23" name="Text 15"/>
          <p:cNvSpPr txBox="1"/>
          <p:nvPr/>
        </p:nvSpPr>
        <p:spPr>
          <a:xfrm>
            <a:off x="6476695" y="2000707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 · app.py 작성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6476695" y="2428646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streamlit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6476695" y="2758745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"안녕, Streamlit!"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6476695" y="3012034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"첫 번째 데이터 앱"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6476695" y="3265322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text_input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"이름?"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6476695" y="3518611"/>
            <a:ext cx="49533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f"환영합니다, {name}님"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4381805"/>
            <a:ext cx="5143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 · 실행 ★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4809744"/>
            <a:ext cx="51435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 streamlit run app.py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525048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자동으로 브라우저 열림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761695" y="5472684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 URL: http://localhost:8501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761695" y="569579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Network URL: http://192.168.x.x:8501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99480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파일 저장 시 자동 새로고침 ✓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6686093" y="4457700"/>
            <a:ext cx="47439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Streamlit의 정신모델</a:t>
            </a:r>
            <a:endParaRPr lang="en-US" sz="1000" dirty="0"/>
          </a:p>
        </p:txBody>
      </p:sp>
      <p:pic>
        <p:nvPicPr>
          <p:cNvPr id="36" name="Image 6" descr="gen-dedup-b09fe528e574ef237096b00c7a38957c.png"/>
          <p:cNvPicPr>
            <a:picLocks noChangeAspect="1"/>
          </p:cNvPicPr>
          <p:nvPr/>
        </p:nvPicPr>
        <p:blipFill>
          <a:blip r:embed="rId8"/>
          <a:srcRect l="-7192" r="-7192"/>
          <a:stretch/>
        </p:blipFill>
        <p:spPr>
          <a:xfrm>
            <a:off x="6476695" y="4457700"/>
            <a:ext cx="152705" cy="13350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76695" y="4762195"/>
            <a:ext cx="4953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위에서 아래로 </a:t>
            </a: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실행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 결과가 그대로 화면이 된다.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476695" y="5291633"/>
            <a:ext cx="4953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사용자가 위젯을 만지면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파일 전체를 다시 실행한다.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6476695" y="5821985"/>
            <a:ext cx="4953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4B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"이벤트 핸들러"라는 개념이 없다 —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그래서 React보다 훨씬 쉽다.</a:t>
            </a:r>
            <a:endParaRPr lang="en-US" sz="100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0963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858000" y="1904695"/>
            <a:ext cx="4781398" cy="4591202"/>
          </a:xfrm>
          <a:prstGeom prst="roundRect">
            <a:avLst>
              <a:gd name="adj" fmla="val 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8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9" name="Image 3" descr="gen-dedup-31f753df67723ab53cb37b54cff7f489.png"/>
          <p:cNvPicPr>
            <a:picLocks noChangeAspect="1"/>
          </p:cNvPicPr>
          <p:nvPr/>
        </p:nvPicPr>
        <p:blipFill>
          <a:blip r:embed="rId5"/>
          <a:srcRect t="-37" b="-37"/>
          <a:stretch/>
        </p:blipFill>
        <p:spPr>
          <a:xfrm>
            <a:off x="571500" y="1904695"/>
            <a:ext cx="6096305" cy="381305"/>
          </a:xfrm>
          <a:prstGeom prst="rect">
            <a:avLst/>
          </a:prstGeom>
        </p:spPr>
      </p:pic>
      <p:pic>
        <p:nvPicPr>
          <p:cNvPr id="10" name="Image 4" descr="gen-dedup-e56cc95d0d2ccf78c8bbe3f833742f3b.png"/>
          <p:cNvPicPr>
            <a:picLocks noChangeAspect="1"/>
          </p:cNvPicPr>
          <p:nvPr/>
        </p:nvPicPr>
        <p:blipFill>
          <a:blip r:embed="rId6"/>
          <a:srcRect t="-3" b="-3"/>
          <a:stretch/>
        </p:blipFill>
        <p:spPr>
          <a:xfrm>
            <a:off x="6858000" y="1904695"/>
            <a:ext cx="4762195" cy="3429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7048195" y="3952951"/>
            <a:ext cx="4381805" cy="381305"/>
          </a:xfrm>
          <a:prstGeom prst="roundRect">
            <a:avLst>
              <a:gd name="adj" fmla="val 47962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5"/>
          <p:cNvSpPr/>
          <p:nvPr/>
        </p:nvSpPr>
        <p:spPr>
          <a:xfrm>
            <a:off x="7048195" y="4496105"/>
            <a:ext cx="4419295" cy="400507"/>
          </a:xfrm>
          <a:prstGeom prst="roundRect">
            <a:avLst>
              <a:gd name="adj" fmla="val 43488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7048195" y="4496105"/>
            <a:ext cx="38405" cy="400507"/>
          </a:xfrm>
          <a:prstGeom prst="roundRect">
            <a:avLst>
              <a:gd name="adj" fmla="val 45351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7048195" y="4990795"/>
            <a:ext cx="4419295" cy="400507"/>
          </a:xfrm>
          <a:prstGeom prst="roundRect">
            <a:avLst>
              <a:gd name="adj" fmla="val 43488"/>
            </a:avLst>
          </a:prstGeom>
          <a:solidFill>
            <a:srgbClr val="DBEAF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8"/>
          <p:cNvSpPr/>
          <p:nvPr/>
        </p:nvSpPr>
        <p:spPr>
          <a:xfrm>
            <a:off x="7048195" y="4990795"/>
            <a:ext cx="38405" cy="400507"/>
          </a:xfrm>
          <a:prstGeom prst="roundRect">
            <a:avLst>
              <a:gd name="adj" fmla="val 453512"/>
            </a:avLst>
          </a:prstGeom>
          <a:solidFill>
            <a:srgbClr val="2B6CB0"/>
          </a:solidFill>
          <a:ln w="12700">
            <a:solidFill>
              <a:srgbClr val="2B6CB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7048195" y="5486400"/>
            <a:ext cx="4419295" cy="400507"/>
          </a:xfrm>
          <a:prstGeom prst="roundRect">
            <a:avLst>
              <a:gd name="adj" fmla="val 43488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7048195" y="5486400"/>
            <a:ext cx="38405" cy="400507"/>
          </a:xfrm>
          <a:prstGeom prst="roundRect">
            <a:avLst>
              <a:gd name="adj" fmla="val 453512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1"/>
          <p:cNvSpPr/>
          <p:nvPr/>
        </p:nvSpPr>
        <p:spPr>
          <a:xfrm>
            <a:off x="7048195" y="5982005"/>
            <a:ext cx="4419295" cy="400507"/>
          </a:xfrm>
          <a:prstGeom prst="roundRect">
            <a:avLst>
              <a:gd name="adj" fmla="val 43488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2"/>
          <p:cNvSpPr/>
          <p:nvPr/>
        </p:nvSpPr>
        <p:spPr>
          <a:xfrm>
            <a:off x="7048195" y="5982005"/>
            <a:ext cx="38405" cy="400507"/>
          </a:xfrm>
          <a:prstGeom prst="roundRect">
            <a:avLst>
              <a:gd name="adj" fmla="val 453512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3"/>
          <p:cNvSpPr/>
          <p:nvPr/>
        </p:nvSpPr>
        <p:spPr>
          <a:xfrm>
            <a:off x="7010705" y="2038198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4"/>
          <p:cNvSpPr/>
          <p:nvPr/>
        </p:nvSpPr>
        <p:spPr>
          <a:xfrm>
            <a:off x="7153351" y="2038198"/>
            <a:ext cx="75895" cy="758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5"/>
          <p:cNvSpPr/>
          <p:nvPr/>
        </p:nvSpPr>
        <p:spPr>
          <a:xfrm>
            <a:off x="7295998" y="2038198"/>
            <a:ext cx="75895" cy="7589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02 / 10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 출력 — 6가지 형태</a:t>
            </a:r>
            <a:endParaRPr lang="en-US" sz="33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제목·본문·코드·메시지를 한 줄로 출력합니다.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2000707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text_demo.py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242864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제목 — 페이지 최상단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2641702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"전력 사용량 대시보드"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291236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섹션 헤더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312633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header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"1. 월별 추이"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3339389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subheader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"광주지역"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3610051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만능 출력 — write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382310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"문자열도 OK"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761695" y="403707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DataFrame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61695" y="4250131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 </a:t>
            </a: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dict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61695" y="452079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마크다운 — 가장 자주 사용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61695" y="4733849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markdown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"**굵게** 와 *기울임*"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61695" y="5004511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⑤ 코드 블록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61695" y="5217566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"print('hi')"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language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"python"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61695" y="5488229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⑥ 상태 메시지 (4종)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761695" y="570128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"저장 완료"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"안내"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761695" y="5915254"/>
            <a:ext cx="5715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warning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"주의"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"실패"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524598" y="2000707"/>
            <a:ext cx="4000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localhost:8501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7048195" y="2428646"/>
            <a:ext cx="4381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사용량 대시보드</a:t>
            </a:r>
            <a:endParaRPr lang="en-US" sz="1900" dirty="0"/>
          </a:p>
        </p:txBody>
      </p:sp>
      <p:sp>
        <p:nvSpPr>
          <p:cNvPr id="45" name="Text 38"/>
          <p:cNvSpPr txBox="1"/>
          <p:nvPr/>
        </p:nvSpPr>
        <p:spPr>
          <a:xfrm>
            <a:off x="7048195" y="2857500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월별 추이</a:t>
            </a:r>
            <a:endParaRPr lang="en-US" sz="1500" dirty="0"/>
          </a:p>
        </p:txBody>
      </p:sp>
      <p:sp>
        <p:nvSpPr>
          <p:cNvPr id="46" name="Text 39"/>
          <p:cNvSpPr txBox="1"/>
          <p:nvPr/>
        </p:nvSpPr>
        <p:spPr>
          <a:xfrm>
            <a:off x="7048195" y="3191256"/>
            <a:ext cx="4381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광주지역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7048195" y="3552444"/>
            <a:ext cx="4381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굵게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와 </a:t>
            </a:r>
            <a:r>
              <a:rPr lang="en-US" sz="1000" i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기울임</a:t>
            </a:r>
            <a:endParaRPr lang="en-US" sz="1000" dirty="0"/>
          </a:p>
        </p:txBody>
      </p:sp>
      <p:sp>
        <p:nvSpPr>
          <p:cNvPr id="48" name="Text 41"/>
          <p:cNvSpPr txBox="1"/>
          <p:nvPr/>
        </p:nvSpPr>
        <p:spPr>
          <a:xfrm>
            <a:off x="7162495" y="4048049"/>
            <a:ext cx="4153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'hi'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7258507" y="4591202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 완료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7258507" y="5086807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안내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7258507" y="5581498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7258507" y="6077102"/>
            <a:ext cx="40389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</a:t>
            </a:r>
            <a:endParaRPr lang="en-US" sz="1000" dirty="0"/>
          </a:p>
        </p:txBody>
      </p:sp>
      <p:sp>
        <p:nvSpPr>
          <p:cNvPr id="5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44007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528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286707"/>
            <a:ext cx="5544007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6286500" y="4286707"/>
            <a:ext cx="53528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9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5bb71595a563b129fbb18f89f46a47c3.png"/>
          <p:cNvPicPr>
            <a:picLocks noChangeAspect="1"/>
          </p:cNvPicPr>
          <p:nvPr/>
        </p:nvPicPr>
        <p:blipFill>
          <a:blip r:embed="rId5"/>
          <a:srcRect l="-39" r="-39"/>
          <a:stretch/>
        </p:blipFill>
        <p:spPr>
          <a:xfrm>
            <a:off x="571500" y="1904695"/>
            <a:ext cx="5524805" cy="4187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3429000"/>
            <a:ext cx="5162702" cy="495605"/>
          </a:xfrm>
          <a:prstGeom prst="roundRect">
            <a:avLst>
              <a:gd name="adj" fmla="val 425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3" name="Image 4" descr="gen-dedup-208c88e7897a92864ea7c706043f6a17.png"/>
          <p:cNvPicPr>
            <a:picLocks noChangeAspect="1"/>
          </p:cNvPicPr>
          <p:nvPr/>
        </p:nvPicPr>
        <p:blipFill>
          <a:blip r:embed="rId6"/>
          <a:srcRect l="-34" r="-34"/>
          <a:stretch/>
        </p:blipFill>
        <p:spPr>
          <a:xfrm>
            <a:off x="6286500" y="1904695"/>
            <a:ext cx="5333695" cy="4187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476695" y="3429000"/>
            <a:ext cx="5162702" cy="495605"/>
          </a:xfrm>
          <a:prstGeom prst="roundRect">
            <a:avLst>
              <a:gd name="adj" fmla="val 425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5" name="Image 5" descr="gen-dedup-f84913f0325d1a970dccf36da12a93d1.png"/>
          <p:cNvPicPr>
            <a:picLocks noChangeAspect="1"/>
          </p:cNvPicPr>
          <p:nvPr/>
        </p:nvPicPr>
        <p:blipFill>
          <a:blip r:embed="rId7"/>
          <a:srcRect l="-39" r="-39"/>
          <a:stretch/>
        </p:blipFill>
        <p:spPr>
          <a:xfrm>
            <a:off x="571500" y="4286707"/>
            <a:ext cx="5524805" cy="418795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61695" y="5524805"/>
            <a:ext cx="5162702" cy="875995"/>
          </a:xfrm>
          <a:prstGeom prst="roundRect">
            <a:avLst>
              <a:gd name="adj" fmla="val 1361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7" name="Image 6" descr="gen-dedup-fbaaa03e3c85844095aeda20a49bbc60.png"/>
          <p:cNvPicPr>
            <a:picLocks noChangeAspect="1"/>
          </p:cNvPicPr>
          <p:nvPr/>
        </p:nvPicPr>
        <p:blipFill>
          <a:blip r:embed="rId8"/>
          <a:srcRect l="-34" r="-34"/>
          <a:stretch/>
        </p:blipFill>
        <p:spPr>
          <a:xfrm>
            <a:off x="6286500" y="4286707"/>
            <a:ext cx="5333695" cy="418795"/>
          </a:xfrm>
          <a:prstGeom prst="rect">
            <a:avLst/>
          </a:prstGeom>
        </p:spPr>
      </p:pic>
      <p:pic>
        <p:nvPicPr>
          <p:cNvPr id="18" name="Image 7" descr="gen-dedup-7e76d1be62a83c4387bed6a3412a4efb.png"/>
          <p:cNvPicPr>
            <a:picLocks noChangeAspect="1"/>
          </p:cNvPicPr>
          <p:nvPr/>
        </p:nvPicPr>
        <p:blipFill>
          <a:blip r:embed="rId9"/>
          <a:srcRect t="-397" b="-397"/>
          <a:stretch/>
        </p:blipFill>
        <p:spPr>
          <a:xfrm>
            <a:off x="6476695" y="5715000"/>
            <a:ext cx="4953305" cy="57607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11144707" y="3495751"/>
            <a:ext cx="342900" cy="342900"/>
          </a:xfrm>
          <a:prstGeom prst="roundRect">
            <a:avLst>
              <a:gd name="adj" fmla="val 5925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20" name="Image 8" descr="gen-dedup-03d4f531e0395c07eb10f3aba70d6e06.png"/>
          <p:cNvPicPr>
            <a:picLocks noChangeAspect="1"/>
          </p:cNvPicPr>
          <p:nvPr/>
        </p:nvPicPr>
        <p:blipFill>
          <a:blip r:embed="rId10"/>
          <a:srcRect t="-409" b="-409"/>
          <a:stretch/>
        </p:blipFill>
        <p:spPr>
          <a:xfrm>
            <a:off x="6476695" y="5715000"/>
            <a:ext cx="1790395" cy="57607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8172907" y="5639105"/>
            <a:ext cx="209398" cy="209398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11"/>
          <p:cNvSpPr/>
          <p:nvPr/>
        </p:nvSpPr>
        <p:spPr>
          <a:xfrm>
            <a:off x="8001000" y="5333695"/>
            <a:ext cx="571500" cy="228600"/>
          </a:xfrm>
          <a:prstGeom prst="roundRect">
            <a:avLst>
              <a:gd name="adj" fmla="val 133333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Text 12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03 / 10</a:t>
            </a:r>
            <a:endParaRPr lang="en-US" sz="900" dirty="0"/>
          </a:p>
        </p:txBody>
      </p:sp>
      <p:sp>
        <p:nvSpPr>
          <p:cNvPr id="24" name="Text 13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위젯 — 사용자가 값을 넣는 곳</a:t>
            </a:r>
            <a:endParaRPr lang="en-US" sz="3300" dirty="0"/>
          </a:p>
        </p:txBody>
      </p:sp>
      <p:sp>
        <p:nvSpPr>
          <p:cNvPr id="25" name="Text 14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반환값을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변수에 받아서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곧바로 사용 — 그게 전부입니다.</a:t>
            </a:r>
            <a:endParaRPr lang="en-US" sz="1300" dirty="0"/>
          </a:p>
        </p:txBody>
      </p:sp>
      <p:sp>
        <p:nvSpPr>
          <p:cNvPr id="26" name="Text 15"/>
          <p:cNvSpPr txBox="1"/>
          <p:nvPr/>
        </p:nvSpPr>
        <p:spPr>
          <a:xfrm>
            <a:off x="761695" y="2018995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st.text_input() — 한 줄 문자</a:t>
            </a:r>
            <a:endParaRPr lang="en-US" sz="1400" dirty="0"/>
          </a:p>
        </p:txBody>
      </p:sp>
      <p:sp>
        <p:nvSpPr>
          <p:cNvPr id="27" name="Text 16"/>
          <p:cNvSpPr txBox="1"/>
          <p:nvPr/>
        </p:nvSpPr>
        <p:spPr>
          <a:xfrm>
            <a:off x="761695" y="247619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text_input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28" name="Text 17"/>
          <p:cNvSpPr txBox="1"/>
          <p:nvPr/>
        </p:nvSpPr>
        <p:spPr>
          <a:xfrm>
            <a:off x="761695" y="2699309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"이름"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value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placeholder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"홍길동"</a:t>
            </a:r>
            <a:endParaRPr lang="en-US" sz="1050" dirty="0"/>
          </a:p>
        </p:txBody>
      </p:sp>
      <p:sp>
        <p:nvSpPr>
          <p:cNvPr id="29" name="Text 18"/>
          <p:cNvSpPr txBox="1"/>
          <p:nvPr/>
        </p:nvSpPr>
        <p:spPr>
          <a:xfrm>
            <a:off x="761695" y="292242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0" name="Text 19"/>
          <p:cNvSpPr txBox="1"/>
          <p:nvPr/>
        </p:nvSpPr>
        <p:spPr>
          <a:xfrm>
            <a:off x="914400" y="3429000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홍길동</a:t>
            </a:r>
            <a:endParaRPr lang="en-US" sz="1100" dirty="0"/>
          </a:p>
        </p:txBody>
      </p:sp>
      <p:sp>
        <p:nvSpPr>
          <p:cNvPr id="31" name="Text 20"/>
          <p:cNvSpPr txBox="1"/>
          <p:nvPr/>
        </p:nvSpPr>
        <p:spPr>
          <a:xfrm>
            <a:off x="6476695" y="2018995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st.number_input() — 숫자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6476695" y="24761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number_input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3" name="Text 22"/>
          <p:cNvSpPr txBox="1"/>
          <p:nvPr/>
        </p:nvSpPr>
        <p:spPr>
          <a:xfrm>
            <a:off x="6476695" y="269930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"나이"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min_value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max_value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step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34" name="Text 23"/>
          <p:cNvSpPr txBox="1"/>
          <p:nvPr/>
        </p:nvSpPr>
        <p:spPr>
          <a:xfrm>
            <a:off x="6476695" y="2922422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5" name="Text 24"/>
          <p:cNvSpPr txBox="1"/>
          <p:nvPr/>
        </p:nvSpPr>
        <p:spPr>
          <a:xfrm>
            <a:off x="6629400" y="3429000"/>
            <a:ext cx="41916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100" dirty="0"/>
          </a:p>
        </p:txBody>
      </p:sp>
      <p:sp>
        <p:nvSpPr>
          <p:cNvPr id="36" name="Text 25"/>
          <p:cNvSpPr txBox="1"/>
          <p:nvPr/>
        </p:nvSpPr>
        <p:spPr>
          <a:xfrm>
            <a:off x="11144707" y="3495751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＋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761695" y="4401007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st.text_area() — 여러 줄 문자</a:t>
            </a:r>
            <a:endParaRPr lang="en-US" sz="1400" dirty="0"/>
          </a:p>
        </p:txBody>
      </p:sp>
      <p:sp>
        <p:nvSpPr>
          <p:cNvPr id="38" name="Text 27"/>
          <p:cNvSpPr txBox="1"/>
          <p:nvPr/>
        </p:nvSpPr>
        <p:spPr>
          <a:xfrm>
            <a:off x="761695" y="4858207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memo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text_area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"메모"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height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914400" y="5639105"/>
            <a:ext cx="4953305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회의 핵심: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1) Vibe coding 도입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2) Day 2까지 API 완성</a:t>
            </a:r>
            <a:endParaRPr lang="en-US" sz="1050" dirty="0"/>
          </a:p>
        </p:txBody>
      </p:sp>
      <p:sp>
        <p:nvSpPr>
          <p:cNvPr id="40" name="Text 29"/>
          <p:cNvSpPr txBox="1"/>
          <p:nvPr/>
        </p:nvSpPr>
        <p:spPr>
          <a:xfrm>
            <a:off x="6476695" y="4401007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st.slider() — 범위 선택</a:t>
            </a:r>
            <a:endParaRPr lang="en-US" sz="1400" dirty="0"/>
          </a:p>
        </p:txBody>
      </p:sp>
      <p:sp>
        <p:nvSpPr>
          <p:cNvPr id="41" name="Text 30"/>
          <p:cNvSpPr txBox="1"/>
          <p:nvPr/>
        </p:nvSpPr>
        <p:spPr>
          <a:xfrm>
            <a:off x="6476695" y="4858207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temp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slider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"온도"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36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42" name="Text 31"/>
          <p:cNvSpPr txBox="1"/>
          <p:nvPr/>
        </p:nvSpPr>
        <p:spPr>
          <a:xfrm>
            <a:off x="8001000" y="5333695"/>
            <a:ext cx="571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36</a:t>
            </a:r>
            <a:endParaRPr lang="en-US" sz="1050" dirty="0"/>
          </a:p>
        </p:txBody>
      </p:sp>
      <p:sp>
        <p:nvSpPr>
          <p:cNvPr id="43" name="Text 32"/>
          <p:cNvSpPr txBox="1"/>
          <p:nvPr/>
        </p:nvSpPr>
        <p:spPr>
          <a:xfrm>
            <a:off x="6476695" y="5952744"/>
            <a:ext cx="49533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~ 100</a:t>
            </a:r>
            <a:endParaRPr lang="en-US" sz="105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44007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528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286707"/>
            <a:ext cx="5544007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6286500" y="4286707"/>
            <a:ext cx="5352898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9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10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1" name="Image 3" descr="gen-dedup-5bb71595a563b129fbb18f89f46a47c3.png"/>
          <p:cNvPicPr>
            <a:picLocks noChangeAspect="1"/>
          </p:cNvPicPr>
          <p:nvPr/>
        </p:nvPicPr>
        <p:blipFill>
          <a:blip r:embed="rId5"/>
          <a:srcRect l="-39" r="-39"/>
          <a:stretch/>
        </p:blipFill>
        <p:spPr>
          <a:xfrm>
            <a:off x="571500" y="1904695"/>
            <a:ext cx="5524805" cy="4187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3429000"/>
            <a:ext cx="5162702" cy="495605"/>
          </a:xfrm>
          <a:prstGeom prst="roundRect">
            <a:avLst>
              <a:gd name="adj" fmla="val 425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3" name="Image 4" descr="gen-dedup-208c88e7897a92864ea7c706043f6a17.png"/>
          <p:cNvPicPr>
            <a:picLocks noChangeAspect="1"/>
          </p:cNvPicPr>
          <p:nvPr/>
        </p:nvPicPr>
        <p:blipFill>
          <a:blip r:embed="rId6"/>
          <a:srcRect l="-34" r="-34"/>
          <a:stretch/>
        </p:blipFill>
        <p:spPr>
          <a:xfrm>
            <a:off x="6286500" y="1904695"/>
            <a:ext cx="5333695" cy="41879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6476695" y="3429000"/>
            <a:ext cx="5162702" cy="495605"/>
          </a:xfrm>
          <a:prstGeom prst="roundRect">
            <a:avLst>
              <a:gd name="adj" fmla="val 425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5" name="Image 5" descr="gen-dedup-f84913f0325d1a970dccf36da12a93d1.png"/>
          <p:cNvPicPr>
            <a:picLocks noChangeAspect="1"/>
          </p:cNvPicPr>
          <p:nvPr/>
        </p:nvPicPr>
        <p:blipFill>
          <a:blip r:embed="rId7"/>
          <a:srcRect l="-39" r="-39"/>
          <a:stretch/>
        </p:blipFill>
        <p:spPr>
          <a:xfrm>
            <a:off x="571500" y="4286707"/>
            <a:ext cx="5524805" cy="418795"/>
          </a:xfrm>
          <a:prstGeom prst="rect">
            <a:avLst/>
          </a:prstGeom>
        </p:spPr>
      </p:pic>
      <p:pic>
        <p:nvPicPr>
          <p:cNvPr id="16" name="Image 6" descr="gen-dedup-fbaaa03e3c85844095aeda20a49bbc60.png"/>
          <p:cNvPicPr>
            <a:picLocks noChangeAspect="1"/>
          </p:cNvPicPr>
          <p:nvPr/>
        </p:nvPicPr>
        <p:blipFill>
          <a:blip r:embed="rId8"/>
          <a:srcRect l="-34" r="-34"/>
          <a:stretch/>
        </p:blipFill>
        <p:spPr>
          <a:xfrm>
            <a:off x="6286500" y="4286707"/>
            <a:ext cx="5333695" cy="418795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6629400" y="3524098"/>
            <a:ext cx="571500" cy="267005"/>
          </a:xfrm>
          <a:prstGeom prst="roundRect">
            <a:avLst>
              <a:gd name="adj" fmla="val 342465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9"/>
          <p:cNvSpPr/>
          <p:nvPr/>
        </p:nvSpPr>
        <p:spPr>
          <a:xfrm>
            <a:off x="7258507" y="3524098"/>
            <a:ext cx="571500" cy="267005"/>
          </a:xfrm>
          <a:prstGeom prst="roundRect">
            <a:avLst>
              <a:gd name="adj" fmla="val 342465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0"/>
          <p:cNvSpPr/>
          <p:nvPr/>
        </p:nvSpPr>
        <p:spPr>
          <a:xfrm>
            <a:off x="761695" y="5715000"/>
            <a:ext cx="209398" cy="209398"/>
          </a:xfrm>
          <a:prstGeom prst="ellipse">
            <a:avLst/>
          </a:prstGeom>
          <a:solidFill>
            <a:srgbClr val="FF4B4B"/>
          </a:solidFill>
          <a:ln w="25400">
            <a:solidFill>
              <a:srgbClr val="FF4B4B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Shape 11"/>
          <p:cNvSpPr/>
          <p:nvPr/>
        </p:nvSpPr>
        <p:spPr>
          <a:xfrm>
            <a:off x="1904695" y="5715000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1" name="Shape 12"/>
          <p:cNvSpPr/>
          <p:nvPr/>
        </p:nvSpPr>
        <p:spPr>
          <a:xfrm>
            <a:off x="3047695" y="5715000"/>
            <a:ext cx="209398" cy="20939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2" name="Shape 13"/>
          <p:cNvSpPr/>
          <p:nvPr/>
        </p:nvSpPr>
        <p:spPr>
          <a:xfrm>
            <a:off x="6476695" y="5715000"/>
            <a:ext cx="209398" cy="209398"/>
          </a:xfrm>
          <a:prstGeom prst="roundRect">
            <a:avLst>
              <a:gd name="adj" fmla="val 158793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3" name="Shape 14"/>
          <p:cNvSpPr/>
          <p:nvPr/>
        </p:nvSpPr>
        <p:spPr>
          <a:xfrm>
            <a:off x="8953805" y="5734202"/>
            <a:ext cx="457200" cy="228600"/>
          </a:xfrm>
          <a:prstGeom prst="roundRect">
            <a:avLst>
              <a:gd name="adj" fmla="val 400000"/>
            </a:avLst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Shape 15"/>
          <p:cNvSpPr/>
          <p:nvPr/>
        </p:nvSpPr>
        <p:spPr>
          <a:xfrm>
            <a:off x="800100" y="5753405"/>
            <a:ext cx="95098" cy="950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5" name="Shape 16"/>
          <p:cNvSpPr/>
          <p:nvPr/>
        </p:nvSpPr>
        <p:spPr>
          <a:xfrm>
            <a:off x="9201607" y="5753405"/>
            <a:ext cx="190195" cy="19019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6" name="Text 1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04 / 10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위젯 — 옵션 중에서 고르기</a:t>
            </a:r>
            <a:endParaRPr lang="en-US" sz="3300" dirty="0"/>
          </a:p>
        </p:txBody>
      </p:sp>
      <p:sp>
        <p:nvSpPr>
          <p:cNvPr id="28" name="Text 1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필터·옵션·체크박스 — 4가지 위젯으로 모든 선택 UI 처리.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761695" y="2018995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st.selectbox() — 하나 선택 (드롭다운)</a:t>
            </a:r>
            <a:endParaRPr lang="en-US" sz="1400" dirty="0"/>
          </a:p>
        </p:txBody>
      </p:sp>
      <p:sp>
        <p:nvSpPr>
          <p:cNvPr id="30" name="Text 21"/>
          <p:cNvSpPr txBox="1"/>
          <p:nvPr/>
        </p:nvSpPr>
        <p:spPr>
          <a:xfrm>
            <a:off x="761695" y="247619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region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selectbox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1" name="Text 22"/>
          <p:cNvSpPr txBox="1"/>
          <p:nvPr/>
        </p:nvSpPr>
        <p:spPr>
          <a:xfrm>
            <a:off x="761695" y="2699309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"지역"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"광주"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"전남"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"서울"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761695" y="292242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914400" y="3429000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6476695" y="2018995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st.multiselect() — 여러 개 선택</a:t>
            </a:r>
            <a:endParaRPr lang="en-US" sz="1400" dirty="0"/>
          </a:p>
        </p:txBody>
      </p:sp>
      <p:sp>
        <p:nvSpPr>
          <p:cNvPr id="35" name="Text 26"/>
          <p:cNvSpPr txBox="1"/>
          <p:nvPr/>
        </p:nvSpPr>
        <p:spPr>
          <a:xfrm>
            <a:off x="6476695" y="2476195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tags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multiselect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6" name="Text 27"/>
          <p:cNvSpPr txBox="1"/>
          <p:nvPr/>
        </p:nvSpPr>
        <p:spPr>
          <a:xfrm>
            <a:off x="6476695" y="2699309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"태그"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"DB"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"보안"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 default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6476695" y="2922422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6629400" y="3524098"/>
            <a:ext cx="571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✕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7258507" y="3524098"/>
            <a:ext cx="571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✕</a:t>
            </a:r>
            <a:endParaRPr lang="en-US" sz="1050" dirty="0"/>
          </a:p>
        </p:txBody>
      </p:sp>
      <p:sp>
        <p:nvSpPr>
          <p:cNvPr id="40" name="Text 31"/>
          <p:cNvSpPr txBox="1"/>
          <p:nvPr/>
        </p:nvSpPr>
        <p:spPr>
          <a:xfrm>
            <a:off x="761695" y="4401007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st.radio() — 라디오 버튼</a:t>
            </a:r>
            <a:endParaRPr lang="en-US" sz="1400" dirty="0"/>
          </a:p>
        </p:txBody>
      </p:sp>
      <p:sp>
        <p:nvSpPr>
          <p:cNvPr id="41" name="Text 32"/>
          <p:cNvSpPr txBox="1"/>
          <p:nvPr/>
        </p:nvSpPr>
        <p:spPr>
          <a:xfrm>
            <a:off x="761695" y="4858207"/>
            <a:ext cx="5515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radio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"요금제"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"무료"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"Pro"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"기업"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], horizontal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1009498" y="5734202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2152498" y="5734202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3295498" y="5734202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6476695" y="4401007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st.checkbox() · st.toggle()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6476695" y="4858207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show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checkbox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"고급 옵션 표시"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6476695" y="5080406"/>
            <a:ext cx="4953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dark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toggle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"다크 모드"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6476695" y="571500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6762902" y="5734202"/>
            <a:ext cx="2095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옵션 표시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9506102" y="5734202"/>
            <a:ext cx="1143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 모드</a:t>
            </a:r>
            <a:endParaRPr lang="en-US" sz="11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72100" cy="4610405"/>
          </a:xfrm>
          <a:prstGeom prst="roundRect">
            <a:avLst>
              <a:gd name="adj" fmla="val 820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6476695" y="5429707"/>
            <a:ext cx="4953305" cy="857707"/>
          </a:xfrm>
          <a:prstGeom prst="roundRect">
            <a:avLst>
              <a:gd name="adj" fmla="val 1895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0f571cf9328b6d6529447b55d46a1ee7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571500" y="1904695"/>
            <a:ext cx="5524805" cy="476402"/>
          </a:xfrm>
          <a:prstGeom prst="rect">
            <a:avLst/>
          </a:prstGeom>
        </p:spPr>
      </p:pic>
      <p:pic>
        <p:nvPicPr>
          <p:cNvPr id="11" name="Image 4" descr="gen-dedup-47dd560162fda9d6df48d145e058d36b.png"/>
          <p:cNvPicPr>
            <a:picLocks noChangeAspect="1"/>
          </p:cNvPicPr>
          <p:nvPr/>
        </p:nvPicPr>
        <p:blipFill>
          <a:blip r:embed="rId6"/>
          <a:srcRect t="-19" b="-19"/>
          <a:stretch/>
        </p:blipFill>
        <p:spPr>
          <a:xfrm>
            <a:off x="6286500" y="1904695"/>
            <a:ext cx="5333695" cy="4764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05 / 10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버튼과 폼 — 사용자 액션 받기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button = True/False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 = 입력 묶음 + 제출 버튼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차이를 이해하면 끝.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37590" y="2048256"/>
            <a:ext cx="5067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st.button() — 클릭 한 번</a:t>
            </a:r>
            <a:endParaRPr lang="en-US" sz="16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52374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클릭되면 True 반환</a:t>
            </a:r>
            <a:endParaRPr lang="en-US" sz="11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777033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button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"실행"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03032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"분석 완료!"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37962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스타일 강조 — type="primary"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32911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button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"저장"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type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"primary"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98129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다운로드 버튼 — 파일 받기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234586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download_button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487875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"CSV 다운로드"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741164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data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to_csv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(),</a:t>
            </a:r>
            <a:endParaRPr lang="en-US" sz="11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4994453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file_name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"result.csv"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247742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596128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button은 클릭 직후 한 번만 True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849417"/>
            <a:ext cx="51435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상태 유지가 필요하면 session_state 사용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6552590" y="2048256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st.form() — 모았다가 한 번에 제출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6476695" y="2523744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with 블록 안에 위젯들을 묶고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6476695" y="2759659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"login"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6476695" y="2994660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email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text_input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"이메일"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6476695" y="3229661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pw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text_input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6476695" y="3465576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    "비밀번호"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type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"password"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6476695" y="3700577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6476695" y="3935578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ok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form_submit_button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"로그인"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4266590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ok: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6476695" y="4501591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verify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(email, pw)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725412" y="5562295"/>
            <a:ext cx="45143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 안 위젯은 제출 전까지 앱을 재실행하지 않습니다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6667805" y="5848502"/>
            <a:ext cx="4572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입력이 많은 화면(설문·로그인·필터 조합)에서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성능과 UX가 훨씬 좋아집니다.</a:t>
            </a:r>
            <a:endParaRPr lang="en-US" sz="105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858000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6" name="Shape 3"/>
          <p:cNvSpPr/>
          <p:nvPr/>
        </p:nvSpPr>
        <p:spPr>
          <a:xfrm>
            <a:off x="7619695" y="1904695"/>
            <a:ext cx="4019702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Shape 4"/>
          <p:cNvSpPr/>
          <p:nvPr/>
        </p:nvSpPr>
        <p:spPr>
          <a:xfrm>
            <a:off x="7619695" y="4286707"/>
            <a:ext cx="4019702" cy="2210105"/>
          </a:xfrm>
          <a:prstGeom prst="roundRect">
            <a:avLst>
              <a:gd name="adj" fmla="val 35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8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c5dc842471877778e7d4e30cf992f0da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571500" y="1904695"/>
            <a:ext cx="6858000" cy="381305"/>
          </a:xfrm>
          <a:prstGeom prst="rect">
            <a:avLst/>
          </a:prstGeom>
        </p:spPr>
      </p:pic>
      <p:pic>
        <p:nvPicPr>
          <p:cNvPr id="11" name="Image 4" descr="gen-dedup-08c9b595a104d46d9faad7d71b571213.png"/>
          <p:cNvPicPr>
            <a:picLocks noChangeAspect="1"/>
          </p:cNvPicPr>
          <p:nvPr/>
        </p:nvPicPr>
        <p:blipFill>
          <a:blip r:embed="rId6"/>
          <a:srcRect l="-46" r="-46"/>
          <a:stretch/>
        </p:blipFill>
        <p:spPr>
          <a:xfrm>
            <a:off x="7810805" y="4809744"/>
            <a:ext cx="3619195" cy="304495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06 / 10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표시 — DataFrame · Metric · JSON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 DataFrame을 그대로 넘기면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정렬·검색·페이지네이션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알아서 됩니다.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2000707"/>
            <a:ext cx="6477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data_display.py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42864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pandas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681935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read_csv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"power.csv"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303032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인터랙티브 표 — 정렬/검색 가능 ★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283610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dataframe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(df, width="stretch"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32911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정적 표 — 스타일 적용 가능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886200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table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head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23458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KPI — 큰 숫자 + 증감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487875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741164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label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"이번 달 사용량"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4994453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value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"1,250 kWh"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5247742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delta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"+120 kWh"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501030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849417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JSON · dict 보기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6102706"/>
            <a:ext cx="6477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"홍길동"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"team"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"개발"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7810805" y="2076602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· st.metric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7810805" y="2428646"/>
            <a:ext cx="3620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달 사용량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810805" y="2714854"/>
            <a:ext cx="362011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1,250 kWh</a:t>
            </a:r>
            <a:endParaRPr lang="en-US" sz="3200" dirty="0"/>
          </a:p>
        </p:txBody>
      </p:sp>
      <p:sp>
        <p:nvSpPr>
          <p:cNvPr id="33" name="Text 26"/>
          <p:cNvSpPr txBox="1"/>
          <p:nvPr/>
        </p:nvSpPr>
        <p:spPr>
          <a:xfrm>
            <a:off x="7810805" y="3381451"/>
            <a:ext cx="3620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+120 kWh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810805" y="3715207"/>
            <a:ext cx="36201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delta가 양수면 초록 ▲ · 음수면 빨강 ▼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810805" y="4457700"/>
            <a:ext cx="3620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PREVIEW · st.dataframe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905902" y="4809744"/>
            <a:ext cx="34290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region usage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905902" y="51435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2026-01 광주 1,250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905902" y="53721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2026-02 광주 1,180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905902" y="56007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2026-03 전남 980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905902" y="5829300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2026-04 전남 1,420</a:t>
            </a:r>
            <a:endParaRPr lang="en-US" sz="100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3619195" cy="4572000"/>
          </a:xfrm>
          <a:prstGeom prst="roundRect">
            <a:avLst>
              <a:gd name="adj" fmla="val 133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286707" y="1904695"/>
            <a:ext cx="3619195" cy="4572000"/>
          </a:xfrm>
          <a:prstGeom prst="roundRect">
            <a:avLst>
              <a:gd name="adj" fmla="val 133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1904695"/>
            <a:ext cx="3638398" cy="4591202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10cbade4b3d1b723b1e99103aaf15303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571500" y="1904695"/>
            <a:ext cx="3619195" cy="4764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61695" y="4762195"/>
            <a:ext cx="3238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gen-dedup-0cf6f0e80130a0c4beaed3d14b939b43.png"/>
          <p:cNvPicPr>
            <a:picLocks noChangeAspect="1"/>
          </p:cNvPicPr>
          <p:nvPr/>
        </p:nvPicPr>
        <p:blipFill>
          <a:blip r:embed="rId6"/>
          <a:srcRect t="-20" b="-20"/>
          <a:stretch/>
        </p:blipFill>
        <p:spPr>
          <a:xfrm>
            <a:off x="4286707" y="1904695"/>
            <a:ext cx="3619195" cy="476402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4476902" y="4762195"/>
            <a:ext cx="3238805" cy="1524305"/>
          </a:xfrm>
          <a:prstGeom prst="roundRect">
            <a:avLst>
              <a:gd name="adj" fmla="val 449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5" descr="gen-dedup-3c88c7318af1d0fee9e15d83f841b0f8.png"/>
          <p:cNvPicPr>
            <a:picLocks noChangeAspect="1"/>
          </p:cNvPicPr>
          <p:nvPr/>
        </p:nvPicPr>
        <p:blipFill>
          <a:blip r:embed="rId7"/>
          <a:srcRect t="-20" b="-20"/>
          <a:stretch/>
        </p:blipFill>
        <p:spPr>
          <a:xfrm>
            <a:off x="8001000" y="1904695"/>
            <a:ext cx="3619195" cy="476402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8191195" y="5333695"/>
            <a:ext cx="3238805" cy="952805"/>
          </a:xfrm>
          <a:prstGeom prst="roundRect">
            <a:avLst>
              <a:gd name="adj" fmla="val 1535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8"/>
          <p:cNvSpPr/>
          <p:nvPr/>
        </p:nvSpPr>
        <p:spPr>
          <a:xfrm>
            <a:off x="952805" y="5429707"/>
            <a:ext cx="381305" cy="5715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9"/>
          <p:cNvSpPr/>
          <p:nvPr/>
        </p:nvSpPr>
        <p:spPr>
          <a:xfrm>
            <a:off x="1429207" y="5238598"/>
            <a:ext cx="381305" cy="7616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0"/>
          <p:cNvSpPr/>
          <p:nvPr/>
        </p:nvSpPr>
        <p:spPr>
          <a:xfrm>
            <a:off x="1904695" y="5048402"/>
            <a:ext cx="381305" cy="95280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1"/>
          <p:cNvSpPr/>
          <p:nvPr/>
        </p:nvSpPr>
        <p:spPr>
          <a:xfrm>
            <a:off x="2381098" y="5333695"/>
            <a:ext cx="381305" cy="66659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2"/>
          <p:cNvSpPr/>
          <p:nvPr/>
        </p:nvSpPr>
        <p:spPr>
          <a:xfrm>
            <a:off x="2857500" y="4953305"/>
            <a:ext cx="381305" cy="1047902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3"/>
          <p:cNvSpPr/>
          <p:nvPr/>
        </p:nvSpPr>
        <p:spPr>
          <a:xfrm>
            <a:off x="3333902" y="5143500"/>
            <a:ext cx="381305" cy="857707"/>
          </a:xfrm>
          <a:prstGeom prst="rect">
            <a:avLst/>
          </a:prstGeom>
          <a:solidFill>
            <a:srgbClr val="FF4B4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6" descr="gen-dedup-c590bf2357e5f7fbbb681767a67cf3cf.png"/>
          <p:cNvPicPr>
            <a:picLocks noChangeAspect="1"/>
          </p:cNvPicPr>
          <p:nvPr/>
        </p:nvPicPr>
        <p:blipFill>
          <a:blip r:embed="rId8"/>
          <a:srcRect t="-405" b="-405"/>
          <a:stretch/>
        </p:blipFill>
        <p:spPr>
          <a:xfrm>
            <a:off x="4629607" y="4953305"/>
            <a:ext cx="2933395" cy="19202"/>
          </a:xfrm>
          <a:prstGeom prst="rect">
            <a:avLst/>
          </a:prstGeom>
        </p:spPr>
      </p:pic>
      <p:pic>
        <p:nvPicPr>
          <p:cNvPr id="23" name="Image 7" descr="gen-dedup-c590bf2357e5f7fbbb681767a67cf3cf.png"/>
          <p:cNvPicPr>
            <a:picLocks noChangeAspect="1"/>
          </p:cNvPicPr>
          <p:nvPr/>
        </p:nvPicPr>
        <p:blipFill>
          <a:blip r:embed="rId8"/>
          <a:srcRect t="-405" b="-405"/>
          <a:stretch/>
        </p:blipFill>
        <p:spPr>
          <a:xfrm>
            <a:off x="4629607" y="5429707"/>
            <a:ext cx="2933395" cy="19202"/>
          </a:xfrm>
          <a:prstGeom prst="rect">
            <a:avLst/>
          </a:prstGeom>
        </p:spPr>
      </p:pic>
      <p:pic>
        <p:nvPicPr>
          <p:cNvPr id="24" name="Image 8" descr="gen-dedup-c590bf2357e5f7fbbb681767a67cf3cf.png"/>
          <p:cNvPicPr>
            <a:picLocks noChangeAspect="1"/>
          </p:cNvPicPr>
          <p:nvPr/>
        </p:nvPicPr>
        <p:blipFill>
          <a:blip r:embed="rId8"/>
          <a:srcRect t="-405" b="-405"/>
          <a:stretch/>
        </p:blipFill>
        <p:spPr>
          <a:xfrm>
            <a:off x="4629607" y="5905195"/>
            <a:ext cx="2933395" cy="19202"/>
          </a:xfrm>
          <a:prstGeom prst="rect">
            <a:avLst/>
          </a:prstGeom>
        </p:spPr>
      </p:pic>
      <p:pic>
        <p:nvPicPr>
          <p:cNvPr id="25" name="Image 9" descr="gen-dedup-ef86240aaa31dde4df9335a5e16b6047.png"/>
          <p:cNvPicPr>
            <a:picLocks noChangeAspect="1"/>
          </p:cNvPicPr>
          <p:nvPr/>
        </p:nvPicPr>
        <p:blipFill>
          <a:blip r:embed="rId9"/>
          <a:srcRect t="-61" b="-61"/>
          <a:stretch/>
        </p:blipFill>
        <p:spPr>
          <a:xfrm rot="20400000">
            <a:off x="4646066" y="5212080"/>
            <a:ext cx="681228" cy="271577"/>
          </a:xfrm>
          <a:prstGeom prst="rect">
            <a:avLst/>
          </a:prstGeom>
        </p:spPr>
      </p:pic>
      <p:pic>
        <p:nvPicPr>
          <p:cNvPr id="26" name="Image 10" descr="gen-dedup-e53ff8af3391ab90a5fa7bef0442b369.png"/>
          <p:cNvPicPr>
            <a:picLocks noChangeAspect="1"/>
          </p:cNvPicPr>
          <p:nvPr/>
        </p:nvPicPr>
        <p:blipFill>
          <a:blip r:embed="rId10"/>
          <a:srcRect t="-28" b="-28"/>
          <a:stretch/>
        </p:blipFill>
        <p:spPr>
          <a:xfrm rot="900000">
            <a:off x="5368442" y="5194706"/>
            <a:ext cx="743407" cy="224942"/>
          </a:xfrm>
          <a:prstGeom prst="rect">
            <a:avLst/>
          </a:prstGeom>
        </p:spPr>
      </p:pic>
      <p:pic>
        <p:nvPicPr>
          <p:cNvPr id="27" name="Image 11" descr="gen-dedup-815a537ed2a93ddc1fe63bae67f6dba4.png"/>
          <p:cNvPicPr>
            <a:picLocks noChangeAspect="1"/>
          </p:cNvPicPr>
          <p:nvPr/>
        </p:nvPicPr>
        <p:blipFill>
          <a:blip r:embed="rId11"/>
          <a:srcRect l="-51" r="-51"/>
          <a:stretch/>
        </p:blipFill>
        <p:spPr>
          <a:xfrm rot="20100000">
            <a:off x="6110021" y="5145329"/>
            <a:ext cx="659282" cy="327355"/>
          </a:xfrm>
          <a:prstGeom prst="rect">
            <a:avLst/>
          </a:prstGeom>
        </p:spPr>
      </p:pic>
      <p:pic>
        <p:nvPicPr>
          <p:cNvPr id="28" name="Image 12" descr="gen-dedup-98867c95dfe3803ac66029a6ac9e6601.png"/>
          <p:cNvPicPr>
            <a:picLocks noChangeAspect="1"/>
          </p:cNvPicPr>
          <p:nvPr/>
        </p:nvPicPr>
        <p:blipFill>
          <a:blip r:embed="rId12"/>
          <a:srcRect l="-132" r="-132"/>
          <a:stretch/>
        </p:blipFill>
        <p:spPr>
          <a:xfrm rot="600000">
            <a:off x="6852514" y="5057546"/>
            <a:ext cx="755294" cy="160020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07 / 10</a:t>
            </a:r>
            <a:endParaRPr lang="en-US" sz="900" dirty="0"/>
          </a:p>
        </p:txBody>
      </p:sp>
      <p:sp>
        <p:nvSpPr>
          <p:cNvPr id="30" name="Text 15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 — 한 줄로 그리는 3단계</a:t>
            </a:r>
            <a:endParaRPr lang="en-US" sz="3300" dirty="0"/>
          </a:p>
        </p:txBody>
      </p:sp>
      <p:sp>
        <p:nvSpPr>
          <p:cNvPr id="31" name="Text 16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→ 표준 → 인터랙티브. 데이터의 모양에 맞춰 선택하세요.</a:t>
            </a:r>
            <a:endParaRPr lang="en-US" sz="1300" dirty="0"/>
          </a:p>
        </p:txBody>
      </p:sp>
      <p:sp>
        <p:nvSpPr>
          <p:cNvPr id="32" name="Text 17"/>
          <p:cNvSpPr txBox="1"/>
          <p:nvPr/>
        </p:nvSpPr>
        <p:spPr>
          <a:xfrm>
            <a:off x="761695" y="2048256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1 · 빌트인</a:t>
            </a:r>
            <a:endParaRPr lang="en-US" sz="1200" dirty="0"/>
          </a:p>
        </p:txBody>
      </p:sp>
      <p:sp>
        <p:nvSpPr>
          <p:cNvPr id="33" name="Text 18"/>
          <p:cNvSpPr txBox="1"/>
          <p:nvPr/>
        </p:nvSpPr>
        <p:spPr>
          <a:xfrm>
            <a:off x="761695" y="2523744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데이터 모양만 확인</a:t>
            </a:r>
            <a:endParaRPr lang="en-US" sz="1000" dirty="0"/>
          </a:p>
        </p:txBody>
      </p:sp>
      <p:sp>
        <p:nvSpPr>
          <p:cNvPr id="34" name="Text 19"/>
          <p:cNvSpPr txBox="1"/>
          <p:nvPr/>
        </p:nvSpPr>
        <p:spPr>
          <a:xfrm>
            <a:off x="761695" y="2905049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</a:t>
            </a:r>
            <a:endParaRPr lang="en-US" sz="900" dirty="0"/>
          </a:p>
        </p:txBody>
      </p:sp>
      <p:sp>
        <p:nvSpPr>
          <p:cNvPr id="35" name="Text 20"/>
          <p:cNvSpPr txBox="1"/>
          <p:nvPr/>
        </p:nvSpPr>
        <p:spPr>
          <a:xfrm>
            <a:off x="761695" y="3140050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bar_chart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</a:t>
            </a:r>
            <a:endParaRPr lang="en-US" sz="900" dirty="0"/>
          </a:p>
        </p:txBody>
      </p:sp>
      <p:sp>
        <p:nvSpPr>
          <p:cNvPr id="36" name="Text 21"/>
          <p:cNvSpPr txBox="1"/>
          <p:nvPr/>
        </p:nvSpPr>
        <p:spPr>
          <a:xfrm>
            <a:off x="761695" y="3375965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</a:t>
            </a:r>
            <a:endParaRPr lang="en-US" sz="900" dirty="0"/>
          </a:p>
        </p:txBody>
      </p:sp>
      <p:sp>
        <p:nvSpPr>
          <p:cNvPr id="37" name="Text 22"/>
          <p:cNvSpPr txBox="1"/>
          <p:nvPr/>
        </p:nvSpPr>
        <p:spPr>
          <a:xfrm>
            <a:off x="761695" y="361096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scatter_chart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</a:t>
            </a:r>
            <a:endParaRPr lang="en-US" sz="900" dirty="0"/>
          </a:p>
        </p:txBody>
      </p:sp>
      <p:sp>
        <p:nvSpPr>
          <p:cNvPr id="38" name="Text 23"/>
          <p:cNvSpPr txBox="1"/>
          <p:nvPr/>
        </p:nvSpPr>
        <p:spPr>
          <a:xfrm>
            <a:off x="761695" y="384596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lat,lon</a:t>
            </a:r>
            <a:endParaRPr lang="en-US" sz="900" dirty="0"/>
          </a:p>
        </p:txBody>
      </p:sp>
      <p:sp>
        <p:nvSpPr>
          <p:cNvPr id="39" name="Text 24"/>
          <p:cNvSpPr txBox="1"/>
          <p:nvPr/>
        </p:nvSpPr>
        <p:spPr>
          <a:xfrm>
            <a:off x="761695" y="6286500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st.bar_chart(df)</a:t>
            </a:r>
            <a:endParaRPr lang="en-US" sz="800" dirty="0"/>
          </a:p>
        </p:txBody>
      </p:sp>
      <p:sp>
        <p:nvSpPr>
          <p:cNvPr id="40" name="Text 25"/>
          <p:cNvSpPr txBox="1"/>
          <p:nvPr/>
        </p:nvSpPr>
        <p:spPr>
          <a:xfrm>
            <a:off x="4476902" y="2048256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2 · Plotly ★</a:t>
            </a:r>
            <a:endParaRPr lang="en-US" sz="1200" dirty="0"/>
          </a:p>
        </p:txBody>
      </p:sp>
      <p:sp>
        <p:nvSpPr>
          <p:cNvPr id="41" name="Text 26"/>
          <p:cNvSpPr txBox="1"/>
          <p:nvPr/>
        </p:nvSpPr>
        <p:spPr>
          <a:xfrm>
            <a:off x="4476902" y="2523744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— 줌·툴팁·범례</a:t>
            </a:r>
            <a:endParaRPr lang="en-US" sz="1000" dirty="0"/>
          </a:p>
        </p:txBody>
      </p:sp>
      <p:sp>
        <p:nvSpPr>
          <p:cNvPr id="42" name="Text 27"/>
          <p:cNvSpPr txBox="1"/>
          <p:nvPr/>
        </p:nvSpPr>
        <p:spPr>
          <a:xfrm>
            <a:off x="4476902" y="2905049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plotly.express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px</a:t>
            </a:r>
            <a:endParaRPr lang="en-US" sz="900" dirty="0"/>
          </a:p>
        </p:txBody>
      </p:sp>
      <p:sp>
        <p:nvSpPr>
          <p:cNvPr id="43" name="Text 28"/>
          <p:cNvSpPr txBox="1"/>
          <p:nvPr/>
        </p:nvSpPr>
        <p:spPr>
          <a:xfrm>
            <a:off x="4476902" y="3216859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fig 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px.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4476902" y="3451860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df, x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"date"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y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"usage"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900" dirty="0"/>
          </a:p>
        </p:txBody>
      </p:sp>
      <p:sp>
        <p:nvSpPr>
          <p:cNvPr id="45" name="Text 30"/>
          <p:cNvSpPr txBox="1"/>
          <p:nvPr/>
        </p:nvSpPr>
        <p:spPr>
          <a:xfrm>
            <a:off x="4476902" y="3686861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color</a:t>
            </a:r>
            <a:r>
              <a:rPr lang="en-US" sz="9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9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"region"</a:t>
            </a:r>
            <a:endParaRPr lang="en-US" sz="900" dirty="0"/>
          </a:p>
        </p:txBody>
      </p:sp>
      <p:sp>
        <p:nvSpPr>
          <p:cNvPr id="46" name="Text 31"/>
          <p:cNvSpPr txBox="1"/>
          <p:nvPr/>
        </p:nvSpPr>
        <p:spPr>
          <a:xfrm>
            <a:off x="4476902" y="3922776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900" dirty="0"/>
          </a:p>
        </p:txBody>
      </p:sp>
      <p:sp>
        <p:nvSpPr>
          <p:cNvPr id="47" name="Text 32"/>
          <p:cNvSpPr txBox="1"/>
          <p:nvPr/>
        </p:nvSpPr>
        <p:spPr>
          <a:xfrm>
            <a:off x="4476902" y="415777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(fig)</a:t>
            </a:r>
            <a:endParaRPr lang="en-US" sz="900" dirty="0"/>
          </a:p>
        </p:txBody>
      </p:sp>
      <p:sp>
        <p:nvSpPr>
          <p:cNvPr id="48" name="Text 33"/>
          <p:cNvSpPr txBox="1"/>
          <p:nvPr/>
        </p:nvSpPr>
        <p:spPr>
          <a:xfrm>
            <a:off x="4476902" y="6286500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st.plotly_chart(fig)</a:t>
            </a:r>
            <a:endParaRPr lang="en-US" sz="800" dirty="0"/>
          </a:p>
        </p:txBody>
      </p:sp>
      <p:sp>
        <p:nvSpPr>
          <p:cNvPr id="49" name="Text 34"/>
          <p:cNvSpPr txBox="1"/>
          <p:nvPr/>
        </p:nvSpPr>
        <p:spPr>
          <a:xfrm>
            <a:off x="8191195" y="2048256"/>
            <a:ext cx="3238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LEVEL 3 · 그 외</a:t>
            </a:r>
            <a:endParaRPr lang="en-US" sz="1200" dirty="0"/>
          </a:p>
        </p:txBody>
      </p:sp>
      <p:sp>
        <p:nvSpPr>
          <p:cNvPr id="50" name="Text 35"/>
          <p:cNvSpPr txBox="1"/>
          <p:nvPr/>
        </p:nvSpPr>
        <p:spPr>
          <a:xfrm>
            <a:off x="8191195" y="2523744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코드 그대로 사용</a:t>
            </a:r>
            <a:endParaRPr lang="en-US" sz="1000" dirty="0"/>
          </a:p>
        </p:txBody>
      </p:sp>
      <p:sp>
        <p:nvSpPr>
          <p:cNvPr id="51" name="Text 36"/>
          <p:cNvSpPr txBox="1"/>
          <p:nvPr/>
        </p:nvSpPr>
        <p:spPr>
          <a:xfrm>
            <a:off x="8191195" y="2905049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matplotlib · seaborn</a:t>
            </a:r>
            <a:endParaRPr lang="en-US" sz="900" dirty="0"/>
          </a:p>
        </p:txBody>
      </p:sp>
      <p:sp>
        <p:nvSpPr>
          <p:cNvPr id="52" name="Text 37"/>
          <p:cNvSpPr txBox="1"/>
          <p:nvPr/>
        </p:nvSpPr>
        <p:spPr>
          <a:xfrm>
            <a:off x="8191195" y="3122676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pyplot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(fig)</a:t>
            </a:r>
            <a:endParaRPr lang="en-US" sz="900" dirty="0"/>
          </a:p>
        </p:txBody>
      </p:sp>
      <p:sp>
        <p:nvSpPr>
          <p:cNvPr id="53" name="Text 38"/>
          <p:cNvSpPr txBox="1"/>
          <p:nvPr/>
        </p:nvSpPr>
        <p:spPr>
          <a:xfrm>
            <a:off x="8191195" y="341528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altair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8191195" y="3632911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altair_chart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(chart)</a:t>
            </a:r>
            <a:endParaRPr lang="en-US" sz="900" dirty="0"/>
          </a:p>
        </p:txBody>
      </p:sp>
      <p:sp>
        <p:nvSpPr>
          <p:cNvPr id="55" name="Text 40"/>
          <p:cNvSpPr txBox="1"/>
          <p:nvPr/>
        </p:nvSpPr>
        <p:spPr>
          <a:xfrm>
            <a:off x="8191195" y="392643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지도 — pydeck</a:t>
            </a:r>
            <a:endParaRPr lang="en-US" sz="900" dirty="0"/>
          </a:p>
        </p:txBody>
      </p:sp>
      <p:sp>
        <p:nvSpPr>
          <p:cNvPr id="56" name="Text 41"/>
          <p:cNvSpPr txBox="1"/>
          <p:nvPr/>
        </p:nvSpPr>
        <p:spPr>
          <a:xfrm>
            <a:off x="8191195" y="4143146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pydeck_chart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(deck)</a:t>
            </a:r>
            <a:endParaRPr lang="en-US" sz="900" dirty="0"/>
          </a:p>
        </p:txBody>
      </p:sp>
      <p:sp>
        <p:nvSpPr>
          <p:cNvPr id="57" name="Text 42"/>
          <p:cNvSpPr txBox="1"/>
          <p:nvPr/>
        </p:nvSpPr>
        <p:spPr>
          <a:xfrm>
            <a:off x="8191195" y="4436669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그래프 — graphviz</a:t>
            </a:r>
            <a:endParaRPr lang="en-US" sz="900" dirty="0"/>
          </a:p>
        </p:txBody>
      </p:sp>
      <p:sp>
        <p:nvSpPr>
          <p:cNvPr id="58" name="Text 43"/>
          <p:cNvSpPr txBox="1"/>
          <p:nvPr/>
        </p:nvSpPr>
        <p:spPr>
          <a:xfrm>
            <a:off x="8191195" y="4653382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graphviz_chart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(dot)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8439912" y="5505602"/>
            <a:ext cx="2799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 기본값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8382305" y="5772607"/>
            <a:ext cx="2857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시작하세요. 인터랙티브 + 코드량 모두 균형이 좋습니다.</a:t>
            </a:r>
            <a:endParaRPr lang="en-US" sz="900" dirty="0"/>
          </a:p>
        </p:txBody>
      </p:sp>
      <p:sp>
        <p:nvSpPr>
          <p:cNvPr id="6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60963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69b136039bfeddb056854a27fdd4a06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0" y="1904695"/>
            <a:ext cx="1143000" cy="4572000"/>
          </a:xfrm>
          <a:prstGeom prst="rect">
            <a:avLst/>
          </a:prstGeom>
        </p:spPr>
      </p:pic>
      <p:pic>
        <p:nvPicPr>
          <p:cNvPr id="7" name="Image 2" descr="gen-dedup-e29b22b111ef6e7d1634d0b1c2f2010d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8001000" y="1904695"/>
            <a:ext cx="3638398" cy="4591202"/>
          </a:xfrm>
          <a:prstGeom prst="rect">
            <a:avLst/>
          </a:prstGeom>
        </p:spPr>
      </p:pic>
      <p:pic>
        <p:nvPicPr>
          <p:cNvPr id="8" name="Image 3" descr="gen-dedup-10458ade240e681ae3516d2f99b560f0.png"/>
          <p:cNvPicPr>
            <a:picLocks noChangeAspect="1"/>
          </p:cNvPicPr>
          <p:nvPr/>
        </p:nvPicPr>
        <p:blipFill>
          <a:blip r:embed="rId5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4" descr="gen-dedup-d0eb4450f0df06f0fea106621b17d79d.png"/>
          <p:cNvPicPr>
            <a:picLocks noChangeAspect="1"/>
          </p:cNvPicPr>
          <p:nvPr/>
        </p:nvPicPr>
        <p:blipFill>
          <a:blip r:embed="rId6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5" descr="gen-dedup-31f753df67723ab53cb37b54cff7f489.png"/>
          <p:cNvPicPr>
            <a:picLocks noChangeAspect="1"/>
          </p:cNvPicPr>
          <p:nvPr/>
        </p:nvPicPr>
        <p:blipFill>
          <a:blip r:embed="rId7"/>
          <a:srcRect t="-37" b="-37"/>
          <a:stretch/>
        </p:blipFill>
        <p:spPr>
          <a:xfrm>
            <a:off x="571500" y="1904695"/>
            <a:ext cx="6096305" cy="381305"/>
          </a:xfrm>
          <a:prstGeom prst="rect">
            <a:avLst/>
          </a:prstGeom>
        </p:spPr>
      </p:pic>
      <p:sp>
        <p:nvSpPr>
          <p:cNvPr id="11" name="Shape 3"/>
          <p:cNvSpPr/>
          <p:nvPr/>
        </p:nvSpPr>
        <p:spPr>
          <a:xfrm>
            <a:off x="7000646" y="2361895"/>
            <a:ext cx="875995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4"/>
          <p:cNvSpPr/>
          <p:nvPr/>
        </p:nvSpPr>
        <p:spPr>
          <a:xfrm>
            <a:off x="7000646" y="2762402"/>
            <a:ext cx="875995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6" descr="gen-dedup-ef0057b6a37118b5f3685b1d2a5f3d97.png"/>
          <p:cNvPicPr>
            <a:picLocks noChangeAspect="1"/>
          </p:cNvPicPr>
          <p:nvPr/>
        </p:nvPicPr>
        <p:blipFill>
          <a:blip r:embed="rId8"/>
          <a:srcRect t="-61" b="-61"/>
          <a:stretch/>
        </p:blipFill>
        <p:spPr>
          <a:xfrm>
            <a:off x="8001000" y="1904695"/>
            <a:ext cx="3619195" cy="400507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8191195" y="2476195"/>
            <a:ext cx="1524305" cy="1143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6"/>
          <p:cNvSpPr/>
          <p:nvPr/>
        </p:nvSpPr>
        <p:spPr>
          <a:xfrm>
            <a:off x="9905695" y="2476195"/>
            <a:ext cx="1524305" cy="1143000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7"/>
          <p:cNvSpPr/>
          <p:nvPr/>
        </p:nvSpPr>
        <p:spPr>
          <a:xfrm>
            <a:off x="8191195" y="3905402"/>
            <a:ext cx="3238805" cy="400507"/>
          </a:xfrm>
          <a:prstGeom prst="roundRect">
            <a:avLst>
              <a:gd name="adj" fmla="val 65232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8"/>
          <p:cNvSpPr/>
          <p:nvPr/>
        </p:nvSpPr>
        <p:spPr>
          <a:xfrm>
            <a:off x="8191195" y="4524451"/>
            <a:ext cx="3258007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7" descr="gen-dedup-4371f7d57e80fea3253884ce7eae5ed5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8191195" y="2247595"/>
            <a:ext cx="571500" cy="38405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08 / 10</a:t>
            </a:r>
            <a:endParaRPr lang="en-US" sz="9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— columns · tabs · sidebar · expander</a:t>
            </a:r>
            <a:endParaRPr lang="en-US" sz="3300" dirty="0"/>
          </a:p>
        </p:txBody>
      </p:sp>
      <p:sp>
        <p:nvSpPr>
          <p:cNvPr id="21" name="Text 11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수직으로만 쌓이는 기본 레이아웃을 — 4가지 도구로 </a:t>
            </a: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2차원 화면</a:t>
            </a: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만듭니다.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761695" y="2000707"/>
            <a:ext cx="5715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layout.py</a:t>
            </a:r>
            <a:endParaRPr lang="en-US" sz="900" dirty="0"/>
          </a:p>
        </p:txBody>
      </p:sp>
      <p:sp>
        <p:nvSpPr>
          <p:cNvPr id="23" name="Text 13"/>
          <p:cNvSpPr txBox="1"/>
          <p:nvPr/>
        </p:nvSpPr>
        <p:spPr>
          <a:xfrm>
            <a:off x="761695" y="24286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좌우 분할 — columns</a:t>
            </a:r>
            <a:endParaRPr lang="en-US" sz="1000" dirty="0"/>
          </a:p>
        </p:txBody>
      </p:sp>
      <p:sp>
        <p:nvSpPr>
          <p:cNvPr id="24" name="Text 14"/>
          <p:cNvSpPr txBox="1"/>
          <p:nvPr/>
        </p:nvSpPr>
        <p:spPr>
          <a:xfrm>
            <a:off x="761695" y="263530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col1, col2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761695" y="2841955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col1: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"수익"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"₩1.2M"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Text 16"/>
          <p:cNvSpPr txBox="1"/>
          <p:nvPr/>
        </p:nvSpPr>
        <p:spPr>
          <a:xfrm>
            <a:off x="761695" y="3048610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col2: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metric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"고객"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"248"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Text 17"/>
          <p:cNvSpPr txBox="1"/>
          <p:nvPr/>
        </p:nvSpPr>
        <p:spPr>
          <a:xfrm>
            <a:off x="761695" y="3312871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비율도 가능 — [3, 1]은 3:1</a:t>
            </a:r>
            <a:endParaRPr lang="en-US" sz="1000" dirty="0"/>
          </a:p>
        </p:txBody>
      </p:sp>
      <p:sp>
        <p:nvSpPr>
          <p:cNvPr id="28" name="Text 18"/>
          <p:cNvSpPr txBox="1"/>
          <p:nvPr/>
        </p:nvSpPr>
        <p:spPr>
          <a:xfrm>
            <a:off x="761695" y="351952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left, right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columns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761695" y="3782873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탭 전환 — tabs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761695" y="3989527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t1, t2, t3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tabs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([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"개요"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"상세"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"설정"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761695" y="425378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좌측 사이드바 — 필터·메뉴에 단골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761695" y="4460443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sidebar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33" name="Text 23"/>
          <p:cNvSpPr txBox="1"/>
          <p:nvPr/>
        </p:nvSpPr>
        <p:spPr>
          <a:xfrm>
            <a:off x="761695" y="46670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region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selectbox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"지역"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regions)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761695" y="4930445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④ 접히는 상세 — expander</a:t>
            </a:r>
            <a:endParaRPr lang="en-US" sz="1000" dirty="0"/>
          </a:p>
        </p:txBody>
      </p:sp>
      <p:sp>
        <p:nvSpPr>
          <p:cNvPr id="35" name="Text 25"/>
          <p:cNvSpPr txBox="1"/>
          <p:nvPr/>
        </p:nvSpPr>
        <p:spPr>
          <a:xfrm>
            <a:off x="761695" y="5137099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expander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"고급 설정"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761695" y="534375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checkbox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"디버그 모드"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761695" y="5608015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⑤ 컨테이너 그룹 (with 블록)</a:t>
            </a:r>
            <a:endParaRPr lang="en-US" sz="1000" dirty="0"/>
          </a:p>
        </p:txBody>
      </p:sp>
      <p:sp>
        <p:nvSpPr>
          <p:cNvPr id="38" name="Text 28"/>
          <p:cNvSpPr txBox="1"/>
          <p:nvPr/>
        </p:nvSpPr>
        <p:spPr>
          <a:xfrm>
            <a:off x="761695" y="5814670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(border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761695" y="6021324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"카드 묶음"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000646" y="2048256"/>
            <a:ext cx="9528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SIDEBAR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7095744" y="2361895"/>
            <a:ext cx="762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 ▼</a:t>
            </a:r>
            <a:endParaRPr lang="en-US" sz="800" dirty="0"/>
          </a:p>
        </p:txBody>
      </p:sp>
      <p:sp>
        <p:nvSpPr>
          <p:cNvPr id="42" name="Text 32"/>
          <p:cNvSpPr txBox="1"/>
          <p:nvPr/>
        </p:nvSpPr>
        <p:spPr>
          <a:xfrm>
            <a:off x="7095744" y="2762402"/>
            <a:ext cx="762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▼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8191195" y="1981505"/>
            <a:ext cx="571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개요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8906256" y="1981505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상세</a:t>
            </a:r>
            <a:endParaRPr lang="en-US" sz="900" dirty="0"/>
          </a:p>
        </p:txBody>
      </p:sp>
      <p:sp>
        <p:nvSpPr>
          <p:cNvPr id="45" name="Text 35"/>
          <p:cNvSpPr txBox="1"/>
          <p:nvPr/>
        </p:nvSpPr>
        <p:spPr>
          <a:xfrm>
            <a:off x="9620402" y="1981505"/>
            <a:ext cx="5715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8305495" y="2619756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수익</a:t>
            </a:r>
            <a:endParaRPr lang="en-US" sz="800" dirty="0"/>
          </a:p>
        </p:txBody>
      </p:sp>
      <p:sp>
        <p:nvSpPr>
          <p:cNvPr id="47" name="Text 37"/>
          <p:cNvSpPr txBox="1"/>
          <p:nvPr/>
        </p:nvSpPr>
        <p:spPr>
          <a:xfrm>
            <a:off x="8305495" y="2809951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₩1.2M</a:t>
            </a:r>
            <a:endParaRPr lang="en-US" sz="1800" dirty="0"/>
          </a:p>
        </p:txBody>
      </p:sp>
      <p:sp>
        <p:nvSpPr>
          <p:cNvPr id="48" name="Text 38"/>
          <p:cNvSpPr txBox="1"/>
          <p:nvPr/>
        </p:nvSpPr>
        <p:spPr>
          <a:xfrm>
            <a:off x="8305495" y="3286354"/>
            <a:ext cx="1334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+12%</a:t>
            </a:r>
            <a:endParaRPr lang="en-US" sz="800" dirty="0"/>
          </a:p>
        </p:txBody>
      </p:sp>
      <p:sp>
        <p:nvSpPr>
          <p:cNvPr id="49" name="Text 39"/>
          <p:cNvSpPr txBox="1"/>
          <p:nvPr/>
        </p:nvSpPr>
        <p:spPr>
          <a:xfrm>
            <a:off x="10019995" y="2619756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 수</a:t>
            </a:r>
            <a:endParaRPr lang="en-US" sz="800" dirty="0"/>
          </a:p>
        </p:txBody>
      </p:sp>
      <p:sp>
        <p:nvSpPr>
          <p:cNvPr id="50" name="Text 40"/>
          <p:cNvSpPr txBox="1"/>
          <p:nvPr/>
        </p:nvSpPr>
        <p:spPr>
          <a:xfrm>
            <a:off x="10019995" y="2809951"/>
            <a:ext cx="1334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248</a:t>
            </a:r>
            <a:endParaRPr lang="en-US" sz="1800" dirty="0"/>
          </a:p>
        </p:txBody>
      </p:sp>
      <p:sp>
        <p:nvSpPr>
          <p:cNvPr id="51" name="Text 41"/>
          <p:cNvSpPr txBox="1"/>
          <p:nvPr/>
        </p:nvSpPr>
        <p:spPr>
          <a:xfrm>
            <a:off x="10019995" y="3286354"/>
            <a:ext cx="13341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▲ +24</a:t>
            </a:r>
            <a:endParaRPr lang="en-US" sz="800" dirty="0"/>
          </a:p>
        </p:txBody>
      </p:sp>
      <p:sp>
        <p:nvSpPr>
          <p:cNvPr id="52" name="Text 42"/>
          <p:cNvSpPr txBox="1"/>
          <p:nvPr/>
        </p:nvSpPr>
        <p:spPr>
          <a:xfrm>
            <a:off x="8334756" y="3981298"/>
            <a:ext cx="2953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 고급 설정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8334756" y="4667098"/>
            <a:ext cx="29535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CONTAINER (border=True)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8334756" y="4934102"/>
            <a:ext cx="2953512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관련된 위젯·차트·텍스트를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카드로 묶을 때 사용.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구분이 명확해집니다.</a:t>
            </a:r>
            <a:endParaRPr lang="en-US" sz="9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57f8d4c2c4f0521b489c5a2d57872c7b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904695"/>
            <a:ext cx="5524805" cy="4572000"/>
          </a:xfrm>
          <a:prstGeom prst="roundRect">
            <a:avLst>
              <a:gd name="adj" fmla="val 8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904695"/>
            <a:ext cx="5372100" cy="2229307"/>
          </a:xfrm>
          <a:prstGeom prst="roundRect">
            <a:avLst>
              <a:gd name="adj" fmla="val 3506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6286500" y="4286707"/>
            <a:ext cx="533369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8" name="Image 1" descr="gen-dedup-10458ade240e681ae3516d2f99b560f0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9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10" name="Image 3" descr="gen-dedup-5dda1922545291a1d05b9acefe0adcf2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571500" y="1904695"/>
            <a:ext cx="5524805" cy="476402"/>
          </a:xfrm>
          <a:prstGeom prst="rect">
            <a:avLst/>
          </a:prstGeom>
        </p:spPr>
      </p:pic>
      <p:pic>
        <p:nvPicPr>
          <p:cNvPr id="11" name="Image 4" descr="gen-dedup-47dd560162fda9d6df48d145e058d36b.png"/>
          <p:cNvPicPr>
            <a:picLocks noChangeAspect="1"/>
          </p:cNvPicPr>
          <p:nvPr/>
        </p:nvPicPr>
        <p:blipFill>
          <a:blip r:embed="rId6"/>
          <a:srcRect t="-19" b="-19"/>
          <a:stretch/>
        </p:blipFill>
        <p:spPr>
          <a:xfrm>
            <a:off x="6286500" y="1904695"/>
            <a:ext cx="5333695" cy="476402"/>
          </a:xfrm>
          <a:prstGeom prst="rect">
            <a:avLst/>
          </a:prstGeom>
        </p:spPr>
      </p:pic>
      <p:pic>
        <p:nvPicPr>
          <p:cNvPr id="12" name="Image 5" descr="gen-dedup-0a3321ecddbd1735c65862fef3985a10.png"/>
          <p:cNvPicPr>
            <a:picLocks noChangeAspect="1"/>
          </p:cNvPicPr>
          <p:nvPr/>
        </p:nvPicPr>
        <p:blipFill>
          <a:blip r:embed="rId7"/>
          <a:srcRect l="-397" r="-397"/>
          <a:stretch/>
        </p:blipFill>
        <p:spPr>
          <a:xfrm>
            <a:off x="6286500" y="4286707"/>
            <a:ext cx="57607" cy="2190902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APPENDIX B · STREAMLIT · 09 / 10</a:t>
            </a:r>
            <a:endParaRPr lang="en-US" sz="900" dirty="0"/>
          </a:p>
        </p:txBody>
      </p:sp>
      <p:sp>
        <p:nvSpPr>
          <p:cNvPr id="14" name="Text 6"/>
          <p:cNvSpPr txBox="1"/>
          <p:nvPr/>
        </p:nvSpPr>
        <p:spPr>
          <a:xfrm>
            <a:off x="571500" y="619049"/>
            <a:ext cx="11049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유지 · 파일 업로드 · 캐싱</a:t>
            </a:r>
            <a:endParaRPr lang="en-US" sz="33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"새로고침되면 값이 사라진다" 문제를 푸는 3가지 — Streamlit 중급의 핵심.</a:t>
            </a:r>
            <a:endParaRPr lang="en-US" sz="1300" dirty="0"/>
          </a:p>
        </p:txBody>
      </p:sp>
      <p:sp>
        <p:nvSpPr>
          <p:cNvPr id="16" name="Text 8"/>
          <p:cNvSpPr txBox="1"/>
          <p:nvPr/>
        </p:nvSpPr>
        <p:spPr>
          <a:xfrm>
            <a:off x="837590" y="2048256"/>
            <a:ext cx="5067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st.session_state — 값 기억하기 ★</a:t>
            </a:r>
            <a:endParaRPr lang="en-US" sz="16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252374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① 초기화 (한 번만 실행되게)</a:t>
            </a:r>
            <a:endParaRPr lang="en-US" sz="105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740457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"count"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 in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st.session_state: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95717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st.session_state.count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</a:t>
            </a:r>
            <a:endParaRPr lang="en-US" sz="105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326989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② 읽기 · 쓰기 (dict처럼 또는 .속성)</a:t>
            </a:r>
            <a:endParaRPr lang="en-US" sz="105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3486607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button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"+1"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70240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st.session_state.count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+=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15"/>
          <p:cNvSpPr txBox="1"/>
          <p:nvPr/>
        </p:nvSpPr>
        <p:spPr>
          <a:xfrm>
            <a:off x="761695" y="391911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(st.session_state.count)</a:t>
            </a:r>
            <a:endParaRPr lang="en-US" sz="1050" dirty="0"/>
          </a:p>
        </p:txBody>
      </p:sp>
      <p:sp>
        <p:nvSpPr>
          <p:cNvPr id="24" name="Text 16"/>
          <p:cNvSpPr txBox="1"/>
          <p:nvPr/>
        </p:nvSpPr>
        <p:spPr>
          <a:xfrm>
            <a:off x="761695" y="4231843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③ 챗봇 대화 기록 — 가장 흔한 패턴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761695" y="444855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"messages"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 in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st.session_state:</a:t>
            </a:r>
            <a:endParaRPr lang="en-US" sz="1050" dirty="0"/>
          </a:p>
        </p:txBody>
      </p:sp>
      <p:sp>
        <p:nvSpPr>
          <p:cNvPr id="26" name="Text 18"/>
          <p:cNvSpPr txBox="1"/>
          <p:nvPr/>
        </p:nvSpPr>
        <p:spPr>
          <a:xfrm>
            <a:off x="761695" y="4665269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st.session_state.messages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[]</a:t>
            </a:r>
            <a:endParaRPr lang="en-US" sz="1050" dirty="0"/>
          </a:p>
        </p:txBody>
      </p:sp>
      <p:sp>
        <p:nvSpPr>
          <p:cNvPr id="27" name="Text 19"/>
          <p:cNvSpPr txBox="1"/>
          <p:nvPr/>
        </p:nvSpPr>
        <p:spPr>
          <a:xfrm>
            <a:off x="761695" y="493867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prompt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chat_input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"질문하세요"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Text 20"/>
          <p:cNvSpPr txBox="1"/>
          <p:nvPr/>
        </p:nvSpPr>
        <p:spPr>
          <a:xfrm>
            <a:off x="761695" y="5155387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prompt:</a:t>
            </a:r>
            <a:endParaRPr lang="en-US" sz="1050" dirty="0"/>
          </a:p>
        </p:txBody>
      </p:sp>
      <p:sp>
        <p:nvSpPr>
          <p:cNvPr id="29" name="Text 21"/>
          <p:cNvSpPr txBox="1"/>
          <p:nvPr/>
        </p:nvSpPr>
        <p:spPr>
          <a:xfrm>
            <a:off x="761695" y="537210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st.session_state.messages.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761695" y="5588813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{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"role"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"user"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"content"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prompt}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580552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6552590" y="2048256"/>
            <a:ext cx="4877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st.file_uploader — 파일 받기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6476695" y="2523744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file_uploader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6476695" y="2759659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  "CSV 업로드"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type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"csv"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"xlsx"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6476695" y="2994660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6" name="Text 28"/>
          <p:cNvSpPr txBox="1"/>
          <p:nvPr/>
        </p:nvSpPr>
        <p:spPr>
          <a:xfrm>
            <a:off x="6476695" y="3324758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file: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6476695" y="3560674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df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read_csv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(file)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6476695" y="3795674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dataframe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6600139" y="4457700"/>
            <a:ext cx="48774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@st.cache_data — 결과 재사용</a:t>
            </a:r>
            <a:endParaRPr lang="en-US" sz="1600" dirty="0"/>
          </a:p>
        </p:txBody>
      </p:sp>
      <p:sp>
        <p:nvSpPr>
          <p:cNvPr id="40" name="Text 32"/>
          <p:cNvSpPr txBox="1"/>
          <p:nvPr/>
        </p:nvSpPr>
        <p:spPr>
          <a:xfrm>
            <a:off x="6524244" y="4762195"/>
            <a:ext cx="4953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위젯 조작마다 파일 다시 읽는 건 낭비.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인자로 호출되면 </a:t>
            </a: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기억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즉시 반환.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6524244" y="5429707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st.cache_data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6524244" y="5664708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load_data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(path):</a:t>
            </a:r>
            <a:endParaRPr lang="en-US" sz="1050" dirty="0"/>
          </a:p>
        </p:txBody>
      </p:sp>
      <p:sp>
        <p:nvSpPr>
          <p:cNvPr id="43" name="Text 35"/>
          <p:cNvSpPr txBox="1"/>
          <p:nvPr/>
        </p:nvSpPr>
        <p:spPr>
          <a:xfrm>
            <a:off x="6524244" y="5899709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pd.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read_csv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(path)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6524244" y="6134710"/>
            <a:ext cx="49533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DB 연결·모델 같은 공유 자원 → @st.cache_resource</a:t>
            </a:r>
            <a:endParaRPr lang="en-US" sz="105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5" y="0"/>
            <a:ext cx="12191695" cy="6858000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8109cc2ce2cff5793a8eb31c4e61bbc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6" name="Image 1" descr="gen-dedup-f0981059295ec0e5e6f12472a28814f3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4524451"/>
            <a:ext cx="761695" cy="38405"/>
          </a:xfrm>
          <a:prstGeom prst="rect">
            <a:avLst/>
          </a:prstGeom>
        </p:spPr>
      </p:pic>
      <p:pic>
        <p:nvPicPr>
          <p:cNvPr id="7" name="Image 2" descr="gen-dedup-11e45eb0d139f3da66429993f9071326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8667598" y="1619402"/>
            <a:ext cx="761695" cy="192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12380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TWO · 8 HOURS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666951"/>
            <a:ext cx="76206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kern="0" spc="-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9500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4714646"/>
            <a:ext cx="762061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· DB · 인증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 통합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8667598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SCHEDULE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667598" y="1904695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09:00 — 12:00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8667598" y="2078431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1. REST API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Node.js 백엔드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667598" y="2569464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3H · Express · CRUD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8667598" y="3012948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13:00 — 16:00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8667598" y="3185770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2. DB 연동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프론트-백 통합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667598" y="3676802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3H · Supabase · RLS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8667598" y="4120286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16:00 — 18:00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667598" y="4293108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3. 인증·인가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JWT / OAuth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667598" y="4785055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2H · 로그인·회원가입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771754" y="6286500"/>
            <a:ext cx="7420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끝에는 — 1일차 React 앱이 DB와 로그인까지 연결된 진짜 서비스가 됩니다.</a:t>
            </a:r>
            <a:endParaRPr lang="en-US" sz="1100" dirty="0"/>
          </a:p>
        </p:txBody>
      </p:sp>
      <p:pic>
        <p:nvPicPr>
          <p:cNvPr id="22" name="Image 3" descr="gen-dedup-bad6fe61bf6353da04538a63d58db9a8.png"/>
          <p:cNvPicPr>
            <a:picLocks noChangeAspect="1"/>
          </p:cNvPicPr>
          <p:nvPr/>
        </p:nvPicPr>
        <p:blipFill>
          <a:blip r:embed="rId5"/>
          <a:srcRect t="-556" b="-556"/>
          <a:stretch/>
        </p:blipFill>
        <p:spPr>
          <a:xfrm>
            <a:off x="571500" y="6313932"/>
            <a:ext cx="123444" cy="142646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1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12:00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· API 설계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설계 &amp;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 백엔드 구현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029200" y="4048049"/>
            <a:ext cx="6590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설계 원칙과 HTTP 메서드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5029200" y="4390949"/>
            <a:ext cx="6590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서버로 CRUD API 구축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029200" y="4733849"/>
            <a:ext cx="6590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미들웨어 · 에러 처리 패턴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029200" y="5076749"/>
            <a:ext cx="65909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AI로 백엔드 코드 자동 생성</a:t>
            </a:r>
            <a:endParaRPr lang="en-US" sz="1300" dirty="0"/>
          </a:p>
        </p:txBody>
      </p:sp>
      <p:pic>
        <p:nvPicPr>
          <p:cNvPr id="21" name="Image 4" descr="gen-dedup-8c24c31a5c6c76d14070db4bdfa98ea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2195" y="4126687"/>
            <a:ext cx="171907" cy="171907"/>
          </a:xfrm>
          <a:prstGeom prst="rect">
            <a:avLst/>
          </a:prstGeom>
        </p:spPr>
      </p:pic>
      <p:pic>
        <p:nvPicPr>
          <p:cNvPr id="22" name="Image 5" descr="gen-dedup-8c24c31a5c6c76d14070db4bdfa98ea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2195" y="4469587"/>
            <a:ext cx="171907" cy="171907"/>
          </a:xfrm>
          <a:prstGeom prst="rect">
            <a:avLst/>
          </a:prstGeom>
        </p:spPr>
      </p:pic>
      <p:pic>
        <p:nvPicPr>
          <p:cNvPr id="23" name="Image 6" descr="gen-dedup-8c24c31a5c6c76d14070db4bdfa98ea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2195" y="4812487"/>
            <a:ext cx="171907" cy="171907"/>
          </a:xfrm>
          <a:prstGeom prst="rect">
            <a:avLst/>
          </a:prstGeom>
        </p:spPr>
      </p:pic>
      <p:pic>
        <p:nvPicPr>
          <p:cNvPr id="24" name="Image 7" descr="gen-dedup-8c24c31a5c6c76d14070db4bdfa98ea1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62195" y="5155387"/>
            <a:ext cx="171907" cy="171907"/>
          </a:xfrm>
          <a:prstGeom prst="rect">
            <a:avLst/>
          </a:prstGeom>
        </p:spPr>
      </p:pic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11239805" cy="2095805"/>
          </a:xfrm>
          <a:prstGeom prst="roundRect">
            <a:avLst>
              <a:gd name="adj" fmla="val 3966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6" name="Image 1" descr="gen-dedup-d3ade11a0a0eb67218789f7e6f842ecc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571500" y="4095598"/>
            <a:ext cx="38405" cy="2862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1500" y="4572000"/>
            <a:ext cx="2734056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3476549" y="4572000"/>
            <a:ext cx="2734056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6381598" y="4572000"/>
            <a:ext cx="2734056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9286646" y="4572000"/>
            <a:ext cx="2523744" cy="1904695"/>
          </a:xfrm>
          <a:prstGeom prst="roundRect">
            <a:avLst>
              <a:gd name="adj" fmla="val 384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52805" y="2143354"/>
            <a:ext cx="2324405" cy="13716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3" name="Shape 8"/>
          <p:cNvSpPr/>
          <p:nvPr/>
        </p:nvSpPr>
        <p:spPr>
          <a:xfrm>
            <a:off x="4714646" y="2143354"/>
            <a:ext cx="2324405" cy="13716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4" name="Shape 9"/>
          <p:cNvSpPr/>
          <p:nvPr/>
        </p:nvSpPr>
        <p:spPr>
          <a:xfrm>
            <a:off x="8477402" y="2143354"/>
            <a:ext cx="2286000" cy="1333195"/>
          </a:xfrm>
          <a:prstGeom prst="roundRect">
            <a:avLst>
              <a:gd name="adj" fmla="val 979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5" name="Shape 10"/>
          <p:cNvSpPr/>
          <p:nvPr/>
        </p:nvSpPr>
        <p:spPr>
          <a:xfrm>
            <a:off x="1095451" y="2286000"/>
            <a:ext cx="286207" cy="286207"/>
          </a:xfrm>
          <a:prstGeom prst="roundRect">
            <a:avLst>
              <a:gd name="adj" fmla="val 127796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16" name="Image 3" descr="gen-dedup-3161c584735c9f480ae7dd968c3bf2fb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3381451" y="2743200"/>
            <a:ext cx="1143000" cy="19202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476902" y="2695651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18" name="Shape 12"/>
          <p:cNvSpPr/>
          <p:nvPr/>
        </p:nvSpPr>
        <p:spPr>
          <a:xfrm>
            <a:off x="4858207" y="2286000"/>
            <a:ext cx="286207" cy="286207"/>
          </a:xfrm>
          <a:prstGeom prst="roundRect">
            <a:avLst>
              <a:gd name="adj" fmla="val 127796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pic>
        <p:nvPicPr>
          <p:cNvPr id="19" name="Image 4" descr="gen-dedup-3161c584735c9f480ae7dd968c3bf2fb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7144207" y="2743200"/>
            <a:ext cx="1143000" cy="19202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8238744" y="2695651"/>
            <a:ext cx="75895" cy="114300"/>
          </a:xfrm>
          <a:prstGeom prst="rect">
            <a:avLst/>
          </a:prstGeom>
          <a:noFill/>
          <a:ln w="762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21" name="Shape 14"/>
          <p:cNvSpPr/>
          <p:nvPr/>
        </p:nvSpPr>
        <p:spPr>
          <a:xfrm>
            <a:off x="8620049" y="2286000"/>
            <a:ext cx="286207" cy="286207"/>
          </a:xfrm>
          <a:prstGeom prst="roundRect">
            <a:avLst>
              <a:gd name="adj" fmla="val 127796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>
              <a:lnSpc>
                <a:spcPct val="150000"/>
              </a:lnSpc>
            </a:pPr>
            <a:endParaRPr lang="ko-KR" altLang="en-US" sz="2400"/>
          </a:p>
        </p:txBody>
      </p:sp>
      <p:sp>
        <p:nvSpPr>
          <p:cNvPr id="22" name="Text 1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1 · 1/4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· 프론트와 백을 잇는 약속</a:t>
            </a:r>
            <a:endParaRPr lang="en-US" sz="3300" dirty="0"/>
          </a:p>
        </p:txBody>
      </p:sp>
      <p:sp>
        <p:nvSpPr>
          <p:cNvPr id="24" name="Text 1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웹에서 데이터를 주고받는 표준 방식 — HTTP 메서드로 리소스를 다룹니다.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1476756" y="2286000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1095451" y="2714854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앱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fetch('/api/todos')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3381451" y="2428646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요청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3381451" y="2857500"/>
            <a:ext cx="1143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· POST · PUT · DELETE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238598" y="2286000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 (REST API)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4858207" y="2714854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app.get('/api/todos', ...)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7144207" y="2428646"/>
            <a:ext cx="1143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쿼리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144207" y="2857500"/>
            <a:ext cx="1143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· INSERT · ...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9001354" y="2286000"/>
            <a:ext cx="1619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620049" y="2714854"/>
            <a:ext cx="2000707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(PostgreSQL)</a:t>
            </a:r>
            <a:endParaRPr lang="en-US" sz="105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todos · users 테이블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743407" y="4095598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REST의 4가지 원칙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761695" y="4762195"/>
            <a:ext cx="233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2700" dirty="0"/>
          </a:p>
        </p:txBody>
      </p:sp>
      <p:sp>
        <p:nvSpPr>
          <p:cNvPr id="37" name="Text 30"/>
          <p:cNvSpPr txBox="1"/>
          <p:nvPr/>
        </p:nvSpPr>
        <p:spPr>
          <a:xfrm>
            <a:off x="761695" y="5333695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= URL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761695" y="5715000"/>
            <a:ext cx="2334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데이터를 URL로 식별.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/api/todos · /api/users/3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3666744" y="4762195"/>
            <a:ext cx="233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2700" dirty="0"/>
          </a:p>
        </p:txBody>
      </p:sp>
      <p:sp>
        <p:nvSpPr>
          <p:cNvPr id="40" name="Text 33"/>
          <p:cNvSpPr txBox="1"/>
          <p:nvPr/>
        </p:nvSpPr>
        <p:spPr>
          <a:xfrm>
            <a:off x="3666744" y="5333695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동사 = HTTP 메서드</a:t>
            </a:r>
            <a:endParaRPr lang="en-US" sz="1300" dirty="0"/>
          </a:p>
        </p:txBody>
      </p:sp>
      <p:sp>
        <p:nvSpPr>
          <p:cNvPr id="41" name="Text 34"/>
          <p:cNvSpPr txBox="1"/>
          <p:nvPr/>
        </p:nvSpPr>
        <p:spPr>
          <a:xfrm>
            <a:off x="3666744" y="5715000"/>
            <a:ext cx="2334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URL이 아니라 메서드로 동작 표현.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GET · POST · PUT · DELETE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6572707" y="4762195"/>
            <a:ext cx="23344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2700" dirty="0"/>
          </a:p>
        </p:txBody>
      </p:sp>
      <p:sp>
        <p:nvSpPr>
          <p:cNvPr id="43" name="Text 36"/>
          <p:cNvSpPr txBox="1"/>
          <p:nvPr/>
        </p:nvSpPr>
        <p:spPr>
          <a:xfrm>
            <a:off x="6572707" y="5333695"/>
            <a:ext cx="23344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형식</a:t>
            </a:r>
            <a:endParaRPr lang="en-US" sz="1300" dirty="0"/>
          </a:p>
        </p:txBody>
      </p:sp>
      <p:sp>
        <p:nvSpPr>
          <p:cNvPr id="44" name="Text 37"/>
          <p:cNvSpPr txBox="1"/>
          <p:nvPr/>
        </p:nvSpPr>
        <p:spPr>
          <a:xfrm>
            <a:off x="6572707" y="5715000"/>
            <a:ext cx="2334463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요청·응답 본문은 JSON.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b="1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{"id":1, "title":"공부"}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477756" y="4762195"/>
            <a:ext cx="21433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2700" dirty="0"/>
          </a:p>
        </p:txBody>
      </p:sp>
      <p:sp>
        <p:nvSpPr>
          <p:cNvPr id="46" name="Text 39"/>
          <p:cNvSpPr txBox="1"/>
          <p:nvPr/>
        </p:nvSpPr>
        <p:spPr>
          <a:xfrm>
            <a:off x="9477756" y="5333695"/>
            <a:ext cx="2143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비저장</a:t>
            </a:r>
            <a:endParaRPr lang="en-US" sz="1300" dirty="0"/>
          </a:p>
        </p:txBody>
      </p:sp>
      <p:sp>
        <p:nvSpPr>
          <p:cNvPr id="47" name="Text 40"/>
          <p:cNvSpPr txBox="1"/>
          <p:nvPr/>
        </p:nvSpPr>
        <p:spPr>
          <a:xfrm>
            <a:off x="9477756" y="5715000"/>
            <a:ext cx="220472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요청마다 독립.</a:t>
            </a:r>
            <a:endParaRPr lang="en-US" sz="1000" dirty="0"/>
          </a:p>
          <a:p>
            <a:pPr marL="0" indent="0" algn="l">
              <a:lnSpc>
                <a:spcPct val="20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요청을 서버가 기억 X → 토큰 전달.</a:t>
            </a:r>
            <a:endParaRPr lang="en-US" sz="1000" dirty="0"/>
          </a:p>
        </p:txBody>
      </p:sp>
      <p:pic>
        <p:nvPicPr>
          <p:cNvPr id="48" name="Image 5" descr="gen-dedup-b15142f1207d0330223a3755793759a2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202" y="2371954"/>
            <a:ext cx="152705" cy="152705"/>
          </a:xfrm>
          <a:prstGeom prst="rect">
            <a:avLst/>
          </a:prstGeom>
        </p:spPr>
      </p:pic>
      <p:pic>
        <p:nvPicPr>
          <p:cNvPr id="49" name="Image 6" descr="gen-dedup-af600f7720bf27f1663825d6d6d7a7b8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4924044" y="2371954"/>
            <a:ext cx="133502" cy="152705"/>
          </a:xfrm>
          <a:prstGeom prst="rect">
            <a:avLst/>
          </a:prstGeom>
        </p:spPr>
      </p:pic>
      <p:pic>
        <p:nvPicPr>
          <p:cNvPr id="50" name="Image 7" descr="gen-dedup-d6df90b916e7379bebebc6e340520af9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8686800" y="2371954"/>
            <a:ext cx="133502" cy="152705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pic>
        <p:nvPicPr>
          <p:cNvPr id="5" name="Image 1" descr="gen-dedup-c345c5401a49308dce747518429555a0.png"/>
          <p:cNvPicPr>
            <a:picLocks noChangeAspect="1"/>
          </p:cNvPicPr>
          <p:nvPr/>
        </p:nvPicPr>
        <p:blipFill>
          <a:blip r:embed="rId3"/>
          <a:srcRect t="-14" b="-14"/>
          <a:stretch/>
        </p:blipFill>
        <p:spPr>
          <a:xfrm>
            <a:off x="571500" y="1762049"/>
            <a:ext cx="7239305" cy="4764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2238451"/>
            <a:ext cx="7239305" cy="5715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3"/>
          <p:cNvSpPr/>
          <p:nvPr/>
        </p:nvSpPr>
        <p:spPr>
          <a:xfrm>
            <a:off x="571500" y="2809951"/>
            <a:ext cx="7239305" cy="57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571500" y="3381451"/>
            <a:ext cx="7239305" cy="5715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64fed65cc9b48031863ad54521a49522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571500" y="3952951"/>
            <a:ext cx="7239305" cy="5715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001000" y="1762049"/>
            <a:ext cx="3810305" cy="2762402"/>
          </a:xfrm>
          <a:prstGeom prst="roundRect">
            <a:avLst>
              <a:gd name="adj" fmla="val 1826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571500" y="4762195"/>
            <a:ext cx="11239805" cy="1714500"/>
          </a:xfrm>
          <a:prstGeom prst="roundRect">
            <a:avLst>
              <a:gd name="adj" fmla="val 5926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3" descr="gen-dedup-4e77c3377c6c45a4b5b45870d0212f95.png"/>
          <p:cNvPicPr>
            <a:picLocks noChangeAspect="1"/>
          </p:cNvPicPr>
          <p:nvPr/>
        </p:nvPicPr>
        <p:blipFill>
          <a:blip r:embed="rId5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3" name="Image 4" descr="gen-dedup-0812ced5989c7ce47ae32d9965adfc52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571500" y="4762195"/>
            <a:ext cx="57607" cy="17145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1 · 2/4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메서드 ↔ CRUD 매핑</a:t>
            </a:r>
            <a:endParaRPr lang="en-US" sz="33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메서드 · 4가지 CRUD 동작 · 6가지 핵심 상태 코드.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1886407"/>
            <a:ext cx="13341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메서드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2286000" y="1886407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CRUD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3429000" y="1886407"/>
            <a:ext cx="2286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예시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905195" y="1886407"/>
            <a:ext cx="1714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2391156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2286000" y="242864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3429000" y="2428646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/api/todos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5905195" y="242864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조회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2962656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2286000" y="300014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Create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000146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/api/todos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5905195" y="300014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 할 일 생성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3534156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PUT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2286000" y="357164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Update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3429000" y="3571646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/api/todos/:id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5905195" y="357164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할 일 수정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4105656"/>
            <a:ext cx="13341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3A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2286000" y="4143146"/>
            <a:ext cx="9528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Delete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3429000" y="4143146"/>
            <a:ext cx="22860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/api/todos/:id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5905195" y="414314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할 일 삭제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8191195" y="1904695"/>
            <a:ext cx="3429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HTTP STATUS CODES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8191195" y="2190902"/>
            <a:ext cx="3429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기억할 6가지</a:t>
            </a:r>
            <a:endParaRPr lang="en-US" sz="1600" dirty="0"/>
          </a:p>
        </p:txBody>
      </p:sp>
      <p:sp>
        <p:nvSpPr>
          <p:cNvPr id="39" name="Text 32"/>
          <p:cNvSpPr txBox="1"/>
          <p:nvPr/>
        </p:nvSpPr>
        <p:spPr>
          <a:xfrm>
            <a:off x="8191195" y="2667305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조회 성공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8191195" y="2920594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201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생성 성공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8191195" y="3173882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400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Bad Req.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잘못된 요청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8191195" y="3427171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401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Unauth.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인증 필요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8191195" y="3680460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404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 Found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리소스 없음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8191195" y="3933749"/>
            <a:ext cx="34290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 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Server Err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서버 오류</a:t>
            </a:r>
            <a:endParaRPr lang="en-US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33602" y="4953305"/>
            <a:ext cx="5639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API 설계를 한 번에 받기</a:t>
            </a:r>
            <a:endParaRPr lang="en-US" sz="1000" dirty="0"/>
          </a:p>
        </p:txBody>
      </p:sp>
      <p:sp>
        <p:nvSpPr>
          <p:cNvPr id="46" name="Text 39"/>
          <p:cNvSpPr txBox="1"/>
          <p:nvPr/>
        </p:nvSpPr>
        <p:spPr>
          <a:xfrm>
            <a:off x="857707" y="5286146"/>
            <a:ext cx="1076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</a:t>
            </a: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할 일 관리 앱의 REST API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를 설계해줘. 리소스: todos, users / 기능: CRUD + 인증 / 인증: JWT.</a:t>
            </a:r>
            <a:endParaRPr lang="en-US" sz="900" dirty="0"/>
          </a:p>
        </p:txBody>
      </p:sp>
      <p:sp>
        <p:nvSpPr>
          <p:cNvPr id="47" name="Text 40"/>
          <p:cNvSpPr txBox="1"/>
          <p:nvPr/>
        </p:nvSpPr>
        <p:spPr>
          <a:xfrm>
            <a:off x="857707" y="5509260"/>
            <a:ext cx="1076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각 엔드포인트에 대해 </a:t>
            </a: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HTTP 메서드 + URL + 요청 Body + 응답 예시 + 인증 필요 여부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를 </a:t>
            </a:r>
            <a:r>
              <a:rPr lang="en-US" sz="9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마크다운 표</a:t>
            </a: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로 정리해줘."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857707" y="5827471"/>
            <a:ext cx="10763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AI가 즉시 8~12개 엔드포인트를 표로 정리해 줍니다. 그것을 그대로 Express 코드로 구현하면 끝.</a:t>
            </a:r>
            <a:endParaRPr lang="en-US" sz="9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666780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429500" y="5715000"/>
            <a:ext cx="4381805" cy="761695"/>
          </a:xfrm>
          <a:prstGeom prst="roundRect">
            <a:avLst>
              <a:gd name="adj" fmla="val 2401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54ec6f22bd41c0f024744344ef26738f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571500" y="1762049"/>
            <a:ext cx="6667805" cy="3429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429500" y="2286000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7429500" y="2952598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7429500" y="3619195"/>
            <a:ext cx="342900" cy="3429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7429500" y="4286707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7429500" y="4953305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9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1 · 3/4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서버 — 30줄로 띄우기</a:t>
            </a:r>
            <a:endParaRPr lang="en-US" sz="33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설치 한 번, 코드 30줄. 5분이면 API 서버가 동작합니다.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" y="1837944"/>
            <a:ext cx="622889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server.js · Express CRUD 골격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761695" y="2286000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① 패키지 가져오기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2496312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express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'express'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761695" y="270662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cors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'cors'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761695" y="3012948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② 미들웨어 등록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61695" y="3223260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app = express();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61695" y="3433572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app.use(cors());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프론트 도메인 허용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761695" y="364388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app.use(express.json());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JSON body 파싱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61695" y="394929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③ GET /api/todos — 전체 조회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761695" y="4159606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'/api/todos'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(req, res) =&gt; {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761695" y="4370832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res.json({ todos: [] });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761695" y="458114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761695" y="488655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④ POST /api/todos — 새 할 일 추가</a:t>
            </a:r>
            <a:endParaRPr lang="en-US" sz="1050" dirty="0"/>
          </a:p>
        </p:txBody>
      </p:sp>
      <p:sp>
        <p:nvSpPr>
          <p:cNvPr id="30" name="Text 25"/>
          <p:cNvSpPr txBox="1"/>
          <p:nvPr/>
        </p:nvSpPr>
        <p:spPr>
          <a:xfrm>
            <a:off x="761695" y="5096866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'/api/todos'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(req, res) =&gt; {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761695" y="5307178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title } = req.body;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761695" y="5518404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res.</a:t>
            </a:r>
            <a:r>
              <a:rPr lang="en-US" sz="105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(201).json({ id: Date.now(), title });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761695" y="5728716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34" name="Text 29"/>
          <p:cNvSpPr txBox="1"/>
          <p:nvPr/>
        </p:nvSpPr>
        <p:spPr>
          <a:xfrm>
            <a:off x="761695" y="6034126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⑤ 서버 시작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761695" y="6244438"/>
            <a:ext cx="6286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listen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(3001, () =&gt; console.log(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'→ :3001'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));</a:t>
            </a:r>
            <a:endParaRPr lang="en-US" sz="1050" dirty="0"/>
          </a:p>
        </p:txBody>
      </p:sp>
      <p:sp>
        <p:nvSpPr>
          <p:cNvPr id="36" name="Text 31"/>
          <p:cNvSpPr txBox="1"/>
          <p:nvPr/>
        </p:nvSpPr>
        <p:spPr>
          <a:xfrm>
            <a:off x="7429500" y="1904695"/>
            <a:ext cx="4381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 해설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7905902" y="2286000"/>
            <a:ext cx="3905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패키지 import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7905902" y="2438705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i express cors · package.json에 "type": "module"</a:t>
            </a:r>
            <a:r>
              <a:rPr lang="en-US" sz="800" dirty="0">
                <a:solidFill>
                  <a:srgbClr val="6C75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7905902" y="2952598"/>
            <a:ext cx="3905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미들웨어 등록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7905902" y="3105302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 + JSON 파서. 모든 요청에 자동 적용.</a:t>
            </a:r>
            <a:endParaRPr lang="en-US" sz="900" dirty="0"/>
          </a:p>
        </p:txBody>
      </p:sp>
      <p:sp>
        <p:nvSpPr>
          <p:cNvPr id="41" name="Text 36"/>
          <p:cNvSpPr txBox="1"/>
          <p:nvPr/>
        </p:nvSpPr>
        <p:spPr>
          <a:xfrm>
            <a:off x="7905902" y="3619195"/>
            <a:ext cx="3905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GET — 데이터 조회</a:t>
            </a:r>
            <a:endParaRPr lang="en-US" sz="1200" dirty="0"/>
          </a:p>
        </p:txBody>
      </p:sp>
      <p:sp>
        <p:nvSpPr>
          <p:cNvPr id="42" name="Text 37"/>
          <p:cNvSpPr txBox="1"/>
          <p:nvPr/>
        </p:nvSpPr>
        <p:spPr>
          <a:xfrm>
            <a:off x="7905902" y="3771900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app.get(URL, handler) → res.json()으로 응답.</a:t>
            </a:r>
            <a:endParaRPr lang="en-US" sz="900" dirty="0"/>
          </a:p>
        </p:txBody>
      </p:sp>
      <p:sp>
        <p:nvSpPr>
          <p:cNvPr id="43" name="Text 38"/>
          <p:cNvSpPr txBox="1"/>
          <p:nvPr/>
        </p:nvSpPr>
        <p:spPr>
          <a:xfrm>
            <a:off x="7905902" y="4286707"/>
            <a:ext cx="3905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 — 데이터 생성</a:t>
            </a:r>
            <a:endParaRPr lang="en-US" sz="1200" dirty="0"/>
          </a:p>
        </p:txBody>
      </p:sp>
      <p:sp>
        <p:nvSpPr>
          <p:cNvPr id="44" name="Text 39"/>
          <p:cNvSpPr txBox="1"/>
          <p:nvPr/>
        </p:nvSpPr>
        <p:spPr>
          <a:xfrm>
            <a:off x="7905902" y="4438498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req.body로 입력 받고 201 Created 반환.</a:t>
            </a:r>
            <a:endParaRPr lang="en-US" sz="900" dirty="0"/>
          </a:p>
        </p:txBody>
      </p:sp>
      <p:sp>
        <p:nvSpPr>
          <p:cNvPr id="45" name="Text 40"/>
          <p:cNvSpPr txBox="1"/>
          <p:nvPr/>
        </p:nvSpPr>
        <p:spPr>
          <a:xfrm>
            <a:off x="7905902" y="4953305"/>
            <a:ext cx="39054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app.listen(포트)</a:t>
            </a:r>
            <a:endParaRPr lang="en-US" sz="1200" dirty="0"/>
          </a:p>
        </p:txBody>
      </p:sp>
      <p:sp>
        <p:nvSpPr>
          <p:cNvPr id="46" name="Text 41"/>
          <p:cNvSpPr txBox="1"/>
          <p:nvPr/>
        </p:nvSpPr>
        <p:spPr>
          <a:xfrm>
            <a:off x="7905902" y="5105095"/>
            <a:ext cx="3905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3001 포트에서 대기. node server.js로 실행.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7677302" y="5848502"/>
            <a:ext cx="39428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7619695" y="6014009"/>
            <a:ext cx="46863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Thunder Client(VS Code 확장) 또는 Postman으로 API 호출 → 응답 확인.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7429500" y="22860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</a:t>
            </a:r>
            <a:endParaRPr lang="en-US" sz="1100" dirty="0"/>
          </a:p>
        </p:txBody>
      </p:sp>
      <p:sp>
        <p:nvSpPr>
          <p:cNvPr id="50" name="Text 45"/>
          <p:cNvSpPr txBox="1"/>
          <p:nvPr/>
        </p:nvSpPr>
        <p:spPr>
          <a:xfrm>
            <a:off x="7429500" y="295259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</a:t>
            </a:r>
            <a:endParaRPr lang="en-US" sz="1100" dirty="0"/>
          </a:p>
        </p:txBody>
      </p:sp>
      <p:sp>
        <p:nvSpPr>
          <p:cNvPr id="51" name="Text 46"/>
          <p:cNvSpPr txBox="1"/>
          <p:nvPr/>
        </p:nvSpPr>
        <p:spPr>
          <a:xfrm>
            <a:off x="7429500" y="3619195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7429500" y="4286707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</a:t>
            </a:r>
            <a:endParaRPr lang="en-US" sz="1100" dirty="0"/>
          </a:p>
        </p:txBody>
      </p:sp>
      <p:sp>
        <p:nvSpPr>
          <p:cNvPr id="53" name="Text 48"/>
          <p:cNvSpPr txBox="1"/>
          <p:nvPr/>
        </p:nvSpPr>
        <p:spPr>
          <a:xfrm>
            <a:off x="7429500" y="4953305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</a:t>
            </a:r>
            <a:endParaRPr lang="en-US" sz="1100" dirty="0"/>
          </a:p>
        </p:txBody>
      </p:sp>
      <p:sp>
        <p:nvSpPr>
          <p:cNvPr id="5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2190902" cy="2210105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2933395" y="1762049"/>
            <a:ext cx="2190902" cy="2210105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296205" y="1762049"/>
            <a:ext cx="2171700" cy="2190902"/>
          </a:xfrm>
          <a:prstGeom prst="roundRect">
            <a:avLst>
              <a:gd name="adj" fmla="val 2955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7658100" y="1762049"/>
            <a:ext cx="2190902" cy="2210105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10019995" y="1762049"/>
            <a:ext cx="1809598" cy="2210105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571500" y="4143146"/>
            <a:ext cx="11239805" cy="2381098"/>
          </a:xfrm>
          <a:prstGeom prst="roundRect">
            <a:avLst>
              <a:gd name="adj" fmla="val 307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1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2" name="Image 2" descr="gen-dedup-baa839d501c03faec5551d4257921644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571500" y="1762049"/>
            <a:ext cx="2171700" cy="57607"/>
          </a:xfrm>
          <a:prstGeom prst="rect">
            <a:avLst/>
          </a:prstGeom>
        </p:spPr>
      </p:pic>
      <p:pic>
        <p:nvPicPr>
          <p:cNvPr id="13" name="Image 3" descr="gen-dedup-baa839d501c03faec5551d4257921644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2933395" y="1762049"/>
            <a:ext cx="2171700" cy="57607"/>
          </a:xfrm>
          <a:prstGeom prst="rect">
            <a:avLst/>
          </a:prstGeom>
        </p:spPr>
      </p:pic>
      <p:pic>
        <p:nvPicPr>
          <p:cNvPr id="14" name="Image 4" descr="gen-dedup-1a0edc33ae3b5f77431a849f85c8c1e0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5296205" y="1762049"/>
            <a:ext cx="2171700" cy="57607"/>
          </a:xfrm>
          <a:prstGeom prst="rect">
            <a:avLst/>
          </a:prstGeom>
        </p:spPr>
      </p:pic>
      <p:pic>
        <p:nvPicPr>
          <p:cNvPr id="15" name="Image 5" descr="gen-dedup-dc3c64d751ddcfa8faf999f009805411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7658100" y="1762049"/>
            <a:ext cx="2171700" cy="57607"/>
          </a:xfrm>
          <a:prstGeom prst="rect">
            <a:avLst/>
          </a:prstGeom>
        </p:spPr>
      </p:pic>
      <p:pic>
        <p:nvPicPr>
          <p:cNvPr id="16" name="Image 6" descr="gen-dedup-b4a2cafd8afa92fd77a4442985d8998d.png"/>
          <p:cNvPicPr>
            <a:picLocks noChangeAspect="1"/>
          </p:cNvPicPr>
          <p:nvPr/>
        </p:nvPicPr>
        <p:blipFill>
          <a:blip r:embed="rId7"/>
          <a:srcRect t="-409" b="-409"/>
          <a:stretch/>
        </p:blipFill>
        <p:spPr>
          <a:xfrm>
            <a:off x="10019995" y="1762049"/>
            <a:ext cx="1790395" cy="57607"/>
          </a:xfrm>
          <a:prstGeom prst="rect">
            <a:avLst/>
          </a:prstGeom>
        </p:spPr>
      </p:pic>
      <p:pic>
        <p:nvPicPr>
          <p:cNvPr id="17" name="Image 7" descr="gen-dedup-56414e61d251ec4d0907b980e188bad5.png"/>
          <p:cNvPicPr>
            <a:picLocks noChangeAspect="1"/>
          </p:cNvPicPr>
          <p:nvPr/>
        </p:nvPicPr>
        <p:blipFill>
          <a:blip r:embed="rId8"/>
          <a:srcRect l="-403" r="-403"/>
          <a:stretch/>
        </p:blipFill>
        <p:spPr>
          <a:xfrm>
            <a:off x="571500" y="4143146"/>
            <a:ext cx="57607" cy="2381098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1 · 4/4</a:t>
            </a:r>
            <a:endParaRPr lang="en-US" sz="900" dirty="0"/>
          </a:p>
        </p:txBody>
      </p:sp>
      <p:sp>
        <p:nvSpPr>
          <p:cNvPr id="19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미들웨어 5종 + 실습</a:t>
            </a:r>
            <a:endParaRPr lang="en-US" sz="3300" dirty="0"/>
          </a:p>
        </p:txBody>
      </p:sp>
      <p:sp>
        <p:nvSpPr>
          <p:cNvPr id="20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요청과 응답 사이에 끼어드는 함수. 한 번 등록하면 모든 라우트에 자동 적용됩니다.</a:t>
            </a:r>
            <a:endParaRPr lang="en-US" sz="1300" dirty="0"/>
          </a:p>
        </p:txBody>
      </p:sp>
      <p:sp>
        <p:nvSpPr>
          <p:cNvPr id="21" name="Text 11"/>
          <p:cNvSpPr txBox="1"/>
          <p:nvPr/>
        </p:nvSpPr>
        <p:spPr>
          <a:xfrm>
            <a:off x="761695" y="1952244"/>
            <a:ext cx="1791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CROSS-ORIGIN</a:t>
            </a:r>
            <a:endParaRPr lang="en-US" sz="1050" dirty="0"/>
          </a:p>
        </p:txBody>
      </p:sp>
      <p:sp>
        <p:nvSpPr>
          <p:cNvPr id="22" name="Text 12"/>
          <p:cNvSpPr txBox="1"/>
          <p:nvPr/>
        </p:nvSpPr>
        <p:spPr>
          <a:xfrm>
            <a:off x="761695" y="22192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cors()</a:t>
            </a:r>
            <a:endParaRPr lang="en-US" dirty="0"/>
          </a:p>
        </p:txBody>
      </p:sp>
      <p:sp>
        <p:nvSpPr>
          <p:cNvPr id="23" name="Text 13"/>
          <p:cNvSpPr txBox="1"/>
          <p:nvPr/>
        </p:nvSpPr>
        <p:spPr>
          <a:xfrm>
            <a:off x="761695" y="2619756"/>
            <a:ext cx="17913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 도메인 (예: localhost:5173)에서 API에 접근하도록 허용.</a:t>
            </a:r>
            <a:endParaRPr lang="en-US" sz="1050" dirty="0"/>
          </a:p>
        </p:txBody>
      </p:sp>
      <p:sp>
        <p:nvSpPr>
          <p:cNvPr id="24" name="Text 14"/>
          <p:cNvSpPr txBox="1"/>
          <p:nvPr/>
        </p:nvSpPr>
        <p:spPr>
          <a:xfrm>
            <a:off x="761695" y="3309214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app.use(cors())</a:t>
            </a:r>
            <a:endParaRPr lang="en-US" sz="1000" dirty="0"/>
          </a:p>
        </p:txBody>
      </p:sp>
      <p:sp>
        <p:nvSpPr>
          <p:cNvPr id="25" name="Text 15"/>
          <p:cNvSpPr txBox="1"/>
          <p:nvPr/>
        </p:nvSpPr>
        <p:spPr>
          <a:xfrm>
            <a:off x="3124505" y="1952244"/>
            <a:ext cx="1791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BODY PARSER</a:t>
            </a:r>
            <a:endParaRPr lang="en-US" sz="1050" dirty="0"/>
          </a:p>
        </p:txBody>
      </p:sp>
      <p:sp>
        <p:nvSpPr>
          <p:cNvPr id="26" name="Text 16"/>
          <p:cNvSpPr txBox="1"/>
          <p:nvPr/>
        </p:nvSpPr>
        <p:spPr>
          <a:xfrm>
            <a:off x="3124505" y="22192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express.json()</a:t>
            </a:r>
            <a:endParaRPr lang="en-US" dirty="0"/>
          </a:p>
        </p:txBody>
      </p:sp>
      <p:sp>
        <p:nvSpPr>
          <p:cNvPr id="27" name="Text 17"/>
          <p:cNvSpPr txBox="1"/>
          <p:nvPr/>
        </p:nvSpPr>
        <p:spPr>
          <a:xfrm>
            <a:off x="3124505" y="2619756"/>
            <a:ext cx="1791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POST/PUT 요청 본문(JSON)을 자동으로 req.body로 파싱.</a:t>
            </a:r>
            <a:endParaRPr lang="en-US" sz="1050" dirty="0"/>
          </a:p>
        </p:txBody>
      </p:sp>
      <p:sp>
        <p:nvSpPr>
          <p:cNvPr id="28" name="Text 18"/>
          <p:cNvSpPr txBox="1"/>
          <p:nvPr/>
        </p:nvSpPr>
        <p:spPr>
          <a:xfrm>
            <a:off x="3124505" y="3110789"/>
            <a:ext cx="17913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app.use(express.json())</a:t>
            </a:r>
            <a:endParaRPr lang="en-US" sz="1000" dirty="0"/>
          </a:p>
        </p:txBody>
      </p:sp>
      <p:sp>
        <p:nvSpPr>
          <p:cNvPr id="29" name="Text 19"/>
          <p:cNvSpPr txBox="1"/>
          <p:nvPr/>
        </p:nvSpPr>
        <p:spPr>
          <a:xfrm>
            <a:off x="5486400" y="1952244"/>
            <a:ext cx="1791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AUTH</a:t>
            </a:r>
            <a:endParaRPr lang="en-US" sz="1050" dirty="0"/>
          </a:p>
        </p:txBody>
      </p:sp>
      <p:sp>
        <p:nvSpPr>
          <p:cNvPr id="30" name="Text 20"/>
          <p:cNvSpPr txBox="1"/>
          <p:nvPr/>
        </p:nvSpPr>
        <p:spPr>
          <a:xfrm>
            <a:off x="5486400" y="22192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verifyToken</a:t>
            </a:r>
            <a:endParaRPr lang="en-US" dirty="0"/>
          </a:p>
        </p:txBody>
      </p:sp>
      <p:sp>
        <p:nvSpPr>
          <p:cNvPr id="31" name="Text 21"/>
          <p:cNvSpPr txBox="1"/>
          <p:nvPr/>
        </p:nvSpPr>
        <p:spPr>
          <a:xfrm>
            <a:off x="5486400" y="2619756"/>
            <a:ext cx="17913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토큰을 검증.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유효하지 않으면 401 반환 → 다음 핸들러로 진행 차단.</a:t>
            </a:r>
            <a:endParaRPr lang="en-US" sz="1050" dirty="0"/>
          </a:p>
        </p:txBody>
      </p:sp>
      <p:sp>
        <p:nvSpPr>
          <p:cNvPr id="32" name="Text 22"/>
          <p:cNvSpPr txBox="1"/>
          <p:nvPr/>
        </p:nvSpPr>
        <p:spPr>
          <a:xfrm>
            <a:off x="7848295" y="1952244"/>
            <a:ext cx="17913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ERROR HANDLER</a:t>
            </a:r>
            <a:endParaRPr lang="en-US" sz="1050" dirty="0"/>
          </a:p>
        </p:txBody>
      </p:sp>
      <p:sp>
        <p:nvSpPr>
          <p:cNvPr id="33" name="Text 23"/>
          <p:cNvSpPr txBox="1"/>
          <p:nvPr/>
        </p:nvSpPr>
        <p:spPr>
          <a:xfrm>
            <a:off x="7848295" y="2219249"/>
            <a:ext cx="1791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errorHandler</a:t>
            </a:r>
            <a:endParaRPr lang="en-US" dirty="0"/>
          </a:p>
        </p:txBody>
      </p:sp>
      <p:sp>
        <p:nvSpPr>
          <p:cNvPr id="34" name="Text 24"/>
          <p:cNvSpPr txBox="1"/>
          <p:nvPr/>
        </p:nvSpPr>
        <p:spPr>
          <a:xfrm>
            <a:off x="7848295" y="2619756"/>
            <a:ext cx="17913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전역 에러 처리.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throw된 모든 에러를 잡아 500 응답으로 변환.</a:t>
            </a:r>
            <a:endParaRPr lang="en-US" sz="1050" dirty="0"/>
          </a:p>
        </p:txBody>
      </p:sp>
      <p:sp>
        <p:nvSpPr>
          <p:cNvPr id="35" name="Text 25"/>
          <p:cNvSpPr txBox="1"/>
          <p:nvPr/>
        </p:nvSpPr>
        <p:spPr>
          <a:xfrm>
            <a:off x="10211105" y="1952244"/>
            <a:ext cx="1410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LOG</a:t>
            </a:r>
            <a:endParaRPr lang="en-US" sz="1050" dirty="0"/>
          </a:p>
        </p:txBody>
      </p:sp>
      <p:sp>
        <p:nvSpPr>
          <p:cNvPr id="36" name="Text 26"/>
          <p:cNvSpPr txBox="1"/>
          <p:nvPr/>
        </p:nvSpPr>
        <p:spPr>
          <a:xfrm>
            <a:off x="10211105" y="2219249"/>
            <a:ext cx="14100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morgan</a:t>
            </a:r>
            <a:endParaRPr lang="en-US" dirty="0"/>
          </a:p>
        </p:txBody>
      </p:sp>
      <p:sp>
        <p:nvSpPr>
          <p:cNvPr id="37" name="Text 27"/>
          <p:cNvSpPr txBox="1"/>
          <p:nvPr/>
        </p:nvSpPr>
        <p:spPr>
          <a:xfrm>
            <a:off x="10211105" y="2619756"/>
            <a:ext cx="14100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요청/응답 로그 자동 기록.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디버깅에 필수.</a:t>
            </a:r>
            <a:endParaRPr lang="en-US" sz="1050" dirty="0"/>
          </a:p>
        </p:txBody>
      </p:sp>
      <p:sp>
        <p:nvSpPr>
          <p:cNvPr id="38" name="Text 28"/>
          <p:cNvSpPr txBox="1"/>
          <p:nvPr/>
        </p:nvSpPr>
        <p:spPr>
          <a:xfrm>
            <a:off x="915314" y="4334256"/>
            <a:ext cx="2799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1시간 핸즈온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857707" y="4619549"/>
            <a:ext cx="107634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Express + Todo CRUD 백엔드 자동 생성 요청</a:t>
            </a:r>
            <a:endParaRPr lang="en-US" sz="2400" dirty="0"/>
          </a:p>
        </p:txBody>
      </p:sp>
      <p:sp>
        <p:nvSpPr>
          <p:cNvPr id="40" name="Text 30"/>
          <p:cNvSpPr txBox="1"/>
          <p:nvPr/>
        </p:nvSpPr>
        <p:spPr>
          <a:xfrm>
            <a:off x="857707" y="5286146"/>
            <a:ext cx="5334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Agent 프롬프트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857707" y="5526634"/>
            <a:ext cx="53346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"Express + TypeScript로 Todo CRUD API 만들어줘. cors / json 미들웨어, 에러 핸들러 포함. 인메모리 배열로 임시 저장."</a:t>
            </a:r>
            <a:endParaRPr lang="en-US" sz="1050" dirty="0"/>
          </a:p>
        </p:txBody>
      </p:sp>
      <p:sp>
        <p:nvSpPr>
          <p:cNvPr id="42" name="Text 32"/>
          <p:cNvSpPr txBox="1"/>
          <p:nvPr/>
        </p:nvSpPr>
        <p:spPr>
          <a:xfrm>
            <a:off x="6476695" y="5286146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동작 검증 (Thunder Client)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6476695" y="5526634"/>
            <a:ext cx="5143500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POST /api/todos → 추가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GET /api/todos → 목록 확인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PUT /api/todos/1 → 수정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DELETE /api/todos/1 → 삭제</a:t>
            </a:r>
            <a:endParaRPr lang="en-US" sz="105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2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16:00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 · DB 연동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연동 &amp;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프론트–백엔드 통합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857293" y="40480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프로젝트 생성 + 테이블 설계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4857293" y="43909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RLS(Row Level Security)로 데이터 보안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4857293" y="47338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JS 클라이언트로 CRUD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4857293" y="5076749"/>
            <a:ext cx="67629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 React 앱 ↔ Supabase 통합</a:t>
            </a:r>
            <a:endParaRPr lang="en-US" sz="1300" dirty="0"/>
          </a:p>
        </p:txBody>
      </p:sp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33369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2714854"/>
            <a:ext cx="5524805" cy="761695"/>
          </a:xfrm>
          <a:prstGeom prst="roundRect">
            <a:avLst>
              <a:gd name="adj" fmla="val 2401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3571646"/>
            <a:ext cx="5524805" cy="761695"/>
          </a:xfrm>
          <a:prstGeom prst="roundRect">
            <a:avLst>
              <a:gd name="adj" fmla="val 2401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6286500" y="4429354"/>
            <a:ext cx="5524805" cy="761695"/>
          </a:xfrm>
          <a:prstGeom prst="roundRect">
            <a:avLst>
              <a:gd name="adj" fmla="val 2401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286500" y="5286146"/>
            <a:ext cx="5524805" cy="1238098"/>
          </a:xfrm>
          <a:prstGeom prst="roundRect">
            <a:avLst>
              <a:gd name="adj" fmla="val 9090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76695" y="2905049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6476695" y="3762756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476695" y="4619549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6476695" y="5477256"/>
            <a:ext cx="342900" cy="3429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2 · 1/3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— 백엔드 5분 컷</a:t>
            </a:r>
            <a:endParaRPr lang="en-US" sz="33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오픈소스 Firebase 대안 — DB · 인증 · 스토리지 · 실시간을 한 번에 제공하는 BaaS.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857707" y="2048256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SUPABASE FOR THIS COURSE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857707" y="2428646"/>
            <a:ext cx="49533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Supabase인가</a:t>
            </a:r>
            <a:endParaRPr lang="en-US" sz="2400" dirty="0"/>
          </a:p>
        </p:txBody>
      </p:sp>
      <p:sp>
        <p:nvSpPr>
          <p:cNvPr id="20" name="Text 16"/>
          <p:cNvSpPr txBox="1"/>
          <p:nvPr/>
        </p:nvSpPr>
        <p:spPr>
          <a:xfrm>
            <a:off x="1095451" y="3238805"/>
            <a:ext cx="4715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기반</a:t>
            </a:r>
            <a:endParaRPr lang="en-US" sz="1200" dirty="0"/>
          </a:p>
        </p:txBody>
      </p:sp>
      <p:pic>
        <p:nvPicPr>
          <p:cNvPr id="21" name="Image 2" descr="gen-dedup-0dc8f5392edd38b6cc033f84f2352f99.png"/>
          <p:cNvPicPr>
            <a:picLocks noChangeAspect="1"/>
          </p:cNvPicPr>
          <p:nvPr/>
        </p:nvPicPr>
        <p:blipFill>
          <a:blip r:embed="rId4"/>
          <a:srcRect l="-363" r="-363"/>
          <a:stretch/>
        </p:blipFill>
        <p:spPr>
          <a:xfrm>
            <a:off x="857707" y="3239719"/>
            <a:ext cx="142646" cy="16184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143000" y="3559302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 SQL DB. NoSQL 한계 없음. JOIN · 트랜잭션 다 됩니다.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1095451" y="3857854"/>
            <a:ext cx="47155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REST API 생성</a:t>
            </a:r>
            <a:endParaRPr lang="en-US" sz="1200" dirty="0"/>
          </a:p>
        </p:txBody>
      </p:sp>
      <p:pic>
        <p:nvPicPr>
          <p:cNvPr id="24" name="Image 3" descr="gen-dedup-a013796d7eb274234f7159ebd848c37d.png"/>
          <p:cNvPicPr>
            <a:picLocks noChangeAspect="1"/>
          </p:cNvPicPr>
          <p:nvPr/>
        </p:nvPicPr>
        <p:blipFill>
          <a:blip r:embed="rId5"/>
          <a:srcRect l="-363" r="-363"/>
          <a:stretch/>
        </p:blipFill>
        <p:spPr>
          <a:xfrm>
            <a:off x="857707" y="3858768"/>
            <a:ext cx="142646" cy="16184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4178350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테이블을 만들면 → API 코드 0줄로 즉시 사용 가능.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153058" y="4476902"/>
            <a:ext cx="46579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시스템 내장</a:t>
            </a:r>
            <a:endParaRPr lang="en-US" sz="1200" dirty="0"/>
          </a:p>
        </p:txBody>
      </p:sp>
      <p:pic>
        <p:nvPicPr>
          <p:cNvPr id="27" name="Image 4" descr="gen-dedup-ccaa464b8d015738f812cf225d6973ba.png"/>
          <p:cNvPicPr>
            <a:picLocks noChangeAspect="1"/>
          </p:cNvPicPr>
          <p:nvPr/>
        </p:nvPicPr>
        <p:blipFill>
          <a:blip r:embed="rId6"/>
          <a:srcRect t="-514" b="-514"/>
          <a:stretch/>
        </p:blipFill>
        <p:spPr>
          <a:xfrm>
            <a:off x="857707" y="4477817"/>
            <a:ext cx="200254" cy="16184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43000" y="4797399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· Google · Kakao OAuth — 추가 코드 없이 가능.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1133856" y="5095951"/>
            <a:ext cx="46771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구독</a:t>
            </a:r>
            <a:endParaRPr lang="en-US" sz="1200" dirty="0"/>
          </a:p>
        </p:txBody>
      </p:sp>
      <p:pic>
        <p:nvPicPr>
          <p:cNvPr id="30" name="Image 5" descr="gen-dedup-b4a09d5637e182e6da7a99d291bd479f.png"/>
          <p:cNvPicPr>
            <a:picLocks noChangeAspect="1"/>
          </p:cNvPicPr>
          <p:nvPr/>
        </p:nvPicPr>
        <p:blipFill>
          <a:blip r:embed="rId7"/>
          <a:srcRect t="-284" b="-284"/>
          <a:stretch/>
        </p:blipFill>
        <p:spPr>
          <a:xfrm>
            <a:off x="857707" y="5096866"/>
            <a:ext cx="181051" cy="16184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43000" y="5416448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변경 시 클라이언트에 자동 푸시 — WebSocket 직접 구현 X.</a:t>
            </a:r>
            <a:endParaRPr lang="en-US" sz="1050" dirty="0"/>
          </a:p>
        </p:txBody>
      </p:sp>
      <p:sp>
        <p:nvSpPr>
          <p:cNvPr id="32" name="Text 24"/>
          <p:cNvSpPr txBox="1"/>
          <p:nvPr/>
        </p:nvSpPr>
        <p:spPr>
          <a:xfrm>
            <a:off x="1114654" y="5715000"/>
            <a:ext cx="4696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티어</a:t>
            </a:r>
            <a:endParaRPr lang="en-US" sz="1200" dirty="0"/>
          </a:p>
        </p:txBody>
      </p:sp>
      <p:pic>
        <p:nvPicPr>
          <p:cNvPr id="33" name="Image 6" descr="gen-dedup-de515a2f05e029259c8cd984010b93f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7707" y="5715914"/>
            <a:ext cx="161849" cy="161849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143000" y="6036411"/>
            <a:ext cx="46680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플랜: 프로젝트 2개, 1주일 미사용 시 일시 중지(2026-10).</a:t>
            </a:r>
            <a:endParaRPr lang="en-US" sz="1050" dirty="0"/>
          </a:p>
        </p:txBody>
      </p:sp>
      <p:sp>
        <p:nvSpPr>
          <p:cNvPr id="35" name="Text 26"/>
          <p:cNvSpPr txBox="1"/>
          <p:nvPr/>
        </p:nvSpPr>
        <p:spPr>
          <a:xfrm>
            <a:off x="6286500" y="1904695"/>
            <a:ext cx="5524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4-STEP SETUP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286500" y="2190902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 안에 백엔드 구축</a:t>
            </a:r>
            <a:endParaRPr lang="en-US" sz="1800" dirty="0"/>
          </a:p>
        </p:txBody>
      </p:sp>
      <p:sp>
        <p:nvSpPr>
          <p:cNvPr id="37" name="Text 28"/>
          <p:cNvSpPr txBox="1"/>
          <p:nvPr/>
        </p:nvSpPr>
        <p:spPr>
          <a:xfrm>
            <a:off x="6953098" y="2857500"/>
            <a:ext cx="4715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supabase.com 가입 + 프로젝트 생성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6953098" y="3124505"/>
            <a:ext cx="4715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계정으로 로그인. 지역은 Northeast Asia(Seoul) 권장.</a:t>
            </a:r>
            <a:endParaRPr lang="en-US" sz="1050" dirty="0"/>
          </a:p>
        </p:txBody>
      </p:sp>
      <p:sp>
        <p:nvSpPr>
          <p:cNvPr id="39" name="Text 30"/>
          <p:cNvSpPr txBox="1"/>
          <p:nvPr/>
        </p:nvSpPr>
        <p:spPr>
          <a:xfrm>
            <a:off x="6953098" y="3715207"/>
            <a:ext cx="4715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+ publishable key 복사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953098" y="3981298"/>
            <a:ext cx="47155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Settings → API Keys(또는 Connect) → .env에 저장.</a:t>
            </a:r>
            <a:endParaRPr lang="en-US" sz="1050" dirty="0"/>
          </a:p>
        </p:txBody>
      </p:sp>
      <p:sp>
        <p:nvSpPr>
          <p:cNvPr id="41" name="Text 32"/>
          <p:cNvSpPr txBox="1"/>
          <p:nvPr/>
        </p:nvSpPr>
        <p:spPr>
          <a:xfrm>
            <a:off x="6953098" y="4572000"/>
            <a:ext cx="4715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npm install + 클라이언트 설치</a:t>
            </a:r>
            <a:endParaRPr lang="en-US" sz="1600" dirty="0"/>
          </a:p>
        </p:txBody>
      </p:sp>
      <p:sp>
        <p:nvSpPr>
          <p:cNvPr id="42" name="Text 33"/>
          <p:cNvSpPr txBox="1"/>
          <p:nvPr/>
        </p:nvSpPr>
        <p:spPr>
          <a:xfrm>
            <a:off x="6953098" y="4839005"/>
            <a:ext cx="4715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@supabase/supabase-js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6953098" y="5429707"/>
            <a:ext cx="4715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클라이언트 초기화</a:t>
            </a:r>
            <a:endParaRPr lang="en-US" sz="1200" dirty="0"/>
          </a:p>
        </p:txBody>
      </p:sp>
      <p:sp>
        <p:nvSpPr>
          <p:cNvPr id="44" name="Text 35"/>
          <p:cNvSpPr txBox="1"/>
          <p:nvPr/>
        </p:nvSpPr>
        <p:spPr>
          <a:xfrm>
            <a:off x="6953098" y="5695798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createClient }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'@supabase/supabase-js'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6953098" y="5878678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export const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 = createClient(URL, KEY);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6953098" y="6096762"/>
            <a:ext cx="47155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어디서든 import해서 바로 사용</a:t>
            </a:r>
            <a:endParaRPr lang="en-US" sz="1050" dirty="0"/>
          </a:p>
        </p:txBody>
      </p:sp>
      <p:sp>
        <p:nvSpPr>
          <p:cNvPr id="47" name="Text 38"/>
          <p:cNvSpPr txBox="1"/>
          <p:nvPr/>
        </p:nvSpPr>
        <p:spPr>
          <a:xfrm>
            <a:off x="6476695" y="2905049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6476695" y="376275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6476695" y="4619549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6476695" y="547725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647669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239305" y="1762049"/>
            <a:ext cx="4572000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7239305" y="4238244"/>
            <a:ext cx="4572000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cc7a5f0ab0936928236bb6c12426b9be.png"/>
          <p:cNvPicPr>
            <a:picLocks noChangeAspect="1"/>
          </p:cNvPicPr>
          <p:nvPr/>
        </p:nvPicPr>
        <p:blipFill>
          <a:blip r:embed="rId4"/>
          <a:srcRect t="-2" b="-2"/>
          <a:stretch/>
        </p:blipFill>
        <p:spPr>
          <a:xfrm>
            <a:off x="571500" y="1762049"/>
            <a:ext cx="6476695" cy="342900"/>
          </a:xfrm>
          <a:prstGeom prst="rect">
            <a:avLst/>
          </a:prstGeom>
        </p:spPr>
      </p:pic>
      <p:pic>
        <p:nvPicPr>
          <p:cNvPr id="10" name="Image 3" descr="gen-dedup-b45b9144a584143496e8fa88cc85eec6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7239305" y="1762049"/>
            <a:ext cx="57607" cy="22860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2 · 2/3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테이블 설계 + RLS 정책</a:t>
            </a:r>
            <a:endParaRPr lang="en-US" sz="33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Editor에서 3개 명령으로 — 테이블 + 보안 정책까지 한 번에 끝납니다.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942746" y="1837944"/>
            <a:ext cx="5915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SQL Editor · todos 테이블 + RLS</a:t>
            </a:r>
            <a:endParaRPr lang="en-US" sz="1050" dirty="0"/>
          </a:p>
        </p:txBody>
      </p:sp>
      <p:pic>
        <p:nvPicPr>
          <p:cNvPr id="15" name="Image 4" descr="gen-dedup-3c276505826f03f22085ad24a4d0975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761695" y="1872691"/>
            <a:ext cx="123444" cy="12344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61695" y="2286000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-- ① 테이블 생성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496312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todos (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706624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id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UUID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DEFAULT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gen_random_uuid()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PRIMARY KEY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916936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user_id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UUID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REFERENCES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auth.users(id),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128162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title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NOT NULL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338474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completed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BOOLEAN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DEFAULT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false,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548786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created_at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TIMESTAMPTZ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DEFAULT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now()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759098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102913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-- ② RLS 활성화 (행 단위 보안)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4313225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ALTER TABLE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ENABLE ROW LEVEL SECURITY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4657039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-- ③ 본인 데이터만 접근 가능 정책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4867351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POLICY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"Users manage own todos"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077663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todos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 ALL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5288890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USING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(auth.uid() = user_id);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5632704"/>
            <a:ext cx="60963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✓ 이제 이 테이블용 REST API를 바로 쓸 수 있습니다.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7744054" y="1952244"/>
            <a:ext cx="38770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· ROW LEVEL SECURITY</a:t>
            </a:r>
            <a:endParaRPr lang="en-US" sz="1050" dirty="0"/>
          </a:p>
        </p:txBody>
      </p:sp>
      <p:pic>
        <p:nvPicPr>
          <p:cNvPr id="32" name="Image 5" descr="gen-dedup-9505fb6afb0cbd958022a09a8e45e64b.png"/>
          <p:cNvPicPr>
            <a:picLocks noChangeAspect="1"/>
          </p:cNvPicPr>
          <p:nvPr/>
        </p:nvPicPr>
        <p:blipFill>
          <a:blip r:embed="rId7"/>
          <a:srcRect l="-7778" r="-7778"/>
          <a:stretch/>
        </p:blipFill>
        <p:spPr>
          <a:xfrm>
            <a:off x="7524598" y="1952244"/>
            <a:ext cx="142646" cy="12344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524598" y="2286000"/>
            <a:ext cx="4096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 단위 보안이란?</a:t>
            </a:r>
            <a:endParaRPr lang="en-US" sz="1800" dirty="0"/>
          </a:p>
        </p:txBody>
      </p:sp>
      <p:sp>
        <p:nvSpPr>
          <p:cNvPr id="34" name="Text 26"/>
          <p:cNvSpPr txBox="1"/>
          <p:nvPr/>
        </p:nvSpPr>
        <p:spPr>
          <a:xfrm>
            <a:off x="7524598" y="2762402"/>
            <a:ext cx="4096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자체에서 권한을 검사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코드에서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if (user_id === ...) 검사할 필요가 없습니다.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7524598" y="3297326"/>
            <a:ext cx="4096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정책을 만들어 두면 — 누가 어떤 방법으로 </a:t>
            </a:r>
            <a:r>
              <a:rPr lang="en-US" sz="11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접근해도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</a:t>
            </a: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데이터만 볼 수 있습니다.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744054" y="4429354"/>
            <a:ext cx="387705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주의 — 매우 중요</a:t>
            </a:r>
            <a:endParaRPr lang="en-US" sz="1050" dirty="0"/>
          </a:p>
        </p:txBody>
      </p:sp>
      <p:pic>
        <p:nvPicPr>
          <p:cNvPr id="37" name="Image 6" descr="gen-dedup-3be0432bf19678cd1519a27464f4d50e.png"/>
          <p:cNvPicPr>
            <a:picLocks noChangeAspect="1"/>
          </p:cNvPicPr>
          <p:nvPr/>
        </p:nvPicPr>
        <p:blipFill>
          <a:blip r:embed="rId8"/>
          <a:srcRect l="-7778" r="-7778"/>
          <a:stretch/>
        </p:blipFill>
        <p:spPr>
          <a:xfrm>
            <a:off x="7524598" y="4429354"/>
            <a:ext cx="142646" cy="12344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524598" y="4762195"/>
            <a:ext cx="4096512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없이는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데이터가 공개됩니다.</a:t>
            </a:r>
            <a:endParaRPr lang="en-US" sz="1600" dirty="0"/>
          </a:p>
        </p:txBody>
      </p:sp>
      <p:sp>
        <p:nvSpPr>
          <p:cNvPr id="39" name="Text 30"/>
          <p:cNvSpPr txBox="1"/>
          <p:nvPr/>
        </p:nvSpPr>
        <p:spPr>
          <a:xfrm>
            <a:off x="7524598" y="5429707"/>
            <a:ext cx="40965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Supabase는 클라이언트가 publishable key로 직접 접근합니다. </a:t>
            </a:r>
          </a:p>
          <a:p>
            <a:pPr marL="0" indent="0" algn="l">
              <a:buNone/>
            </a:pPr>
            <a:r>
              <a:rPr lang="en-US" sz="110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RLS를</a:t>
            </a: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끄면 누구나 다른 사람 데이터를 볼 수 있습니다.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7524598" y="5964631"/>
            <a:ext cx="40965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모든 테이블에 RLS는 기본값으로 켜두세요.</a:t>
            </a:r>
            <a:endParaRPr lang="en-US" sz="1050" dirty="0"/>
          </a:p>
        </p:txBody>
      </p:sp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238244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6286500" y="4238244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e02584a0d9c71ec0d710ffc3911f3075.png"/>
          <p:cNvPicPr>
            <a:picLocks noChangeAspect="1"/>
          </p:cNvPicPr>
          <p:nvPr/>
        </p:nvPicPr>
        <p:blipFill>
          <a:blip r:embed="rId4"/>
          <a:srcRect t="-13" b="-13"/>
          <a:stretch/>
        </p:blipFill>
        <p:spPr>
          <a:xfrm>
            <a:off x="571500" y="1762049"/>
            <a:ext cx="5524805" cy="476402"/>
          </a:xfrm>
          <a:prstGeom prst="rect">
            <a:avLst/>
          </a:prstGeom>
        </p:spPr>
      </p:pic>
      <p:pic>
        <p:nvPicPr>
          <p:cNvPr id="11" name="Image 3" descr="gen-dedup-0f571cf9328b6d6529447b55d46a1ee7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6286500" y="1762049"/>
            <a:ext cx="5524805" cy="476402"/>
          </a:xfrm>
          <a:prstGeom prst="rect">
            <a:avLst/>
          </a:prstGeom>
        </p:spPr>
      </p:pic>
      <p:pic>
        <p:nvPicPr>
          <p:cNvPr id="12" name="Image 4" descr="gen-dedup-f29c1b818a9e6aaa7808516a9266e82d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571500" y="4238244"/>
            <a:ext cx="5524805" cy="476402"/>
          </a:xfrm>
          <a:prstGeom prst="rect">
            <a:avLst/>
          </a:prstGeom>
        </p:spPr>
      </p:pic>
      <p:pic>
        <p:nvPicPr>
          <p:cNvPr id="13" name="Image 5" descr="gen-dedup-4c816925e955abab49c67f2744ad49bb.png"/>
          <p:cNvPicPr>
            <a:picLocks noChangeAspect="1"/>
          </p:cNvPicPr>
          <p:nvPr/>
        </p:nvPicPr>
        <p:blipFill>
          <a:blip r:embed="rId7"/>
          <a:srcRect t="-13" b="-13"/>
          <a:stretch/>
        </p:blipFill>
        <p:spPr>
          <a:xfrm>
            <a:off x="6286500" y="4238244"/>
            <a:ext cx="5524805" cy="476402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2 · 3/3</a:t>
            </a:r>
            <a:endParaRPr lang="en-US" sz="900" dirty="0"/>
          </a:p>
        </p:txBody>
      </p:sp>
      <p:sp>
        <p:nvSpPr>
          <p:cNvPr id="15" name="Text 7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CRUD를 4줄로 — Supabase 클라이언트</a:t>
            </a:r>
            <a:endParaRPr lang="en-US" sz="3300" dirty="0"/>
          </a:p>
        </p:txBody>
      </p:sp>
      <p:sp>
        <p:nvSpPr>
          <p:cNvPr id="16" name="Text 8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 / INSERT / UPDATE / DELETE — 각 한 줄로 끝납니다.</a:t>
            </a:r>
            <a:endParaRPr lang="en-US" sz="1300" dirty="0"/>
          </a:p>
        </p:txBody>
      </p:sp>
      <p:sp>
        <p:nvSpPr>
          <p:cNvPr id="17" name="Text 9"/>
          <p:cNvSpPr txBox="1"/>
          <p:nvPr/>
        </p:nvSpPr>
        <p:spPr>
          <a:xfrm>
            <a:off x="761695" y="190469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SELECT · 조회</a:t>
            </a:r>
            <a:endParaRPr lang="en-US" sz="1100" dirty="0"/>
          </a:p>
        </p:txBody>
      </p:sp>
      <p:sp>
        <p:nvSpPr>
          <p:cNvPr id="18" name="Text 10"/>
          <p:cNvSpPr txBox="1"/>
          <p:nvPr/>
        </p:nvSpPr>
        <p:spPr>
          <a:xfrm>
            <a:off x="761695" y="242864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전체 조회 + 최신순 정렬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761695" y="263895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data: todos } =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761695" y="286573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'todos'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1" name="Text 13"/>
          <p:cNvSpPr txBox="1"/>
          <p:nvPr/>
        </p:nvSpPr>
        <p:spPr>
          <a:xfrm>
            <a:off x="761695" y="3092501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'*'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2" name="Text 14"/>
          <p:cNvSpPr txBox="1"/>
          <p:nvPr/>
        </p:nvSpPr>
        <p:spPr>
          <a:xfrm>
            <a:off x="761695" y="331927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'created_at'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{ ascending: </a:t>
            </a: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});</a:t>
            </a:r>
            <a:endParaRPr lang="en-US" sz="1100" dirty="0"/>
          </a:p>
        </p:txBody>
      </p:sp>
      <p:sp>
        <p:nvSpPr>
          <p:cNvPr id="23" name="Text 15"/>
          <p:cNvSpPr txBox="1"/>
          <p:nvPr/>
        </p:nvSpPr>
        <p:spPr>
          <a:xfrm>
            <a:off x="6476695" y="190469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INSERT · 생성</a:t>
            </a:r>
            <a:endParaRPr lang="en-US" sz="1100" dirty="0"/>
          </a:p>
        </p:txBody>
      </p:sp>
      <p:sp>
        <p:nvSpPr>
          <p:cNvPr id="24" name="Text 16"/>
          <p:cNvSpPr txBox="1"/>
          <p:nvPr/>
        </p:nvSpPr>
        <p:spPr>
          <a:xfrm>
            <a:off x="6476695" y="242864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새 할 일 추가</a:t>
            </a:r>
            <a:endParaRPr lang="en-US" sz="1050" dirty="0"/>
          </a:p>
        </p:txBody>
      </p:sp>
      <p:sp>
        <p:nvSpPr>
          <p:cNvPr id="25" name="Text 17"/>
          <p:cNvSpPr txBox="1"/>
          <p:nvPr/>
        </p:nvSpPr>
        <p:spPr>
          <a:xfrm>
            <a:off x="6476695" y="263895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6476695" y="286573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'todos'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7" name="Text 19"/>
          <p:cNvSpPr txBox="1"/>
          <p:nvPr/>
        </p:nvSpPr>
        <p:spPr>
          <a:xfrm>
            <a:off x="6476695" y="3092501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insert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6476695" y="3319272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title: 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'새 할 일'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6476695" y="3546043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user_id: user.id</a:t>
            </a:r>
            <a:endParaRPr lang="en-US" sz="1100" dirty="0"/>
          </a:p>
        </p:txBody>
      </p:sp>
      <p:sp>
        <p:nvSpPr>
          <p:cNvPr id="30" name="Text 22"/>
          <p:cNvSpPr txBox="1"/>
          <p:nvPr/>
        </p:nvSpPr>
        <p:spPr>
          <a:xfrm>
            <a:off x="6476695" y="3772814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100" dirty="0"/>
          </a:p>
        </p:txBody>
      </p:sp>
      <p:sp>
        <p:nvSpPr>
          <p:cNvPr id="31" name="Text 23"/>
          <p:cNvSpPr txBox="1"/>
          <p:nvPr/>
        </p:nvSpPr>
        <p:spPr>
          <a:xfrm>
            <a:off x="761695" y="438180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UPDATE · 수정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761695" y="490575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완료 상태로 변경</a:t>
            </a:r>
            <a:endParaRPr lang="en-US" sz="1050" dirty="0"/>
          </a:p>
        </p:txBody>
      </p:sp>
      <p:sp>
        <p:nvSpPr>
          <p:cNvPr id="33" name="Text 25"/>
          <p:cNvSpPr txBox="1"/>
          <p:nvPr/>
        </p:nvSpPr>
        <p:spPr>
          <a:xfrm>
            <a:off x="761695" y="511606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761695" y="5342839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'todos'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761695" y="556869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 completed: </a:t>
            </a:r>
            <a:r>
              <a:rPr lang="en-US" sz="11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})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761695" y="5795467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'id'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todoId);</a:t>
            </a:r>
            <a:endParaRPr lang="en-US" sz="1100" dirty="0"/>
          </a:p>
        </p:txBody>
      </p:sp>
      <p:sp>
        <p:nvSpPr>
          <p:cNvPr id="37" name="Text 29"/>
          <p:cNvSpPr txBox="1"/>
          <p:nvPr/>
        </p:nvSpPr>
        <p:spPr>
          <a:xfrm>
            <a:off x="761695" y="602223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.eq(필드, 값) → WHERE 조건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6476695" y="4381805"/>
            <a:ext cx="51435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DELETE · 삭제</a:t>
            </a:r>
            <a:endParaRPr lang="en-US" sz="1100" dirty="0"/>
          </a:p>
        </p:txBody>
      </p:sp>
      <p:sp>
        <p:nvSpPr>
          <p:cNvPr id="39" name="Text 31"/>
          <p:cNvSpPr txBox="1"/>
          <p:nvPr/>
        </p:nvSpPr>
        <p:spPr>
          <a:xfrm>
            <a:off x="6476695" y="490575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특정 할 일 삭제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6476695" y="511606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</a:t>
            </a:r>
            <a:endParaRPr lang="en-US" sz="1100" dirty="0"/>
          </a:p>
        </p:txBody>
      </p:sp>
      <p:sp>
        <p:nvSpPr>
          <p:cNvPr id="41" name="Text 33"/>
          <p:cNvSpPr txBox="1"/>
          <p:nvPr/>
        </p:nvSpPr>
        <p:spPr>
          <a:xfrm>
            <a:off x="6476695" y="5342839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'todos'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6476695" y="556869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delete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6476695" y="5795467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.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eq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'id'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todoId);</a:t>
            </a:r>
            <a:endParaRPr lang="en-US" sz="1100" dirty="0"/>
          </a:p>
        </p:txBody>
      </p:sp>
      <p:sp>
        <p:nvSpPr>
          <p:cNvPr id="44" name="Text 36"/>
          <p:cNvSpPr txBox="1"/>
          <p:nvPr/>
        </p:nvSpPr>
        <p:spPr>
          <a:xfrm>
            <a:off x="6476695" y="602223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RLS가 자동으로 본인 데이터만 삭제 허용</a:t>
            </a:r>
            <a:endParaRPr lang="en-US" sz="105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3 · FINALE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16:00 — 18:00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로그인 완성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인증·인가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&amp; OAuth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DELIVERABLE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로그인이 되는 서비스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577486"/>
            <a:ext cx="68580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이메일·구글·카카오 로그인 + 보호된 라우트(AuthGuard) + 본인 데이터만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표시되는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서비스를 완성합니다.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962449" y="5324551"/>
            <a:ext cx="6657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인증/인가의 차이 — 누구인가 vs 무엇을 할 수 있는가</a:t>
            </a:r>
            <a:endParaRPr lang="en-US" sz="1100" dirty="0"/>
          </a:p>
        </p:txBody>
      </p:sp>
      <p:pic>
        <p:nvPicPr>
          <p:cNvPr id="20" name="Image 4" descr="gen-dedup-313f06b2ea495c2e76ee98f526ba43e6.png"/>
          <p:cNvPicPr>
            <a:picLocks noChangeAspect="1"/>
          </p:cNvPicPr>
          <p:nvPr/>
        </p:nvPicPr>
        <p:blipFill>
          <a:blip r:embed="rId6"/>
          <a:srcRect t="-556" b="-556"/>
          <a:stretch/>
        </p:blipFill>
        <p:spPr>
          <a:xfrm>
            <a:off x="4762195" y="5361127"/>
            <a:ext cx="123444" cy="142646"/>
          </a:xfrm>
          <a:prstGeom prst="rect">
            <a:avLst/>
          </a:prstGeom>
        </p:spPr>
      </p:pic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d3ade11a0a0eb67218789f7e6f842ecc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571500" y="4143146"/>
            <a:ext cx="38405" cy="2862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619549"/>
            <a:ext cx="3638398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4381805" y="4619549"/>
            <a:ext cx="3619195" cy="1904695"/>
          </a:xfrm>
          <a:prstGeom prst="roundRect">
            <a:avLst>
              <a:gd name="adj" fmla="val 3841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8191195" y="4619549"/>
            <a:ext cx="3619195" cy="1904695"/>
          </a:xfrm>
          <a:prstGeom prst="roundRect">
            <a:avLst>
              <a:gd name="adj" fmla="val 384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2" name="Image 3" descr="gen-dedup-e848160cfe8508822a5006ba284bb51b.png"/>
          <p:cNvPicPr>
            <a:picLocks noChangeAspect="1"/>
          </p:cNvPicPr>
          <p:nvPr/>
        </p:nvPicPr>
        <p:blipFill>
          <a:blip r:embed="rId5"/>
          <a:srcRect l="-397" r="-397"/>
          <a:stretch/>
        </p:blipFill>
        <p:spPr>
          <a:xfrm>
            <a:off x="571500" y="1762049"/>
            <a:ext cx="57607" cy="2190902"/>
          </a:xfrm>
          <a:prstGeom prst="rect">
            <a:avLst/>
          </a:prstGeom>
        </p:spPr>
      </p:pic>
      <p:pic>
        <p:nvPicPr>
          <p:cNvPr id="13" name="Image 4" descr="gen-dedup-c32c3e8de195b448a29734118af00cf4.png"/>
          <p:cNvPicPr>
            <a:picLocks noChangeAspect="1"/>
          </p:cNvPicPr>
          <p:nvPr/>
        </p:nvPicPr>
        <p:blipFill>
          <a:blip r:embed="rId6"/>
          <a:srcRect l="-397" r="-397"/>
          <a:stretch/>
        </p:blipFill>
        <p:spPr>
          <a:xfrm>
            <a:off x="6286500" y="1762049"/>
            <a:ext cx="57607" cy="21909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3 · 1/4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Authentication ≠ Authorization</a:t>
            </a:r>
            <a:endParaRPr lang="en-US" sz="33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헷갈리지만 — 완전히 다른 두 가지입니다.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57707" y="1952244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AUTHENTICATION · 인증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857707" y="2286000"/>
            <a:ext cx="4953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"너는 누구인가?"</a:t>
            </a:r>
            <a:endParaRPr lang="en-US" sz="2700" dirty="0"/>
          </a:p>
        </p:txBody>
      </p:sp>
      <p:sp>
        <p:nvSpPr>
          <p:cNvPr id="19" name="Text 12"/>
          <p:cNvSpPr txBox="1"/>
          <p:nvPr/>
        </p:nvSpPr>
        <p:spPr>
          <a:xfrm>
            <a:off x="857707" y="2952598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로그인·회원가입.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이메일·비밀번호·소셜 계정으로 "이 사용자가 맞다"를 증명합니다.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857707" y="351952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</a:t>
            </a:r>
            <a:r>
              <a:rPr lang="en-US" sz="9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Google 로그인 버튼 클릭 → 본인 인증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6572707" y="1952244"/>
            <a:ext cx="49533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AUTHORIZATION · 인가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572707" y="2286000"/>
            <a:ext cx="4953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"무엇을 할 수 있나?"</a:t>
            </a:r>
            <a:endParaRPr lang="en-US" sz="2700" dirty="0"/>
          </a:p>
        </p:txBody>
      </p:sp>
      <p:sp>
        <p:nvSpPr>
          <p:cNvPr id="23" name="Text 16"/>
          <p:cNvSpPr txBox="1"/>
          <p:nvPr/>
        </p:nvSpPr>
        <p:spPr>
          <a:xfrm>
            <a:off x="6572707" y="2952598"/>
            <a:ext cx="495330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권한·정책.</a:t>
            </a:r>
            <a:endParaRPr lang="en-US" sz="11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로그인한 사용자가 어떤 기능·데이터에 접근할 수 있는지 결정합니다.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6572707" y="3519526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예:</a:t>
            </a:r>
            <a:r>
              <a:rPr lang="en-US" sz="9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관리자만 회원 삭제 가능 · 본인 게시글만 수정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43407" y="41431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인증 방식 3가지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4809744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 01 · 전통적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5095951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기반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447995"/>
            <a:ext cx="3238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메모리/DB에 세션 저장.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쿠키로 세션 ID 전달.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SPA·모바일에선 비효율적.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4809744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 02 · 본 강의 ★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5095951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기반 · JWT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5447995"/>
            <a:ext cx="3238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서버는 토큰만 발행.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클라이언트가 토큰을 보관·전송.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무상태 · 확장성 ↑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8382305" y="4809744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 03 · 본 강의 ★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8382305" y="5095951"/>
            <a:ext cx="3238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OAuth 2.0 · 소셜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8382305" y="5447995"/>
            <a:ext cx="3238805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Google·Kakao 등 외부 ID 사용.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관리 불필요.</a:t>
            </a:r>
            <a:endParaRPr lang="en-US" sz="10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사용자 가입률 ↑</a:t>
            </a:r>
            <a:endParaRPr lang="en-US" sz="1000" dirty="0"/>
          </a:p>
        </p:txBody>
      </p:sp>
      <p:sp>
        <p:nvSpPr>
          <p:cNvPr id="3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2952598"/>
            <a:ext cx="3657600" cy="2133295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254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381805" y="2952598"/>
            <a:ext cx="3657600" cy="2133295"/>
          </a:xfrm>
          <a:prstGeom prst="roundRect">
            <a:avLst>
              <a:gd name="adj" fmla="val 3062"/>
            </a:avLst>
          </a:prstGeom>
          <a:solidFill>
            <a:srgbClr val="FFFFFF"/>
          </a:solidFill>
          <a:ln w="254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191195" y="2952598"/>
            <a:ext cx="3619195" cy="2095805"/>
          </a:xfrm>
          <a:prstGeom prst="roundRect">
            <a:avLst>
              <a:gd name="adj" fmla="val 317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1500" y="5238598"/>
            <a:ext cx="11239805" cy="1238098"/>
          </a:xfrm>
          <a:prstGeom prst="roundRect">
            <a:avLst>
              <a:gd name="adj" fmla="val 11362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pic>
        <p:nvPicPr>
          <p:cNvPr id="10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1" name="Image 2" descr="gen-dedup-ef12d25ac3cdb0b55e0b1e62d93cd68c.png"/>
          <p:cNvPicPr>
            <a:picLocks noChangeAspect="1"/>
          </p:cNvPicPr>
          <p:nvPr/>
        </p:nvPicPr>
        <p:blipFill>
          <a:blip r:embed="rId4"/>
          <a:srcRect t="-20" b="-20"/>
          <a:stretch/>
        </p:blipFill>
        <p:spPr>
          <a:xfrm>
            <a:off x="571500" y="2952598"/>
            <a:ext cx="3619195" cy="476402"/>
          </a:xfrm>
          <a:prstGeom prst="rect">
            <a:avLst/>
          </a:prstGeom>
        </p:spPr>
      </p:pic>
      <p:pic>
        <p:nvPicPr>
          <p:cNvPr id="12" name="Image 3" descr="gen-dedup-eb89f4e754fc5a3fa03c59c72580716f.png"/>
          <p:cNvPicPr>
            <a:picLocks noChangeAspect="1"/>
          </p:cNvPicPr>
          <p:nvPr/>
        </p:nvPicPr>
        <p:blipFill>
          <a:blip r:embed="rId5"/>
          <a:srcRect t="-20" b="-20"/>
          <a:stretch/>
        </p:blipFill>
        <p:spPr>
          <a:xfrm>
            <a:off x="4381805" y="2952598"/>
            <a:ext cx="3619195" cy="476402"/>
          </a:xfrm>
          <a:prstGeom prst="rect">
            <a:avLst/>
          </a:prstGeom>
        </p:spPr>
      </p:pic>
      <p:pic>
        <p:nvPicPr>
          <p:cNvPr id="13" name="Image 4" descr="gen-dedup-ee58a4b2ee1104c8f154f8b5f1bddd87.png"/>
          <p:cNvPicPr>
            <a:picLocks noChangeAspect="1"/>
          </p:cNvPicPr>
          <p:nvPr/>
        </p:nvPicPr>
        <p:blipFill>
          <a:blip r:embed="rId6"/>
          <a:srcRect t="-20" b="-20"/>
          <a:stretch/>
        </p:blipFill>
        <p:spPr>
          <a:xfrm>
            <a:off x="8191195" y="2952598"/>
            <a:ext cx="3619195" cy="47640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3 · 2/4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— 토큰은 3조각으로 구성됩니다</a:t>
            </a:r>
            <a:endParaRPr lang="en-US" sz="33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Header.Payload.Signature — 점(.)으로 구분되는 문자열입니다.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1904695"/>
            <a:ext cx="108585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JWT TOKEN · 실제 형태</a:t>
            </a:r>
            <a:endParaRPr lang="en-US" sz="9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190902"/>
            <a:ext cx="10858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717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eyJhbGciOiJIUzI1NiJ9</a:t>
            </a: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r>
              <a:rPr lang="en-US" sz="13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eyJ1c2VyX2lkIjoiMTIzIn0</a:t>
            </a: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r>
              <a:rPr lang="en-US" sz="13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xWzZ_Q3Vk...signature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09524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HEADER · 헤더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619195"/>
            <a:ext cx="3238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알고리즘 + 토큰 타입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981298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419161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"alg"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"HS256"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4401922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"typ"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"JWT"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613148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0" y="309524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PAYLOAD · 본문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4572000" y="3619195"/>
            <a:ext cx="3238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정보 (Claims)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398129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16417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"user_id"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"123"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434705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"email"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"u@example.com"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4572000" y="452993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"exp"</a:t>
            </a:r>
            <a:r>
              <a:rPr lang="en-US" sz="10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1717200000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4572000" y="4712818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8382305" y="309524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SIGNATURE · 서명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8382305" y="3619195"/>
            <a:ext cx="32388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위·변조 방지 인장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8382305" y="3981298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HMACSHA256(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8382305" y="419161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base64(header) + "." +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382305" y="4401922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base64(payload),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8382305" y="4613148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SECRET_KEY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1067105" y="5429707"/>
            <a:ext cx="55056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사용 흐름 (4단계)</a:t>
            </a:r>
            <a:endParaRPr lang="en-US" sz="1050" dirty="0"/>
          </a:p>
        </p:txBody>
      </p:sp>
      <p:pic>
        <p:nvPicPr>
          <p:cNvPr id="39" name="Image 5" descr="gen-dedup-a1261d38db750a765d601bf86ed4a577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857707" y="5429707"/>
            <a:ext cx="133502" cy="13350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57707" y="5762549"/>
            <a:ext cx="1076340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로그인</a:t>
            </a: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서버가 JWT 발급</a:t>
            </a: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클라이언트 저장</a:t>
            </a:r>
            <a:r>
              <a:rPr lang="en-US" sz="14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(localStorage) → </a:t>
            </a: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매 요청 Authorization 헤더에 첨부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857707" y="6115507"/>
            <a:ext cx="10763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Authorization: Bearer eyJhbGciOiJIUzI1NiJ9.eyJ1c2VyX2lkIjoiMTIzIn0.xxx</a:t>
            </a:r>
            <a:endParaRPr lang="en-US" sz="105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4762195"/>
          </a:xfrm>
          <a:prstGeom prst="roundRect">
            <a:avLst>
              <a:gd name="adj" fmla="val 76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0f571cf9328b6d6529447b55d46a1ee7.png"/>
          <p:cNvPicPr>
            <a:picLocks noChangeAspect="1"/>
          </p:cNvPicPr>
          <p:nvPr/>
        </p:nvPicPr>
        <p:blipFill>
          <a:blip r:embed="rId4"/>
          <a:srcRect t="-13" b="-13"/>
          <a:stretch/>
        </p:blipFill>
        <p:spPr>
          <a:xfrm>
            <a:off x="571500" y="1762049"/>
            <a:ext cx="5524805" cy="476402"/>
          </a:xfrm>
          <a:prstGeom prst="rect">
            <a:avLst/>
          </a:prstGeom>
        </p:spPr>
      </p:pic>
      <p:pic>
        <p:nvPicPr>
          <p:cNvPr id="9" name="Image 3" descr="gen-dedup-1b9f474f15abef4d5a1a7d82e9610aa0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6286500" y="1762049"/>
            <a:ext cx="5524805" cy="47640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476695" y="5498287"/>
            <a:ext cx="5143500" cy="883311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3 · 3/4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Auth — 한 줄 로그인</a:t>
            </a:r>
            <a:endParaRPr lang="en-US" sz="33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발행·저장·검증 — Supabase가 다 해줍니다. 우리는 한 줄만 호출하면 됩니다.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951890" y="1904695"/>
            <a:ext cx="49533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EMAIL · 이메일 + 비밀번호</a:t>
            </a:r>
            <a:endParaRPr lang="en-US" sz="1100" dirty="0"/>
          </a:p>
        </p:txBody>
      </p:sp>
      <p:pic>
        <p:nvPicPr>
          <p:cNvPr id="15" name="Image 4" descr="gen-dedup-cb52be2943c72f08d12b26489c1c79d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1695" y="1940357"/>
            <a:ext cx="133502" cy="1335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61695" y="242864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① 회원가입</a:t>
            </a:r>
            <a:endParaRPr lang="en-US" sz="105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63895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signUp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850185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email: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'user@example.com'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060497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password: </a:t>
            </a:r>
            <a:r>
              <a:rPr lang="en-US" sz="105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'securePassword123'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270809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57621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② 로그인</a:t>
            </a:r>
            <a:endParaRPr lang="en-US" sz="105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78653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signInWithPassword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99684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email, password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761695" y="4208069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761695" y="451347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③ 현재 사용자 확인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761695" y="472379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data: { user } } =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493410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getUser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761695" y="523951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④ 로그아웃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761695" y="545073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signOut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5756148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// ⑤ 인증 상태 변경 구독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596646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onAuthStateChange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61695" y="617677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(event, session) =&gt; console.log(event));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6648602" y="1904695"/>
            <a:ext cx="49715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OAUTH · Google / Kakao 소셜 로그인</a:t>
            </a:r>
            <a:endParaRPr lang="en-US" sz="1100" dirty="0"/>
          </a:p>
        </p:txBody>
      </p:sp>
      <p:pic>
        <p:nvPicPr>
          <p:cNvPr id="34" name="Image 5" descr="gen-dedup-9222b1f45ecb2426d4de98726bef1f62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6476695" y="1940357"/>
            <a:ext cx="114300" cy="13350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476695" y="2523744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로그인</a:t>
            </a:r>
            <a:endParaRPr lang="en-US" sz="1600" dirty="0"/>
          </a:p>
        </p:txBody>
      </p:sp>
      <p:sp>
        <p:nvSpPr>
          <p:cNvPr id="36" name="Text 28"/>
          <p:cNvSpPr txBox="1"/>
          <p:nvPr/>
        </p:nvSpPr>
        <p:spPr>
          <a:xfrm>
            <a:off x="6476695" y="2857500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signInWithOAuth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6476695" y="306781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provider: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'google'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6476695" y="327812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options: {</a:t>
            </a:r>
            <a:endParaRPr lang="en-US" sz="1050" dirty="0"/>
          </a:p>
        </p:txBody>
      </p:sp>
      <p:sp>
        <p:nvSpPr>
          <p:cNvPr id="39" name="Text 31"/>
          <p:cNvSpPr txBox="1"/>
          <p:nvPr/>
        </p:nvSpPr>
        <p:spPr>
          <a:xfrm>
            <a:off x="6476695" y="3488436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redirectTo: window.location.origin</a:t>
            </a:r>
            <a:endParaRPr lang="en-US" sz="1050" dirty="0"/>
          </a:p>
        </p:txBody>
      </p:sp>
      <p:sp>
        <p:nvSpPr>
          <p:cNvPr id="40" name="Text 32"/>
          <p:cNvSpPr txBox="1"/>
          <p:nvPr/>
        </p:nvSpPr>
        <p:spPr>
          <a:xfrm>
            <a:off x="6476695" y="3699662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50" dirty="0"/>
          </a:p>
        </p:txBody>
      </p:sp>
      <p:sp>
        <p:nvSpPr>
          <p:cNvPr id="41" name="Text 33"/>
          <p:cNvSpPr txBox="1"/>
          <p:nvPr/>
        </p:nvSpPr>
        <p:spPr>
          <a:xfrm>
            <a:off x="6476695" y="3909974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6476695" y="4286707"/>
            <a:ext cx="5143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Kakao 로그인 — provider만 교체</a:t>
            </a:r>
            <a:endParaRPr lang="en-US" sz="1600" dirty="0"/>
          </a:p>
        </p:txBody>
      </p:sp>
      <p:sp>
        <p:nvSpPr>
          <p:cNvPr id="43" name="Text 35"/>
          <p:cNvSpPr txBox="1"/>
          <p:nvPr/>
        </p:nvSpPr>
        <p:spPr>
          <a:xfrm>
            <a:off x="6476695" y="4619549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supabase.auth.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signInWithOAuth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({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6476695" y="4829861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provider: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'kakao'</a:t>
            </a:r>
            <a:endParaRPr lang="en-US" sz="1050" dirty="0"/>
          </a:p>
        </p:txBody>
      </p:sp>
      <p:sp>
        <p:nvSpPr>
          <p:cNvPr id="45" name="Text 37"/>
          <p:cNvSpPr txBox="1"/>
          <p:nvPr/>
        </p:nvSpPr>
        <p:spPr>
          <a:xfrm>
            <a:off x="6476695" y="5040173"/>
            <a:ext cx="51435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});</a:t>
            </a:r>
            <a:endParaRPr lang="en-US" sz="1050" dirty="0"/>
          </a:p>
        </p:txBody>
      </p:sp>
      <p:sp>
        <p:nvSpPr>
          <p:cNvPr id="46" name="Text 38"/>
          <p:cNvSpPr txBox="1"/>
          <p:nvPr/>
        </p:nvSpPr>
        <p:spPr>
          <a:xfrm>
            <a:off x="6839712" y="5670195"/>
            <a:ext cx="45912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설정</a:t>
            </a:r>
            <a:endParaRPr lang="en-US" sz="1050" dirty="0"/>
          </a:p>
        </p:txBody>
      </p:sp>
      <p:sp>
        <p:nvSpPr>
          <p:cNvPr id="47" name="Text 39"/>
          <p:cNvSpPr txBox="1"/>
          <p:nvPr/>
        </p:nvSpPr>
        <p:spPr>
          <a:xfrm>
            <a:off x="6648602" y="5907481"/>
            <a:ext cx="47631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Dashboard → Authentication → Providers → Google/Kakao 활성화 + Client ID 입력.</a:t>
            </a:r>
            <a:endParaRPr lang="en-US" sz="1050" dirty="0"/>
          </a:p>
        </p:txBody>
      </p:sp>
      <p:pic>
        <p:nvPicPr>
          <p:cNvPr id="48" name="Image 6" descr="gen-dedup-f2fbdc16eb045604f378334999faf208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667805" y="5670195"/>
            <a:ext cx="114300" cy="114300"/>
          </a:xfrm>
          <a:prstGeom prst="rect">
            <a:avLst/>
          </a:prstGeom>
        </p:spPr>
      </p:pic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6667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7429500" y="1762049"/>
            <a:ext cx="4381805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238244"/>
            <a:ext cx="11239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54ec6f22bd41c0f024744344ef26738f.png"/>
          <p:cNvPicPr>
            <a:picLocks noChangeAspect="1"/>
          </p:cNvPicPr>
          <p:nvPr/>
        </p:nvPicPr>
        <p:blipFill>
          <a:blip r:embed="rId4"/>
          <a:srcRect l="-2" r="-2"/>
          <a:stretch/>
        </p:blipFill>
        <p:spPr>
          <a:xfrm>
            <a:off x="571500" y="1762049"/>
            <a:ext cx="6667805" cy="342900"/>
          </a:xfrm>
          <a:prstGeom prst="rect">
            <a:avLst/>
          </a:prstGeom>
        </p:spPr>
      </p:pic>
      <p:pic>
        <p:nvPicPr>
          <p:cNvPr id="10" name="Image 3" descr="gen-dedup-b45b9144a584143496e8fa88cc85eec6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7429500" y="1762049"/>
            <a:ext cx="57607" cy="2286000"/>
          </a:xfrm>
          <a:prstGeom prst="rect">
            <a:avLst/>
          </a:prstGeom>
        </p:spPr>
      </p:pic>
      <p:pic>
        <p:nvPicPr>
          <p:cNvPr id="11" name="Image 4" descr="gen-dedup-7972281d7fa80c2a19893eefe68eac9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571500" y="4238244"/>
            <a:ext cx="57607" cy="2286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57707" y="5333695"/>
            <a:ext cx="3524098" cy="1047902"/>
          </a:xfrm>
          <a:prstGeom prst="roundRect">
            <a:avLst>
              <a:gd name="adj" fmla="val 12692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6"/>
          <p:cNvSpPr/>
          <p:nvPr/>
        </p:nvSpPr>
        <p:spPr>
          <a:xfrm>
            <a:off x="4524451" y="5333695"/>
            <a:ext cx="3524098" cy="1047902"/>
          </a:xfrm>
          <a:prstGeom prst="roundRect">
            <a:avLst>
              <a:gd name="adj" fmla="val 12692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7"/>
          <p:cNvSpPr/>
          <p:nvPr/>
        </p:nvSpPr>
        <p:spPr>
          <a:xfrm>
            <a:off x="8191195" y="5333695"/>
            <a:ext cx="3429000" cy="1047902"/>
          </a:xfrm>
          <a:prstGeom prst="roundRect">
            <a:avLst>
              <a:gd name="adj" fmla="val 12692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PART 3 · 4/4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AuthContext + 보호된 라우트</a:t>
            </a:r>
            <a:endParaRPr lang="en-US" sz="3300" dirty="0"/>
          </a:p>
        </p:txBody>
      </p:sp>
      <p:sp>
        <p:nvSpPr>
          <p:cNvPr id="17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전역에서 로그인 상태를 공유하고, 비로그인 사용자는 로그인 페이지로 보냅니다.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942746" y="1837944"/>
            <a:ext cx="610544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AuthContext.tsx · 전역 인증 상태</a:t>
            </a:r>
            <a:endParaRPr lang="en-US" sz="1050" dirty="0"/>
          </a:p>
        </p:txBody>
      </p:sp>
      <p:pic>
        <p:nvPicPr>
          <p:cNvPr id="19" name="Image 5" descr="gen-dedup-9953cca62183d45374ec10482f6d53d7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1695" y="1872691"/>
            <a:ext cx="123444" cy="123444"/>
          </a:xfrm>
          <a:prstGeom prst="rect">
            <a:avLst/>
          </a:prstGeom>
        </p:spPr>
      </p:pic>
      <p:grpSp>
        <p:nvGrpSpPr>
          <p:cNvPr id="53" name="그룹 52">
            <a:extLst>
              <a:ext uri="{FF2B5EF4-FFF2-40B4-BE49-F238E27FC236}">
                <a16:creationId xmlns:a16="http://schemas.microsoft.com/office/drawing/2014/main" id="{EB722DFF-A4E7-EB4D-8453-11B8DC9B0F3C}"/>
              </a:ext>
            </a:extLst>
          </p:cNvPr>
          <p:cNvGrpSpPr/>
          <p:nvPr/>
        </p:nvGrpSpPr>
        <p:grpSpPr>
          <a:xfrm>
            <a:off x="762152" y="2187586"/>
            <a:ext cx="6286500" cy="1785824"/>
            <a:chOff x="761695" y="1913839"/>
            <a:chExt cx="6286500" cy="2143354"/>
          </a:xfrm>
        </p:grpSpPr>
        <p:sp>
          <p:nvSpPr>
            <p:cNvPr id="20" name="Text 12"/>
            <p:cNvSpPr txBox="1"/>
            <p:nvPr/>
          </p:nvSpPr>
          <p:spPr>
            <a:xfrm>
              <a:off x="761695" y="191383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export const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AuthProvider = ({ children }) =&gt; {</a:t>
              </a:r>
              <a:endParaRPr lang="en-US" sz="1050" dirty="0"/>
            </a:p>
          </p:txBody>
        </p:sp>
        <p:sp>
          <p:nvSpPr>
            <p:cNvPr id="21" name="Text 13"/>
            <p:cNvSpPr txBox="1"/>
            <p:nvPr/>
          </p:nvSpPr>
          <p:spPr>
            <a:xfrm>
              <a:off x="761695" y="2108606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const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[user, setUser] = useState(undefined</a:t>
              </a:r>
              <a:r>
                <a:rPr lang="en-US" sz="900" dirty="0">
                  <a:solidFill>
                    <a:srgbClr val="F87171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/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);</a:t>
              </a:r>
              <a:endParaRPr lang="en-US" sz="1050" dirty="0"/>
            </a:p>
          </p:txBody>
        </p:sp>
        <p:sp>
          <p:nvSpPr>
            <p:cNvPr id="22" name="Text 14"/>
            <p:cNvSpPr txBox="1"/>
            <p:nvPr/>
          </p:nvSpPr>
          <p:spPr>
            <a:xfrm>
              <a:off x="761695" y="230245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useEffect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(() =&gt; {</a:t>
              </a:r>
              <a:endParaRPr lang="en-US" sz="1050" dirty="0"/>
            </a:p>
          </p:txBody>
        </p:sp>
        <p:sp>
          <p:nvSpPr>
            <p:cNvPr id="23" name="Text 15"/>
            <p:cNvSpPr txBox="1"/>
            <p:nvPr/>
          </p:nvSpPr>
          <p:spPr>
            <a:xfrm>
              <a:off x="761695" y="2497226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JetBrains Mono" pitchFamily="34" charset="0"/>
                  <a:ea typeface="Noto Sans KR" pitchFamily="34" charset="-122"/>
                  <a:cs typeface="JetBrains Mono" pitchFamily="34" charset="-120"/>
                </a:rPr>
                <a:t>// 시작 시 현재 세션 확인</a:t>
              </a:r>
              <a:endParaRPr lang="en-US" sz="1050" dirty="0"/>
            </a:p>
          </p:txBody>
        </p:sp>
        <p:sp>
          <p:nvSpPr>
            <p:cNvPr id="24" name="Text 16"/>
            <p:cNvSpPr txBox="1"/>
            <p:nvPr/>
          </p:nvSpPr>
          <p:spPr>
            <a:xfrm>
              <a:off x="761695" y="269107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supabase.auth.getSession().then(({ data }) =&gt; setUser(data.session?.user ?? null));</a:t>
              </a:r>
              <a:endParaRPr lang="en-US" sz="1050" dirty="0"/>
            </a:p>
          </p:txBody>
        </p:sp>
        <p:sp>
          <p:nvSpPr>
            <p:cNvPr id="25" name="Text 17"/>
            <p:cNvSpPr txBox="1"/>
            <p:nvPr/>
          </p:nvSpPr>
          <p:spPr>
            <a:xfrm>
              <a:off x="761695" y="2885846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9CA3AF"/>
                  </a:solidFill>
                  <a:latin typeface="JetBrains Mono" pitchFamily="34" charset="0"/>
                  <a:ea typeface="Noto Sans KR" pitchFamily="34" charset="-122"/>
                  <a:cs typeface="JetBrains Mono" pitchFamily="34" charset="-120"/>
                </a:rPr>
                <a:t>// 인증 변경 구독</a:t>
              </a:r>
              <a:endParaRPr lang="en-US" sz="1050" dirty="0"/>
            </a:p>
          </p:txBody>
        </p:sp>
        <p:sp>
          <p:nvSpPr>
            <p:cNvPr id="26" name="Text 18"/>
            <p:cNvSpPr txBox="1"/>
            <p:nvPr/>
          </p:nvSpPr>
          <p:spPr>
            <a:xfrm>
              <a:off x="761695" y="307969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const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{ data: sub } = supabase.auth.onAuthStateChange((_, s) =&gt; setUser(s?.user ?? null));</a:t>
              </a:r>
              <a:endParaRPr lang="en-US" sz="1050" dirty="0"/>
            </a:p>
          </p:txBody>
        </p:sp>
        <p:sp>
          <p:nvSpPr>
            <p:cNvPr id="27" name="Text 19"/>
            <p:cNvSpPr txBox="1"/>
            <p:nvPr/>
          </p:nvSpPr>
          <p:spPr>
            <a:xfrm>
              <a:off x="761695" y="3274466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() =&gt; sub.subscription.unsubscribe();</a:t>
              </a:r>
              <a:endParaRPr lang="en-US" sz="1050" dirty="0"/>
            </a:p>
          </p:txBody>
        </p:sp>
        <p:sp>
          <p:nvSpPr>
            <p:cNvPr id="28" name="Text 20"/>
            <p:cNvSpPr txBox="1"/>
            <p:nvPr/>
          </p:nvSpPr>
          <p:spPr>
            <a:xfrm>
              <a:off x="761695" y="346831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}, []);</a:t>
              </a:r>
              <a:endParaRPr lang="en-US" sz="1050" dirty="0"/>
            </a:p>
          </p:txBody>
        </p:sp>
        <p:sp>
          <p:nvSpPr>
            <p:cNvPr id="29" name="Text 21"/>
            <p:cNvSpPr txBox="1"/>
            <p:nvPr/>
          </p:nvSpPr>
          <p:spPr>
            <a:xfrm>
              <a:off x="761695" y="3663086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&lt;AuthContext.Provider value={{ user }}&gt;{children}&lt;/AuthContext.Provider&gt;;</a:t>
              </a:r>
              <a:endParaRPr lang="en-US" sz="1050" dirty="0"/>
            </a:p>
          </p:txBody>
        </p:sp>
        <p:sp>
          <p:nvSpPr>
            <p:cNvPr id="30" name="Text 22"/>
            <p:cNvSpPr txBox="1"/>
            <p:nvPr/>
          </p:nvSpPr>
          <p:spPr>
            <a:xfrm>
              <a:off x="761695" y="3856939"/>
              <a:ext cx="6286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};</a:t>
              </a:r>
              <a:endParaRPr lang="en-US" sz="1050" dirty="0"/>
            </a:p>
          </p:txBody>
        </p:sp>
      </p:grpSp>
      <p:sp>
        <p:nvSpPr>
          <p:cNvPr id="31" name="Text 23"/>
          <p:cNvSpPr txBox="1"/>
          <p:nvPr/>
        </p:nvSpPr>
        <p:spPr>
          <a:xfrm>
            <a:off x="7915961" y="1952244"/>
            <a:ext cx="38002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AUTHGUARD · 보호된 라우트</a:t>
            </a:r>
            <a:endParaRPr lang="en-US" sz="1050" dirty="0"/>
          </a:p>
        </p:txBody>
      </p:sp>
      <p:pic>
        <p:nvPicPr>
          <p:cNvPr id="32" name="Image 6" descr="gen-dedup-9505fb6afb0cbd958022a09a8e45e64b.png"/>
          <p:cNvPicPr>
            <a:picLocks noChangeAspect="1"/>
          </p:cNvPicPr>
          <p:nvPr/>
        </p:nvPicPr>
        <p:blipFill>
          <a:blip r:embed="rId8"/>
          <a:srcRect l="-7778" r="-7778"/>
          <a:stretch/>
        </p:blipFill>
        <p:spPr>
          <a:xfrm>
            <a:off x="7715707" y="1952244"/>
            <a:ext cx="142646" cy="123444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BBD2C384-5481-61DF-7FB4-2EF8ABF53A2D}"/>
              </a:ext>
            </a:extLst>
          </p:cNvPr>
          <p:cNvGrpSpPr/>
          <p:nvPr/>
        </p:nvGrpSpPr>
        <p:grpSpPr>
          <a:xfrm>
            <a:off x="7715707" y="2207005"/>
            <a:ext cx="4000500" cy="1617573"/>
            <a:chOff x="7715707" y="2333549"/>
            <a:chExt cx="4000500" cy="1617573"/>
          </a:xfrm>
        </p:grpSpPr>
        <p:sp>
          <p:nvSpPr>
            <p:cNvPr id="33" name="Text 24"/>
            <p:cNvSpPr txBox="1"/>
            <p:nvPr/>
          </p:nvSpPr>
          <p:spPr>
            <a:xfrm>
              <a:off x="7715707" y="2333549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const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AuthGuard = ({ children }) =&gt; {</a:t>
              </a:r>
              <a:endParaRPr lang="en-US" sz="1200" dirty="0"/>
            </a:p>
          </p:txBody>
        </p:sp>
        <p:sp>
          <p:nvSpPr>
            <p:cNvPr id="34" name="Text 25"/>
            <p:cNvSpPr txBox="1"/>
            <p:nvPr/>
          </p:nvSpPr>
          <p:spPr>
            <a:xfrm>
              <a:off x="7715707" y="2528316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const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{ user } = useAuth();</a:t>
              </a:r>
              <a:endParaRPr lang="en-US" sz="1200" dirty="0"/>
            </a:p>
          </p:txBody>
        </p:sp>
        <p:sp>
          <p:nvSpPr>
            <p:cNvPr id="35" name="Text 26"/>
            <p:cNvSpPr txBox="1"/>
            <p:nvPr/>
          </p:nvSpPr>
          <p:spPr>
            <a:xfrm>
              <a:off x="7715707" y="2722169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if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(user === undefined) </a:t>
              </a: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&lt;Loading/&gt;;</a:t>
              </a:r>
              <a:endParaRPr lang="en-US" sz="1200" dirty="0"/>
            </a:p>
          </p:txBody>
        </p:sp>
        <p:sp>
          <p:nvSpPr>
            <p:cNvPr id="36" name="Text 27"/>
            <p:cNvSpPr txBox="1"/>
            <p:nvPr/>
          </p:nvSpPr>
          <p:spPr>
            <a:xfrm>
              <a:off x="7715707" y="2916936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if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(!user)</a:t>
              </a:r>
              <a:endParaRPr lang="en-US" sz="1200" dirty="0"/>
            </a:p>
          </p:txBody>
        </p:sp>
        <p:sp>
          <p:nvSpPr>
            <p:cNvPr id="37" name="Text 28"/>
            <p:cNvSpPr txBox="1"/>
            <p:nvPr/>
          </p:nvSpPr>
          <p:spPr>
            <a:xfrm>
              <a:off x="7715707" y="3110789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&lt;Navigate to=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"/login"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/&gt;;</a:t>
              </a:r>
              <a:endParaRPr lang="en-US" sz="1200" dirty="0"/>
            </a:p>
          </p:txBody>
        </p:sp>
        <p:sp>
          <p:nvSpPr>
            <p:cNvPr id="38" name="Text 29"/>
            <p:cNvSpPr txBox="1"/>
            <p:nvPr/>
          </p:nvSpPr>
          <p:spPr>
            <a:xfrm>
              <a:off x="7715707" y="3305556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2B6CB0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return</a:t>
              </a: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children;</a:t>
              </a:r>
              <a:endParaRPr lang="en-US" sz="1200" dirty="0"/>
            </a:p>
          </p:txBody>
        </p:sp>
        <p:sp>
          <p:nvSpPr>
            <p:cNvPr id="39" name="Text 30"/>
            <p:cNvSpPr txBox="1"/>
            <p:nvPr/>
          </p:nvSpPr>
          <p:spPr>
            <a:xfrm>
              <a:off x="7715707" y="3499409"/>
              <a:ext cx="4000500" cy="2002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1A365D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};</a:t>
              </a:r>
              <a:endParaRPr lang="en-US" sz="1200" dirty="0"/>
            </a:p>
          </p:txBody>
        </p:sp>
        <p:sp>
          <p:nvSpPr>
            <p:cNvPr id="40" name="Text 31"/>
            <p:cNvSpPr txBox="1"/>
            <p:nvPr/>
          </p:nvSpPr>
          <p:spPr>
            <a:xfrm>
              <a:off x="7715707" y="3770071"/>
              <a:ext cx="4000500" cy="18105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9CA3A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// &lt;Route element={&lt;AuthGuard&gt;&lt;MyPage/&gt;&lt;/AuthGuard&gt;} /&gt;</a:t>
              </a:r>
              <a:endParaRPr lang="en-US" sz="1100" dirty="0"/>
            </a:p>
          </p:txBody>
        </p:sp>
      </p:grpSp>
      <p:sp>
        <p:nvSpPr>
          <p:cNvPr id="41" name="Text 32"/>
          <p:cNvSpPr txBox="1"/>
          <p:nvPr/>
        </p:nvSpPr>
        <p:spPr>
          <a:xfrm>
            <a:off x="1038758" y="4429354"/>
            <a:ext cx="55339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2일차 통합 결과물</a:t>
            </a:r>
            <a:endParaRPr lang="en-US" sz="1050" dirty="0"/>
          </a:p>
        </p:txBody>
      </p:sp>
      <p:pic>
        <p:nvPicPr>
          <p:cNvPr id="42" name="Image 7" descr="gen-dedup-1ad9cfb90d424f9df3fcf64749b409a0.png"/>
          <p:cNvPicPr>
            <a:picLocks noChangeAspect="1"/>
          </p:cNvPicPr>
          <p:nvPr/>
        </p:nvPicPr>
        <p:blipFill>
          <a:blip r:embed="rId9"/>
          <a:srcRect l="-7143" r="-7143"/>
          <a:stretch/>
        </p:blipFill>
        <p:spPr>
          <a:xfrm>
            <a:off x="857707" y="4429354"/>
            <a:ext cx="123444" cy="12344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857707" y="4743907"/>
            <a:ext cx="107634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1일차 Todo 앱에 로그인 + 본인 데이터 분리 적용</a:t>
            </a:r>
            <a:endParaRPr lang="en-US" sz="1900" dirty="0"/>
          </a:p>
        </p:txBody>
      </p:sp>
      <p:sp>
        <p:nvSpPr>
          <p:cNvPr id="44" name="Text 34"/>
          <p:cNvSpPr txBox="1"/>
          <p:nvPr/>
        </p:nvSpPr>
        <p:spPr>
          <a:xfrm>
            <a:off x="1190549" y="5477256"/>
            <a:ext cx="3001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페이지</a:t>
            </a:r>
            <a:endParaRPr lang="en-US" sz="1000" dirty="0"/>
          </a:p>
        </p:txBody>
      </p:sp>
      <p:pic>
        <p:nvPicPr>
          <p:cNvPr id="45" name="Image 8" descr="gen-dedup-645e3baa44e115a63127018de252e67b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47902" y="5477256"/>
            <a:ext cx="66751" cy="13350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1047902" y="5715000"/>
            <a:ext cx="317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Email + Google + Kakao 버튼 3개 · 회원가입 폼 · 에러 메시지</a:t>
            </a:r>
            <a:endParaRPr lang="en-US" sz="1000" dirty="0"/>
          </a:p>
        </p:txBody>
      </p:sp>
      <p:sp>
        <p:nvSpPr>
          <p:cNvPr id="47" name="Text 36"/>
          <p:cNvSpPr txBox="1"/>
          <p:nvPr/>
        </p:nvSpPr>
        <p:spPr>
          <a:xfrm>
            <a:off x="4876495" y="5477256"/>
            <a:ext cx="29818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AuthGuard 적용</a:t>
            </a:r>
            <a:endParaRPr lang="en-US" sz="1000" dirty="0"/>
          </a:p>
        </p:txBody>
      </p:sp>
      <p:pic>
        <p:nvPicPr>
          <p:cNvPr id="48" name="Image 9" descr="gen-dedup-4be5f5da4aa2ec081dcd392525e3f404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4714646" y="5477256"/>
            <a:ext cx="85954" cy="133502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4714646" y="5715000"/>
            <a:ext cx="317500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/todos · /mypage 라우트를 AuthGuard로 감싸 비로그인 차단</a:t>
            </a:r>
            <a:endParaRPr lang="en-US" sz="1000" dirty="0"/>
          </a:p>
        </p:txBody>
      </p:sp>
      <p:sp>
        <p:nvSpPr>
          <p:cNvPr id="50" name="Text 38"/>
          <p:cNvSpPr txBox="1"/>
          <p:nvPr/>
        </p:nvSpPr>
        <p:spPr>
          <a:xfrm>
            <a:off x="8544154" y="5477256"/>
            <a:ext cx="2886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동작 확인</a:t>
            </a:r>
            <a:endParaRPr lang="en-US" sz="1000" dirty="0"/>
          </a:p>
        </p:txBody>
      </p:sp>
      <p:pic>
        <p:nvPicPr>
          <p:cNvPr id="51" name="Image 10" descr="gen-dedup-27aaf185eb00b10de1040ffee8793e40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8382305" y="5477256"/>
            <a:ext cx="85954" cy="133502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8382305" y="5714999"/>
            <a:ext cx="3578962" cy="52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계정으로 로그인해 </a:t>
            </a:r>
            <a:r>
              <a:rPr lang="en-US" sz="10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</a:t>
            </a: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각자 본인 할 일만 보이는지 검증</a:t>
            </a:r>
            <a:endParaRPr lang="en-US" sz="1000" dirty="0"/>
          </a:p>
        </p:txBody>
      </p:sp>
      <p:sp>
        <p:nvSpPr>
          <p:cNvPr id="5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15" y="-14630"/>
            <a:ext cx="12191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82305" y="0"/>
            <a:ext cx="3810305" cy="6858000"/>
          </a:xfrm>
          <a:prstGeom prst="rect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4e77c3377c6c45a4b5b45870d0212f95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6" name="Image 1" descr="gen-dedup-f0981059295ec0e5e6f12472a28814f3.png"/>
          <p:cNvPicPr>
            <a:picLocks noChangeAspect="1"/>
          </p:cNvPicPr>
          <p:nvPr/>
        </p:nvPicPr>
        <p:blipFill>
          <a:blip r:embed="rId3"/>
          <a:srcRect t="-420" b="-420"/>
          <a:stretch/>
        </p:blipFill>
        <p:spPr>
          <a:xfrm>
            <a:off x="571500" y="4524451"/>
            <a:ext cx="761695" cy="38405"/>
          </a:xfrm>
          <a:prstGeom prst="rect">
            <a:avLst/>
          </a:prstGeom>
        </p:spPr>
      </p:pic>
      <p:pic>
        <p:nvPicPr>
          <p:cNvPr id="7" name="Image 2" descr="gen-dedup-a6bc87bc9b808675a3f24e4ceb1efe10.png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8667598" y="1619402"/>
            <a:ext cx="761695" cy="19202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71500" y="1238098"/>
            <a:ext cx="5715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THREE · 5 HOURS · FINALE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666951"/>
            <a:ext cx="7620610" cy="2477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kern="0" spc="-9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9500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4714646"/>
            <a:ext cx="7620610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데이터 ·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챗봇 배포</a:t>
            </a:r>
            <a:endParaRPr lang="en-US" sz="4200" dirty="0"/>
          </a:p>
        </p:txBody>
      </p:sp>
      <p:sp>
        <p:nvSpPr>
          <p:cNvPr id="11" name="Text 6"/>
          <p:cNvSpPr txBox="1"/>
          <p:nvPr/>
        </p:nvSpPr>
        <p:spPr>
          <a:xfrm>
            <a:off x="8667598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SCHEDULE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8667598" y="1904695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09:00 — 11:00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8667598" y="2078431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1. Streamlit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Python 기초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8667598" y="2569464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2H · 자기소개 앱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8667598" y="3012948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11:00 — 12:00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8667598" y="3185770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2. 데이터 앱 개발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8667598" y="3450946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1H · 전력 데이터 대시보드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8667598" y="3893515"/>
            <a:ext cx="32388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13:00 — 15:00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8667598" y="4066337"/>
            <a:ext cx="3238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Part 3. AI 연동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&amp; Cloud 배포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667598" y="4558284"/>
            <a:ext cx="3238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B6CB0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2H · Claude API · 발표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790956" y="6286500"/>
            <a:ext cx="74011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 — 작품 2개(웹 + Streamlit)를 친구·동료에게 URL로 공유합니다.</a:t>
            </a:r>
            <a:endParaRPr lang="en-US" sz="1100" dirty="0"/>
          </a:p>
        </p:txBody>
      </p:sp>
      <p:pic>
        <p:nvPicPr>
          <p:cNvPr id="22" name="Image 3" descr="gen-dedup-5f152eb6c069ec6398511fad9e658a88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571500" y="6313932"/>
            <a:ext cx="142646" cy="142646"/>
          </a:xfrm>
          <a:prstGeom prst="rect">
            <a:avLst/>
          </a:prstGeom>
        </p:spPr>
      </p:pic>
      <p:sp>
        <p:nvSpPr>
          <p:cNvPr id="2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1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09:00 — 11:00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Python 입문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1.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소개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&amp; Python 기초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 SHIFT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kern="0" spc="-37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"HTML/CSS/JS 없이도</a:t>
            </a:r>
            <a:endParaRPr lang="en-US" sz="2100" dirty="0"/>
          </a:p>
          <a:p>
            <a:pPr marL="0" indent="0" algn="l">
              <a:buNone/>
            </a:pPr>
            <a:r>
              <a:rPr lang="en-US" sz="2100" b="1" kern="0" spc="-37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웹앱을 만들 수 있습니다."</a:t>
            </a:r>
            <a:endParaRPr lang="en-US" sz="21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913071"/>
            <a:ext cx="6858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코드만으로 인터랙티브 웹앱을 구축 — 데이터 분석가·기획자도 활용 가능한 도구.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952390" y="5400446"/>
            <a:ext cx="6667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저장하면 즉시 브라우저 반영 — 핫 리로드 지원</a:t>
            </a:r>
            <a:endParaRPr lang="en-US" sz="1000" dirty="0"/>
          </a:p>
        </p:txBody>
      </p:sp>
      <p:pic>
        <p:nvPicPr>
          <p:cNvPr id="20" name="Image 4" descr="gen-dedup-030e4f5b27ef24c6046975ef0cb26750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4762195" y="5436108"/>
            <a:ext cx="114300" cy="133502"/>
          </a:xfrm>
          <a:prstGeom prst="rect">
            <a:avLst/>
          </a:prstGeom>
        </p:spPr>
      </p:pic>
      <p:sp>
        <p:nvSpPr>
          <p:cNvPr id="2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190902"/>
          </a:xfrm>
          <a:prstGeom prst="roundRect">
            <a:avLst>
              <a:gd name="adj" fmla="val 362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d3ade11a0a0eb67218789f7e6f842ecc.png"/>
          <p:cNvPicPr>
            <a:picLocks noChangeAspect="1"/>
          </p:cNvPicPr>
          <p:nvPr/>
        </p:nvPicPr>
        <p:blipFill>
          <a:blip r:embed="rId3"/>
          <a:srcRect l="-320" r="-320"/>
          <a:stretch/>
        </p:blipFill>
        <p:spPr>
          <a:xfrm>
            <a:off x="571500" y="4143146"/>
            <a:ext cx="38405" cy="2862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4619549"/>
            <a:ext cx="2210105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2952598" y="4619549"/>
            <a:ext cx="2210105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5333695" y="4619549"/>
            <a:ext cx="2210105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715707" y="4619549"/>
            <a:ext cx="2210105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10096805" y="4619549"/>
            <a:ext cx="1714500" cy="1904695"/>
          </a:xfrm>
          <a:prstGeom prst="roundRect">
            <a:avLst>
              <a:gd name="adj" fmla="val 474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2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761695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143707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5524805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7905902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10287000" y="4809744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1 · 1/3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— 파이썬으로 만드는 웹앱</a:t>
            </a:r>
            <a:endParaRPr lang="en-US" sz="33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분석가·기획자·비개발자도 — Python 코드만으로 인터랙티브 웹앱을 구축할 수 있습니다.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57707" y="1952244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웹 개발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857707" y="2286000"/>
            <a:ext cx="495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Express + DB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57707" y="2762402"/>
            <a:ext cx="524134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· CSS · JS · 백엔드 · 인증 · 배포 — 전부 따로 학습해야 합니다.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1047902" y="3100730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러닝 커브 가파름 — 풀스택 한 주에 안 끝남</a:t>
            </a:r>
            <a:endParaRPr lang="en-US" sz="1000" dirty="0"/>
          </a:p>
        </p:txBody>
      </p:sp>
      <p:pic>
        <p:nvPicPr>
          <p:cNvPr id="26" name="Image 3" descr="gen-dedup-a8bf7704637e9df7516eed319c971a71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3136392"/>
            <a:ext cx="133502" cy="13350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72707" y="1952244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방식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6572707" y="2286000"/>
            <a:ext cx="49533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파일 1개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6572707" y="2762402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app.py 하나에 Python으로 다 작성. 웹 지식 0이어도 시작 가능.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6762902" y="3100730"/>
            <a:ext cx="47631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3시간이면 첫 데이터 앱 배포</a:t>
            </a:r>
            <a:endParaRPr lang="en-US" sz="1000" dirty="0"/>
          </a:p>
        </p:txBody>
      </p:sp>
      <p:pic>
        <p:nvPicPr>
          <p:cNvPr id="31" name="Image 4" descr="gen-dedup-1ea8e34249d4ec6c207cf0a8f89f5938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6572707" y="3136392"/>
            <a:ext cx="133502" cy="13350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43407" y="4143146"/>
            <a:ext cx="5715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5대 강점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761695" y="533369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only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761695" y="5667451"/>
            <a:ext cx="1810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HTML/CSS/JS 지식 </a:t>
            </a:r>
            <a:r>
              <a:rPr lang="en-US" sz="10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없이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Python만으로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웹앱 생성.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3143707" y="533369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핫 리로드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3143707" y="5667451"/>
            <a:ext cx="1810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저장 → 브라우저 즉시 반영.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빌드·새로고침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없음.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524805" y="533369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위젯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5524805" y="5667451"/>
            <a:ext cx="1810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slider · selectbox · file_uploader 등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사용.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905902" y="5333695"/>
            <a:ext cx="181051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호환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7905902" y="5667451"/>
            <a:ext cx="181051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 · matplotlib · plotly 와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호환.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10287000" y="5333695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배포</a:t>
            </a:r>
            <a:endParaRPr lang="en-US" sz="1300" dirty="0"/>
          </a:p>
        </p:txBody>
      </p:sp>
      <p:sp>
        <p:nvSpPr>
          <p:cNvPr id="42" name="Text 35"/>
          <p:cNvSpPr txBox="1"/>
          <p:nvPr/>
        </p:nvSpPr>
        <p:spPr>
          <a:xfrm>
            <a:off x="10287000" y="5667451"/>
            <a:ext cx="1334110" cy="600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</a:t>
            </a:r>
            <a:r>
              <a:rPr lang="en-US" sz="100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Cloud로</a:t>
            </a: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</a:t>
            </a:r>
            <a:r>
              <a:rPr lang="en-US" sz="100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연동</a:t>
            </a: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무료 호스팅.</a:t>
            </a:r>
            <a:endParaRPr lang="en-US" sz="1000" dirty="0"/>
          </a:p>
        </p:txBody>
      </p:sp>
      <p:pic>
        <p:nvPicPr>
          <p:cNvPr id="43" name="Image 5" descr="gen-dedup-b0e56b47dd1ba5463b7a0c6955eb92b4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866851" y="4917643"/>
            <a:ext cx="171907" cy="171907"/>
          </a:xfrm>
          <a:prstGeom prst="rect">
            <a:avLst/>
          </a:prstGeom>
        </p:spPr>
      </p:pic>
      <p:pic>
        <p:nvPicPr>
          <p:cNvPr id="44" name="Image 6" descr="gen-dedup-f428e49d6e5affc9970af1b2c63b9322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3247949" y="4917643"/>
            <a:ext cx="171907" cy="171907"/>
          </a:xfrm>
          <a:prstGeom prst="rect">
            <a:avLst/>
          </a:prstGeom>
        </p:spPr>
      </p:pic>
      <p:pic>
        <p:nvPicPr>
          <p:cNvPr id="45" name="Image 7" descr="gen-dedup-4889b9e8f30791160c073215d75a1cd4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629046" y="4917643"/>
            <a:ext cx="171907" cy="171907"/>
          </a:xfrm>
          <a:prstGeom prst="rect">
            <a:avLst/>
          </a:prstGeom>
        </p:spPr>
      </p:pic>
      <p:pic>
        <p:nvPicPr>
          <p:cNvPr id="46" name="Image 8" descr="gen-dedup-7f4f53fe3c3d92db3825dcf7d9fd816f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10144" y="4917643"/>
            <a:ext cx="171907" cy="171907"/>
          </a:xfrm>
          <a:prstGeom prst="rect">
            <a:avLst/>
          </a:prstGeom>
        </p:spPr>
      </p:pic>
      <p:pic>
        <p:nvPicPr>
          <p:cNvPr id="47" name="Image 9" descr="gen-dedup-cffc9f99ee0779b80e431895c877af42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10392156" y="4917643"/>
            <a:ext cx="171907" cy="171907"/>
          </a:xfrm>
          <a:prstGeom prst="rect">
            <a:avLst/>
          </a:prstGeom>
        </p:spPr>
      </p:pic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4381805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8191195" y="17620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5"/>
          <p:cNvSpPr/>
          <p:nvPr/>
        </p:nvSpPr>
        <p:spPr>
          <a:xfrm>
            <a:off x="571500" y="34765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6"/>
          <p:cNvSpPr/>
          <p:nvPr/>
        </p:nvSpPr>
        <p:spPr>
          <a:xfrm>
            <a:off x="4381805" y="3476549"/>
            <a:ext cx="3638398" cy="1543507"/>
          </a:xfrm>
          <a:prstGeom prst="roundRect">
            <a:avLst>
              <a:gd name="adj" fmla="val 58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7"/>
          <p:cNvSpPr/>
          <p:nvPr/>
        </p:nvSpPr>
        <p:spPr>
          <a:xfrm>
            <a:off x="8191195" y="3476549"/>
            <a:ext cx="3619195" cy="1524305"/>
          </a:xfrm>
          <a:prstGeom prst="roundRect">
            <a:avLst>
              <a:gd name="adj" fmla="val 5999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8"/>
          <p:cNvSpPr/>
          <p:nvPr/>
        </p:nvSpPr>
        <p:spPr>
          <a:xfrm>
            <a:off x="571500" y="5191049"/>
            <a:ext cx="11239805" cy="1333195"/>
          </a:xfrm>
          <a:prstGeom prst="roundRect">
            <a:avLst>
              <a:gd name="adj" fmla="val 979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12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3" name="Image 2" descr="gen-dedup-d66930ce88b841cbb57d38ccff5812d9.png"/>
          <p:cNvPicPr>
            <a:picLocks noChangeAspect="1"/>
          </p:cNvPicPr>
          <p:nvPr/>
        </p:nvPicPr>
        <p:blipFill>
          <a:blip r:embed="rId4"/>
          <a:srcRect t="-211" b="-211"/>
          <a:stretch/>
        </p:blipFill>
        <p:spPr>
          <a:xfrm>
            <a:off x="571500" y="1762049"/>
            <a:ext cx="75895" cy="1524305"/>
          </a:xfrm>
          <a:prstGeom prst="rect">
            <a:avLst/>
          </a:prstGeom>
        </p:spPr>
      </p:pic>
      <p:pic>
        <p:nvPicPr>
          <p:cNvPr id="14" name="Image 3" descr="gen-dedup-d66930ce88b841cbb57d38ccff5812d9.png"/>
          <p:cNvPicPr>
            <a:picLocks noChangeAspect="1"/>
          </p:cNvPicPr>
          <p:nvPr/>
        </p:nvPicPr>
        <p:blipFill>
          <a:blip r:embed="rId4"/>
          <a:srcRect t="-211" b="-211"/>
          <a:stretch/>
        </p:blipFill>
        <p:spPr>
          <a:xfrm>
            <a:off x="4381805" y="1762049"/>
            <a:ext cx="75895" cy="1524305"/>
          </a:xfrm>
          <a:prstGeom prst="rect">
            <a:avLst/>
          </a:prstGeom>
        </p:spPr>
      </p:pic>
      <p:pic>
        <p:nvPicPr>
          <p:cNvPr id="15" name="Image 4" descr="gen-dedup-d66930ce88b841cbb57d38ccff5812d9.png"/>
          <p:cNvPicPr>
            <a:picLocks noChangeAspect="1"/>
          </p:cNvPicPr>
          <p:nvPr/>
        </p:nvPicPr>
        <p:blipFill>
          <a:blip r:embed="rId4"/>
          <a:srcRect t="-211" b="-211"/>
          <a:stretch/>
        </p:blipFill>
        <p:spPr>
          <a:xfrm>
            <a:off x="8191195" y="1762049"/>
            <a:ext cx="75895" cy="1524305"/>
          </a:xfrm>
          <a:prstGeom prst="rect">
            <a:avLst/>
          </a:prstGeom>
        </p:spPr>
      </p:pic>
      <p:pic>
        <p:nvPicPr>
          <p:cNvPr id="16" name="Image 5" descr="gen-dedup-e7359be04aca1734b8337f98e31560b4.png"/>
          <p:cNvPicPr>
            <a:picLocks noChangeAspect="1"/>
          </p:cNvPicPr>
          <p:nvPr/>
        </p:nvPicPr>
        <p:blipFill>
          <a:blip r:embed="rId5"/>
          <a:srcRect t="-211" b="-211"/>
          <a:stretch/>
        </p:blipFill>
        <p:spPr>
          <a:xfrm>
            <a:off x="571500" y="3476549"/>
            <a:ext cx="75895" cy="1524305"/>
          </a:xfrm>
          <a:prstGeom prst="rect">
            <a:avLst/>
          </a:prstGeom>
        </p:spPr>
      </p:pic>
      <p:pic>
        <p:nvPicPr>
          <p:cNvPr id="17" name="Image 6" descr="gen-dedup-e7359be04aca1734b8337f98e31560b4.png"/>
          <p:cNvPicPr>
            <a:picLocks noChangeAspect="1"/>
          </p:cNvPicPr>
          <p:nvPr/>
        </p:nvPicPr>
        <p:blipFill>
          <a:blip r:embed="rId5"/>
          <a:srcRect t="-211" b="-211"/>
          <a:stretch/>
        </p:blipFill>
        <p:spPr>
          <a:xfrm>
            <a:off x="4381805" y="3476549"/>
            <a:ext cx="75895" cy="15243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1 · 2/3</a:t>
            </a:r>
            <a:endParaRPr lang="en-US" sz="900" dirty="0"/>
          </a:p>
        </p:txBody>
      </p:sp>
      <p:sp>
        <p:nvSpPr>
          <p:cNvPr id="19" name="Text 10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— 30분 핵심 문법 6개</a:t>
            </a:r>
            <a:endParaRPr lang="en-US" sz="3300" dirty="0"/>
          </a:p>
        </p:txBody>
      </p:sp>
      <p:sp>
        <p:nvSpPr>
          <p:cNvPr id="20" name="Text 11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JavaScript와 거의 같은 개념 — 문법만 살짝 다릅니다. 6개면 충분합니다.</a:t>
            </a:r>
            <a:endParaRPr lang="en-US" sz="1300" dirty="0"/>
          </a:p>
        </p:txBody>
      </p:sp>
      <p:sp>
        <p:nvSpPr>
          <p:cNvPr id="21" name="Text 12"/>
          <p:cNvSpPr txBox="1"/>
          <p:nvPr/>
        </p:nvSpPr>
        <p:spPr>
          <a:xfrm>
            <a:off x="800100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변수</a:t>
            </a:r>
            <a:endParaRPr lang="en-US" sz="1050" dirty="0"/>
          </a:p>
        </p:txBody>
      </p:sp>
      <p:sp>
        <p:nvSpPr>
          <p:cNvPr id="22" name="Text 13"/>
          <p:cNvSpPr txBox="1"/>
          <p:nvPr/>
        </p:nvSpPr>
        <p:spPr>
          <a:xfrm>
            <a:off x="800100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선언 키워드 X</a:t>
            </a:r>
            <a:endParaRPr lang="en-US" dirty="0"/>
          </a:p>
        </p:txBody>
      </p:sp>
      <p:sp>
        <p:nvSpPr>
          <p:cNvPr id="23" name="Text 14"/>
          <p:cNvSpPr txBox="1"/>
          <p:nvPr/>
        </p:nvSpPr>
        <p:spPr>
          <a:xfrm>
            <a:off x="800100" y="252374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=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"홍길동"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 # 문자열</a:t>
            </a:r>
            <a:endParaRPr lang="en-US" sz="1100" dirty="0"/>
          </a:p>
        </p:txBody>
      </p:sp>
      <p:sp>
        <p:nvSpPr>
          <p:cNvPr id="24" name="Text 15"/>
          <p:cNvSpPr txBox="1"/>
          <p:nvPr/>
        </p:nvSpPr>
        <p:spPr>
          <a:xfrm>
            <a:off x="800100" y="275051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 = 100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숫자</a:t>
            </a:r>
            <a:endParaRPr lang="en-US" sz="1100" dirty="0"/>
          </a:p>
        </p:txBody>
      </p:sp>
      <p:sp>
        <p:nvSpPr>
          <p:cNvPr id="25" name="Text 16"/>
          <p:cNvSpPr txBox="1"/>
          <p:nvPr/>
        </p:nvSpPr>
        <p:spPr>
          <a:xfrm>
            <a:off x="4610405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리스트</a:t>
            </a:r>
            <a:endParaRPr lang="en-US" sz="1050" dirty="0"/>
          </a:p>
        </p:txBody>
      </p:sp>
      <p:sp>
        <p:nvSpPr>
          <p:cNvPr id="26" name="Text 17"/>
          <p:cNvSpPr txBox="1"/>
          <p:nvPr/>
        </p:nvSpPr>
        <p:spPr>
          <a:xfrm>
            <a:off x="4610405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 ] — JS 배열과 동일</a:t>
            </a:r>
            <a:endParaRPr lang="en-US" dirty="0"/>
          </a:p>
        </p:txBody>
      </p:sp>
      <p:sp>
        <p:nvSpPr>
          <p:cNvPr id="27" name="Text 18"/>
          <p:cNvSpPr txBox="1"/>
          <p:nvPr/>
        </p:nvSpPr>
        <p:spPr>
          <a:xfrm>
            <a:off x="4610405" y="252374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 = [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"전력"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"IT"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"보안"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</a:t>
            </a:r>
            <a:endParaRPr lang="en-US" sz="1100" dirty="0"/>
          </a:p>
        </p:txBody>
      </p:sp>
      <p:sp>
        <p:nvSpPr>
          <p:cNvPr id="28" name="Text 19"/>
          <p:cNvSpPr txBox="1"/>
          <p:nvPr/>
        </p:nvSpPr>
        <p:spPr>
          <a:xfrm>
            <a:off x="4610405" y="275051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items.append(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29" name="Text 20"/>
          <p:cNvSpPr txBox="1"/>
          <p:nvPr/>
        </p:nvSpPr>
        <p:spPr>
          <a:xfrm>
            <a:off x="8419795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딕셔너리</a:t>
            </a:r>
            <a:endParaRPr lang="en-US" sz="1050" dirty="0"/>
          </a:p>
        </p:txBody>
      </p:sp>
      <p:sp>
        <p:nvSpPr>
          <p:cNvPr id="30" name="Text 21"/>
          <p:cNvSpPr txBox="1"/>
          <p:nvPr/>
        </p:nvSpPr>
        <p:spPr>
          <a:xfrm>
            <a:off x="8419795" y="21717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 } — JS 객체</a:t>
            </a:r>
            <a:endParaRPr lang="en-US" dirty="0"/>
          </a:p>
        </p:txBody>
      </p:sp>
      <p:sp>
        <p:nvSpPr>
          <p:cNvPr id="31" name="Text 22"/>
          <p:cNvSpPr txBox="1"/>
          <p:nvPr/>
        </p:nvSpPr>
        <p:spPr>
          <a:xfrm>
            <a:off x="8419795" y="2523744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= {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"부서"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"전력IT"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50" dirty="0"/>
          </a:p>
        </p:txBody>
      </p:sp>
      <p:sp>
        <p:nvSpPr>
          <p:cNvPr id="32" name="Text 23"/>
          <p:cNvSpPr txBox="1"/>
          <p:nvPr/>
        </p:nvSpPr>
        <p:spPr>
          <a:xfrm>
            <a:off x="8419795" y="2734970"/>
            <a:ext cx="32388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"인원"</a:t>
            </a: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50 }</a:t>
            </a:r>
            <a:endParaRPr lang="en-US" sz="1050" dirty="0"/>
          </a:p>
        </p:txBody>
      </p:sp>
      <p:sp>
        <p:nvSpPr>
          <p:cNvPr id="33" name="Text 24"/>
          <p:cNvSpPr txBox="1"/>
          <p:nvPr/>
        </p:nvSpPr>
        <p:spPr>
          <a:xfrm>
            <a:off x="800100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· 함수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800100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 키워드</a:t>
            </a:r>
            <a:endParaRPr lang="en-US" dirty="0"/>
          </a:p>
        </p:txBody>
      </p:sp>
      <p:sp>
        <p:nvSpPr>
          <p:cNvPr id="35" name="Text 26"/>
          <p:cNvSpPr txBox="1"/>
          <p:nvPr/>
        </p:nvSpPr>
        <p:spPr>
          <a:xfrm>
            <a:off x="800100" y="423824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calc(x, y):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800100" y="446501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x + y</a:t>
            </a:r>
            <a:endParaRPr lang="en-US" sz="1100" dirty="0"/>
          </a:p>
        </p:txBody>
      </p:sp>
      <p:sp>
        <p:nvSpPr>
          <p:cNvPr id="37" name="Text 28"/>
          <p:cNvSpPr txBox="1"/>
          <p:nvPr/>
        </p:nvSpPr>
        <p:spPr>
          <a:xfrm>
            <a:off x="4610405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· 조건문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4610405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 · 들여쓰기 = {}</a:t>
            </a:r>
            <a:endParaRPr lang="en-US" dirty="0"/>
          </a:p>
        </p:txBody>
      </p:sp>
      <p:sp>
        <p:nvSpPr>
          <p:cNvPr id="39" name="Text 30"/>
          <p:cNvSpPr txBox="1"/>
          <p:nvPr/>
        </p:nvSpPr>
        <p:spPr>
          <a:xfrm>
            <a:off x="4610405" y="423824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value &gt; 100:</a:t>
            </a:r>
            <a:endParaRPr lang="en-US" sz="1100" dirty="0"/>
          </a:p>
        </p:txBody>
      </p:sp>
      <p:sp>
        <p:nvSpPr>
          <p:cNvPr id="40" name="Text 31"/>
          <p:cNvSpPr txBox="1"/>
          <p:nvPr/>
        </p:nvSpPr>
        <p:spPr>
          <a:xfrm>
            <a:off x="4610405" y="446501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"초과"</a:t>
            </a:r>
            <a:r>
              <a:rPr lang="en-US" sz="11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100" dirty="0"/>
          </a:p>
        </p:txBody>
      </p:sp>
      <p:sp>
        <p:nvSpPr>
          <p:cNvPr id="41" name="Text 32"/>
          <p:cNvSpPr txBox="1"/>
          <p:nvPr/>
        </p:nvSpPr>
        <p:spPr>
          <a:xfrm>
            <a:off x="8419795" y="36191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75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· 반복문</a:t>
            </a:r>
            <a:endParaRPr lang="en-US" sz="1050" dirty="0"/>
          </a:p>
        </p:txBody>
      </p:sp>
      <p:sp>
        <p:nvSpPr>
          <p:cNvPr id="42" name="Text 33"/>
          <p:cNvSpPr txBox="1"/>
          <p:nvPr/>
        </p:nvSpPr>
        <p:spPr>
          <a:xfrm>
            <a:off x="8419795" y="3886200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 · in</a:t>
            </a:r>
            <a:endParaRPr lang="en-US" dirty="0"/>
          </a:p>
        </p:txBody>
      </p:sp>
      <p:sp>
        <p:nvSpPr>
          <p:cNvPr id="43" name="Text 34"/>
          <p:cNvSpPr txBox="1"/>
          <p:nvPr/>
        </p:nvSpPr>
        <p:spPr>
          <a:xfrm>
            <a:off x="8419795" y="4238244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item </a:t>
            </a:r>
            <a:r>
              <a:rPr lang="en-US" sz="11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items: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8419795" y="4465015"/>
            <a:ext cx="3238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print(item)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1086307" y="5381244"/>
            <a:ext cx="105348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JS와 다른 점 — 4가지만</a:t>
            </a:r>
            <a:endParaRPr lang="en-US" sz="1100" dirty="0"/>
          </a:p>
        </p:txBody>
      </p:sp>
      <p:pic>
        <p:nvPicPr>
          <p:cNvPr id="46" name="Image 7" descr="gen-dedup-87fff5e13938439332f980ebe617e608.png"/>
          <p:cNvPicPr>
            <a:picLocks noChangeAspect="1"/>
          </p:cNvPicPr>
          <p:nvPr/>
        </p:nvPicPr>
        <p:blipFill>
          <a:blip r:embed="rId6"/>
          <a:srcRect l="-7192" r="-7192"/>
          <a:stretch/>
        </p:blipFill>
        <p:spPr>
          <a:xfrm>
            <a:off x="857707" y="5381244"/>
            <a:ext cx="152705" cy="133502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57707" y="5715000"/>
            <a:ext cx="10763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세미콜론(;) 없음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줄바꿈으로 구분 ㅤ 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중괄호({}) 대신 들여쓰기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(4칸)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857707" y="5955487"/>
            <a:ext cx="10763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함수는 def, 화살표 없음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단순함 ㅤ </a:t>
            </a:r>
            <a:r>
              <a:rPr lang="en-US" sz="11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true/false 대신 True/False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(대문자)</a:t>
            </a:r>
            <a:endParaRPr lang="en-US" sz="1100" dirty="0"/>
          </a:p>
        </p:txBody>
      </p:sp>
      <p:sp>
        <p:nvSpPr>
          <p:cNvPr id="4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" name="Shape 4"/>
          <p:cNvSpPr/>
          <p:nvPr/>
        </p:nvSpPr>
        <p:spPr>
          <a:xfrm>
            <a:off x="571500" y="4238244"/>
            <a:ext cx="11239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cf7883e6d257e4d09741ea08a8baf634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571500" y="1762049"/>
            <a:ext cx="5524805" cy="342900"/>
          </a:xfrm>
          <a:prstGeom prst="rect">
            <a:avLst/>
          </a:prstGeom>
        </p:spPr>
      </p:pic>
      <p:pic>
        <p:nvPicPr>
          <p:cNvPr id="10" name="Image 3" descr="gen-dedup-b45b9144a584143496e8fa88cc85eec6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286500" y="1762049"/>
            <a:ext cx="57607" cy="2286000"/>
          </a:xfrm>
          <a:prstGeom prst="rect">
            <a:avLst/>
          </a:prstGeom>
        </p:spPr>
      </p:pic>
      <p:pic>
        <p:nvPicPr>
          <p:cNvPr id="11" name="Image 4" descr="gen-dedup-7972281d7fa80c2a19893eefe68eac9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571500" y="4238244"/>
            <a:ext cx="57607" cy="2286000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57707" y="5157216"/>
            <a:ext cx="5333695" cy="1276502"/>
          </a:xfrm>
          <a:prstGeom prst="roundRect">
            <a:avLst>
              <a:gd name="adj" fmla="val 6415"/>
            </a:avLst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6"/>
          <p:cNvSpPr/>
          <p:nvPr/>
        </p:nvSpPr>
        <p:spPr>
          <a:xfrm>
            <a:off x="6381598" y="5333695"/>
            <a:ext cx="5238598" cy="1047902"/>
          </a:xfrm>
          <a:prstGeom prst="roundRect">
            <a:avLst>
              <a:gd name="adj" fmla="val 951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7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1 · 3/3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Streamlit 앱 + 자기소개 실습</a:t>
            </a:r>
            <a:endParaRPr lang="en-US" sz="33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한 줄 · 코드 10줄 · streamlit run 한 번. 끝.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19302" y="1837944"/>
            <a:ext cx="5085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설치 + 첫 실행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286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1. 설치 (한 줄)</a:t>
            </a:r>
            <a:endParaRPr lang="en-US" sz="105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2509114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pip install streamlit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286298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2. app.py 파일 만들고 실행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086100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streamlit run app.py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439973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브라우저 자동 오픈: http://localhost:8501</a:t>
            </a:r>
            <a:endParaRPr lang="en-US" sz="1050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3663086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코드 저장하면 즉시 새로고침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6572707" y="1952244"/>
            <a:ext cx="49533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컴포넌트 5개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6572707" y="2286000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title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"앱 제목"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큰 제목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6572707" y="2532888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write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"내용"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텍스트/데이터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6572707" y="2779776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button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"클릭"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버튼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572707" y="3026664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text_input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"이름"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입력칸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6572707" y="3272638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10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selectbox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10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"부서"</a:t>
            </a:r>
            <a:r>
              <a:rPr lang="en-US" sz="110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opts)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드롭다운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915314" y="4429354"/>
            <a:ext cx="56573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자기소개 Streamlit 앱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857707" y="4743907"/>
            <a:ext cx="10763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이름·부서·관심분야를 입력받아 화면에 표시하기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1047902" y="521025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app.py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1047902" y="5404104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streamlit </a:t>
            </a:r>
            <a:r>
              <a:rPr lang="en-US" sz="105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1047902" y="559887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st.title(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"안녕하세요"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1047902" y="5792724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 = st.text_input(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"이름"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6" name="Text 29"/>
          <p:cNvSpPr txBox="1"/>
          <p:nvPr/>
        </p:nvSpPr>
        <p:spPr>
          <a:xfrm>
            <a:off x="1047902" y="5987491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dept = st.selectbox(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"부서"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[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"전력IT"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"보안"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"AI"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])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047902" y="6182258"/>
            <a:ext cx="49533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st.write(f</a:t>
            </a:r>
            <a:r>
              <a:rPr lang="en-US" sz="1050" dirty="0">
                <a:solidFill>
                  <a:srgbClr val="34D399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"안녕하세요 {name}님 ({dept})"</a:t>
            </a:r>
            <a:r>
              <a:rPr lang="en-US" sz="10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6630314" y="5477256"/>
            <a:ext cx="48006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프롬프트로 한 번에 받기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6572707" y="5661050"/>
            <a:ext cx="4858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"Streamlit으로 자기소개 앱 만들어줘. 이름·부서·관심분야 입력 폼, </a:t>
            </a: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입력하면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형태로 표시. 프로필 이미지 업로드 기능 + 사이드바에 사진 미리보기 추가."</a:t>
            </a:r>
            <a:endParaRPr lang="en-US" sz="1050" dirty="0"/>
          </a:p>
        </p:txBody>
      </p:sp>
      <p:sp>
        <p:nvSpPr>
          <p:cNvPr id="4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2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11:00 — 12:00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1시간 · 데이터 앱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2.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앱 개발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TODAY'S DELIVERABLE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데이터 대시보드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738387"/>
            <a:ext cx="7056766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CSV를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업로드하면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ct val="200000"/>
              </a:lnSpc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월별 추이·지역별 비교·핵심 KPI가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자동으로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시각화되는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</a:t>
            </a: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대시보드를 한 시간 안에 만듭니다.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838090" y="5810662"/>
            <a:ext cx="6782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 · matplotlib · plotly — 3대 도구 통합</a:t>
            </a:r>
            <a:endParaRPr lang="en-US" sz="11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333695" cy="4762195"/>
          </a:xfrm>
          <a:prstGeom prst="roundRect">
            <a:avLst>
              <a:gd name="adj" fmla="val 768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096305" y="1762049"/>
            <a:ext cx="5715000" cy="4762195"/>
          </a:xfrm>
          <a:prstGeom prst="roundRect">
            <a:avLst>
              <a:gd name="adj" fmla="val 768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57707" y="2714854"/>
            <a:ext cx="4781398" cy="3638398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2" descr="gen-dedup-c125004e333122bde884af90a0b6fd57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857707" y="2714854"/>
            <a:ext cx="4762195" cy="3813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3191256"/>
            <a:ext cx="1162202" cy="3066898"/>
          </a:xfrm>
          <a:prstGeom prst="roundRect">
            <a:avLst>
              <a:gd name="adj" fmla="val 7739"/>
            </a:avLst>
          </a:prstGeom>
          <a:solidFill>
            <a:srgbClr val="F1F4F8"/>
          </a:solidFill>
          <a:ln w="127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2238451" y="3191256"/>
            <a:ext cx="1047902" cy="666598"/>
          </a:xfrm>
          <a:prstGeom prst="roundRect">
            <a:avLst>
              <a:gd name="adj" fmla="val 23516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3381451" y="3191256"/>
            <a:ext cx="1047902" cy="666598"/>
          </a:xfrm>
          <a:prstGeom prst="roundRect">
            <a:avLst>
              <a:gd name="adj" fmla="val 23516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8"/>
          <p:cNvSpPr/>
          <p:nvPr/>
        </p:nvSpPr>
        <p:spPr>
          <a:xfrm>
            <a:off x="4524451" y="3191256"/>
            <a:ext cx="1000354" cy="666598"/>
          </a:xfrm>
          <a:prstGeom prst="roundRect">
            <a:avLst>
              <a:gd name="adj" fmla="val 23516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9"/>
          <p:cNvSpPr/>
          <p:nvPr/>
        </p:nvSpPr>
        <p:spPr>
          <a:xfrm>
            <a:off x="2238451" y="3952951"/>
            <a:ext cx="3305556" cy="1162202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2238451" y="5191049"/>
            <a:ext cx="3305556" cy="1067105"/>
          </a:xfrm>
          <a:prstGeom prst="roundRect">
            <a:avLst>
              <a:gd name="adj" fmla="val 91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1"/>
          <p:cNvSpPr/>
          <p:nvPr/>
        </p:nvSpPr>
        <p:spPr>
          <a:xfrm>
            <a:off x="2428646" y="4524451"/>
            <a:ext cx="286207" cy="476402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2"/>
          <p:cNvSpPr/>
          <p:nvPr/>
        </p:nvSpPr>
        <p:spPr>
          <a:xfrm>
            <a:off x="2762402" y="4381805"/>
            <a:ext cx="286207" cy="619049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095244" y="4238244"/>
            <a:ext cx="286207" cy="76169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3429000" y="4334256"/>
            <a:ext cx="286207" cy="666598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3762756" y="4190695"/>
            <a:ext cx="286207" cy="8092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4095598" y="4095598"/>
            <a:ext cx="286207" cy="905256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429354" y="4048049"/>
            <a:ext cx="286207" cy="952805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4762195" y="3952951"/>
            <a:ext cx="286207" cy="1047902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9"/>
          <p:cNvSpPr/>
          <p:nvPr/>
        </p:nvSpPr>
        <p:spPr>
          <a:xfrm>
            <a:off x="5095951" y="4048049"/>
            <a:ext cx="286207" cy="952805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gen-dedup-b8e79bac2ebbce201789c224a2fcdaa9.png"/>
          <p:cNvPicPr>
            <a:picLocks noChangeAspect="1"/>
          </p:cNvPicPr>
          <p:nvPr/>
        </p:nvPicPr>
        <p:blipFill>
          <a:blip r:embed="rId5"/>
          <a:srcRect l="-195" r="-195"/>
          <a:stretch/>
        </p:blipFill>
        <p:spPr>
          <a:xfrm>
            <a:off x="2333549" y="5524805"/>
            <a:ext cx="3095244" cy="75895"/>
          </a:xfrm>
          <a:prstGeom prst="rect">
            <a:avLst/>
          </a:prstGeom>
        </p:spPr>
      </p:pic>
      <p:pic>
        <p:nvPicPr>
          <p:cNvPr id="26" name="Image 4" descr="gen-dedup-d5040bc12c2225c0a9bc1dd57c4ba557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2333549" y="5667451"/>
            <a:ext cx="3095244" cy="57607"/>
          </a:xfrm>
          <a:prstGeom prst="rect">
            <a:avLst/>
          </a:prstGeom>
        </p:spPr>
      </p:pic>
      <p:pic>
        <p:nvPicPr>
          <p:cNvPr id="27" name="Image 5" descr="gen-dedup-d5040bc12c2225c0a9bc1dd57c4ba557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2333549" y="5790895"/>
            <a:ext cx="3095244" cy="57607"/>
          </a:xfrm>
          <a:prstGeom prst="rect">
            <a:avLst/>
          </a:prstGeom>
        </p:spPr>
      </p:pic>
      <p:pic>
        <p:nvPicPr>
          <p:cNvPr id="28" name="Image 6" descr="gen-dedup-d5040bc12c2225c0a9bc1dd57c4ba557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2333549" y="5915254"/>
            <a:ext cx="3095244" cy="57607"/>
          </a:xfrm>
          <a:prstGeom prst="rect">
            <a:avLst/>
          </a:prstGeom>
        </p:spPr>
      </p:pic>
      <p:pic>
        <p:nvPicPr>
          <p:cNvPr id="29" name="Image 7" descr="gen-dedup-d5040bc12c2225c0a9bc1dd57c4ba557.png"/>
          <p:cNvPicPr>
            <a:picLocks noChangeAspect="1"/>
          </p:cNvPicPr>
          <p:nvPr/>
        </p:nvPicPr>
        <p:blipFill>
          <a:blip r:embed="rId6"/>
          <a:srcRect t="-406" b="-406"/>
          <a:stretch/>
        </p:blipFill>
        <p:spPr>
          <a:xfrm>
            <a:off x="2333549" y="6038698"/>
            <a:ext cx="3095244" cy="576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2 · 1/2</a:t>
            </a:r>
            <a:endParaRPr lang="en-US" sz="900" dirty="0"/>
          </a:p>
        </p:txBody>
      </p:sp>
      <p:sp>
        <p:nvSpPr>
          <p:cNvPr id="31" name="Text 21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+ 위젯 8종</a:t>
            </a:r>
            <a:endParaRPr lang="en-US" sz="3300" dirty="0"/>
          </a:p>
        </p:txBody>
      </p:sp>
      <p:sp>
        <p:nvSpPr>
          <p:cNvPr id="32" name="Text 22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사이드바·컬럼·탭으로 화면을 나누고, 8개 위젯으로 사용자 입력을 받습니다.</a:t>
            </a:r>
            <a:endParaRPr lang="en-US" sz="1300" dirty="0"/>
          </a:p>
        </p:txBody>
      </p:sp>
      <p:sp>
        <p:nvSpPr>
          <p:cNvPr id="33" name="Text 23"/>
          <p:cNvSpPr txBox="1"/>
          <p:nvPr/>
        </p:nvSpPr>
        <p:spPr>
          <a:xfrm>
            <a:off x="915314" y="1952244"/>
            <a:ext cx="48956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레이아웃 구조 미리보기</a:t>
            </a:r>
            <a:endParaRPr lang="en-US" sz="900" dirty="0"/>
          </a:p>
        </p:txBody>
      </p:sp>
      <p:sp>
        <p:nvSpPr>
          <p:cNvPr id="34" name="Text 24"/>
          <p:cNvSpPr txBox="1"/>
          <p:nvPr/>
        </p:nvSpPr>
        <p:spPr>
          <a:xfrm>
            <a:off x="857707" y="2238451"/>
            <a:ext cx="49533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 표준 구조</a:t>
            </a:r>
            <a:endParaRPr lang="en-US" sz="1600" dirty="0"/>
          </a:p>
        </p:txBody>
      </p:sp>
      <p:sp>
        <p:nvSpPr>
          <p:cNvPr id="35" name="Text 25"/>
          <p:cNvSpPr txBox="1"/>
          <p:nvPr/>
        </p:nvSpPr>
        <p:spPr>
          <a:xfrm>
            <a:off x="1047902" y="2809951"/>
            <a:ext cx="4381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st.title()</a:t>
            </a:r>
            <a:endParaRPr lang="en-US" sz="1000" dirty="0"/>
          </a:p>
        </p:txBody>
      </p:sp>
      <p:sp>
        <p:nvSpPr>
          <p:cNvPr id="36" name="Text 26"/>
          <p:cNvSpPr txBox="1"/>
          <p:nvPr/>
        </p:nvSpPr>
        <p:spPr>
          <a:xfrm>
            <a:off x="1047902" y="3286354"/>
            <a:ext cx="9528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st.sidebar</a:t>
            </a:r>
            <a:endParaRPr lang="en-US" sz="800" dirty="0"/>
          </a:p>
        </p:txBody>
      </p:sp>
      <p:sp>
        <p:nvSpPr>
          <p:cNvPr id="37" name="Text 27"/>
          <p:cNvSpPr txBox="1"/>
          <p:nvPr/>
        </p:nvSpPr>
        <p:spPr>
          <a:xfrm>
            <a:off x="1047902" y="3448202"/>
            <a:ext cx="952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필터·설정</a:t>
            </a:r>
            <a:endParaRPr lang="en-US" sz="800" dirty="0"/>
          </a:p>
        </p:txBody>
      </p:sp>
      <p:sp>
        <p:nvSpPr>
          <p:cNvPr id="38" name="Text 28"/>
          <p:cNvSpPr txBox="1"/>
          <p:nvPr/>
        </p:nvSpPr>
        <p:spPr>
          <a:xfrm>
            <a:off x="2238451" y="3238805"/>
            <a:ext cx="10479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st.metric</a:t>
            </a:r>
            <a:endParaRPr lang="en-US" sz="800" dirty="0"/>
          </a:p>
        </p:txBody>
      </p:sp>
      <p:sp>
        <p:nvSpPr>
          <p:cNvPr id="39" name="Text 29"/>
          <p:cNvSpPr txBox="1"/>
          <p:nvPr/>
        </p:nvSpPr>
        <p:spPr>
          <a:xfrm>
            <a:off x="2238451" y="3400654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1.2M</a:t>
            </a:r>
            <a:endParaRPr lang="en-US" sz="1300" dirty="0"/>
          </a:p>
        </p:txBody>
      </p:sp>
      <p:sp>
        <p:nvSpPr>
          <p:cNvPr id="40" name="Text 30"/>
          <p:cNvSpPr txBox="1"/>
          <p:nvPr/>
        </p:nvSpPr>
        <p:spPr>
          <a:xfrm>
            <a:off x="3381451" y="3238805"/>
            <a:ext cx="1047902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st.metric</a:t>
            </a:r>
            <a:endParaRPr lang="en-US" sz="800" dirty="0"/>
          </a:p>
        </p:txBody>
      </p:sp>
      <p:sp>
        <p:nvSpPr>
          <p:cNvPr id="41" name="Text 31"/>
          <p:cNvSpPr txBox="1"/>
          <p:nvPr/>
        </p:nvSpPr>
        <p:spPr>
          <a:xfrm>
            <a:off x="3381451" y="3400654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87%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4524451" y="3238805"/>
            <a:ext cx="10003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st.metric</a:t>
            </a:r>
            <a:endParaRPr lang="en-US" sz="800" dirty="0"/>
          </a:p>
        </p:txBody>
      </p:sp>
      <p:sp>
        <p:nvSpPr>
          <p:cNvPr id="43" name="Text 33"/>
          <p:cNvSpPr txBox="1"/>
          <p:nvPr/>
        </p:nvSpPr>
        <p:spPr>
          <a:xfrm>
            <a:off x="4524451" y="3400654"/>
            <a:ext cx="10003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+12%</a:t>
            </a:r>
            <a:endParaRPr lang="en-US" sz="1300" dirty="0"/>
          </a:p>
        </p:txBody>
      </p:sp>
      <p:sp>
        <p:nvSpPr>
          <p:cNvPr id="44" name="Text 34"/>
          <p:cNvSpPr txBox="1"/>
          <p:nvPr/>
        </p:nvSpPr>
        <p:spPr>
          <a:xfrm>
            <a:off x="2333549" y="4048049"/>
            <a:ext cx="3096158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st.line_chart()</a:t>
            </a:r>
            <a:endParaRPr lang="en-US" sz="800" dirty="0"/>
          </a:p>
        </p:txBody>
      </p:sp>
      <p:sp>
        <p:nvSpPr>
          <p:cNvPr id="45" name="Text 35"/>
          <p:cNvSpPr txBox="1"/>
          <p:nvPr/>
        </p:nvSpPr>
        <p:spPr>
          <a:xfrm>
            <a:off x="2333549" y="5286146"/>
            <a:ext cx="3096158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st.dataframe()</a:t>
            </a:r>
            <a:endParaRPr lang="en-US" sz="800" dirty="0"/>
          </a:p>
        </p:txBody>
      </p:sp>
      <p:sp>
        <p:nvSpPr>
          <p:cNvPr id="46" name="Text 36"/>
          <p:cNvSpPr txBox="1"/>
          <p:nvPr/>
        </p:nvSpPr>
        <p:spPr>
          <a:xfrm>
            <a:off x="6381598" y="2048256"/>
            <a:ext cx="5143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ESSENTIAL WIDGETS</a:t>
            </a:r>
            <a:endParaRPr lang="en-US" sz="900" dirty="0"/>
          </a:p>
        </p:txBody>
      </p:sp>
      <p:sp>
        <p:nvSpPr>
          <p:cNvPr id="47" name="Text 37"/>
          <p:cNvSpPr txBox="1"/>
          <p:nvPr/>
        </p:nvSpPr>
        <p:spPr>
          <a:xfrm>
            <a:off x="6381598" y="2333549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위젯 8개</a:t>
            </a:r>
            <a:endParaRPr lang="en-US" sz="2100" dirty="0"/>
          </a:p>
        </p:txBody>
      </p:sp>
      <p:sp>
        <p:nvSpPr>
          <p:cNvPr id="48" name="Text 38"/>
          <p:cNvSpPr txBox="1"/>
          <p:nvPr/>
        </p:nvSpPr>
        <p:spPr>
          <a:xfrm>
            <a:off x="6381598" y="2952598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st.sidebar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사이드바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6381598" y="3219602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st.columns(N)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N등분 분할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6381598" y="3486607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st.slider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숫자 범위</a:t>
            </a:r>
            <a:endParaRPr lang="en-US" sz="1100" dirty="0"/>
          </a:p>
        </p:txBody>
      </p:sp>
      <p:sp>
        <p:nvSpPr>
          <p:cNvPr id="51" name="Text 41"/>
          <p:cNvSpPr txBox="1"/>
          <p:nvPr/>
        </p:nvSpPr>
        <p:spPr>
          <a:xfrm>
            <a:off x="6381598" y="3752698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st.selectbox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드롭다운 선택</a:t>
            </a:r>
            <a:endParaRPr lang="en-US" sz="1100" dirty="0"/>
          </a:p>
        </p:txBody>
      </p:sp>
      <p:sp>
        <p:nvSpPr>
          <p:cNvPr id="52" name="Text 42"/>
          <p:cNvSpPr txBox="1"/>
          <p:nvPr/>
        </p:nvSpPr>
        <p:spPr>
          <a:xfrm>
            <a:off x="6381598" y="4019702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st.multiselect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복수 선택</a:t>
            </a:r>
            <a:endParaRPr lang="en-US" sz="1100" dirty="0"/>
          </a:p>
        </p:txBody>
      </p:sp>
      <p:sp>
        <p:nvSpPr>
          <p:cNvPr id="53" name="Text 43"/>
          <p:cNvSpPr txBox="1"/>
          <p:nvPr/>
        </p:nvSpPr>
        <p:spPr>
          <a:xfrm>
            <a:off x="6381598" y="4286707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st.file_uploader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CSV/Excel 업로드</a:t>
            </a:r>
            <a:endParaRPr lang="en-US" sz="1100" dirty="0"/>
          </a:p>
        </p:txBody>
      </p:sp>
      <p:sp>
        <p:nvSpPr>
          <p:cNvPr id="54" name="Text 44"/>
          <p:cNvSpPr txBox="1"/>
          <p:nvPr/>
        </p:nvSpPr>
        <p:spPr>
          <a:xfrm>
            <a:off x="6381598" y="4552798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st.metric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KPI 카드</a:t>
            </a:r>
            <a:endParaRPr lang="en-US" sz="1100" dirty="0"/>
          </a:p>
        </p:txBody>
      </p:sp>
      <p:sp>
        <p:nvSpPr>
          <p:cNvPr id="55" name="Text 45"/>
          <p:cNvSpPr txBox="1"/>
          <p:nvPr/>
        </p:nvSpPr>
        <p:spPr>
          <a:xfrm>
            <a:off x="6381598" y="4819802"/>
            <a:ext cx="5143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r>
              <a:rPr lang="en-US" sz="1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st.tabs · st.expander </a:t>
            </a:r>
            <a:r>
              <a:rPr lang="en-US" sz="11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— 콘텐츠 정리</a:t>
            </a:r>
            <a:endParaRPr lang="en-US" sz="1100" dirty="0"/>
          </a:p>
        </p:txBody>
      </p:sp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286500" y="1762049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Shape 4"/>
          <p:cNvSpPr/>
          <p:nvPr/>
        </p:nvSpPr>
        <p:spPr>
          <a:xfrm>
            <a:off x="571500" y="4238244"/>
            <a:ext cx="11239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cf7883e6d257e4d09741ea08a8baf634.png"/>
          <p:cNvPicPr>
            <a:picLocks noChangeAspect="1"/>
          </p:cNvPicPr>
          <p:nvPr/>
        </p:nvPicPr>
        <p:blipFill>
          <a:blip r:embed="rId4"/>
          <a:srcRect l="-3" r="-3"/>
          <a:stretch/>
        </p:blipFill>
        <p:spPr>
          <a:xfrm>
            <a:off x="571500" y="1762049"/>
            <a:ext cx="5524805" cy="342900"/>
          </a:xfrm>
          <a:prstGeom prst="rect">
            <a:avLst/>
          </a:prstGeom>
        </p:spPr>
      </p:pic>
      <p:pic>
        <p:nvPicPr>
          <p:cNvPr id="10" name="Image 3" descr="gen-dedup-b45b9144a584143496e8fa88cc85eec6.png"/>
          <p:cNvPicPr>
            <a:picLocks noChangeAspect="1"/>
          </p:cNvPicPr>
          <p:nvPr/>
        </p:nvPicPr>
        <p:blipFill>
          <a:blip r:embed="rId5"/>
          <a:srcRect l="-400" r="-400"/>
          <a:stretch/>
        </p:blipFill>
        <p:spPr>
          <a:xfrm>
            <a:off x="6286500" y="1762049"/>
            <a:ext cx="57607" cy="2286000"/>
          </a:xfrm>
          <a:prstGeom prst="rect">
            <a:avLst/>
          </a:prstGeom>
        </p:spPr>
      </p:pic>
      <p:pic>
        <p:nvPicPr>
          <p:cNvPr id="11" name="Image 4" descr="gen-dedup-7972281d7fa80c2a19893eefe68eac9d.png"/>
          <p:cNvPicPr>
            <a:picLocks noChangeAspect="1"/>
          </p:cNvPicPr>
          <p:nvPr/>
        </p:nvPicPr>
        <p:blipFill>
          <a:blip r:embed="rId6"/>
          <a:srcRect l="-400" r="-400"/>
          <a:stretch/>
        </p:blipFill>
        <p:spPr>
          <a:xfrm>
            <a:off x="571500" y="4238244"/>
            <a:ext cx="57607" cy="22860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2 · 2/2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분석 → 시각화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pandas로 데이터를 다루고, Streamlit 차트 한 줄로 그립니다.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819302" y="1837944"/>
            <a:ext cx="5085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pandas · 데이터 다루기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286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CSV 읽기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2509114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pandas </a:t>
            </a:r>
            <a:r>
              <a:rPr lang="en-US" sz="1000" dirty="0">
                <a:solidFill>
                  <a:srgbClr val="FBBF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pd</a:t>
            </a:r>
            <a:endParaRPr lang="en-US" sz="1000" dirty="0"/>
          </a:p>
        </p:txBody>
      </p:sp>
      <p:sp>
        <p:nvSpPr>
          <p:cNvPr id="18" name="Text 11"/>
          <p:cNvSpPr txBox="1"/>
          <p:nvPr/>
        </p:nvSpPr>
        <p:spPr>
          <a:xfrm>
            <a:off x="761695" y="2748686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 = pd.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read_csv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"power.csv"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761695" y="3065069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기본 통계량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761695" y="3233319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describe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평균·중앙값·표준편차</a:t>
            </a:r>
            <a:endParaRPr lang="en-US" sz="1000" dirty="0"/>
          </a:p>
        </p:txBody>
      </p:sp>
      <p:sp>
        <p:nvSpPr>
          <p:cNvPr id="21" name="Text 14"/>
          <p:cNvSpPr txBox="1"/>
          <p:nvPr/>
        </p:nvSpPr>
        <p:spPr>
          <a:xfrm>
            <a:off x="761695" y="3604565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그룹별 합산</a:t>
            </a:r>
            <a:endParaRPr lang="en-US" sz="900" dirty="0"/>
          </a:p>
        </p:txBody>
      </p:sp>
      <p:sp>
        <p:nvSpPr>
          <p:cNvPr id="22" name="Text 15"/>
          <p:cNvSpPr txBox="1"/>
          <p:nvPr/>
        </p:nvSpPr>
        <p:spPr>
          <a:xfrm>
            <a:off x="761695" y="3735777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</a:t>
            </a:r>
            <a:r>
              <a:rPr lang="en-US" sz="1000" dirty="0">
                <a:solidFill>
                  <a:srgbClr val="34D3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groupby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r>
              <a:rPr lang="en-US" sz="1000" dirty="0">
                <a:solidFill>
                  <a:srgbClr val="90CDF4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"지역"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).sum()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6630314" y="1952244"/>
            <a:ext cx="48956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차트 (한 줄!)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6572707" y="2333549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line_chart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라인 차트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6572707" y="2580437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bar_chart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막대 차트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6572707" y="2827325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area_chart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영역 차트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6572707" y="3074213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map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지도 (lat/lon)</a:t>
            </a:r>
            <a:endParaRPr lang="en-US" sz="1050" dirty="0"/>
          </a:p>
        </p:txBody>
      </p:sp>
      <p:sp>
        <p:nvSpPr>
          <p:cNvPr id="28" name="Text 21"/>
          <p:cNvSpPr txBox="1"/>
          <p:nvPr/>
        </p:nvSpPr>
        <p:spPr>
          <a:xfrm>
            <a:off x="6572707" y="3321101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dataframe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(df)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데이터 테이블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6572707" y="3567074"/>
            <a:ext cx="49533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st.</a:t>
            </a:r>
            <a:r>
              <a:rPr lang="en-US" sz="1050" dirty="0">
                <a:solidFill>
                  <a:srgbClr val="2B6C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plotly_chart</a:t>
            </a:r>
            <a:r>
              <a:rPr lang="en-US" sz="1050" dirty="0">
                <a:solidFill>
                  <a:srgbClr val="1A36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(fig) </a:t>
            </a:r>
            <a:r>
              <a:rPr lang="en-US" sz="105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고급 차트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915314" y="4429354"/>
            <a:ext cx="56573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· 전력 데이터 대시보드 (1H)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857707" y="4743907"/>
            <a:ext cx="10763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월별/지역별 자동 분석 대시보드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857707" y="5333695"/>
            <a:ext cx="53346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요구사항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857707" y="5580583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st.file_uploader로 전력 CSV 업로드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857707" y="5790895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상단 KPI 4개 (총 사용량 · 평균 · 최대 · 증감)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857707" y="6001207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월별 추이 라인 차트 + 지역별 막대 차트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857707" y="6212434"/>
            <a:ext cx="53346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 사이드바 기간/지역 필터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6476695" y="533369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프롬프트 예시</a:t>
            </a:r>
            <a:endParaRPr lang="en-US" sz="1050" dirty="0"/>
          </a:p>
        </p:txBody>
      </p:sp>
      <p:sp>
        <p:nvSpPr>
          <p:cNvPr id="38" name="Text 31"/>
          <p:cNvSpPr txBox="1"/>
          <p:nvPr/>
        </p:nvSpPr>
        <p:spPr>
          <a:xfrm>
            <a:off x="6476695" y="5580583"/>
            <a:ext cx="514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"Streamlit으로 전력 사용량 CSV 대시보드를 만들어줘.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file_uploader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 받고 → 상단 metric 4개 (총합·평균·최대·전월대비 증감%) → 월별 </a:t>
            </a:r>
            <a:r>
              <a:rPr lang="en-US" sz="1000" dirty="0" err="1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line_chart</a:t>
            </a: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→ 지역별 bar_chart → 사이드바에 기간/지역 multiselect 필터. 컬럼명: 날짜, 지역, 사용량."</a:t>
            </a:r>
            <a:endParaRPr lang="en-US" sz="1000" dirty="0"/>
          </a:p>
        </p:txBody>
      </p:sp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4190695" cy="6858000"/>
          </a:xfrm>
          <a:prstGeom prst="rect">
            <a:avLst/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gen-dedup-73a715c2ff0cb73fc0082954f6730f46.png"/>
          <p:cNvPicPr>
            <a:picLocks noChangeAspect="1"/>
          </p:cNvPicPr>
          <p:nvPr/>
        </p:nvPicPr>
        <p:blipFill>
          <a:blip r:embed="rId2"/>
          <a:srcRect l="-2083" r="-2083"/>
          <a:stretch/>
        </p:blipFill>
        <p:spPr>
          <a:xfrm>
            <a:off x="4762195" y="3381451"/>
            <a:ext cx="6858000" cy="9144"/>
          </a:xfrm>
          <a:prstGeom prst="rect">
            <a:avLst/>
          </a:prstGeom>
        </p:spPr>
      </p:pic>
      <p:pic>
        <p:nvPicPr>
          <p:cNvPr id="6" name="Image 1" descr="gen-dedup-2c48bca0947e42727d67028363c04897.png"/>
          <p:cNvPicPr>
            <a:picLocks noChangeAspect="1"/>
          </p:cNvPicPr>
          <p:nvPr/>
        </p:nvPicPr>
        <p:blipFill>
          <a:blip r:embed="rId3"/>
          <a:srcRect l="-83" r="-83"/>
          <a:stretch/>
        </p:blipFill>
        <p:spPr>
          <a:xfrm>
            <a:off x="0" y="6762902"/>
            <a:ext cx="6096305" cy="95098"/>
          </a:xfrm>
          <a:prstGeom prst="rect">
            <a:avLst/>
          </a:prstGeom>
        </p:spPr>
      </p:pic>
      <p:pic>
        <p:nvPicPr>
          <p:cNvPr id="7" name="Image 2" descr="gen-dedup-d0eb4450f0df06f0fea106621b17d79d.png"/>
          <p:cNvPicPr>
            <a:picLocks noChangeAspect="1"/>
          </p:cNvPicPr>
          <p:nvPr/>
        </p:nvPicPr>
        <p:blipFill>
          <a:blip r:embed="rId4"/>
          <a:srcRect l="-83" r="-83"/>
          <a:stretch/>
        </p:blipFill>
        <p:spPr>
          <a:xfrm>
            <a:off x="6096305" y="6762902"/>
            <a:ext cx="6096305" cy="95098"/>
          </a:xfrm>
          <a:prstGeom prst="rect">
            <a:avLst/>
          </a:prstGeom>
        </p:spPr>
      </p:pic>
      <p:pic>
        <p:nvPicPr>
          <p:cNvPr id="8" name="Image 3" descr="gen-dedup-679ba634107d6f839efc1b871e0e18ac.png"/>
          <p:cNvPicPr>
            <a:picLocks noChangeAspect="1"/>
          </p:cNvPicPr>
          <p:nvPr/>
        </p:nvPicPr>
        <p:blipFill>
          <a:blip r:embed="rId5"/>
          <a:srcRect l="-404" r="-404"/>
          <a:stretch/>
        </p:blipFill>
        <p:spPr>
          <a:xfrm>
            <a:off x="571500" y="4762195"/>
            <a:ext cx="571500" cy="28346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571500" y="952805"/>
            <a:ext cx="32388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3 · FINALE</a:t>
            </a:r>
            <a:endParaRPr lang="en-US" sz="11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524305"/>
            <a:ext cx="3238805" cy="190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kern="0" spc="-6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5000" dirty="0"/>
          </a:p>
        </p:txBody>
      </p:sp>
      <p:sp>
        <p:nvSpPr>
          <p:cNvPr id="11" name="Text 5"/>
          <p:cNvSpPr txBox="1"/>
          <p:nvPr/>
        </p:nvSpPr>
        <p:spPr>
          <a:xfrm>
            <a:off x="571500" y="3600907"/>
            <a:ext cx="32388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03 parts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4905756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13:00 — 15:00</a:t>
            </a:r>
            <a:endParaRPr lang="en-US" sz="10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5095951"/>
            <a:ext cx="3238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2시간 · 최종 발표</a:t>
            </a:r>
            <a:endParaRPr lang="en-US" sz="2200" dirty="0"/>
          </a:p>
        </p:txBody>
      </p:sp>
      <p:sp>
        <p:nvSpPr>
          <p:cNvPr id="14" name="Text 8"/>
          <p:cNvSpPr txBox="1"/>
          <p:nvPr/>
        </p:nvSpPr>
        <p:spPr>
          <a:xfrm>
            <a:off x="4762195" y="952805"/>
            <a:ext cx="68580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PART 3.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762195" y="1285646"/>
            <a:ext cx="68580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연동 &amp;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kern="0" spc="-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배포</a:t>
            </a:r>
            <a:endParaRPr lang="en-US" sz="4600" dirty="0"/>
          </a:p>
        </p:txBody>
      </p:sp>
      <p:sp>
        <p:nvSpPr>
          <p:cNvPr id="16" name="Text 10"/>
          <p:cNvSpPr txBox="1"/>
          <p:nvPr/>
        </p:nvSpPr>
        <p:spPr>
          <a:xfrm>
            <a:off x="4762195" y="3666744"/>
            <a:ext cx="68580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21시간의 마무리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4762195" y="4048049"/>
            <a:ext cx="6858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URL로 공유 가능한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kern="0" spc="-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데이터 앱</a:t>
            </a:r>
            <a:endParaRPr lang="en-US" sz="2400" dirty="0"/>
          </a:p>
        </p:txBody>
      </p:sp>
      <p:sp>
        <p:nvSpPr>
          <p:cNvPr id="18" name="Text 12"/>
          <p:cNvSpPr txBox="1"/>
          <p:nvPr/>
        </p:nvSpPr>
        <p:spPr>
          <a:xfrm>
            <a:off x="4762195" y="4973422"/>
            <a:ext cx="6858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API를 연동한 AI 챗봇 + Streamlit Cloud 무료 배포 + 최종 프로젝트 발표.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4838090" y="5461711"/>
            <a:ext cx="6782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21시간이 끝나는 시점 — 친구·동료에게 자랑할 작품 2개</a:t>
            </a:r>
            <a:endParaRPr lang="en-US" sz="1100" dirty="0"/>
          </a:p>
        </p:txBody>
      </p:sp>
      <p:sp>
        <p:nvSpPr>
          <p:cNvPr id="2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pic>
        <p:nvPicPr>
          <p:cNvPr id="5" name="Image 1" descr="gen-dedup-3b87f57300fd430e87722faceece19cf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1333195" y="1931212"/>
            <a:ext cx="9525305" cy="38405"/>
          </a:xfrm>
          <a:prstGeom prst="rect">
            <a:avLst/>
          </a:prstGeom>
        </p:spPr>
      </p:pic>
      <p:pic>
        <p:nvPicPr>
          <p:cNvPr id="7" name="Image 2" descr="gen-dedup-4e77c3377c6c45a4b5b45870d0212f95.png"/>
          <p:cNvPicPr>
            <a:picLocks noChangeAspect="1"/>
          </p:cNvPicPr>
          <p:nvPr/>
        </p:nvPicPr>
        <p:blipFill>
          <a:blip r:embed="rId4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2009851" y="1758390"/>
            <a:ext cx="418795" cy="4187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4"/>
          <p:cNvSpPr/>
          <p:nvPr/>
        </p:nvSpPr>
        <p:spPr>
          <a:xfrm>
            <a:off x="3914546" y="1758390"/>
            <a:ext cx="418795" cy="418795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5"/>
          <p:cNvSpPr/>
          <p:nvPr/>
        </p:nvSpPr>
        <p:spPr>
          <a:xfrm>
            <a:off x="5820156" y="1758390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6"/>
          <p:cNvSpPr/>
          <p:nvPr/>
        </p:nvSpPr>
        <p:spPr>
          <a:xfrm>
            <a:off x="7724851" y="1758390"/>
            <a:ext cx="418795" cy="418795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7"/>
          <p:cNvSpPr/>
          <p:nvPr/>
        </p:nvSpPr>
        <p:spPr>
          <a:xfrm>
            <a:off x="9629546" y="1758390"/>
            <a:ext cx="418795" cy="418795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4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3 · 1/3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연동 — Streamlit + AI</a:t>
            </a:r>
            <a:endParaRPr lang="en-US" sz="33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5단계로 — 데이터 앱에 "이 데이터에서 이상치 찾아줘" 같은 자연어 질의를 추가합니다.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628546" y="229148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키 발급</a:t>
            </a:r>
            <a:endParaRPr lang="en-US" sz="1100" dirty="0"/>
          </a:p>
        </p:txBody>
      </p:sp>
      <p:sp>
        <p:nvSpPr>
          <p:cNvPr id="18" name="Text 12"/>
          <p:cNvSpPr txBox="1"/>
          <p:nvPr/>
        </p:nvSpPr>
        <p:spPr>
          <a:xfrm>
            <a:off x="1429207" y="2711195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platform.claude.com에서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key 생성 후 .env에 저장.</a:t>
            </a:r>
            <a:endParaRPr lang="en-US" sz="1050" dirty="0"/>
          </a:p>
        </p:txBody>
      </p:sp>
      <p:sp>
        <p:nvSpPr>
          <p:cNvPr id="19" name="Text 13"/>
          <p:cNvSpPr txBox="1"/>
          <p:nvPr/>
        </p:nvSpPr>
        <p:spPr>
          <a:xfrm>
            <a:off x="3534156" y="229148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 install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3333902" y="2711195"/>
            <a:ext cx="1714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anthropic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5438851" y="229148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UI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5238598" y="2711195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st.text_area / </a:t>
            </a: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st.chat_input</a:t>
            </a:r>
            <a:endParaRPr lang="en-US" sz="1050" dirty="0">
              <a:solidFill>
                <a:srgbClr val="6C757D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ctr">
              <a:buNone/>
            </a:pP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질문 받기.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343546" y="229148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144207" y="2711195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client.messages.create() 로</a:t>
            </a:r>
          </a:p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답변 받기.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9249156" y="2291485"/>
            <a:ext cx="1334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대화 UI 표시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048902" y="2711195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st.chat_message + session_state로 이력 유지.</a:t>
            </a:r>
            <a:endParaRPr lang="en-US" sz="1050" dirty="0"/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47909C9-71A2-2CA7-4525-7DE359250104}"/>
              </a:ext>
            </a:extLst>
          </p:cNvPr>
          <p:cNvGrpSpPr/>
          <p:nvPr/>
        </p:nvGrpSpPr>
        <p:grpSpPr>
          <a:xfrm>
            <a:off x="535151" y="3388512"/>
            <a:ext cx="11239805" cy="3257948"/>
            <a:chOff x="535151" y="3388512"/>
            <a:chExt cx="11239805" cy="2857500"/>
          </a:xfrm>
        </p:grpSpPr>
        <p:sp>
          <p:nvSpPr>
            <p:cNvPr id="6" name="Shape 2"/>
            <p:cNvSpPr/>
            <p:nvPr/>
          </p:nvSpPr>
          <p:spPr>
            <a:xfrm>
              <a:off x="535151" y="3388512"/>
              <a:ext cx="11239805" cy="2857500"/>
            </a:xfrm>
            <a:prstGeom prst="roundRect">
              <a:avLst>
                <a:gd name="adj" fmla="val 2133"/>
              </a:avLst>
            </a:prstGeom>
            <a:solidFill>
              <a:srgbClr val="1A365D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sz="3200"/>
            </a:p>
          </p:txBody>
        </p:sp>
        <p:pic>
          <p:nvPicPr>
            <p:cNvPr id="8" name="Image 3" descr="gen-dedup-a33b3bc1538a0b640c1525839be2d5cb.png"/>
            <p:cNvPicPr>
              <a:picLocks noChangeAspect="1"/>
            </p:cNvPicPr>
            <p:nvPr/>
          </p:nvPicPr>
          <p:blipFill>
            <a:blip r:embed="rId5"/>
            <a:srcRect l="-1" r="-1"/>
            <a:stretch/>
          </p:blipFill>
          <p:spPr>
            <a:xfrm>
              <a:off x="535151" y="3388512"/>
              <a:ext cx="11239805" cy="342900"/>
            </a:xfrm>
            <a:prstGeom prst="rect">
              <a:avLst/>
            </a:prstGeom>
          </p:spPr>
        </p:pic>
        <p:sp>
          <p:nvSpPr>
            <p:cNvPr id="27" name="Text 21"/>
            <p:cNvSpPr txBox="1"/>
            <p:nvPr/>
          </p:nvSpPr>
          <p:spPr>
            <a:xfrm>
              <a:off x="782953" y="3464407"/>
              <a:ext cx="10800893" cy="1719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ai_chatbot.py · Streamlit + Claude</a:t>
              </a:r>
              <a:endParaRPr lang="en-US" sz="1200" dirty="0"/>
            </a:p>
          </p:txBody>
        </p:sp>
        <p:sp>
          <p:nvSpPr>
            <p:cNvPr id="28" name="Text 22"/>
            <p:cNvSpPr txBox="1"/>
            <p:nvPr/>
          </p:nvSpPr>
          <p:spPr>
            <a:xfrm>
              <a:off x="812214" y="3817365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import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streamlit </a:t>
              </a: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as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st; </a:t>
              </a: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from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anthropic </a:t>
              </a: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import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Anthropic</a:t>
              </a:r>
              <a:endParaRPr lang="en-US" sz="1200" dirty="0"/>
            </a:p>
          </p:txBody>
        </p:sp>
        <p:sp>
          <p:nvSpPr>
            <p:cNvPr id="29" name="Text 23"/>
            <p:cNvSpPr txBox="1"/>
            <p:nvPr/>
          </p:nvSpPr>
          <p:spPr>
            <a:xfrm>
              <a:off x="812214" y="4027677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client = Anthropic(api_key=st.secrets[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"ANTHROPIC_API_KEY"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])</a:t>
              </a:r>
              <a:endParaRPr lang="en-US" sz="1200" dirty="0"/>
            </a:p>
          </p:txBody>
        </p:sp>
        <p:sp>
          <p:nvSpPr>
            <p:cNvPr id="30" name="Text 24"/>
            <p:cNvSpPr txBox="1"/>
            <p:nvPr/>
          </p:nvSpPr>
          <p:spPr>
            <a:xfrm>
              <a:off x="812214" y="4237989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JetBrains Mono" pitchFamily="34" charset="0"/>
                  <a:ea typeface="Noto Sans KR" pitchFamily="34" charset="-122"/>
                  <a:cs typeface="JetBrains Mono" pitchFamily="34" charset="-120"/>
                </a:rPr>
                <a:t># 세션에 대화 이력 보관</a:t>
              </a:r>
              <a:endParaRPr lang="en-US" sz="1200" dirty="0"/>
            </a:p>
          </p:txBody>
        </p:sp>
        <p:sp>
          <p:nvSpPr>
            <p:cNvPr id="31" name="Text 25"/>
            <p:cNvSpPr txBox="1"/>
            <p:nvPr/>
          </p:nvSpPr>
          <p:spPr>
            <a:xfrm>
              <a:off x="812214" y="4448301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if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"messages"</a:t>
              </a: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not in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st.session_state: st.session_state.messages = []</a:t>
              </a:r>
              <a:endParaRPr lang="en-US" sz="1200" dirty="0"/>
            </a:p>
          </p:txBody>
        </p:sp>
        <p:sp>
          <p:nvSpPr>
            <p:cNvPr id="32" name="Text 26"/>
            <p:cNvSpPr txBox="1"/>
            <p:nvPr/>
          </p:nvSpPr>
          <p:spPr>
            <a:xfrm>
              <a:off x="812214" y="4716221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9CA3AF"/>
                  </a:solidFill>
                  <a:latin typeface="JetBrains Mono" pitchFamily="34" charset="0"/>
                  <a:ea typeface="Noto Sans KR" pitchFamily="34" charset="-122"/>
                  <a:cs typeface="JetBrains Mono" pitchFamily="34" charset="-120"/>
                </a:rPr>
                <a:t># 사용자 입력 받기</a:t>
              </a:r>
              <a:endParaRPr lang="en-US" sz="1200" dirty="0"/>
            </a:p>
          </p:txBody>
        </p:sp>
        <p:sp>
          <p:nvSpPr>
            <p:cNvPr id="33" name="Text 27"/>
            <p:cNvSpPr txBox="1"/>
            <p:nvPr/>
          </p:nvSpPr>
          <p:spPr>
            <a:xfrm>
              <a:off x="812214" y="4926533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user_input = st.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chat_input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</a:t>
              </a:r>
              <a:r>
                <a:rPr lang="en-US" sz="1200" dirty="0">
                  <a:solidFill>
                    <a:srgbClr val="90CDF4"/>
                  </a:solidFill>
                  <a:latin typeface="JetBrains Mono" pitchFamily="34" charset="0"/>
                  <a:ea typeface="Noto Sans KR" pitchFamily="34" charset="-122"/>
                  <a:cs typeface="JetBrains Mono" pitchFamily="34" charset="-120"/>
                </a:rPr>
                <a:t>"전력 데이터에 대해 물어보세요"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)</a:t>
              </a:r>
              <a:endParaRPr lang="en-US" sz="1200" dirty="0"/>
            </a:p>
          </p:txBody>
        </p:sp>
        <p:sp>
          <p:nvSpPr>
            <p:cNvPr id="34" name="Text 28"/>
            <p:cNvSpPr txBox="1"/>
            <p:nvPr/>
          </p:nvSpPr>
          <p:spPr>
            <a:xfrm>
              <a:off x="812214" y="5136845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BBF2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if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user_input:</a:t>
              </a:r>
              <a:endParaRPr lang="en-US" sz="1200" dirty="0"/>
            </a:p>
          </p:txBody>
        </p:sp>
        <p:sp>
          <p:nvSpPr>
            <p:cNvPr id="35" name="Text 29"/>
            <p:cNvSpPr txBox="1"/>
            <p:nvPr/>
          </p:nvSpPr>
          <p:spPr>
            <a:xfrm>
              <a:off x="812214" y="5347157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   st.session_state.messages.append({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"role"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 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"user"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 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"content"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 user_input})</a:t>
              </a:r>
              <a:endParaRPr lang="en-US" sz="1200" dirty="0"/>
            </a:p>
          </p:txBody>
        </p:sp>
        <p:sp>
          <p:nvSpPr>
            <p:cNvPr id="36" name="Text 30"/>
            <p:cNvSpPr txBox="1"/>
            <p:nvPr/>
          </p:nvSpPr>
          <p:spPr>
            <a:xfrm>
              <a:off x="812214" y="5557469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   resp = client.messages.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create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(model=</a:t>
              </a:r>
              <a:r>
                <a:rPr lang="en-US" sz="1200" dirty="0">
                  <a:solidFill>
                    <a:srgbClr val="90CDF4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"claude-sonnet-5-5"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 messages=st.session_state.messages, max_tokens=1024)</a:t>
              </a:r>
              <a:endParaRPr lang="en-US" sz="1200" dirty="0"/>
            </a:p>
          </p:txBody>
        </p:sp>
        <p:sp>
          <p:nvSpPr>
            <p:cNvPr id="37" name="Text 31"/>
            <p:cNvSpPr txBox="1"/>
            <p:nvPr/>
          </p:nvSpPr>
          <p:spPr>
            <a:xfrm>
              <a:off x="812214" y="5767781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    st.session_state.messages.append({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"role"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 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"assistant"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, </a:t>
              </a:r>
              <a:r>
                <a:rPr lang="en-US" sz="1200" dirty="0">
                  <a:solidFill>
                    <a:srgbClr val="34D399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"content"</a:t>
              </a: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: resp.content[0].text})</a:t>
              </a:r>
              <a:endParaRPr lang="en-US" sz="1200" dirty="0"/>
            </a:p>
          </p:txBody>
        </p:sp>
        <p:sp>
          <p:nvSpPr>
            <p:cNvPr id="38" name="Text 32"/>
            <p:cNvSpPr txBox="1"/>
            <p:nvPr/>
          </p:nvSpPr>
          <p:spPr>
            <a:xfrm>
              <a:off x="812214" y="5979007"/>
              <a:ext cx="108585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dirty="0">
                  <a:solidFill>
                    <a:srgbClr val="FFFFFF"/>
                  </a:solidFill>
                  <a:latin typeface="JetBrains Mono" pitchFamily="34" charset="0"/>
                  <a:ea typeface="JetBrains Mono" pitchFamily="34" charset="-122"/>
                  <a:cs typeface="JetBrains Mono" pitchFamily="34" charset="-120"/>
                </a:rPr>
                <a:t>for m in st.session_state.messages: st.chat_message(m["role"]).write(m["content"])</a:t>
              </a:r>
              <a:endParaRPr lang="en-US" sz="1200" dirty="0"/>
            </a:p>
          </p:txBody>
        </p:sp>
      </p:grpSp>
      <p:sp>
        <p:nvSpPr>
          <p:cNvPr id="39" name="Text 33"/>
          <p:cNvSpPr txBox="1"/>
          <p:nvPr/>
        </p:nvSpPr>
        <p:spPr>
          <a:xfrm>
            <a:off x="2009851" y="1758390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3914546" y="1758390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41" name="Text 35"/>
          <p:cNvSpPr txBox="1"/>
          <p:nvPr/>
        </p:nvSpPr>
        <p:spPr>
          <a:xfrm>
            <a:off x="5820156" y="1758390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7724851" y="1758390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9629546" y="1758390"/>
            <a:ext cx="4197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4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11239805" cy="2286000"/>
          </a:xfrm>
          <a:prstGeom prst="roundRect">
            <a:avLst>
              <a:gd name="adj" fmla="val 3333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4238244"/>
            <a:ext cx="5562295" cy="232440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25400">
            <a:solidFill>
              <a:srgbClr val="1A365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4238244"/>
            <a:ext cx="5524805" cy="2286000"/>
          </a:xfrm>
          <a:prstGeom prst="roundRect">
            <a:avLst>
              <a:gd name="adj" fmla="val 333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61695" y="1952244"/>
            <a:ext cx="2115007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3047695" y="1952244"/>
            <a:ext cx="2115007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5333695" y="1952244"/>
            <a:ext cx="2115007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7619695" y="1952244"/>
            <a:ext cx="2115007" cy="1923898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9905695" y="1952244"/>
            <a:ext cx="1714500" cy="1904695"/>
          </a:xfrm>
          <a:prstGeom prst="roundRect">
            <a:avLst>
              <a:gd name="adj" fmla="val 474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52805" y="2143354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238805" y="2143354"/>
            <a:ext cx="342900" cy="3429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5524805" y="2143354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810805" y="2143354"/>
            <a:ext cx="342900" cy="3429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10096805" y="2143354"/>
            <a:ext cx="342900" cy="3429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3 · 2/3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Cloud 무료 배포 — 5분</a:t>
            </a:r>
            <a:endParaRPr lang="en-US" sz="33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GitHub에 푸시하고 — share.streamlit.io에서 클릭 → 끝. 공유 가능한 URL이 발급됩니다.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952805" y="261975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푸시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952805" y="2952598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app.py를 GitHub 리포에 푸시. (public 또는 private 모두 가능)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3238805" y="261975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requirements.txt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3238805" y="2952598"/>
            <a:ext cx="17145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streamlit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524805" y="261975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연결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5524805" y="2952598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share.streamlit.io 접속 → GitHub 로그인 →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"Create app" 클릭.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7810805" y="2619756"/>
            <a:ext cx="1714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Secrets 등록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810805" y="2952598"/>
            <a:ext cx="17145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Advanced settings → Secrets에 키 입력. st.secrets[]로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접근.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10096805" y="2619756"/>
            <a:ext cx="13341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Deploy!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0096805" y="2952598"/>
            <a:ext cx="133411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빌드 → URL 발급.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 git push </a:t>
            </a: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시마다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재배포.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19302" y="4429354"/>
            <a:ext cx="5085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플랜 한도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761695" y="4714646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Community Cloud 무료(2026-10)</a:t>
            </a:r>
            <a:endParaRPr lang="en-US" sz="1600" dirty="0"/>
          </a:p>
        </p:txBody>
      </p:sp>
      <p:sp>
        <p:nvSpPr>
          <p:cNvPr id="34" name="Text 30"/>
          <p:cNvSpPr txBox="1"/>
          <p:nvPr/>
        </p:nvSpPr>
        <p:spPr>
          <a:xfrm>
            <a:off x="761695" y="5191049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무제한 public 앱 배포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761695" y="5437937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메모리 최대 2.7GB · 12시간 무접속 시 슬립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761695" y="568482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신용카드 불필요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761695" y="5931713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✓</a:t>
            </a: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주소는 이름.streamlit.app(커스텀 도메인 없음)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6534302" y="4429354"/>
            <a:ext cx="508589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최소 requirements.txt 예시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6476695" y="4743907"/>
            <a:ext cx="5143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패키지만 — 빠른 빌드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6476695" y="5238598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streamlit==1.65.0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6476695" y="5485486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pandas==3.0.6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6476695" y="5732374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plotly==7.1.0</a:t>
            </a:r>
            <a:endParaRPr lang="en-US" sz="1000" dirty="0"/>
          </a:p>
        </p:txBody>
      </p:sp>
      <p:sp>
        <p:nvSpPr>
          <p:cNvPr id="43" name="Text 39"/>
          <p:cNvSpPr txBox="1"/>
          <p:nvPr/>
        </p:nvSpPr>
        <p:spPr>
          <a:xfrm>
            <a:off x="6476695" y="5978347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anthropic==1.12.1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6476695" y="6225235"/>
            <a:ext cx="51435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JetBrains Mono" pitchFamily="34" charset="0"/>
                <a:ea typeface="Noto Sans KR" pitchFamily="34" charset="-122"/>
                <a:cs typeface="JetBrains Mono" pitchFamily="34" charset="-120"/>
              </a:rPr>
              <a:t># 버전을 고정해두면 — 호환성 깨질 일 없음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952805" y="214335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3238805" y="214335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3"/>
          <p:cNvSpPr txBox="1"/>
          <p:nvPr/>
        </p:nvSpPr>
        <p:spPr>
          <a:xfrm>
            <a:off x="5524805" y="214335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7810805" y="214335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10096805" y="214335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112398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71500" y="4619549"/>
            <a:ext cx="11239805" cy="1904695"/>
          </a:xfrm>
          <a:prstGeom prst="roundRect">
            <a:avLst>
              <a:gd name="adj" fmla="val 480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8" name="Image 2" descr="gen-dedup-bc3201b90a2814c052c43a813117e54c.png"/>
          <p:cNvPicPr>
            <a:picLocks noChangeAspect="1"/>
          </p:cNvPicPr>
          <p:nvPr/>
        </p:nvPicPr>
        <p:blipFill>
          <a:blip r:embed="rId4"/>
          <a:srcRect l="-408" r="-408"/>
          <a:stretch/>
        </p:blipFill>
        <p:spPr>
          <a:xfrm>
            <a:off x="571500" y="4619549"/>
            <a:ext cx="57607" cy="190469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57707" y="2905049"/>
            <a:ext cx="2542946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5"/>
          <p:cNvSpPr/>
          <p:nvPr/>
        </p:nvSpPr>
        <p:spPr>
          <a:xfrm>
            <a:off x="3571646" y="2905049"/>
            <a:ext cx="2542946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6"/>
          <p:cNvSpPr/>
          <p:nvPr/>
        </p:nvSpPr>
        <p:spPr>
          <a:xfrm>
            <a:off x="6286500" y="2905049"/>
            <a:ext cx="2523744" cy="1333195"/>
          </a:xfrm>
          <a:prstGeom prst="roundRect">
            <a:avLst>
              <a:gd name="adj" fmla="val 783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7"/>
          <p:cNvSpPr/>
          <p:nvPr/>
        </p:nvSpPr>
        <p:spPr>
          <a:xfrm>
            <a:off x="9001354" y="2905049"/>
            <a:ext cx="2638044" cy="1352398"/>
          </a:xfrm>
          <a:prstGeom prst="roundRect">
            <a:avLst>
              <a:gd name="adj" fmla="val 7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8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PART 3 · 3/3 · FINALE</a:t>
            </a:r>
            <a:endParaRPr lang="en-US" sz="9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619049"/>
            <a:ext cx="857250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프로젝트 발표 (1시간)</a:t>
            </a:r>
            <a:endParaRPr lang="en-US" sz="33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21시간을 완주한 각자 — 자신의 작품 2개를 5분씩 시연합니다.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857707" y="20007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구성 · 1인 5분</a:t>
            </a:r>
            <a:endParaRPr lang="en-US" sz="900" dirty="0"/>
          </a:p>
        </p:txBody>
      </p:sp>
      <p:sp>
        <p:nvSpPr>
          <p:cNvPr id="17" name="Text 12"/>
          <p:cNvSpPr txBox="1"/>
          <p:nvPr/>
        </p:nvSpPr>
        <p:spPr>
          <a:xfrm>
            <a:off x="857707" y="2286000"/>
            <a:ext cx="107634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→ 기술 → 시연 → 회고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047902" y="3095244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기획 의도 (1분)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047902" y="3362249"/>
            <a:ext cx="21433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문제를 풀려고 했나?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누구를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위해 만들었나?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 업무와 어떻게 연결되나?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3762756" y="3095244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기술 구성 (1분)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762756" y="3362249"/>
            <a:ext cx="231434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React/Streamlit · DB · 인증 · AI API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어떤 스택을 골랐고 왜 그렇게 했나?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6476695" y="3095244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실제 시연 (2분) ★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476695" y="3362249"/>
            <a:ext cx="214335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배포된 URL 열기 → 핵심 기능 3가지 라이브 데모 → 청중의 </a:t>
            </a: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입력으로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</a:t>
            </a:r>
            <a:r>
              <a:rPr lang="en-US" sz="10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확인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9191549" y="3095244"/>
            <a:ext cx="2238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회고 + Q&amp;A (1분)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9191549" y="3362249"/>
            <a:ext cx="2238451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가장 잘 시킨 일 · </a:t>
            </a: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막혔던</a:t>
            </a:r>
            <a:r>
              <a:rPr lang="en-US" sz="10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부분 · 향후 확장 계획.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1057961" y="4858207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 결과물 체크리스트</a:t>
            </a:r>
            <a:endParaRPr lang="en-US" sz="900" dirty="0"/>
          </a:p>
        </p:txBody>
      </p:sp>
      <p:pic>
        <p:nvPicPr>
          <p:cNvPr id="27" name="Image 3" descr="gen-dedup-9aafab6e2e3917c66ebda1c38f77e1a7.png"/>
          <p:cNvPicPr>
            <a:picLocks noChangeAspect="1"/>
          </p:cNvPicPr>
          <p:nvPr/>
        </p:nvPicPr>
        <p:blipFill>
          <a:blip r:embed="rId5"/>
          <a:srcRect l="-1358" r="-1358"/>
          <a:stretch/>
        </p:blipFill>
        <p:spPr>
          <a:xfrm>
            <a:off x="857707" y="4858207"/>
            <a:ext cx="142646" cy="12344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57707" y="5143500"/>
            <a:ext cx="107634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전 — 이 5가지가 다 있는지 확인하세요</a:t>
            </a:r>
            <a:endParaRPr lang="en-US" sz="1800" dirty="0"/>
          </a:p>
        </p:txBody>
      </p:sp>
      <p:sp>
        <p:nvSpPr>
          <p:cNvPr id="29" name="Text 23"/>
          <p:cNvSpPr txBox="1"/>
          <p:nvPr/>
        </p:nvSpPr>
        <p:spPr>
          <a:xfrm>
            <a:off x="1067105" y="5667451"/>
            <a:ext cx="51252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풀스택 웹앱 (React + Supabase) — 배포 완료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067105" y="5920740"/>
            <a:ext cx="51252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Streamlit 데이터 앱 — Cloud에 배포 완료</a:t>
            </a:r>
            <a:endParaRPr lang="en-US" sz="1000" dirty="0"/>
          </a:p>
        </p:txBody>
      </p:sp>
      <p:sp>
        <p:nvSpPr>
          <p:cNvPr id="31" name="Text 25"/>
          <p:cNvSpPr txBox="1"/>
          <p:nvPr/>
        </p:nvSpPr>
        <p:spPr>
          <a:xfrm>
            <a:off x="1067105" y="6174029"/>
            <a:ext cx="51252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로그인 동작 (이메일 또는 OAuth)</a:t>
            </a:r>
            <a:endParaRPr lang="en-US" sz="1000" dirty="0"/>
          </a:p>
        </p:txBody>
      </p:sp>
      <p:pic>
        <p:nvPicPr>
          <p:cNvPr id="32" name="Image 4" descr="gen-dedup-1b253b0b9ab9a565065a9aec06e21f2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857707" y="5722315"/>
            <a:ext cx="133502" cy="133502"/>
          </a:xfrm>
          <a:prstGeom prst="rect">
            <a:avLst/>
          </a:prstGeom>
        </p:spPr>
      </p:pic>
      <p:pic>
        <p:nvPicPr>
          <p:cNvPr id="33" name="Image 5" descr="gen-dedup-1b253b0b9ab9a565065a9aec06e21f2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857707" y="5975604"/>
            <a:ext cx="133502" cy="133502"/>
          </a:xfrm>
          <a:prstGeom prst="rect">
            <a:avLst/>
          </a:prstGeom>
        </p:spPr>
      </p:pic>
      <p:pic>
        <p:nvPicPr>
          <p:cNvPr id="34" name="Image 6" descr="gen-dedup-1b253b0b9ab9a565065a9aec06e21f29.png"/>
          <p:cNvPicPr>
            <a:picLocks noChangeAspect="1"/>
          </p:cNvPicPr>
          <p:nvPr/>
        </p:nvPicPr>
        <p:blipFill>
          <a:blip r:embed="rId6"/>
          <a:srcRect l="-7143" r="-7143"/>
          <a:stretch/>
        </p:blipFill>
        <p:spPr>
          <a:xfrm>
            <a:off x="857707" y="6228893"/>
            <a:ext cx="133502" cy="1335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486754" y="5667451"/>
            <a:ext cx="5134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AI API 연동 (Claude or ChatGPT) — 응답 확인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6486754" y="5890565"/>
            <a:ext cx="5134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GitHub 리포 — README + 스크린샷 정리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6486754" y="6112764"/>
            <a:ext cx="5134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= 5분 · QR로 URL 공유</a:t>
            </a:r>
            <a:endParaRPr lang="en-US" sz="900" dirty="0"/>
          </a:p>
        </p:txBody>
      </p:sp>
      <p:pic>
        <p:nvPicPr>
          <p:cNvPr id="38" name="Image 7" descr="gen-dedup-276c69a8df2ae508a460581e255c2a2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286500" y="5711342"/>
            <a:ext cx="123444" cy="123444"/>
          </a:xfrm>
          <a:prstGeom prst="rect">
            <a:avLst/>
          </a:prstGeom>
        </p:spPr>
      </p:pic>
      <p:pic>
        <p:nvPicPr>
          <p:cNvPr id="39" name="Image 8" descr="gen-dedup-276c69a8df2ae508a460581e255c2a2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6286500" y="5934456"/>
            <a:ext cx="123444" cy="123444"/>
          </a:xfrm>
          <a:prstGeom prst="rect">
            <a:avLst/>
          </a:prstGeom>
        </p:spPr>
      </p:pic>
      <p:pic>
        <p:nvPicPr>
          <p:cNvPr id="40" name="Image 9" descr="gen-dedup-9a5ad829ae60cbaffd03dbba75f7590a.png"/>
          <p:cNvPicPr>
            <a:picLocks noChangeAspect="1"/>
          </p:cNvPicPr>
          <p:nvPr/>
        </p:nvPicPr>
        <p:blipFill>
          <a:blip r:embed="rId8"/>
          <a:srcRect t="-6250" b="-6250"/>
          <a:stretch/>
        </p:blipFill>
        <p:spPr>
          <a:xfrm>
            <a:off x="6286500" y="6156655"/>
            <a:ext cx="123444" cy="123444"/>
          </a:xfrm>
          <a:prstGeom prst="rect">
            <a:avLst/>
          </a:prstGeom>
        </p:spPr>
      </p:pic>
      <p:sp>
        <p:nvSpPr>
          <p:cNvPr id="4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" y="0"/>
            <a:ext cx="12191695" cy="68580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gen-dedup-8109cc2ce2cff5793a8eb31c4e61bbc2.png"/>
          <p:cNvPicPr>
            <a:picLocks noChangeAspect="1"/>
          </p:cNvPicPr>
          <p:nvPr/>
        </p:nvPicPr>
        <p:blipFill>
          <a:blip r:embed="rId2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4524451"/>
            <a:ext cx="2667305" cy="1904695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429000" y="4524451"/>
            <a:ext cx="2667305" cy="1904695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286500" y="4524451"/>
            <a:ext cx="2667305" cy="1904695"/>
          </a:xfrm>
          <a:prstGeom prst="roundRect">
            <a:avLst>
              <a:gd name="adj" fmla="val 480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9144000" y="4524451"/>
            <a:ext cx="2476195" cy="1904695"/>
          </a:xfrm>
          <a:prstGeom prst="roundRect">
            <a:avLst>
              <a:gd name="adj" fmla="val 4801"/>
            </a:avLst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c12f75179b83d7f822271691e1fdf832.png"/>
          <p:cNvPicPr>
            <a:picLocks noChangeAspect="1"/>
          </p:cNvPicPr>
          <p:nvPr/>
        </p:nvPicPr>
        <p:blipFill>
          <a:blip r:embed="rId3"/>
          <a:srcRect l="-207" r="-207"/>
          <a:stretch/>
        </p:blipFill>
        <p:spPr>
          <a:xfrm>
            <a:off x="571500" y="4524451"/>
            <a:ext cx="2667305" cy="75895"/>
          </a:xfrm>
          <a:prstGeom prst="rect">
            <a:avLst/>
          </a:prstGeom>
        </p:spPr>
      </p:pic>
      <p:pic>
        <p:nvPicPr>
          <p:cNvPr id="10" name="Image 2" descr="gen-dedup-c12f75179b83d7f822271691e1fdf832.png"/>
          <p:cNvPicPr>
            <a:picLocks noChangeAspect="1"/>
          </p:cNvPicPr>
          <p:nvPr/>
        </p:nvPicPr>
        <p:blipFill>
          <a:blip r:embed="rId3"/>
          <a:srcRect l="-207" r="-207"/>
          <a:stretch/>
        </p:blipFill>
        <p:spPr>
          <a:xfrm>
            <a:off x="3429000" y="4524451"/>
            <a:ext cx="2667305" cy="75895"/>
          </a:xfrm>
          <a:prstGeom prst="rect">
            <a:avLst/>
          </a:prstGeom>
        </p:spPr>
      </p:pic>
      <p:pic>
        <p:nvPicPr>
          <p:cNvPr id="11" name="Image 3" descr="gen-dedup-c12f75179b83d7f822271691e1fdf832.png"/>
          <p:cNvPicPr>
            <a:picLocks noChangeAspect="1"/>
          </p:cNvPicPr>
          <p:nvPr/>
        </p:nvPicPr>
        <p:blipFill>
          <a:blip r:embed="rId3"/>
          <a:srcRect l="-207" r="-207"/>
          <a:stretch/>
        </p:blipFill>
        <p:spPr>
          <a:xfrm>
            <a:off x="6286500" y="4524451"/>
            <a:ext cx="2667305" cy="758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61695" y="476219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3619195" y="476219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6476695" y="476219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9334195" y="4762195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0"/>
          <p:cNvSpPr txBox="1"/>
          <p:nvPr/>
        </p:nvSpPr>
        <p:spPr>
          <a:xfrm>
            <a:off x="571500" y="1238098"/>
            <a:ext cx="110496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4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24 IDEAS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1714500"/>
            <a:ext cx="11049610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바이브코딩으로 만들 수 있는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24선</a:t>
            </a:r>
            <a:endParaRPr lang="en-US" sz="60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619195"/>
            <a:ext cx="110496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4개 분야 × 6개 = 강의 후 본인이 도전해볼 수 있는 다음 프로젝트 리스트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33195" y="4809744"/>
            <a:ext cx="1714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01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333195" y="5029200"/>
            <a:ext cx="1714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개발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761695" y="5524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Supabase 풀스택.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761695" y="5804611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4190695" y="4809744"/>
            <a:ext cx="1714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02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4190695" y="5029200"/>
            <a:ext cx="1714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3619195" y="5524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데이터 앱.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3619195" y="5804611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7048195" y="4809744"/>
            <a:ext cx="17145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03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048195" y="5029200"/>
            <a:ext cx="17145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6476695" y="5524805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데이터 분석 도구.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6476695" y="5804611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</a:t>
            </a: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endParaRPr lang="en-US" sz="2700" dirty="0"/>
          </a:p>
        </p:txBody>
      </p:sp>
      <p:sp>
        <p:nvSpPr>
          <p:cNvPr id="31" name="Text 25"/>
          <p:cNvSpPr txBox="1"/>
          <p:nvPr/>
        </p:nvSpPr>
        <p:spPr>
          <a:xfrm>
            <a:off x="9905695" y="4809744"/>
            <a:ext cx="1619402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04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9905695" y="5029200"/>
            <a:ext cx="1619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앱</a:t>
            </a:r>
            <a:endParaRPr lang="en-US" sz="1600" dirty="0"/>
          </a:p>
        </p:txBody>
      </p:sp>
      <p:sp>
        <p:nvSpPr>
          <p:cNvPr id="33" name="Text 27"/>
          <p:cNvSpPr txBox="1"/>
          <p:nvPr/>
        </p:nvSpPr>
        <p:spPr>
          <a:xfrm>
            <a:off x="9334195" y="5524805"/>
            <a:ext cx="20958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활용.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9334195" y="5804611"/>
            <a:ext cx="2095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</a:t>
            </a:r>
            <a:r>
              <a:rPr lang="en-US" sz="10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</a:t>
            </a:r>
            <a:endParaRPr lang="en-US" sz="2700" dirty="0"/>
          </a:p>
        </p:txBody>
      </p:sp>
      <p:pic>
        <p:nvPicPr>
          <p:cNvPr id="35" name="Image 4" descr="gen-dedup-ec3898b4a2142ea75f60f5a0bb8b919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256" y="4907585"/>
            <a:ext cx="171907" cy="171907"/>
          </a:xfrm>
          <a:prstGeom prst="rect">
            <a:avLst/>
          </a:prstGeom>
        </p:spPr>
      </p:pic>
      <p:pic>
        <p:nvPicPr>
          <p:cNvPr id="36" name="Image 5" descr="gen-dedup-b8a04851ef146d66acb96931cb58335a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62756" y="4907585"/>
            <a:ext cx="171907" cy="171907"/>
          </a:xfrm>
          <a:prstGeom prst="rect">
            <a:avLst/>
          </a:prstGeom>
        </p:spPr>
      </p:pic>
      <p:pic>
        <p:nvPicPr>
          <p:cNvPr id="37" name="Image 6" descr="gen-dedup-5e9a8dc840e7eddedc42039ab8757e87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620256" y="4907585"/>
            <a:ext cx="171907" cy="171907"/>
          </a:xfrm>
          <a:prstGeom prst="rect">
            <a:avLst/>
          </a:prstGeom>
        </p:spPr>
      </p:pic>
      <p:pic>
        <p:nvPicPr>
          <p:cNvPr id="38" name="Image 7" descr="gen-dedup-f4da87e73508192a1a8bb414fc0276f4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9477756" y="4907585"/>
            <a:ext cx="219456" cy="171907"/>
          </a:xfrm>
          <a:prstGeom prst="rect">
            <a:avLst/>
          </a:prstGeom>
        </p:spPr>
      </p:pic>
      <p:sp>
        <p:nvSpPr>
          <p:cNvPr id="39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71500"/>
            <a:ext cx="4190695" cy="6172200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2195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095744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430207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762195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095744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9430207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71500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905756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239305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572854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905756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239305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9572854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571500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01 / 04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3429000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개발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4286707"/>
            <a:ext cx="383865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Supabase로 만드는 실서비스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429707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</a:t>
            </a:r>
            <a:endParaRPr lang="en-US" sz="6000" dirty="0"/>
          </a:p>
        </p:txBody>
      </p:sp>
      <p:sp>
        <p:nvSpPr>
          <p:cNvPr id="24" name="Text 20"/>
          <p:cNvSpPr txBox="1"/>
          <p:nvPr/>
        </p:nvSpPr>
        <p:spPr>
          <a:xfrm>
            <a:off x="4762195" y="1238098"/>
            <a:ext cx="6858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 IN THIS CATEGORY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333695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30분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5333695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 앱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905756" y="2381098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TypeScript로 할 일 관리 앱. 입력·체크·삭제·필터링 + localStorage 데이터 유지.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905756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CSS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7667244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45분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7667244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사이트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239305" y="2381098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포트폴리오 SPA. Hero · About · Skills · Projects · Contact 섹션 + 스크롤 애니메이션.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7239305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CSS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10001707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60분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0001707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게시판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572854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백엔드 게시판. 회원가입·로그인·게시글 CRUD·댓글·실시간 알림까지.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9572854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Supabase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333695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40분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5333695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랜딩 페이지 빌더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4905756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마케팅용 원페이지. Hero 배너 · 특징 소개 · 가격표 · CTA · FAQ 아코디언.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4905756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CSS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7667244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35분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7667244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앱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239305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OpenWeatherMap API 연동. 도시별 현재 날씨 · 5일 예보 · 날씨 아이콘 · 반응형.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7239305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API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10001707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60분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10001707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대시보드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9572854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Chart.js로 매출·사용자·주문 통계 시각화. 사이드바 네비 + 다크모드 토글.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9572854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TypeScript · Chart.js</a:t>
            </a:r>
            <a:endParaRPr lang="en-US" sz="800" dirty="0"/>
          </a:p>
        </p:txBody>
      </p:sp>
      <p:pic>
        <p:nvPicPr>
          <p:cNvPr id="50" name="Image 4" descr="gen-dedup-ec3898b4a2142ea75f60f5a0bb8b9195.png">
            <a:extLst>
              <a:ext uri="{FF2B5EF4-FFF2-40B4-BE49-F238E27FC236}">
                <a16:creationId xmlns:a16="http://schemas.microsoft.com/office/drawing/2014/main" id="{CF7AF272-F673-4669-BD70-4949471D87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085" y="2109978"/>
            <a:ext cx="764320" cy="764320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01/06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088014" y="295351"/>
            <a:ext cx="7242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01 · 웹 개발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 앱</a:t>
            </a:r>
            <a:endParaRPr lang="en-US" sz="3600" dirty="0"/>
          </a:p>
        </p:txBody>
      </p:sp>
      <p:sp>
        <p:nvSpPr>
          <p:cNvPr id="26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+ TypeScript로 할 일 관리 앱. 입력·체크·삭제·필터링 + localStorage 데이터 유지.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15314" y="2857500"/>
            <a:ext cx="565739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입력창·체크박스·삭제 버튼 UI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useState 기반 필터링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localStorage 영속 저장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8344814" y="2857500"/>
            <a:ext cx="31811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8344814" y="4286707"/>
            <a:ext cx="31811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'카테고리별 필터링이 가능한 Todo 앱'으로 요청하면 30분 안에 동작합니다.</a:t>
            </a:r>
            <a:endParaRPr lang="en-US" sz="900" dirty="0"/>
          </a:p>
        </p:txBody>
      </p:sp>
      <p:sp>
        <p:nvSpPr>
          <p:cNvPr id="37" name="Text 31"/>
          <p:cNvSpPr txBox="1"/>
          <p:nvPr/>
        </p:nvSpPr>
        <p:spPr>
          <a:xfrm>
            <a:off x="915314" y="5695798"/>
            <a:ext cx="565739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sp>
        <p:nvSpPr>
          <p:cNvPr id="38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"Todo 앱 만들어줘. 기능: 입력창·체크박스·삭제 버튼 UI · useState 기반 필터링 · localStorage 영속 저장. 기술 스택: React + TypeScript + CSS. 깔끔한 UI · 반응형 · 주석 포함."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1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2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02/06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02 · 웹 개발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사이트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포트폴리오 SPA. Hero · About · Skills · Projects · Contact 섹션 + 스크롤 애니메이션.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Hero·About·Skills·Projects·Contact 5섹션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Scroll Reveal 애니메이션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모바일 대응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 디자인을 첨부하면 Cursor가 화면별 컴포넌트로 자동 분리해 줍니다.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"포트폴리오 사이트 만들어줘. 기능: Hero·About·Skills·Projects·Contact 5섹션 · Scroll Reveal 애니메이션 · 반응형 모바일 대응. 기술 스택: React + TypeScript + CSS. 깔끔한 UI · 반응형 · 주석 포함."</a:t>
            </a:r>
            <a:endParaRPr lang="en-US" sz="1000" dirty="0"/>
          </a:p>
        </p:txBody>
      </p:sp>
      <p:pic>
        <p:nvPicPr>
          <p:cNvPr id="44" name="Image 9" descr="gen-dedup-6e4b59dc6f5f27e4e0356c626fb11811.png"/>
          <p:cNvPicPr>
            <a:picLocks noChangeAspect="1"/>
          </p:cNvPicPr>
          <p:nvPr/>
        </p:nvPicPr>
        <p:blipFill>
          <a:blip r:embed="rId11"/>
          <a:srcRect l="-16667" r="-16667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03/06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03 · 웹 개발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게시판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백엔드 게시판. 회원가입·로그인·게시글 CRUD·댓글·실시간 알림까지.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회원가입·로그인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게시글 CRUD + 댓글 1:N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알림 (subscribe)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1·2일차에서 배운 인증 + RLS 정책이 그대로 적용되는 종합 실습 프로젝트.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"실시간 게시판 만들어줘. 기능: Supabase 회원가입·로그인 · 게시글 CRUD + 댓글 1:N · 실시간 알림 (subscribe). 기술 스택: React + TypeScript + Supabase. 깔끔한 UI · 반응형 · 주석 포함."</a:t>
            </a:r>
            <a:endParaRPr lang="en-US" sz="1000" dirty="0"/>
          </a:p>
        </p:txBody>
      </p:sp>
      <p:pic>
        <p:nvPicPr>
          <p:cNvPr id="44" name="Image 9" descr="gen-dedup-de379c810f9bda7c694d01aaa0bc41b0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04/06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04 · 웹 개발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랜딩 페이지 빌더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마케팅용 원페이지. Hero 배너 · 특징 소개 · 가격표 · CTA · FAQ 아코디언.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Hero 배너 + CTA 버튼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3섹션 + 가격표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FAQ 아코디언 인터랙션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CSS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'제품명 + 타깃 + 핵심 가치 3개'만 던지면 카피라이팅까지 자동 생성.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"랜딩 페이지 빌더 만들어줘. 기능: Hero 배너 + CTA 버튼 · 특징 3섹션 + 가격표 · FAQ 아코디언 인터랙션. 기술 스택: React + TypeScript + CSS. 깔끔한 UI · 반응형 · 주석 포함."</a:t>
            </a:r>
            <a:endParaRPr lang="en-US" sz="1000" dirty="0"/>
          </a:p>
        </p:txBody>
      </p:sp>
      <p:pic>
        <p:nvPicPr>
          <p:cNvPr id="44" name="Image 9" descr="gen-dedup-b83906d0046118357cdc04be707b74b6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05/06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05 · 웹 개발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날씨 앱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OpenWeatherMap API 연동. 도시별 현재 날씨 · 5일 예보 · 날씨 아이콘 · 반응형.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OpenWeatherMap API 호출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날씨 + 5일 예보 카드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 검색 + 즐겨찾기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 호출 + async/await + 에러 처리 패턴을 자연스럽게 익힙니다.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"날씨 앱 만들어줘. 기능: OpenWeatherMap API 호출 · 현재 날씨 + 5일 예보 카드 · 도시 검색 + 즐겨찾기. 기술 스택: React + TypeScript + API. 깔끔한 UI · 반응형 · 주석 포함."</a:t>
            </a:r>
            <a:endParaRPr lang="en-US" sz="1000" dirty="0"/>
          </a:p>
        </p:txBody>
      </p:sp>
      <p:pic>
        <p:nvPicPr>
          <p:cNvPr id="44" name="Image 9" descr="gen-dedup-7cf716ee73c6d9a8205a24547263b53a.png"/>
          <p:cNvPicPr>
            <a:picLocks noChangeAspect="1"/>
          </p:cNvPicPr>
          <p:nvPr/>
        </p:nvPicPr>
        <p:blipFill>
          <a:blip r:embed="rId11"/>
          <a:srcRect l="-621" r="-621"/>
          <a:stretch/>
        </p:blipFill>
        <p:spPr>
          <a:xfrm>
            <a:off x="838505" y="1028700"/>
            <a:ext cx="409651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웹 개발 · 06/06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06 · 웹 개발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대시보드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Chart.js로 매출·사용자·주문 통계 시각화. 사이드바 네비 + 다크모드 토글.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Chart.js 매출·사용자·주문 차트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네비게이션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다크/라이트 테마 토글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Chart.js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시각화 + 테마 시스템 + 권한별 메뉴까지 — 어드민 화면의 정석.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"관리자 대시보드 만들어줘. 기능: Chart.js 매출·사용자·주문 차트 · 사이드바 네비게이션 · 다크/라이트 테마 토글. 기술 스택: React + TypeScript + Chart.js. 깔끔한 UI · 반응형 · 주석 포함."</a:t>
            </a:r>
            <a:endParaRPr lang="en-US" sz="1000" dirty="0"/>
          </a:p>
        </p:txBody>
      </p:sp>
      <p:pic>
        <p:nvPicPr>
          <p:cNvPr id="44" name="Image 9" descr="gen-dedup-a3bba05b94cd33102d9fa50ed2a7848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75d1e8507d50c74910cecbb2b6161918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71500"/>
            <a:ext cx="4190695" cy="614385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2195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095744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430207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762195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095744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9430207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71500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905756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239305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572854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905756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7239305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9572854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571500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02 / 04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3429000"/>
            <a:ext cx="369966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앱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428670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Python만으로 빠르게 만드는 데이터 앱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429707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</a:t>
            </a:r>
            <a:endParaRPr lang="en-US" sz="6000" dirty="0"/>
          </a:p>
        </p:txBody>
      </p:sp>
      <p:sp>
        <p:nvSpPr>
          <p:cNvPr id="24" name="Text 20"/>
          <p:cNvSpPr txBox="1"/>
          <p:nvPr/>
        </p:nvSpPr>
        <p:spPr>
          <a:xfrm>
            <a:off x="4762195" y="1238098"/>
            <a:ext cx="6858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 IN THIS CATEGORY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333695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30분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5333695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데이터 대시보드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905756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전력사용량 데이터를 월별·지역별로 시각화. 사이드바 필터.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905756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7667244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25분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7667244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 탐색기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239305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CSV든 업로드하면 자동으로 데이터 요약·통계·시각화를 제공하는 범용 도구.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7239305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10001707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15분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0001707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 앱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572854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첫 앱. 이름·사진·경력·스킬 바·취미를 표시하는 인터랙티브 페이지.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9572854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333695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30분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5333695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일지 관리 앱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4905756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업무 일지 작성·저장. 날짜별 조회 · 카테고리 분류 · JSON 저장.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4905756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json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7667244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20분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7667244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갤러리 뷰어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239305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→ 갤러리 표시 + 필터(밝기/대비/흑백) 적용.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7239305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Pillow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10001707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35분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10001707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가계부 앱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9572854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수입·지출 기록 + 월별 통계 + 카테고리별 지출 차트.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9572854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800" dirty="0"/>
          </a:p>
        </p:txBody>
      </p:sp>
      <p:pic>
        <p:nvPicPr>
          <p:cNvPr id="50" name="Image 5" descr="gen-dedup-b8a04851ef146d66acb96931cb58335a.png">
            <a:extLst>
              <a:ext uri="{FF2B5EF4-FFF2-40B4-BE49-F238E27FC236}">
                <a16:creationId xmlns:a16="http://schemas.microsoft.com/office/drawing/2014/main" id="{76E35F4A-7AC2-8716-4F0A-55453F9434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6576" y="2134436"/>
            <a:ext cx="672848" cy="672848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01/06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01 · Streamlit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데이터 대시보드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전력사용량 데이터를 월별·지역별로 시각화. 사이드바 필터.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위젯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추이 + 지역별 비교 차트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사이드바 필터링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Part 2 실습 그대로. 본인 부서의 실제 데이터로 시도해보세요.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"전력 데이터 대시보드 만들어줘. 기능: CSV 업로드 위젯 · 월별 추이 + 지역별 비교 차트 · 사이드바 필터링.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1e8b4c63be970a1e0b62681a81b6d004.png"/>
          <p:cNvPicPr>
            <a:picLocks noChangeAspect="1"/>
          </p:cNvPicPr>
          <p:nvPr/>
        </p:nvPicPr>
        <p:blipFill>
          <a:blip r:embed="rId11"/>
          <a:srcRect l="-7143" r="-7143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02/06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02 · Streamlit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데이터 탐색기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CSV든 업로드하면 자동으로 데이터 요약·통계·시각화를 제공하는 범용 도구.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CSV든 자동 감지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describe() + missing values 표시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컬럼별 자동 시각화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6237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만들어 두면 — 새 데이터를 받을 때마다 분석이 자동으로.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"CSV 데이터 탐색기 만들어줘. 기능: 어떤 CSV든 자동 감지 · describe() + missing values 표시 · 컬럼별 자동 시각화.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ce6e8bfa4596a93c63f40e23cbf29841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03/06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15분</a:t>
            </a:r>
            <a:endParaRPr lang="en-US" sz="900" dirty="0"/>
          </a:p>
        </p:txBody>
      </p:sp>
      <p:pic>
        <p:nvPicPr>
          <p:cNvPr id="22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03 · Streamlit 앱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 앱</a:t>
            </a:r>
            <a:endParaRPr lang="en-US" sz="36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첫 앱. 이름·사진·경력·스킬 바·취미를 표시하는 인터랙티브 페이지.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7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이름·부서·관심분야 입력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 업로드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스킬 진행률 바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2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4" name="Text 25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5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위젯 5개만 익히면 만들 수 있는 — 가장 빠른 첫 성공 경험.</a:t>
            </a:r>
            <a:endParaRPr lang="en-US" sz="900" dirty="0"/>
          </a:p>
        </p:txBody>
      </p:sp>
      <p:sp>
        <p:nvSpPr>
          <p:cNvPr id="37" name="Text 27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38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857707" y="5952744"/>
            <a:ext cx="107634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"자기소개 앱 만들어줘. 기능: 이름·부서·관심분야 입력 · 프로필 사진 업로드 · 스킬 진행률 바. 기술 스택: Streamlit. 깔끔한 UI · 반응형 · 주석 포함."</a:t>
            </a:r>
            <a:endParaRPr lang="en-US" sz="1000" dirty="0"/>
          </a:p>
        </p:txBody>
      </p:sp>
      <p:pic>
        <p:nvPicPr>
          <p:cNvPr id="40" name="Image 9" descr="gen-dedup-ac62d111b21b67e24e16a4e14c922fcf.png"/>
          <p:cNvPicPr>
            <a:picLocks noChangeAspect="1"/>
          </p:cNvPicPr>
          <p:nvPr/>
        </p:nvPicPr>
        <p:blipFill>
          <a:blip r:embed="rId11"/>
          <a:srcRect l="-525" r="-525"/>
          <a:stretch/>
        </p:blipFill>
        <p:spPr>
          <a:xfrm>
            <a:off x="838505" y="1028700"/>
            <a:ext cx="286207" cy="32369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2" name="Text 30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04/06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04 · Streamlit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일지 관리 앱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업무 일지 작성·저장. 날짜별 조회 · 카테고리 분류 · JSON 저장.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일자별 업무 입력 + 저장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분류 (회의·개발·문서)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영속 + 캘린더 뷰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업무 관리 + 사내 보고서 작성 보조 도구로 활용 가능.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"업무 일지 관리 앱 만들어줘. 기능: 일자별 업무 입력 + 저장 · 카테고리 분류 (회의·개발·문서) · JSON 영속 + 캘린더 뷰. 기술 스택: Streamlit + pandas + json. 깔끔한 UI · 반응형 · 주석 포함."</a:t>
            </a:r>
            <a:endParaRPr lang="en-US" sz="1000" dirty="0"/>
          </a:p>
        </p:txBody>
      </p:sp>
      <p:pic>
        <p:nvPicPr>
          <p:cNvPr id="44" name="Image 9" descr="gen-dedup-885b5df882d279f4c79ded1325e80c01.png"/>
          <p:cNvPicPr>
            <a:picLocks noChangeAspect="1"/>
          </p:cNvPicPr>
          <p:nvPr/>
        </p:nvPicPr>
        <p:blipFill>
          <a:blip r:embed="rId11"/>
          <a:srcRect l="-525" r="-525"/>
          <a:stretch/>
        </p:blipFill>
        <p:spPr>
          <a:xfrm>
            <a:off x="838505" y="1028700"/>
            <a:ext cx="286207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05/06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900" dirty="0"/>
          </a:p>
        </p:txBody>
      </p:sp>
      <p:pic>
        <p:nvPicPr>
          <p:cNvPr id="23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05 · Streamlit 앱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갤러리 뷰어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→ 갤러리 표시 + 필터(밝기/대비/흑백) 적용.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8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다중 업로드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갤러리 그리드 표시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밝기/대비/흑백 슬라이더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3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Pillow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7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처리 기초 + Streamlit 인터랙티브 컨트롤을 결합한 미니 프로젝트.</a:t>
            </a:r>
            <a:endParaRPr lang="en-US" sz="900" dirty="0"/>
          </a:p>
        </p:txBody>
      </p:sp>
      <p:sp>
        <p:nvSpPr>
          <p:cNvPr id="39" name="Text 29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0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"이미지 갤러리 뷰어 만들어줘. 기능: 이미지 다중 업로드 · 갤러리 그리드 표시 · 밝기/대비/흑백 슬라이더. 기술 스택: Streamlit + Pillow. 깔끔한 UI · 반응형 · 주석 포함."</a:t>
            </a:r>
            <a:endParaRPr lang="en-US" sz="1000" dirty="0"/>
          </a:p>
        </p:txBody>
      </p:sp>
      <p:pic>
        <p:nvPicPr>
          <p:cNvPr id="42" name="Image 9" descr="gen-dedup-aebcafae9cda5a0efef6818058735388.png"/>
          <p:cNvPicPr>
            <a:picLocks noChangeAspect="1"/>
          </p:cNvPicPr>
          <p:nvPr/>
        </p:nvPicPr>
        <p:blipFill>
          <a:blip r:embed="rId11"/>
          <a:srcRect t="-6250" b="-6250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STREAMLIT 앱 · 06/06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06 · Streamlit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가계부 앱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수입·지출 기록 + 월별 통계 + 카테고리별 지출 차트.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수입/지출 입력 폼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잔액 + 카테고리별 차트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내역 테이블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추가 → 자동 집계 → 시각화 — 가장 자주 쓰이는 패턴 학습.</a:t>
            </a:r>
            <a:endParaRPr lang="en-US" sz="9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"가계부 앱 만들어줘. 기능: 수입/지출 입력 폼 · 월별 잔액 + 카테고리별 차트 · 거래 내역 테이블.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4b3eac50ff3757cedf244b4d6c2a26c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71500"/>
            <a:ext cx="4190695" cy="6152297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2195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8" name="Shape 4"/>
          <p:cNvSpPr/>
          <p:nvPr/>
        </p:nvSpPr>
        <p:spPr>
          <a:xfrm>
            <a:off x="7095744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9" name="Shape 5"/>
          <p:cNvSpPr/>
          <p:nvPr/>
        </p:nvSpPr>
        <p:spPr>
          <a:xfrm>
            <a:off x="9430207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Shape 6"/>
          <p:cNvSpPr/>
          <p:nvPr/>
        </p:nvSpPr>
        <p:spPr>
          <a:xfrm>
            <a:off x="4762195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1" name="Shape 7"/>
          <p:cNvSpPr/>
          <p:nvPr/>
        </p:nvSpPr>
        <p:spPr>
          <a:xfrm>
            <a:off x="7095744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Shape 8"/>
          <p:cNvSpPr/>
          <p:nvPr/>
        </p:nvSpPr>
        <p:spPr>
          <a:xfrm>
            <a:off x="9430207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3" name="Shape 9"/>
          <p:cNvSpPr/>
          <p:nvPr/>
        </p:nvSpPr>
        <p:spPr>
          <a:xfrm>
            <a:off x="571500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905756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5" name="Shape 11"/>
          <p:cNvSpPr/>
          <p:nvPr/>
        </p:nvSpPr>
        <p:spPr>
          <a:xfrm>
            <a:off x="7239305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6" name="Shape 12"/>
          <p:cNvSpPr/>
          <p:nvPr/>
        </p:nvSpPr>
        <p:spPr>
          <a:xfrm>
            <a:off x="9572854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Shape 13"/>
          <p:cNvSpPr/>
          <p:nvPr/>
        </p:nvSpPr>
        <p:spPr>
          <a:xfrm>
            <a:off x="4905756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8" name="Shape 14"/>
          <p:cNvSpPr/>
          <p:nvPr/>
        </p:nvSpPr>
        <p:spPr>
          <a:xfrm>
            <a:off x="7239305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9" name="Shape 15"/>
          <p:cNvSpPr/>
          <p:nvPr/>
        </p:nvSpPr>
        <p:spPr>
          <a:xfrm>
            <a:off x="9572854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6"/>
          <p:cNvSpPr txBox="1"/>
          <p:nvPr/>
        </p:nvSpPr>
        <p:spPr>
          <a:xfrm>
            <a:off x="571500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03 / 04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3429000"/>
            <a:ext cx="355884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분석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428670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데이터를 자동으로 분석하는 도구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429707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</a:t>
            </a:r>
            <a:endParaRPr lang="en-US" sz="6000" dirty="0"/>
          </a:p>
        </p:txBody>
      </p:sp>
      <p:sp>
        <p:nvSpPr>
          <p:cNvPr id="24" name="Text 20"/>
          <p:cNvSpPr txBox="1"/>
          <p:nvPr/>
        </p:nvSpPr>
        <p:spPr>
          <a:xfrm>
            <a:off x="4762195" y="1238098"/>
            <a:ext cx="6858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 IN THIS CATEGORY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333695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35분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333695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장애 분석기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4905756" y="2381098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설비 장애 이력 Excel 데이터를 분석. 유형별 빈도 · 월별 추이 · 지역별 분포 · 복구시간 통계.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4905756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667244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30분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7667244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자동 보고서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7239305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Python으로 Excel 데이터를 읽어 요약 통계·차트·서식 적용된 보고서를 자동 생성.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7239305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openpyxl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10001707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30분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10001707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분석기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9572854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CSV 업로드 → 응답 분포 · 교차 분석 · 워드 클라우드 자동 생성.</a:t>
            </a:r>
            <a:endParaRPr lang="en-US" sz="1000" dirty="0"/>
          </a:p>
        </p:txBody>
      </p:sp>
      <p:sp>
        <p:nvSpPr>
          <p:cNvPr id="36" name="Text 32"/>
          <p:cNvSpPr txBox="1"/>
          <p:nvPr/>
        </p:nvSpPr>
        <p:spPr>
          <a:xfrm>
            <a:off x="9572854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333695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25분</a:t>
            </a:r>
            <a:endParaRPr lang="en-US" sz="1000" dirty="0"/>
          </a:p>
        </p:txBody>
      </p:sp>
      <p:sp>
        <p:nvSpPr>
          <p:cNvPr id="38" name="Text 34"/>
          <p:cNvSpPr txBox="1"/>
          <p:nvPr/>
        </p:nvSpPr>
        <p:spPr>
          <a:xfrm>
            <a:off x="5333695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데이터 분석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4905756" y="4572000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매출 CSV 업로드 → 월별 추이 · 제품별 점유율 · 전년 대비 성장률 · 예측 트렌드.</a:t>
            </a:r>
            <a:endParaRPr lang="en-US" sz="1000" dirty="0"/>
          </a:p>
        </p:txBody>
      </p:sp>
      <p:sp>
        <p:nvSpPr>
          <p:cNvPr id="40" name="Text 36"/>
          <p:cNvSpPr txBox="1"/>
          <p:nvPr/>
        </p:nvSpPr>
        <p:spPr>
          <a:xfrm>
            <a:off x="4905756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7667244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35분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7667244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 데이터 대시보드</a:t>
            </a:r>
            <a:endParaRPr lang="en-US" sz="1050" dirty="0"/>
          </a:p>
        </p:txBody>
      </p:sp>
      <p:sp>
        <p:nvSpPr>
          <p:cNvPr id="43" name="Text 39"/>
          <p:cNvSpPr txBox="1"/>
          <p:nvPr/>
        </p:nvSpPr>
        <p:spPr>
          <a:xfrm>
            <a:off x="7239305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 인사 데이터 분석. 부서별 인원 · 연차 분포 · 성별 비율 · 퇴직률 추이.</a:t>
            </a:r>
            <a:endParaRPr lang="en-US" sz="1000" dirty="0"/>
          </a:p>
        </p:txBody>
      </p:sp>
      <p:sp>
        <p:nvSpPr>
          <p:cNvPr id="44" name="Text 40"/>
          <p:cNvSpPr txBox="1"/>
          <p:nvPr/>
        </p:nvSpPr>
        <p:spPr>
          <a:xfrm>
            <a:off x="7239305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1000" dirty="0"/>
          </a:p>
        </p:txBody>
      </p:sp>
      <p:sp>
        <p:nvSpPr>
          <p:cNvPr id="45" name="Text 41"/>
          <p:cNvSpPr txBox="1"/>
          <p:nvPr/>
        </p:nvSpPr>
        <p:spPr>
          <a:xfrm>
            <a:off x="10001707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40분</a:t>
            </a:r>
            <a:endParaRPr lang="en-US" sz="1000" dirty="0"/>
          </a:p>
        </p:txBody>
      </p:sp>
      <p:sp>
        <p:nvSpPr>
          <p:cNvPr id="46" name="Text 42"/>
          <p:cNvSpPr txBox="1"/>
          <p:nvPr/>
        </p:nvSpPr>
        <p:spPr>
          <a:xfrm>
            <a:off x="10001707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로그 분석기</a:t>
            </a:r>
            <a:endParaRPr lang="en-US" sz="1050" dirty="0"/>
          </a:p>
        </p:txBody>
      </p:sp>
      <p:sp>
        <p:nvSpPr>
          <p:cNvPr id="47" name="Text 43"/>
          <p:cNvSpPr txBox="1"/>
          <p:nvPr/>
        </p:nvSpPr>
        <p:spPr>
          <a:xfrm>
            <a:off x="9572854" y="4572000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서버 접속 로그 분석. 시간대별 트래픽 · 인기 페이지 · 브라우저 분포 · 에러율 시각화.</a:t>
            </a:r>
            <a:endParaRPr lang="en-US" sz="1000" dirty="0"/>
          </a:p>
        </p:txBody>
      </p:sp>
      <p:sp>
        <p:nvSpPr>
          <p:cNvPr id="48" name="Text 44"/>
          <p:cNvSpPr txBox="1"/>
          <p:nvPr/>
        </p:nvSpPr>
        <p:spPr>
          <a:xfrm>
            <a:off x="9572854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plotly</a:t>
            </a:r>
            <a:endParaRPr lang="en-US" sz="1000" dirty="0"/>
          </a:p>
        </p:txBody>
      </p:sp>
      <p:pic>
        <p:nvPicPr>
          <p:cNvPr id="49" name="Image 2" descr="gen-dedup-e4ffd55d4d8e97a15990306e682e6d0b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805" y="2286000"/>
            <a:ext cx="381305" cy="381305"/>
          </a:xfrm>
          <a:prstGeom prst="rect">
            <a:avLst/>
          </a:prstGeom>
        </p:spPr>
      </p:pic>
      <p:pic>
        <p:nvPicPr>
          <p:cNvPr id="50" name="Image 3" descr="gen-dedup-6e07617d040335fad1e2049c748b68bc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00854" y="1971446"/>
            <a:ext cx="152705" cy="152705"/>
          </a:xfrm>
          <a:prstGeom prst="rect">
            <a:avLst/>
          </a:prstGeom>
        </p:spPr>
      </p:pic>
      <p:pic>
        <p:nvPicPr>
          <p:cNvPr id="51" name="Image 4" descr="gen-dedup-cf894e316909a5c11390f59888650fef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7334402" y="1971446"/>
            <a:ext cx="114300" cy="152705"/>
          </a:xfrm>
          <a:prstGeom prst="rect">
            <a:avLst/>
          </a:prstGeom>
        </p:spPr>
      </p:pic>
      <p:pic>
        <p:nvPicPr>
          <p:cNvPr id="52" name="Image 5" descr="gen-dedup-78978a74490ab204e4bdcd320fd3760a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9667951" y="1971446"/>
            <a:ext cx="133502" cy="152705"/>
          </a:xfrm>
          <a:prstGeom prst="rect">
            <a:avLst/>
          </a:prstGeom>
        </p:spPr>
      </p:pic>
      <p:pic>
        <p:nvPicPr>
          <p:cNvPr id="53" name="Image 6" descr="gen-dedup-ebd2d0007c29d3588471648090c3b2a5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000854" y="4162349"/>
            <a:ext cx="152705" cy="152705"/>
          </a:xfrm>
          <a:prstGeom prst="rect">
            <a:avLst/>
          </a:prstGeom>
        </p:spPr>
      </p:pic>
      <p:pic>
        <p:nvPicPr>
          <p:cNvPr id="54" name="Image 7" descr="gen-dedup-2a10e62fada2c4e96614d5d826960259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7334402" y="4162349"/>
            <a:ext cx="190195" cy="152705"/>
          </a:xfrm>
          <a:prstGeom prst="rect">
            <a:avLst/>
          </a:prstGeom>
        </p:spPr>
      </p:pic>
      <p:pic>
        <p:nvPicPr>
          <p:cNvPr id="55" name="Image 8" descr="gen-dedup-94c0a606c33049a9d98bed4d0bf83827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667951" y="4162349"/>
            <a:ext cx="152705" cy="152705"/>
          </a:xfrm>
          <a:prstGeom prst="rect">
            <a:avLst/>
          </a:prstGeom>
        </p:spPr>
      </p:pic>
      <p:sp>
        <p:nvSpPr>
          <p:cNvPr id="5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01/06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01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설비 장애 분석기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설비 장애 이력 Excel 데이터를 분석. 유형별 빈도 · 월별 추이 · 지역별 분포 · 복구시간 통계.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장애 이력 업로드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유형·지역별 빈도 분석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복구시간 box plot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전력·설비 실무와 가까운 분석 시나리오 — 실제 운영 데이터로 즉시 활용.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"설비 장애 분석기 만들어줘. 기능: Excel 장애 이력 업로드 · 유형·지역별 빈도 분석 · 복구시간 box plot. 기술 스택: Streamlit + pandas + plotly. 깔끔한 UI · 반응형 · 주석 포함."</a:t>
            </a:r>
            <a:endParaRPr lang="en-US" sz="1100" dirty="0"/>
          </a:p>
        </p:txBody>
      </p:sp>
      <p:pic>
        <p:nvPicPr>
          <p:cNvPr id="44" name="Image 9" descr="gen-dedup-658b2cba51210bcdf182697a0230a1f0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02/06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02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자동 보고서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Python으로 Excel 데이터를 읽어 요약 통계·차트·서식 적용된 보고서를 자동 생성.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Excel 시트 읽기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통계 자동 계산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openpyxl로 서식 포함 출력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openpyxl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매주 반복하는 보고서 작업을 단 한 번의 클릭으로 — 가장 직접적인 시간 절약.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"Excel 자동 보고서 만들어줘. 기능: Excel 시트 읽기 · 요약 통계 자동 계산 · openpyxl로 서식 포함 출력. 기술 스택: Streamlit + pandas + openpyxl. 깔끔한 UI · 반응형 · 주석 포함."</a:t>
            </a:r>
            <a:endParaRPr lang="en-US" sz="1000" dirty="0"/>
          </a:p>
        </p:txBody>
      </p:sp>
      <p:pic>
        <p:nvPicPr>
          <p:cNvPr id="44" name="Image 9" descr="gen-dedup-09c5346762226a9c165720c35c6500b1.png"/>
          <p:cNvPicPr>
            <a:picLocks noChangeAspect="1"/>
          </p:cNvPicPr>
          <p:nvPr/>
        </p:nvPicPr>
        <p:blipFill>
          <a:blip r:embed="rId11"/>
          <a:srcRect l="-16667" r="-16667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03/06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03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분석기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CSV 업로드 → 응답 분포 · 교차 분석 · 워드 클라우드 자동 생성.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CSV 업로드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 분포 + 교차 분석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워드클라우드 자동 생성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HR/만족도 설문 후 즉시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회의 자료를 자동으로 만들어주는 도구.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"설문 결과 분석기 만들어줘. 기능: 설문 CSV 업로드 · 응답 분포 + 교차 분석 · 워드클라우드 자동 생성.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d366f0dcd9f26ede2a4f97cee5d4d227.png"/>
          <p:cNvPicPr>
            <a:picLocks noChangeAspect="1"/>
          </p:cNvPicPr>
          <p:nvPr/>
        </p:nvPicPr>
        <p:blipFill>
          <a:blip r:embed="rId11"/>
          <a:srcRect l="-525" r="-525"/>
          <a:stretch/>
        </p:blipFill>
        <p:spPr>
          <a:xfrm>
            <a:off x="838505" y="1028700"/>
            <a:ext cx="286207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04/06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04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데이터 분석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매출 CSV 업로드 → 월별 추이 · 제품별 점유율 · 전년 대비 성장률 · 예측 트렌드.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매출 데이터 시계열 분석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제품·지역별 점유율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동기 대비 성장률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Pandas의 groupby · resample </a:t>
            </a:r>
            <a:r>
              <a:rPr lang="en-US" sz="105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기능을</a:t>
            </a: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자연스럽게</a:t>
            </a: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익히는 베스트 입문 프로젝트.</a:t>
            </a:r>
            <a:endParaRPr lang="en-US" sz="105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"매출 데이터 분석 만들어줘. 기능: 매출 데이터 시계열 분석 · 제품·지역별 점유율 · 전년 동기 대비 성장률.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6f05664200965a2638b10b46397d879a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05/06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05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 데이터 대시보드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직원 인사 데이터 분석. 부서별 인원 · 연차 분포 · 성별 비율 · 퇴직률 추이.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부서별 인원 + 연차 분포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성별 비율 도넛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퇴직률 시계열 추이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익명화 + 다양한 차트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임원 보고용 대시보드의 정석.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"인사 데이터 대시보드 만들어줘. 기능: 부서별 인원 + 연차 분포 · 성별 비율 도넛 · 퇴직률 시계열 추이.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6aeb1cd9086d0c3fc9422e7f70019fce.png"/>
          <p:cNvPicPr>
            <a:picLocks noChangeAspect="1"/>
          </p:cNvPicPr>
          <p:nvPr/>
        </p:nvPicPr>
        <p:blipFill>
          <a:blip r:embed="rId11"/>
          <a:srcRect l="-621" r="-621"/>
          <a:stretch/>
        </p:blipFill>
        <p:spPr>
          <a:xfrm>
            <a:off x="838505" y="1028700"/>
            <a:ext cx="409651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데이터 분석 · 06/06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06 · 데이터 분석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로그 분석기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서버 접속 로그 분석. 시간대별 트래픽 · 인기 페이지 · 브라우저 분포 · 에러율 시각화.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 정규식 파싱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시간대별 트래픽 + TopN 페이지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에러율·브라우저 분포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plotly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정규표현식으로 로그 파싱 + 시계열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집계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운영 모니터링의 핵심 패턴.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"웹 로그 분석기 만들어줘. 기능: 로그 정규식 파싱 · 시간대별 트래픽 + TopN 페이지 · 에러율·브라우저 분포. 기술 스택: Streamlit + pandas + plotly. 깔끔한 UI · 반응형 · 주석 포함."</a:t>
            </a:r>
            <a:endParaRPr lang="en-US" sz="1000" dirty="0"/>
          </a:p>
        </p:txBody>
      </p:sp>
      <p:pic>
        <p:nvPicPr>
          <p:cNvPr id="44" name="Image 9" descr="gen-dedup-44b192f774dd5e139491403be6139003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71500"/>
            <a:ext cx="4190695" cy="614385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62195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4"/>
          <p:cNvSpPr/>
          <p:nvPr/>
        </p:nvSpPr>
        <p:spPr>
          <a:xfrm>
            <a:off x="7095744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5"/>
          <p:cNvSpPr/>
          <p:nvPr/>
        </p:nvSpPr>
        <p:spPr>
          <a:xfrm>
            <a:off x="9430207" y="1714500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6"/>
          <p:cNvSpPr/>
          <p:nvPr/>
        </p:nvSpPr>
        <p:spPr>
          <a:xfrm>
            <a:off x="4762195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7095744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9430207" y="3905402"/>
            <a:ext cx="2162556" cy="2018995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571500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4905756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200" dirty="0"/>
              <a:t>1</a:t>
            </a:r>
            <a:endParaRPr lang="ko-KR" alt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239305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9572854" y="1857146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200" dirty="0"/>
              <a:t>3</a:t>
            </a:r>
            <a:endParaRPr lang="ko-KR" alt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905756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200" dirty="0"/>
              <a:t>4</a:t>
            </a:r>
            <a:endParaRPr lang="ko-KR" alt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239305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200" dirty="0"/>
              <a:t>5</a:t>
            </a:r>
            <a:endParaRPr lang="ko-KR" alt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9572854" y="4048049"/>
            <a:ext cx="342900" cy="342900"/>
          </a:xfrm>
          <a:prstGeom prst="roundRect">
            <a:avLst>
              <a:gd name="adj" fmla="val 11851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sz="1200" dirty="0"/>
              <a:t>6</a:t>
            </a:r>
            <a:endParaRPr lang="ko-KR" alt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1238098"/>
            <a:ext cx="32388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04 / 04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3429000"/>
            <a:ext cx="32388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kern="0" spc="-1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앱</a:t>
            </a:r>
            <a:endParaRPr lang="en-US" sz="4000" dirty="0"/>
          </a:p>
        </p:txBody>
      </p:sp>
      <p:sp>
        <p:nvSpPr>
          <p:cNvPr id="22" name="Text 18"/>
          <p:cNvSpPr txBox="1"/>
          <p:nvPr/>
        </p:nvSpPr>
        <p:spPr>
          <a:xfrm>
            <a:off x="571500" y="4286707"/>
            <a:ext cx="32388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· ChatGPT 활용 지능형 앱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571500" y="5429707"/>
            <a:ext cx="47631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</a:t>
            </a:r>
            <a:r>
              <a:rPr lang="en-US" sz="1300" b="1" dirty="0">
                <a:solidFill>
                  <a:srgbClr val="90C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PROJECTS</a:t>
            </a:r>
            <a:endParaRPr lang="en-US" sz="6000" dirty="0"/>
          </a:p>
        </p:txBody>
      </p:sp>
      <p:sp>
        <p:nvSpPr>
          <p:cNvPr id="24" name="Text 20"/>
          <p:cNvSpPr txBox="1"/>
          <p:nvPr/>
        </p:nvSpPr>
        <p:spPr>
          <a:xfrm>
            <a:off x="4762195" y="1238098"/>
            <a:ext cx="68580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2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PROJECTS IN THIS CATEGORY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5333695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60분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5333695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챗봇 풀스택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4905756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+ Supabase로 대화 이력이 저장되는 AI 챗봇 웹앱. React로 구현.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4905756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· Supabase · Claude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7667244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30분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7667244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AI 챗봇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7239305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연동 채팅 앱. 대화 이력 유지 + 전력IT 전문가 시스템 프롬프트.</a:t>
            </a:r>
            <a:endParaRPr lang="en-US" sz="800" dirty="0"/>
          </a:p>
        </p:txBody>
      </p:sp>
      <p:sp>
        <p:nvSpPr>
          <p:cNvPr id="32" name="Text 28"/>
          <p:cNvSpPr txBox="1"/>
          <p:nvPr/>
        </p:nvSpPr>
        <p:spPr>
          <a:xfrm>
            <a:off x="7239305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anthropic</a:t>
            </a:r>
            <a:endParaRPr lang="en-US" sz="800" dirty="0"/>
          </a:p>
        </p:txBody>
      </p:sp>
      <p:sp>
        <p:nvSpPr>
          <p:cNvPr id="33" name="Text 29"/>
          <p:cNvSpPr txBox="1"/>
          <p:nvPr/>
        </p:nvSpPr>
        <p:spPr>
          <a:xfrm>
            <a:off x="10001707" y="1886407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45분</a:t>
            </a:r>
            <a:endParaRPr lang="en-US" sz="800" dirty="0"/>
          </a:p>
        </p:txBody>
      </p:sp>
      <p:sp>
        <p:nvSpPr>
          <p:cNvPr id="34" name="Text 30"/>
          <p:cNvSpPr txBox="1"/>
          <p:nvPr/>
        </p:nvSpPr>
        <p:spPr>
          <a:xfrm>
            <a:off x="10001707" y="20381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 생성기</a:t>
            </a:r>
            <a:endParaRPr lang="en-US" sz="900" dirty="0"/>
          </a:p>
        </p:txBody>
      </p:sp>
      <p:sp>
        <p:nvSpPr>
          <p:cNvPr id="35" name="Text 31"/>
          <p:cNvSpPr txBox="1"/>
          <p:nvPr/>
        </p:nvSpPr>
        <p:spPr>
          <a:xfrm>
            <a:off x="9572854" y="2381098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Claude API가 분석 보고서를 자동 작성. PDF 다운로드 지원.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9572854" y="3381451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pandas · Claude</a:t>
            </a:r>
            <a:endParaRPr lang="en-US" sz="800" dirty="0"/>
          </a:p>
        </p:txBody>
      </p:sp>
      <p:sp>
        <p:nvSpPr>
          <p:cNvPr id="37" name="Text 33"/>
          <p:cNvSpPr txBox="1"/>
          <p:nvPr/>
        </p:nvSpPr>
        <p:spPr>
          <a:xfrm>
            <a:off x="5333695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 · 25분</a:t>
            </a:r>
            <a:endParaRPr lang="en-US" sz="800" dirty="0"/>
          </a:p>
        </p:txBody>
      </p:sp>
      <p:sp>
        <p:nvSpPr>
          <p:cNvPr id="38" name="Text 34"/>
          <p:cNvSpPr txBox="1"/>
          <p:nvPr/>
        </p:nvSpPr>
        <p:spPr>
          <a:xfrm>
            <a:off x="5333695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문서 요약기</a:t>
            </a:r>
            <a:endParaRPr lang="en-US" sz="900" dirty="0"/>
          </a:p>
        </p:txBody>
      </p:sp>
      <p:sp>
        <p:nvSpPr>
          <p:cNvPr id="39" name="Text 35"/>
          <p:cNvSpPr txBox="1"/>
          <p:nvPr/>
        </p:nvSpPr>
        <p:spPr>
          <a:xfrm>
            <a:off x="4905756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문서·텍스트를 붙여넣으면 Claude가 핵심 요약·키워드 추출·3줄 요약 생성.</a:t>
            </a:r>
            <a:endParaRPr lang="en-US" sz="800" dirty="0"/>
          </a:p>
        </p:txBody>
      </p:sp>
      <p:sp>
        <p:nvSpPr>
          <p:cNvPr id="40" name="Text 36"/>
          <p:cNvSpPr txBox="1"/>
          <p:nvPr/>
        </p:nvSpPr>
        <p:spPr>
          <a:xfrm>
            <a:off x="4905756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anthropic</a:t>
            </a:r>
            <a:endParaRPr lang="en-US" sz="800" dirty="0"/>
          </a:p>
        </p:txBody>
      </p:sp>
      <p:sp>
        <p:nvSpPr>
          <p:cNvPr id="41" name="Text 37"/>
          <p:cNvSpPr txBox="1"/>
          <p:nvPr/>
        </p:nvSpPr>
        <p:spPr>
          <a:xfrm>
            <a:off x="7667244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 · 20분</a:t>
            </a:r>
            <a:endParaRPr lang="en-US" sz="800" dirty="0"/>
          </a:p>
        </p:txBody>
      </p:sp>
      <p:sp>
        <p:nvSpPr>
          <p:cNvPr id="42" name="Text 38"/>
          <p:cNvSpPr txBox="1"/>
          <p:nvPr/>
        </p:nvSpPr>
        <p:spPr>
          <a:xfrm>
            <a:off x="7667244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번역기</a:t>
            </a:r>
            <a:endParaRPr lang="en-US" sz="900" dirty="0"/>
          </a:p>
        </p:txBody>
      </p:sp>
      <p:sp>
        <p:nvSpPr>
          <p:cNvPr id="43" name="Text 39"/>
          <p:cNvSpPr txBox="1"/>
          <p:nvPr/>
        </p:nvSpPr>
        <p:spPr>
          <a:xfrm>
            <a:off x="7239305" y="4572000"/>
            <a:ext cx="1858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↔ 영어 ↔ 일본어 ↔ 중국어 다국어 번역. Claude로 자연스러운 번역 + 문체 선택.</a:t>
            </a:r>
            <a:endParaRPr lang="en-US" sz="800" dirty="0"/>
          </a:p>
        </p:txBody>
      </p:sp>
      <p:sp>
        <p:nvSpPr>
          <p:cNvPr id="44" name="Text 40"/>
          <p:cNvSpPr txBox="1"/>
          <p:nvPr/>
        </p:nvSpPr>
        <p:spPr>
          <a:xfrm>
            <a:off x="7239305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anthropic</a:t>
            </a:r>
            <a:endParaRPr lang="en-US" sz="800" dirty="0"/>
          </a:p>
        </p:txBody>
      </p:sp>
      <p:sp>
        <p:nvSpPr>
          <p:cNvPr id="45" name="Text 41"/>
          <p:cNvSpPr txBox="1"/>
          <p:nvPr/>
        </p:nvSpPr>
        <p:spPr>
          <a:xfrm>
            <a:off x="10001707" y="4076395"/>
            <a:ext cx="1476756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 · 35분</a:t>
            </a:r>
            <a:endParaRPr lang="en-US" sz="800" dirty="0"/>
          </a:p>
        </p:txBody>
      </p:sp>
      <p:sp>
        <p:nvSpPr>
          <p:cNvPr id="46" name="Text 42"/>
          <p:cNvSpPr txBox="1"/>
          <p:nvPr/>
        </p:nvSpPr>
        <p:spPr>
          <a:xfrm>
            <a:off x="10001707" y="4229100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코드 리뷰어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9572854" y="4572000"/>
            <a:ext cx="18580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붙여넣기 → Claude가 버그·보안 취약점·개선 사항 분석 + 리팩토링 제안.</a:t>
            </a:r>
            <a:endParaRPr lang="en-US" sz="800" dirty="0"/>
          </a:p>
        </p:txBody>
      </p:sp>
      <p:sp>
        <p:nvSpPr>
          <p:cNvPr id="48" name="Text 44"/>
          <p:cNvSpPr txBox="1"/>
          <p:nvPr/>
        </p:nvSpPr>
        <p:spPr>
          <a:xfrm>
            <a:off x="9572854" y="5572354"/>
            <a:ext cx="1858061" cy="85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· anthropic</a:t>
            </a:r>
            <a:endParaRPr lang="en-US" sz="800" dirty="0"/>
          </a:p>
        </p:txBody>
      </p:sp>
      <p:pic>
        <p:nvPicPr>
          <p:cNvPr id="50" name="Image 7" descr="gen-dedup-f4da87e73508192a1a8bb414fc0276f4.png">
            <a:extLst>
              <a:ext uri="{FF2B5EF4-FFF2-40B4-BE49-F238E27FC236}">
                <a16:creationId xmlns:a16="http://schemas.microsoft.com/office/drawing/2014/main" id="{91F444D2-C5AB-AD43-A748-5C52664B19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809730" y="2201875"/>
            <a:ext cx="666539" cy="522122"/>
          </a:xfrm>
          <a:prstGeom prst="rect">
            <a:avLst/>
          </a:prstGeom>
        </p:spPr>
      </p:pic>
      <p:sp>
        <p:nvSpPr>
          <p:cNvPr id="51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01/06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01 · AI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챗봇 풀스택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+ Supabase로 대화 이력이 저장되는 AI 챗봇 웹앱. React로 구현.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챗 UI + 메시지 스트림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호출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Supabase로 대화 이력 저장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21시간의 모든 것이 합쳐지는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1100" dirty="0">
              <a:solidFill>
                <a:srgbClr val="1A365D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친구에게 자랑할 만한 완성도.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챗봇 풀스택 만들어줘. 기능: React 챗 UI + 메시지 스트림 · Claude API 호출 · Supabase로 대화 이력 저장. 기술 스택: React + Supabase + Claude. 깔끔한 UI · 반응형 · 주석 포함."</a:t>
            </a:r>
            <a:endParaRPr lang="en-US" sz="1000" dirty="0"/>
          </a:p>
        </p:txBody>
      </p:sp>
      <p:pic>
        <p:nvPicPr>
          <p:cNvPr id="44" name="Image 9" descr="gen-dedup-de379c810f9bda7c694d01aaa0bc41b0.png"/>
          <p:cNvPicPr>
            <a:picLocks noChangeAspect="1"/>
          </p:cNvPicPr>
          <p:nvPr/>
        </p:nvPicPr>
        <p:blipFill>
          <a:blip r:embed="rId11"/>
          <a:srcRect t="-12500" b="-12500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02/06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30분</a:t>
            </a:r>
            <a:endParaRPr lang="en-US" sz="900" dirty="0"/>
          </a:p>
        </p:txBody>
      </p:sp>
      <p:pic>
        <p:nvPicPr>
          <p:cNvPr id="23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02 · AI 앱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AI 챗봇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연동 채팅 앱. 대화 이력 유지 + 전력IT 전문가 시스템 프롬프트.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8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st.chat_input + chat_message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전력IT 전문가 시스템 프롬프트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session_state로 이력 유지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3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7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Part 3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한 시간에 만드는 사내 AI 어시스턴트.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0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"Streamlit AI 챗봇 만들어줘. 기능: st.chat_input + chat_message · 전력IT 전문가 시스템 프롬프트 · session_state로 이력 유지. 기술 스택: Streamlit + anthropic. 깔끔한 UI · 반응형 · 주석 포함."</a:t>
            </a:r>
            <a:endParaRPr lang="en-US" sz="1000" dirty="0"/>
          </a:p>
        </p:txBody>
      </p:sp>
      <p:pic>
        <p:nvPicPr>
          <p:cNvPr id="42" name="Image 9" descr="gen-dedup-29897068ecda4851084cae9cab8f08d5.png"/>
          <p:cNvPicPr>
            <a:picLocks noChangeAspect="1"/>
          </p:cNvPicPr>
          <p:nvPr/>
        </p:nvPicPr>
        <p:blipFill>
          <a:blip r:embed="rId11"/>
          <a:srcRect l="-621" r="-621"/>
          <a:stretch/>
        </p:blipFill>
        <p:spPr>
          <a:xfrm>
            <a:off x="838505" y="1028700"/>
            <a:ext cx="409651" cy="3236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4"/>
          <p:cNvSpPr/>
          <p:nvPr/>
        </p:nvSpPr>
        <p:spPr>
          <a:xfrm>
            <a:off x="10191902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03/06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45분</a:t>
            </a:r>
            <a:endParaRPr lang="en-US" sz="900" dirty="0"/>
          </a:p>
        </p:txBody>
      </p:sp>
      <p:pic>
        <p:nvPicPr>
          <p:cNvPr id="24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03 · AI 앱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보고서 생성기</a:t>
            </a:r>
            <a:endParaRPr lang="en-US" sz="3600" dirty="0"/>
          </a:p>
        </p:txBody>
      </p:sp>
      <p:sp>
        <p:nvSpPr>
          <p:cNvPr id="27" name="Text 20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→ Claude API가 분석 보고서를 자동 작성. PDF 다운로드 지원.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9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+ 자동 분석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Claude로 인사이트 텍스트 생성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Markdown · PDF 출력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4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pandas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10191902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9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87207" y="4591202"/>
            <a:ext cx="363839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+ AI = 매주 반복하던 보고서 작업을 버튼 한 번으로.</a:t>
            </a:r>
            <a:endParaRPr lang="en-US" sz="1100" dirty="0"/>
          </a:p>
        </p:txBody>
      </p:sp>
      <p:sp>
        <p:nvSpPr>
          <p:cNvPr id="41" name="Text 31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2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857707" y="5952744"/>
            <a:ext cx="10763402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보고서 생성기 만들어줘. 기능: CSV 업로드 + 자동 분석 · Claude로 인사이트 텍스트 생성 · Markdown · PDF 출력. 기술 스택: Streamlit + pandas + Claude. 깔끔한 UI · 반응형 · 주석 포함."</a:t>
            </a:r>
            <a:endParaRPr lang="en-US" sz="1000" dirty="0"/>
          </a:p>
        </p:txBody>
      </p:sp>
      <p:pic>
        <p:nvPicPr>
          <p:cNvPr id="44" name="Image 9" descr="gen-dedup-673461f9a18d7811cbe660c299746779.png"/>
          <p:cNvPicPr>
            <a:picLocks noChangeAspect="1"/>
          </p:cNvPicPr>
          <p:nvPr/>
        </p:nvPicPr>
        <p:blipFill>
          <a:blip r:embed="rId11"/>
          <a:srcRect l="-16667" r="-16667"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34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8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04/06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중급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25분</a:t>
            </a:r>
            <a:endParaRPr lang="en-US" sz="900" dirty="0"/>
          </a:p>
        </p:txBody>
      </p:sp>
      <p:pic>
        <p:nvPicPr>
          <p:cNvPr id="23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04 · AI 앱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문서 요약기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문서·텍스트를 붙여넣으면 Claude가 핵심 요약·키워드 추출·3줄 요약 생성.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8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텍스트 입력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요약 + 키워드 추출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3줄 / 5줄 / 한 줄 선택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3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7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회의록 · 논문 · 긴 </a:t>
            </a:r>
            <a:r>
              <a:rPr lang="en-US" sz="105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메일</a:t>
            </a: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0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시간을 잡아먹던 모든 텍스트를 정리합니다.</a:t>
            </a:r>
            <a:endParaRPr lang="en-US" sz="1050" dirty="0"/>
          </a:p>
        </p:txBody>
      </p:sp>
      <p:sp>
        <p:nvSpPr>
          <p:cNvPr id="39" name="Text 29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0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문서 요약기 만들어줘. 기능: 긴 텍스트 입력 · Claude 요약 + 키워드 추출 · 3줄 / 5줄 / 한 줄 선택. 기술 스택: Streamlit + anthropic. 깔끔한 UI · 반응형 · 주석 포함."</a:t>
            </a:r>
            <a:endParaRPr lang="en-US" sz="1000" dirty="0"/>
          </a:p>
        </p:txBody>
      </p:sp>
      <p:pic>
        <p:nvPicPr>
          <p:cNvPr id="42" name="Image 9" descr="gen-dedup-434b8277fa42d43c205bfc5d74a067fa.png"/>
          <p:cNvPicPr>
            <a:picLocks noChangeAspect="1"/>
          </p:cNvPicPr>
          <p:nvPr/>
        </p:nvPicPr>
        <p:blipFill>
          <a:blip r:embed="rId11"/>
          <a:srcRect t="-284" b="-284"/>
          <a:stretch/>
        </p:blipFill>
        <p:spPr>
          <a:xfrm>
            <a:off x="838505" y="1028700"/>
            <a:ext cx="362102" cy="3236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05/06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초급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en-US" sz="900" dirty="0"/>
          </a:p>
        </p:txBody>
      </p:sp>
      <p:pic>
        <p:nvPicPr>
          <p:cNvPr id="23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05 · AI 앱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번역기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↔ 영어 ↔ 일본어 ↔ 중국어 다국어 번역. Claude로 자연스러운 번역 + 문체 선택.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77163" y="2857500"/>
            <a:ext cx="5495544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8" name="Image 5" descr="gen-dedup-6df30b52fab5a30e906e25049886722a.png"/>
          <p:cNvPicPr>
            <a:picLocks noChangeAspect="1"/>
          </p:cNvPicPr>
          <p:nvPr/>
        </p:nvPicPr>
        <p:blipFill>
          <a:blip r:embed="rId7"/>
          <a:srcRect l="-8272" r="-8272"/>
          <a:stretch/>
        </p:blipFill>
        <p:spPr>
          <a:xfrm>
            <a:off x="857707" y="2857500"/>
            <a:ext cx="161849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 4개 선택 드롭다운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Claude로 번역 + 문체 옵션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원문 ↔ 번역 좌우 분할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506663" y="2857500"/>
            <a:ext cx="301934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3" name="Image 6" descr="gen-dedup-8bd3b3eb60a4a7ff54817a654fc96c2b.png"/>
          <p:cNvPicPr>
            <a:picLocks noChangeAspect="1"/>
          </p:cNvPicPr>
          <p:nvPr/>
        </p:nvPicPr>
        <p:blipFill>
          <a:blip r:embed="rId8"/>
          <a:srcRect l="-8272" r="-8272"/>
          <a:stretch/>
        </p:blipFill>
        <p:spPr>
          <a:xfrm>
            <a:off x="8287207" y="2857500"/>
            <a:ext cx="161849" cy="1234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459114" y="4286707"/>
            <a:ext cx="306689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7" name="Image 7" descr="gen-dedup-2068288db8752e1585b58329ec2eb933.png"/>
          <p:cNvPicPr>
            <a:picLocks noChangeAspect="1"/>
          </p:cNvPicPr>
          <p:nvPr/>
        </p:nvPicPr>
        <p:blipFill>
          <a:blip r:embed="rId9"/>
          <a:srcRect l="-11728" r="-11728"/>
          <a:stretch/>
        </p:blipFill>
        <p:spPr>
          <a:xfrm>
            <a:off x="8287207" y="4286707"/>
            <a:ext cx="114300" cy="1234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번역과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문맥이 얼마나 반영되는지 직접 확인합니다.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0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번역기 만들어줘. 기능: 언어 4개 선택 드롭다운 · Claude로 번역 + 문체 옵션 · 원문 ↔ 번역 좌우 분할. 기술 스택: Streamlit + anthropic. 깔끔한 UI · 반응형 · 주석 포함."</a:t>
            </a:r>
            <a:endParaRPr lang="en-US" sz="1000" dirty="0"/>
          </a:p>
        </p:txBody>
      </p:sp>
      <p:pic>
        <p:nvPicPr>
          <p:cNvPr id="42" name="Image 9" descr="gen-dedup-a46f169302b6d657739489a3ba9fe6c4.png"/>
          <p:cNvPicPr>
            <a:picLocks noChangeAspect="1"/>
          </p:cNvPicPr>
          <p:nvPr/>
        </p:nvPicPr>
        <p:blipFill>
          <a:blip r:embed="rId11"/>
          <a:srcRect l="-621" r="-621"/>
          <a:stretch/>
        </p:blipFill>
        <p:spPr>
          <a:xfrm>
            <a:off x="838505" y="1028700"/>
            <a:ext cx="409651" cy="3236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2667305"/>
            <a:ext cx="7239305" cy="2667305"/>
          </a:xfrm>
          <a:prstGeom prst="roundRect">
            <a:avLst>
              <a:gd name="adj" fmla="val 2449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8001000" y="2667305"/>
            <a:ext cx="3810305" cy="1238098"/>
          </a:xfrm>
          <a:prstGeom prst="roundRect">
            <a:avLst>
              <a:gd name="adj" fmla="val 11362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001000" y="4095598"/>
            <a:ext cx="3847795" cy="1276502"/>
          </a:xfrm>
          <a:prstGeom prst="roundRect">
            <a:avLst>
              <a:gd name="adj" fmla="val 10692"/>
            </a:avLst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571500" y="5524805"/>
            <a:ext cx="11239805" cy="952805"/>
          </a:xfrm>
          <a:prstGeom prst="roundRect">
            <a:avLst>
              <a:gd name="adj" fmla="val 1919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10" name="Image 2" descr="gen-dedup-840538db5ef96a5833f11fb841a0e4d9.png"/>
          <p:cNvPicPr>
            <a:picLocks noChangeAspect="1"/>
          </p:cNvPicPr>
          <p:nvPr/>
        </p:nvPicPr>
        <p:blipFill>
          <a:blip r:embed="rId4"/>
          <a:srcRect l="-394" r="-394"/>
          <a:stretch/>
        </p:blipFill>
        <p:spPr>
          <a:xfrm>
            <a:off x="571500" y="2667305"/>
            <a:ext cx="57607" cy="2667305"/>
          </a:xfrm>
          <a:prstGeom prst="rect">
            <a:avLst/>
          </a:prstGeom>
        </p:spPr>
      </p:pic>
      <p:pic>
        <p:nvPicPr>
          <p:cNvPr id="11" name="Image 3" descr="gen-dedup-e8281a692461573a3796506b164c006d.png"/>
          <p:cNvPicPr>
            <a:picLocks noChangeAspect="1"/>
          </p:cNvPicPr>
          <p:nvPr/>
        </p:nvPicPr>
        <p:blipFill>
          <a:blip r:embed="rId5"/>
          <a:srcRect l="-384" r="-384"/>
          <a:stretch/>
        </p:blipFill>
        <p:spPr>
          <a:xfrm>
            <a:off x="571500" y="5524805"/>
            <a:ext cx="57607" cy="9528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9525305" y="237744"/>
            <a:ext cx="952805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7"/>
          <p:cNvSpPr/>
          <p:nvPr/>
        </p:nvSpPr>
        <p:spPr>
          <a:xfrm>
            <a:off x="10573207" y="237744"/>
            <a:ext cx="1238098" cy="304495"/>
          </a:xfrm>
          <a:prstGeom prst="roundRect">
            <a:avLst>
              <a:gd name="adj" fmla="val 112613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8"/>
          <p:cNvSpPr/>
          <p:nvPr/>
        </p:nvSpPr>
        <p:spPr>
          <a:xfrm>
            <a:off x="571500" y="761695"/>
            <a:ext cx="857707" cy="857707"/>
          </a:xfrm>
          <a:prstGeom prst="roundRect">
            <a:avLst>
              <a:gd name="adj" fmla="val 42644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9"/>
          <p:cNvSpPr/>
          <p:nvPr/>
        </p:nvSpPr>
        <p:spPr>
          <a:xfrm>
            <a:off x="857707" y="3238805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857707" y="3905402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857707" y="4572000"/>
            <a:ext cx="457200" cy="4572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2"/>
          <p:cNvSpPr/>
          <p:nvPr/>
        </p:nvSpPr>
        <p:spPr>
          <a:xfrm>
            <a:off x="8287207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3"/>
          <p:cNvSpPr/>
          <p:nvPr/>
        </p:nvSpPr>
        <p:spPr>
          <a:xfrm>
            <a:off x="9239098" y="3238805"/>
            <a:ext cx="857707" cy="342900"/>
          </a:xfrm>
          <a:prstGeom prst="roundRect">
            <a:avLst>
              <a:gd name="adj" fmla="val 88889"/>
            </a:avLst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571500" y="286207"/>
            <a:ext cx="6667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CATALOG · AI 앱 · 06/06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9525305" y="295351"/>
            <a:ext cx="952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고급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149279" y="295351"/>
            <a:ext cx="66294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35분</a:t>
            </a:r>
            <a:endParaRPr lang="en-US" sz="900" dirty="0"/>
          </a:p>
        </p:txBody>
      </p:sp>
      <p:pic>
        <p:nvPicPr>
          <p:cNvPr id="23" name="Image 4" descr="gen-dedup-90b38cfd548490f50f1d8621bc6b0420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968228" y="295351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66951" y="809244"/>
            <a:ext cx="857250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06 · AI 앱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1666951" y="1076249"/>
            <a:ext cx="8572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코드 리뷰어</a:t>
            </a:r>
            <a:endParaRPr lang="en-US" sz="3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" y="1857146"/>
            <a:ext cx="112398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붙여넣기 → Claude가 버그·보안 취약점·개선 사항 분석 + 리팩토링 제안.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1057961" y="2857500"/>
            <a:ext cx="551474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YOU'LL BUILD · 만들 것</a:t>
            </a:r>
            <a:endParaRPr lang="en-US" sz="900" dirty="0"/>
          </a:p>
        </p:txBody>
      </p:sp>
      <p:pic>
        <p:nvPicPr>
          <p:cNvPr id="28" name="Image 5" descr="gen-dedup-9f4bddc0094875b34715f4e61aef5403.png"/>
          <p:cNvPicPr>
            <a:picLocks noChangeAspect="1"/>
          </p:cNvPicPr>
          <p:nvPr/>
        </p:nvPicPr>
        <p:blipFill>
          <a:blip r:embed="rId7"/>
          <a:srcRect l="-1358" r="-1358"/>
          <a:stretch/>
        </p:blipFill>
        <p:spPr>
          <a:xfrm>
            <a:off x="857707" y="2857500"/>
            <a:ext cx="142646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6756" y="3333902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붙여넣기 + 언어 자동 감지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1476756" y="4000500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버그·보안·스타일 분석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1476756" y="4667098"/>
            <a:ext cx="6191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리팩토링 제안 코드 제시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8487461" y="2857500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900" dirty="0"/>
          </a:p>
        </p:txBody>
      </p:sp>
      <p:pic>
        <p:nvPicPr>
          <p:cNvPr id="33" name="Image 6" descr="gen-dedup-7f46a170c014d5c511b5355c9de32ffe.png"/>
          <p:cNvPicPr>
            <a:picLocks noChangeAspect="1"/>
          </p:cNvPicPr>
          <p:nvPr/>
        </p:nvPicPr>
        <p:blipFill>
          <a:blip r:embed="rId8"/>
          <a:srcRect l="-1358" r="-1358"/>
          <a:stretch/>
        </p:blipFill>
        <p:spPr>
          <a:xfrm>
            <a:off x="8287207" y="2857500"/>
            <a:ext cx="142646" cy="123444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8287207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9239098" y="3286354"/>
            <a:ext cx="857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</a:t>
            </a:r>
            <a:endParaRPr lang="en-US" sz="900" dirty="0"/>
          </a:p>
        </p:txBody>
      </p:sp>
      <p:sp>
        <p:nvSpPr>
          <p:cNvPr id="36" name="Text 27"/>
          <p:cNvSpPr txBox="1"/>
          <p:nvPr/>
        </p:nvSpPr>
        <p:spPr>
          <a:xfrm>
            <a:off x="8487461" y="4286707"/>
            <a:ext cx="30385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팁</a:t>
            </a:r>
            <a:endParaRPr lang="en-US" sz="900" dirty="0"/>
          </a:p>
        </p:txBody>
      </p:sp>
      <p:pic>
        <p:nvPicPr>
          <p:cNvPr id="37" name="Image 7" descr="gen-dedup-e0861e22d9bfc29eff08b58c1159f396.png"/>
          <p:cNvPicPr>
            <a:picLocks noChangeAspect="1"/>
          </p:cNvPicPr>
          <p:nvPr/>
        </p:nvPicPr>
        <p:blipFill>
          <a:blip r:embed="rId9"/>
          <a:srcRect l="-27037" r="-27037"/>
          <a:stretch/>
        </p:blipFill>
        <p:spPr>
          <a:xfrm>
            <a:off x="8287207" y="4286707"/>
            <a:ext cx="142646" cy="123444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8287207" y="4591202"/>
            <a:ext cx="323880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내가 쓴 코드를 점검받는 </a:t>
            </a:r>
            <a:r>
              <a:rPr lang="en-US" sz="1100" dirty="0" err="1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</a:t>
            </a: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언제든 쓸 수 있는 페어 프로그래머.</a:t>
            </a:r>
            <a:endParaRPr lang="en-US" sz="1100" dirty="0"/>
          </a:p>
        </p:txBody>
      </p:sp>
      <p:sp>
        <p:nvSpPr>
          <p:cNvPr id="39" name="Text 29"/>
          <p:cNvSpPr txBox="1"/>
          <p:nvPr/>
        </p:nvSpPr>
        <p:spPr>
          <a:xfrm>
            <a:off x="1047902" y="5695798"/>
            <a:ext cx="5524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STARTER PROMPT · Cursor에 그대로 붙여넣기</a:t>
            </a:r>
            <a:endParaRPr lang="en-US" sz="900" dirty="0"/>
          </a:p>
        </p:txBody>
      </p:sp>
      <p:pic>
        <p:nvPicPr>
          <p:cNvPr id="40" name="Image 8" descr="gen-dedup-4cee558693e4b919a48b949283f8fe95.png"/>
          <p:cNvPicPr>
            <a:picLocks noChangeAspect="1"/>
          </p:cNvPicPr>
          <p:nvPr/>
        </p:nvPicPr>
        <p:blipFill>
          <a:blip r:embed="rId10"/>
          <a:srcRect l="-8400" r="-8400"/>
          <a:stretch/>
        </p:blipFill>
        <p:spPr>
          <a:xfrm>
            <a:off x="857707" y="5695798"/>
            <a:ext cx="133502" cy="11430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857707" y="5952744"/>
            <a:ext cx="114492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"AI 코드 리뷰어 만들어줘. 기능: 코드 붙여넣기 + 언어 자동 감지 · 버그·보안·스타일 분석 · 리팩토링 제안 코드 제시. 기술 스택: Streamlit + anthropic. 깔끔한 UI · 반응형 · 주석 포함."</a:t>
            </a:r>
            <a:endParaRPr lang="en-US" sz="1000" dirty="0"/>
          </a:p>
        </p:txBody>
      </p:sp>
      <p:pic>
        <p:nvPicPr>
          <p:cNvPr id="42" name="Image 9" descr="gen-dedup-7264bcf7de6be10d13d1c74e61890fc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38505" y="1028700"/>
            <a:ext cx="323698" cy="323698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857707" y="323880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Text 32"/>
          <p:cNvSpPr txBox="1"/>
          <p:nvPr/>
        </p:nvSpPr>
        <p:spPr>
          <a:xfrm>
            <a:off x="857707" y="390540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45" name="Text 33"/>
          <p:cNvSpPr txBox="1"/>
          <p:nvPr/>
        </p:nvSpPr>
        <p:spPr>
          <a:xfrm>
            <a:off x="857707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46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gen-dedup-2300e7ead5eeb8cb40f84f10d7bb16ff.png"/>
          <p:cNvPicPr>
            <a:picLocks noChangeAspect="1"/>
          </p:cNvPicPr>
          <p:nvPr/>
        </p:nvPicPr>
        <p:blipFill>
          <a:blip r:embed="rId2"/>
          <a:srcRect t="-401" b="-401"/>
          <a:stretch/>
        </p:blipFill>
        <p:spPr>
          <a:xfrm>
            <a:off x="0" y="0"/>
            <a:ext cx="12191695" cy="57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1500" y="1762049"/>
            <a:ext cx="3619195" cy="3077869"/>
          </a:xfrm>
          <a:prstGeom prst="roundRect">
            <a:avLst>
              <a:gd name="adj" fmla="val 133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381805" y="1762049"/>
            <a:ext cx="3619195" cy="3077869"/>
          </a:xfrm>
          <a:prstGeom prst="roundRect">
            <a:avLst>
              <a:gd name="adj" fmla="val 1330"/>
            </a:avLst>
          </a:prstGeom>
          <a:solidFill>
            <a:srgbClr val="F1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191195" y="1762049"/>
            <a:ext cx="3429000" cy="3077869"/>
          </a:xfrm>
          <a:prstGeom prst="roundRect">
            <a:avLst>
              <a:gd name="adj" fmla="val 1481"/>
            </a:avLst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gen-dedup-4e77c3377c6c45a4b5b45870d0212f95.png"/>
          <p:cNvPicPr>
            <a:picLocks noChangeAspect="1"/>
          </p:cNvPicPr>
          <p:nvPr/>
        </p:nvPicPr>
        <p:blipFill>
          <a:blip r:embed="rId3"/>
          <a:srcRect l="-79" r="-79"/>
          <a:stretch/>
        </p:blipFill>
        <p:spPr>
          <a:xfrm>
            <a:off x="0" y="6762902"/>
            <a:ext cx="12191695" cy="95098"/>
          </a:xfrm>
          <a:prstGeom prst="rect">
            <a:avLst/>
          </a:prstGeom>
        </p:spPr>
      </p:pic>
      <p:pic>
        <p:nvPicPr>
          <p:cNvPr id="9" name="Image 2" descr="gen-dedup-fa5a78d48d97aa8a2fad7ff5cd965593.png"/>
          <p:cNvPicPr>
            <a:picLocks noChangeAspect="1"/>
          </p:cNvPicPr>
          <p:nvPr/>
        </p:nvPicPr>
        <p:blipFill>
          <a:blip r:embed="rId4"/>
          <a:srcRect t="-4" b="-4"/>
          <a:stretch/>
        </p:blipFill>
        <p:spPr>
          <a:xfrm>
            <a:off x="571500" y="1762049"/>
            <a:ext cx="3619195" cy="571500"/>
          </a:xfrm>
          <a:prstGeom prst="rect">
            <a:avLst/>
          </a:prstGeom>
        </p:spPr>
      </p:pic>
      <p:pic>
        <p:nvPicPr>
          <p:cNvPr id="10" name="Image 3" descr="gen-dedup-52ea3339a48adf70ae2af67469ea077b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381805" y="1762049"/>
            <a:ext cx="3619195" cy="571500"/>
          </a:xfrm>
          <a:prstGeom prst="rect">
            <a:avLst/>
          </a:prstGeom>
        </p:spPr>
      </p:pic>
      <p:pic>
        <p:nvPicPr>
          <p:cNvPr id="11" name="Image 4" descr="gen-dedup-1dc5b3389365e8f7eae034604ab5264f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91195" y="1762049"/>
            <a:ext cx="3429000" cy="5715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571500" y="286207"/>
            <a:ext cx="571500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 종합 체크리스트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571500" y="619049"/>
            <a:ext cx="952530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kern="0" spc="-112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21시간을 마치며 — 다 챙겼나요?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571500" y="1238098"/>
            <a:ext cx="110496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동안 익힌 핵심 21가지 — 본인 체크해 보세요.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프론트엔드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115007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핵심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971093" y="2523744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Cursor IDE 설치 + 단축키 (⌘K · ⌘L · ⌘I)</a:t>
            </a:r>
            <a:endParaRPr lang="en-US" sz="1100" dirty="0"/>
          </a:p>
        </p:txBody>
      </p:sp>
      <p:sp>
        <p:nvSpPr>
          <p:cNvPr id="18" name="Text 11"/>
          <p:cNvSpPr txBox="1"/>
          <p:nvPr/>
        </p:nvSpPr>
        <p:spPr>
          <a:xfrm>
            <a:off x="971093" y="2804465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 · Git · GitHub 환경 구성</a:t>
            </a:r>
            <a:endParaRPr lang="en-US" sz="1100" dirty="0"/>
          </a:p>
        </p:txBody>
      </p:sp>
      <p:sp>
        <p:nvSpPr>
          <p:cNvPr id="19" name="Text 12"/>
          <p:cNvSpPr txBox="1"/>
          <p:nvPr/>
        </p:nvSpPr>
        <p:spPr>
          <a:xfrm>
            <a:off x="971093" y="3084271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 + React + TS 프로젝트 생성</a:t>
            </a:r>
            <a:endParaRPr lang="en-US" sz="1100" dirty="0"/>
          </a:p>
        </p:txBody>
      </p:sp>
      <p:sp>
        <p:nvSpPr>
          <p:cNvPr id="20" name="Text 13"/>
          <p:cNvSpPr txBox="1"/>
          <p:nvPr/>
        </p:nvSpPr>
        <p:spPr>
          <a:xfrm>
            <a:off x="971093" y="3364078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AI에게 요구사항 정의서 받기</a:t>
            </a:r>
            <a:endParaRPr lang="en-US" sz="1100" dirty="0"/>
          </a:p>
        </p:txBody>
      </p:sp>
      <p:sp>
        <p:nvSpPr>
          <p:cNvPr id="21" name="Text 14"/>
          <p:cNvSpPr txBox="1"/>
          <p:nvPr/>
        </p:nvSpPr>
        <p:spPr>
          <a:xfrm>
            <a:off x="971093" y="3643884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Component · Props · State 이해</a:t>
            </a:r>
            <a:endParaRPr lang="en-US" sz="1100" dirty="0"/>
          </a:p>
        </p:txBody>
      </p:sp>
      <p:sp>
        <p:nvSpPr>
          <p:cNvPr id="22" name="Text 15"/>
          <p:cNvSpPr txBox="1"/>
          <p:nvPr/>
        </p:nvSpPr>
        <p:spPr>
          <a:xfrm>
            <a:off x="971093" y="3923690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Router 페이지 분리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971093" y="4203497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Todo 앱 동작 + Git 첫 커밋</a:t>
            </a:r>
            <a:endParaRPr lang="en-US" sz="1100" dirty="0"/>
          </a:p>
        </p:txBody>
      </p:sp>
      <p:pic>
        <p:nvPicPr>
          <p:cNvPr id="24" name="Image 5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2588666"/>
            <a:ext cx="114300" cy="133502"/>
          </a:xfrm>
          <a:prstGeom prst="rect">
            <a:avLst/>
          </a:prstGeom>
        </p:spPr>
      </p:pic>
      <p:pic>
        <p:nvPicPr>
          <p:cNvPr id="25" name="Image 6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2868473"/>
            <a:ext cx="114300" cy="133502"/>
          </a:xfrm>
          <a:prstGeom prst="rect">
            <a:avLst/>
          </a:prstGeom>
        </p:spPr>
      </p:pic>
      <p:pic>
        <p:nvPicPr>
          <p:cNvPr id="26" name="Image 7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3148279"/>
            <a:ext cx="114300" cy="133502"/>
          </a:xfrm>
          <a:prstGeom prst="rect">
            <a:avLst/>
          </a:prstGeom>
        </p:spPr>
      </p:pic>
      <p:pic>
        <p:nvPicPr>
          <p:cNvPr id="27" name="Image 8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3428086"/>
            <a:ext cx="114300" cy="133502"/>
          </a:xfrm>
          <a:prstGeom prst="rect">
            <a:avLst/>
          </a:prstGeom>
        </p:spPr>
      </p:pic>
      <p:pic>
        <p:nvPicPr>
          <p:cNvPr id="28" name="Image 9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3707892"/>
            <a:ext cx="114300" cy="133502"/>
          </a:xfrm>
          <a:prstGeom prst="rect">
            <a:avLst/>
          </a:prstGeom>
        </p:spPr>
      </p:pic>
      <p:pic>
        <p:nvPicPr>
          <p:cNvPr id="29" name="Image 10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3987698"/>
            <a:ext cx="114300" cy="133502"/>
          </a:xfrm>
          <a:prstGeom prst="rect">
            <a:avLst/>
          </a:prstGeom>
        </p:spPr>
      </p:pic>
      <p:pic>
        <p:nvPicPr>
          <p:cNvPr id="30" name="Image 11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761695" y="4268419"/>
            <a:ext cx="114300" cy="133502"/>
          </a:xfrm>
          <a:prstGeom prst="rect">
            <a:avLst/>
          </a:prstGeom>
        </p:spPr>
      </p:pic>
      <p:sp>
        <p:nvSpPr>
          <p:cNvPr id="31" name="Text 17"/>
          <p:cNvSpPr txBox="1"/>
          <p:nvPr/>
        </p:nvSpPr>
        <p:spPr>
          <a:xfrm>
            <a:off x="4572000" y="1904695"/>
            <a:ext cx="323880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· 백엔드</a:t>
            </a:r>
            <a:endParaRPr lang="en-US" sz="900" dirty="0"/>
          </a:p>
        </p:txBody>
      </p:sp>
      <p:sp>
        <p:nvSpPr>
          <p:cNvPr id="32" name="Text 18"/>
          <p:cNvSpPr txBox="1"/>
          <p:nvPr/>
        </p:nvSpPr>
        <p:spPr>
          <a:xfrm>
            <a:off x="4572000" y="2115007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핵심</a:t>
            </a:r>
            <a:endParaRPr lang="en-US" sz="1500" dirty="0"/>
          </a:p>
        </p:txBody>
      </p:sp>
      <p:sp>
        <p:nvSpPr>
          <p:cNvPr id="33" name="Text 19"/>
          <p:cNvSpPr txBox="1"/>
          <p:nvPr/>
        </p:nvSpPr>
        <p:spPr>
          <a:xfrm>
            <a:off x="4781398" y="2523744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설계 (GET/POST/PUT/DELETE)</a:t>
            </a:r>
            <a:endParaRPr lang="en-US" sz="1100" dirty="0"/>
          </a:p>
        </p:txBody>
      </p:sp>
      <p:sp>
        <p:nvSpPr>
          <p:cNvPr id="34" name="Text 20"/>
          <p:cNvSpPr txBox="1"/>
          <p:nvPr/>
        </p:nvSpPr>
        <p:spPr>
          <a:xfrm>
            <a:off x="4781398" y="2804465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Express + 미들웨어 구성</a:t>
            </a:r>
            <a:endParaRPr lang="en-US" sz="1100" dirty="0"/>
          </a:p>
        </p:txBody>
      </p:sp>
      <p:sp>
        <p:nvSpPr>
          <p:cNvPr id="35" name="Text 21"/>
          <p:cNvSpPr txBox="1"/>
          <p:nvPr/>
        </p:nvSpPr>
        <p:spPr>
          <a:xfrm>
            <a:off x="4781398" y="3084271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 프로젝트 + 테이블 생성</a:t>
            </a:r>
            <a:endParaRPr lang="en-US" sz="1100" dirty="0"/>
          </a:p>
        </p:txBody>
      </p:sp>
      <p:sp>
        <p:nvSpPr>
          <p:cNvPr id="36" name="Text 22"/>
          <p:cNvSpPr txBox="1"/>
          <p:nvPr/>
        </p:nvSpPr>
        <p:spPr>
          <a:xfrm>
            <a:off x="4781398" y="3364078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RLS 정책으로 본인 데이터만 접근</a:t>
            </a:r>
            <a:endParaRPr lang="en-US" sz="1100" dirty="0"/>
          </a:p>
        </p:txBody>
      </p:sp>
      <p:sp>
        <p:nvSpPr>
          <p:cNvPr id="37" name="Text 23"/>
          <p:cNvSpPr txBox="1"/>
          <p:nvPr/>
        </p:nvSpPr>
        <p:spPr>
          <a:xfrm>
            <a:off x="4781398" y="3643884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 회원가입/로그인 구현</a:t>
            </a:r>
            <a:endParaRPr lang="en-US" sz="1100" dirty="0"/>
          </a:p>
        </p:txBody>
      </p:sp>
      <p:sp>
        <p:nvSpPr>
          <p:cNvPr id="38" name="Text 24"/>
          <p:cNvSpPr txBox="1"/>
          <p:nvPr/>
        </p:nvSpPr>
        <p:spPr>
          <a:xfrm>
            <a:off x="4781398" y="3923690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Google/Kakao OAuth 연동</a:t>
            </a:r>
            <a:endParaRPr lang="en-US" sz="1100" dirty="0"/>
          </a:p>
        </p:txBody>
      </p:sp>
      <p:sp>
        <p:nvSpPr>
          <p:cNvPr id="39" name="Text 25"/>
          <p:cNvSpPr txBox="1"/>
          <p:nvPr/>
        </p:nvSpPr>
        <p:spPr>
          <a:xfrm>
            <a:off x="4781398" y="4203497"/>
            <a:ext cx="30294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AuthGuard로 보호된 라우트</a:t>
            </a:r>
            <a:endParaRPr lang="en-US" sz="1100" dirty="0"/>
          </a:p>
        </p:txBody>
      </p:sp>
      <p:pic>
        <p:nvPicPr>
          <p:cNvPr id="40" name="Image 12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2588666"/>
            <a:ext cx="114300" cy="133502"/>
          </a:xfrm>
          <a:prstGeom prst="rect">
            <a:avLst/>
          </a:prstGeom>
        </p:spPr>
      </p:pic>
      <p:pic>
        <p:nvPicPr>
          <p:cNvPr id="41" name="Image 13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2868473"/>
            <a:ext cx="114300" cy="133502"/>
          </a:xfrm>
          <a:prstGeom prst="rect">
            <a:avLst/>
          </a:prstGeom>
        </p:spPr>
      </p:pic>
      <p:pic>
        <p:nvPicPr>
          <p:cNvPr id="42" name="Image 14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3148279"/>
            <a:ext cx="114300" cy="133502"/>
          </a:xfrm>
          <a:prstGeom prst="rect">
            <a:avLst/>
          </a:prstGeom>
        </p:spPr>
      </p:pic>
      <p:pic>
        <p:nvPicPr>
          <p:cNvPr id="43" name="Image 15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3428086"/>
            <a:ext cx="114300" cy="133502"/>
          </a:xfrm>
          <a:prstGeom prst="rect">
            <a:avLst/>
          </a:prstGeom>
        </p:spPr>
      </p:pic>
      <p:pic>
        <p:nvPicPr>
          <p:cNvPr id="44" name="Image 16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3707892"/>
            <a:ext cx="114300" cy="133502"/>
          </a:xfrm>
          <a:prstGeom prst="rect">
            <a:avLst/>
          </a:prstGeom>
        </p:spPr>
      </p:pic>
      <p:pic>
        <p:nvPicPr>
          <p:cNvPr id="45" name="Image 17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3987698"/>
            <a:ext cx="114300" cy="133502"/>
          </a:xfrm>
          <a:prstGeom prst="rect">
            <a:avLst/>
          </a:prstGeom>
        </p:spPr>
      </p:pic>
      <p:pic>
        <p:nvPicPr>
          <p:cNvPr id="46" name="Image 18" descr="gen-dedup-dfe4ab115b6492fee4980c2b4927d0ee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4572000" y="4268419"/>
            <a:ext cx="114300" cy="133502"/>
          </a:xfrm>
          <a:prstGeom prst="rect">
            <a:avLst/>
          </a:prstGeom>
        </p:spPr>
      </p:pic>
      <p:sp>
        <p:nvSpPr>
          <p:cNvPr id="47" name="Text 26"/>
          <p:cNvSpPr txBox="1"/>
          <p:nvPr/>
        </p:nvSpPr>
        <p:spPr>
          <a:xfrm>
            <a:off x="8382305" y="1904695"/>
            <a:ext cx="3048610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3 · 데이터 + AI</a:t>
            </a:r>
            <a:endParaRPr lang="en-US" sz="900" dirty="0"/>
          </a:p>
        </p:txBody>
      </p:sp>
      <p:sp>
        <p:nvSpPr>
          <p:cNvPr id="48" name="Text 27"/>
          <p:cNvSpPr txBox="1"/>
          <p:nvPr/>
        </p:nvSpPr>
        <p:spPr>
          <a:xfrm>
            <a:off x="8382305" y="2115007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핵심</a:t>
            </a:r>
            <a:endParaRPr lang="en-US" sz="1500" dirty="0"/>
          </a:p>
        </p:txBody>
      </p:sp>
      <p:sp>
        <p:nvSpPr>
          <p:cNvPr id="49" name="Text 28"/>
          <p:cNvSpPr txBox="1"/>
          <p:nvPr/>
        </p:nvSpPr>
        <p:spPr>
          <a:xfrm>
            <a:off x="8591702" y="2523744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설치 + 첫 앱 실행</a:t>
            </a:r>
            <a:endParaRPr lang="en-US" sz="1100" dirty="0"/>
          </a:p>
        </p:txBody>
      </p:sp>
      <p:sp>
        <p:nvSpPr>
          <p:cNvPr id="50" name="Text 29"/>
          <p:cNvSpPr txBox="1"/>
          <p:nvPr/>
        </p:nvSpPr>
        <p:spPr>
          <a:xfrm>
            <a:off x="8591702" y="2804465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핵심 6요소 이해</a:t>
            </a:r>
            <a:endParaRPr lang="en-US" sz="1100" dirty="0"/>
          </a:p>
        </p:txBody>
      </p:sp>
      <p:sp>
        <p:nvSpPr>
          <p:cNvPr id="51" name="Text 30"/>
          <p:cNvSpPr txBox="1"/>
          <p:nvPr/>
        </p:nvSpPr>
        <p:spPr>
          <a:xfrm>
            <a:off x="8591702" y="3084271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위젯 8개 + 레이아웃 사용</a:t>
            </a:r>
            <a:endParaRPr lang="en-US" sz="1100" dirty="0"/>
          </a:p>
        </p:txBody>
      </p:sp>
      <p:sp>
        <p:nvSpPr>
          <p:cNvPr id="52" name="Text 31"/>
          <p:cNvSpPr txBox="1"/>
          <p:nvPr/>
        </p:nvSpPr>
        <p:spPr>
          <a:xfrm>
            <a:off x="8591702" y="3364078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CSV 업로드 + pandas 분석</a:t>
            </a:r>
            <a:endParaRPr lang="en-US" sz="1100" dirty="0"/>
          </a:p>
        </p:txBody>
      </p:sp>
      <p:sp>
        <p:nvSpPr>
          <p:cNvPr id="53" name="Text 32"/>
          <p:cNvSpPr txBox="1"/>
          <p:nvPr/>
        </p:nvSpPr>
        <p:spPr>
          <a:xfrm>
            <a:off x="8591702" y="3643884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데이터 대시보드 완성</a:t>
            </a:r>
            <a:endParaRPr lang="en-US" sz="1100" dirty="0"/>
          </a:p>
        </p:txBody>
      </p:sp>
      <p:sp>
        <p:nvSpPr>
          <p:cNvPr id="54" name="Text 33"/>
          <p:cNvSpPr txBox="1"/>
          <p:nvPr/>
        </p:nvSpPr>
        <p:spPr>
          <a:xfrm>
            <a:off x="8591702" y="3923690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API 연동 챗봇</a:t>
            </a:r>
            <a:endParaRPr lang="en-US" sz="1100" dirty="0"/>
          </a:p>
        </p:txBody>
      </p:sp>
      <p:sp>
        <p:nvSpPr>
          <p:cNvPr id="55" name="Text 34"/>
          <p:cNvSpPr txBox="1"/>
          <p:nvPr/>
        </p:nvSpPr>
        <p:spPr>
          <a:xfrm>
            <a:off x="8591702" y="4203497"/>
            <a:ext cx="283921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Streamlit Cloud 무료 배포 + URL 공유</a:t>
            </a:r>
            <a:endParaRPr lang="en-US" sz="1100" dirty="0"/>
          </a:p>
        </p:txBody>
      </p:sp>
      <p:pic>
        <p:nvPicPr>
          <p:cNvPr id="56" name="Image 19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2588666"/>
            <a:ext cx="114300" cy="133502"/>
          </a:xfrm>
          <a:prstGeom prst="rect">
            <a:avLst/>
          </a:prstGeom>
        </p:spPr>
      </p:pic>
      <p:pic>
        <p:nvPicPr>
          <p:cNvPr id="57" name="Image 20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2868473"/>
            <a:ext cx="114300" cy="133502"/>
          </a:xfrm>
          <a:prstGeom prst="rect">
            <a:avLst/>
          </a:prstGeom>
        </p:spPr>
      </p:pic>
      <p:pic>
        <p:nvPicPr>
          <p:cNvPr id="58" name="Image 21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3148279"/>
            <a:ext cx="114300" cy="133502"/>
          </a:xfrm>
          <a:prstGeom prst="rect">
            <a:avLst/>
          </a:prstGeom>
        </p:spPr>
      </p:pic>
      <p:pic>
        <p:nvPicPr>
          <p:cNvPr id="59" name="Image 22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3428086"/>
            <a:ext cx="114300" cy="133502"/>
          </a:xfrm>
          <a:prstGeom prst="rect">
            <a:avLst/>
          </a:prstGeom>
        </p:spPr>
      </p:pic>
      <p:pic>
        <p:nvPicPr>
          <p:cNvPr id="60" name="Image 23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3707892"/>
            <a:ext cx="114300" cy="133502"/>
          </a:xfrm>
          <a:prstGeom prst="rect">
            <a:avLst/>
          </a:prstGeom>
        </p:spPr>
      </p:pic>
      <p:pic>
        <p:nvPicPr>
          <p:cNvPr id="61" name="Image 24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3987698"/>
            <a:ext cx="114300" cy="133502"/>
          </a:xfrm>
          <a:prstGeom prst="rect">
            <a:avLst/>
          </a:prstGeom>
        </p:spPr>
      </p:pic>
      <p:pic>
        <p:nvPicPr>
          <p:cNvPr id="62" name="Image 25" descr="gen-dedup-7b963d3465d61c2d1c7d9d8adcff8681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8382305" y="4268419"/>
            <a:ext cx="114300" cy="133502"/>
          </a:xfrm>
          <a:prstGeom prst="rect">
            <a:avLst/>
          </a:prstGeom>
        </p:spPr>
      </p:pic>
      <p:sp>
        <p:nvSpPr>
          <p:cNvPr id="63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6620256"/>
            <a:ext cx="6096305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6096305" y="6620256"/>
            <a:ext cx="6096305" cy="237744"/>
          </a:xfrm>
          <a:prstGeom prst="rect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75829" y="352044"/>
            <a:ext cx="1143000" cy="1143000"/>
          </a:xfrm>
          <a:prstGeom prst="ellipse">
            <a:avLst/>
          </a:prstGeom>
          <a:solidFill>
            <a:srgbClr val="90C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58500" y="4953305"/>
            <a:ext cx="571500" cy="571500"/>
          </a:xfrm>
          <a:prstGeom prst="ellipse">
            <a:avLst/>
          </a:prstGeom>
          <a:solidFill>
            <a:srgbClr val="1A36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828534" y="1266444"/>
            <a:ext cx="457200" cy="45720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gen-dedup-679ba634107d6f839efc1b871e0e18ac.png"/>
          <p:cNvPicPr>
            <a:picLocks noChangeAspect="1"/>
          </p:cNvPicPr>
          <p:nvPr/>
        </p:nvPicPr>
        <p:blipFill>
          <a:blip r:embed="rId2"/>
          <a:srcRect l="-404" r="-404"/>
          <a:stretch/>
        </p:blipFill>
        <p:spPr>
          <a:xfrm>
            <a:off x="571500" y="4714646"/>
            <a:ext cx="571500" cy="2834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71500" y="1524305"/>
            <a:ext cx="9525305" cy="13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0" b="1" kern="0" spc="-375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105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3238805"/>
            <a:ext cx="95253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바이브코딩은 끝이 아니라 시작입니다.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3718865"/>
            <a:ext cx="9525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3일 동안 익힌 것을 — 내일 업무부터 적용해 보세요.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작은 자동화 한 개부터 시작하세요. 그게 누적되면 1년 뒤 큰 차이가 됩니다.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9905" y="4953305"/>
            <a:ext cx="3143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분량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09905" y="5152644"/>
            <a:ext cx="3143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21시간 · 3일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09905" y="5467198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24선 카탈로그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609905" y="5691226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 + Streamlit + AI 풀스택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095598" y="4905756"/>
            <a:ext cx="3143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대상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095598" y="5105095"/>
            <a:ext cx="3143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 임직원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095598" y="5419649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비개발자 포함 · 대면 실습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4095598" y="5643677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전력 데이터 예제 포함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619695" y="4905756"/>
            <a:ext cx="31437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강의명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619695" y="5105095"/>
            <a:ext cx="3143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36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Code와 함께하는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619695" y="5419649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풀스택 바이브코딩 3일 워크숍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677302" y="5643677"/>
            <a:ext cx="3086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C757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만남에서도 — Keep coding!</a:t>
            </a:r>
            <a:endParaRPr lang="en-US" sz="900" dirty="0"/>
          </a:p>
        </p:txBody>
      </p:sp>
      <p:sp>
        <p:nvSpPr>
          <p:cNvPr id="25" name="deckgen:wrap:footer"/>
          <p:cNvSpPr txBox="1"/>
          <p:nvPr/>
        </p:nvSpPr>
        <p:spPr>
          <a:xfrm>
            <a:off x="365760" y="6549390"/>
            <a:ext cx="11460480" cy="24003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853440" y="2057400"/>
            <a:ext cx="97536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853440" y="116586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853440" y="1440180"/>
            <a:ext cx="1048512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853440" y="2400300"/>
            <a:ext cx="104851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853440" y="6240780"/>
            <a:ext cx="1048512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E074111-B3DD-4C03-BA74-C7C5FA3E36FE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061fdf2-6532-4caa-9e1a-e8efcb41ea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15897</Words>
  <Application>Microsoft Office PowerPoint</Application>
  <PresentationFormat>와이드스크린</PresentationFormat>
  <Paragraphs>2624</Paragraphs>
  <Slides>102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102</vt:i4>
      </vt:variant>
    </vt:vector>
  </HeadingPairs>
  <TitlesOfParts>
    <vt:vector size="107" baseType="lpstr">
      <vt:lpstr>JetBrains Mono</vt:lpstr>
      <vt:lpstr>Nanum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수라 이</cp:lastModifiedBy>
  <cp:revision>6</cp:revision>
  <dcterms:created xsi:type="dcterms:W3CDTF">2026-05-18T04:51:56Z</dcterms:created>
  <dcterms:modified xsi:type="dcterms:W3CDTF">2026-05-19T00:42:13Z</dcterms:modified>
</cp:coreProperties>
</file>