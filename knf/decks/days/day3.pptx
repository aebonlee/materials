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· 2026. 10. 14. (수)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3일차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선정한 공정에서 「왜」를 찾습니다. 오전에는 전통 품질 기법과 생성형 AI 를 엮어 불량 기록·설비 로그·공정 조건을 분석하고, 오후에는 원인 후보를 MECE 로 정리해 사실과 추정을 나누고 검증 계획을 세웁니다.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기법과 생성형 AI — 5Why·특성요인도·4M1E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유형 분석 — 불량 기록을 층별로 쪼개 보기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로그 분석 — 알람 기록에서 사건 타임라인 만들기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작업·공정 조건별 영향도 추론 — 온도·로트·교대·습도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잠재 원인 후보군 도출 — AI 와 함께 넓게 펼치기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분류 — 4M1E 로직 트리로 정리하기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 — 근거 데이터 연결하기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가설 검증 계획과 시나리오 수립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개요 · 2026. 10. 14. (수)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구별하고 AI 와 현장의 역할을 나눈다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설비·기간·유형으로 층별 분석하고 설비 로그로 사건 타임라인을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온도·원료 로트·교대·습도 등 조건별 영향 크기를 비교해 근거 있는 가설 문장으로 정리한다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4M1E 갈래별 원인 후보를 넓게 펼치고 MECE 로직 트리로 정리한다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파일·열·숫자 근거를 연결해 사실·추정·반증을 판정한다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「만약 ~라면」 가설과 판정 기준·시나리오를 담은 가설 검증 계획을 세운다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5Why·특성요인도·4M1E·FMEA 등 현장에서 써 온 원인 분석 틀에 생성형 AI 를 결합합니다. 불량 유형, 설비 알람 로그, 작업·공정 조건 데이터를 층별로 쪼개 영향도를 추론합니다.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전통 제조 기법과 생성형 AI의 연계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전통 품질 기법이 각각 어떤 질문에 답하는지 정리하고, AI 를 「빠뜨린 원인을 넓히는 동료」로 써서 기법의 빈칸을 채우는 방법을 익힙니다.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불량 유형, 로그 분석 등을 통한 작업·공정 조건별 영향도 추론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유형·설비·기간으로 층별 분석하고, 알람 로그에서 사건 타임라인을 만들고, 온도·원료 로트·교대·습도 등 조건별로 불량에 미친 영향의 크기를 비교·추론합니다.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전통 품질 기법과 생성형 AI  ·  2교시 불량 유형 분석  ·  3교시 설비 로그 분석  ·  4교시 작업·공정 조건별 영향도 추론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원인 후보를 넓게 펼친 뒤 중복·누락 없이(MECE) 분류합니다. 후보마다 근거 데이터를 연결해 사실과 추정을 나누고, 무엇을 어떻게 확인할지 검증 계획과 시나리오를 세웁니다.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잠재적 원인 후보군 도출 및 MECE 기준 분류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사람·설비·자재·방법·측정·환경(4M1E) 관점으로 원인 후보를 펼치고, 로직 트리로 중복·누락 없이 묶어 팀의 원인 후보 MECE 표를 만듭니다.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데이터 기반의 사실·추정 구분을 통한 원인 가설 검증 계획 및 시나리오 수립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후보에 「데이터로 확인됨 / 정황 있음 / 근거 없음」을 붙여 사실과 추정을 구분하고, 추가 데이터·현장 확인·비교 실험으로 가설을 검증하는 계획과 결과별 시나리오를 수립합니다.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잠재 원인 후보군 도출  ·  6교시 MECE 분류  ·  7교시 사실과 추정 구분  ·  8교시 원인 가설 검증 계획과 시나리오 수립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전통 품질 기법과 생성형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5Why·특성요인도·4M1E·QC 7도구·FMEA 의 쓰임을 구별한다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가설을 펼치고, 판정은 데이터와 현장이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 특성요인도 초안을 AI 로 받아 현장 지식으로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어제 찾은 「SF-02 가 8/10 무렵부터 나빠졌다」에서 「왜」로 들어갑니다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도구마다 맡은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원인분석 기법 다섯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답하는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일어났나 — 한 줄기를 끝까지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사슬 한 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후보가 어디어디 있을 수 있나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지도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나눌 칸은 무엇인가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범주별 후보 목록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QC 7도구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무엇을 볼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표·그래프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FMEA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일어난 고장을 미리 막으려면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우선순위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하나로 다 하려 하지 말고, 질문에 맞는 도구를 고른다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「왜?」를 거듭 물어 대책이 나오는 깊이까지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기계 정지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과부하로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퓨즈 끊어짐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윤활 부족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베어링에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기름이 모자람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펌프 불량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윤활 펌프가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제대로 안 돎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 마모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펌프 축이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닳았다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거름망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쇳가루가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약점: 첫 대답이 틀리면 아래가 다 틀린다 — 대답마다 [사실]/[추정] 표시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널리 알려진 예 — 퓨즈를 가는 대신 거름망을 다는 대책이 나온다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특성요인도 · 4M1E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생선 뼈의 큰 뼈 = 서랍 다섯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소결에서 떠올릴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작업자·교대·작업 준수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장입 방법, 교대 습관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설비·계측기·보전 상태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히터, 열전대, 보전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원료·로트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로트, 분말 특성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작업표준·공정 조건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프로파일, 유지 시간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온도·습도 등 주변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계절, 성형실 습도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측정(Measurement)을 한 칸 더 두는 5M1E·6M 도 있다 — 오늘은 측정 칸을 따로 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QC 7도구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데이터를 보는 기본 공구 일곱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체크시트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0500" y="28717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8717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현장에서 빠르게 세어 기록 — 불량 기록이 그 결과물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052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052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파레토도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0500" y="36052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86250" y="36052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것부터 차례로 늘어놓아 중요한 소수 찾기 — 2일차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3386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3386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특성요인도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0500" y="43386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86250" y="43386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후보를 범주별로 펼치기 — 오늘 1교시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07206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07206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0500" y="507206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507206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값이 퍼진 모양 보기 — 2일차 Cpk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548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80548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0500" y="580548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86250" y="580548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값이 함께 움직이는지 — 2일차 상관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538912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538912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0500" y="6538912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86250" y="6538912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설비·교대·로트로 나눠 비교 — 오늘 2·4교시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7272338"/>
            <a:ext cx="2857500" cy="61912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09700" y="7272338"/>
            <a:ext cx="2324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그래프·관리도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0500" y="7272338"/>
            <a:ext cx="13144500" cy="6191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7272338"/>
            <a:ext cx="12573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시간에 따른 변화와 이상 신호 — 2일차 추세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FMEA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안 일어난 고장을 미리 막는 예방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심각도 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고장이 나면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큰 피해인가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발생도 O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 자주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일어날 수 있나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검출도 D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 전에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잡아낼 수 있나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RPN(S×O×D) → AP 조치 우선순위(AIAG·VDA, 2019) — 오늘 찾은 원인은 재발 방지 때 한 줄로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생성형 AI 와 연계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펼치기는 AI, 판정은 데이터와 현장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— 발산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후보를 빠르고 넓게 펼치는 브레인스토밍 파트너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 만에 여섯 칸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놓친 칸을 채운다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우리 공장 사정은 모른다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데이터·현장 — 수렴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그럴듯한 후보 중 실제 원인을 가려낸다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숫자로 확인 안 되면 가설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 변경점은 현장만 안다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목록은 정답이 아닌 후보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균열로 세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올리지 않습니다 — 공정 설명만으로 후보를 펼칩니다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AI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6칸 특성요인도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확인 방법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4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04000" y="3924300"/>
            <a:ext cx="50800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4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현장 수정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3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○ 확인 가능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△ 현장 · × 해당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65000" y="3924300"/>
            <a:ext cx="508000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65000" y="3924300"/>
            <a:ext cx="50800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5000" y="4171950"/>
            <a:ext cx="508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5Why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74550" y="5143500"/>
            <a:ext cx="46609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묻고 팀이 답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[추정]에서 멈춤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넓게 펼치는 특성요인도, 깊게 파는 5Why — 펼친 뒤 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목록은 후보 목록 — 원인은 데이터로 확인한 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「최근에 바뀐 것」을 따로 적는다 — 시작 날짜와 겹치는 변경점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칸을 따로 두어야 계측기·센서 문제가 떠오른다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공정 조건·설비 사양은 AI 대화창에 적지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불량 유형 분석 (2교시)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설비 × 8/10 전/후 × 불량유형으로 쪼개, 무엇이 가장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열 만들기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 피벗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바꿔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특성요인도와 5Why [추정] 확인 목록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기록을 층별로 쪼개 보기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× 8/10 전/후 × 불량유형으로 쪼개고 일평균으로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불량 유형을 숫자로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메모를 AI 로 분류하고 건수를 Excel 로 다시 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유형은 원인으로 가는 첫 번째 단서입니다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04 불량 기록 + 02 생산일지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04_defect_log.xlsx 의 DEFECT 시트 3,224행에서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기간구분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K열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유형 피벗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8/10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불량유형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일평균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증가 배수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교대·로트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비고 분류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분류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 검증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기간구분 수식과 피벗 배치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K2 수식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24814" y="27813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214" y="27813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=IF(--A2&gt;=DATE(2026,8,10),"8/10후","8/10전")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24814" y="34290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214" y="34290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= 소결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24814" y="40767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214" y="40767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24814" y="47244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214" y="47244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→ 기간구분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0818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24814" y="5372100"/>
            <a:ext cx="14920186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77214" y="5372100"/>
            <a:ext cx="146153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수량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-- 는 글자로 저장된 날짜(2026-07-01)를 날짜 숫자로 바꿔 준다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피벗 합계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유형별 수량 합계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962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43250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3688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4125" y="2781300"/>
            <a:ext cx="34623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644562" y="2781300"/>
            <a:ext cx="350043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3250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43688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8938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1,093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4125" y="34480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39375" y="34480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644562" y="34480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739812" y="34480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38500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2,187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43688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38938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1,587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44125" y="41719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39375" y="41719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644562" y="41719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39812" y="41719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43250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38500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1,661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643688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8938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44125" y="48958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39375" y="48958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44562" y="48958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39812" y="48958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143250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38500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1,034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43688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8938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534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144125" y="56197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239375" y="56197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644562" y="56197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739812" y="56197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343650"/>
            <a:ext cx="196215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343650"/>
            <a:ext cx="177165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43250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8500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6,981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43688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738938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4,097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144125" y="6343650"/>
            <a:ext cx="34623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39375" y="6343650"/>
            <a:ext cx="32718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6,313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644562" y="6343650"/>
            <a:ext cx="350043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739812" y="6343650"/>
            <a:ext cx="330993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8,791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확인용 — SF-02 8/10후 8,791 · 8/10전 6,313 이 나와야 한다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합계로 비교하면 SF-01 이 좋아진 것처럼 보인다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그대로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후 22일은 8/10 전 40일의 절반 남짓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3449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689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2,099 → 1,093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3449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689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절반으로 줄었다?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÷40일 · ÷22일 해야 비교가 된다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균열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264146" y="4838700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16546" y="4838700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52.5 → 49.7개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1243846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264146" y="5400675"/>
            <a:ext cx="5633204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16546" y="5400675"/>
            <a:ext cx="5328404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 0.95배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일평균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뒤 가장 많이 늘어난 유형은 균열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4448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558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0118" y="2781300"/>
            <a:ext cx="3256429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4647" y="2781300"/>
            <a:ext cx="37270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 배수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379824" y="2781300"/>
            <a:ext cx="3765176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 배수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2558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2083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45.7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20118" y="34480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5368" y="34480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160.7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14647" y="34480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09897" y="34480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3.5배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379824" y="34480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75074" y="34480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2558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2083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51.1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20118" y="41719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368" y="41719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132.6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4647" y="41719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09897" y="41719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79824" y="41719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475074" y="41719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2558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083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37.6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20118" y="48958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15368" y="48958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14647" y="48958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9897" y="48958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379824" y="48958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475074" y="48958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0.97배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1844488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165398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2558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2083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23.5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20118" y="5619750"/>
            <a:ext cx="3256429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5368" y="5619750"/>
            <a:ext cx="3065929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25.9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614647" y="5619750"/>
            <a:ext cx="37270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09897" y="5619750"/>
            <a:ext cx="35365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379824" y="5619750"/>
            <a:ext cx="3765176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475074" y="5619750"/>
            <a:ext cx="3574676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0.94배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8/10후 불량 8,791개 중 균열 3,535개(40.2%) — 8/10 전 비중 28.9%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교대·로트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불량률은 생산일지(02)에서 계산 필드로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층별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 / 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 / 2.50%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 / 3.62%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(8/9~8/20)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 (8/21~)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계산 필드 불량률 = (생산수량-양품수량)/생산수량 — 결론은 4교시에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비고 분류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메모 140행을 주제로 묶기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설비·유형·기간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열·온도 관련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균열 · 8/10~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관련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소결로 밀도미달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 습도 관련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 밀도불균일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「느낌」「의심」「작업자 의견」은 추정 — 사실과 나눠 표시한다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피벗 합계 SF-02 8/10후 8,791 · 8/10전 6,313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일평균으로 비교 — SF-02 균열 45.7 → 160.7개(3.5배)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대조 — 균열 0.95배 · 밀도미달 1.3배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로트별 불량률 SF-01 L-0809 2.72% · SF-02 L-0821 6.61%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비고 분류 건수를 COUNTIFS 로 다시 세어 합계 140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2교시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2교시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설비 로그 분석 (3교시)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「TC-3 지시값 확인 필요」는 무엇을 뜻할까요 — 알람 로그에서 사건 타임라인을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597행 구조 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로그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건수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층별표 · 교대·로트표 · 비고 분류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로그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기록에서 사건 타임라인 만들기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로그를 AI 로 요약하고 건수를 Excel 피벗으로 검증한다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알람을 시간순으로 늘어놓아 사건 타임라인을 만든다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타임라인의 단서를 사실과 가설로 나눠 가설 문장으로 적는다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원칙 — AI 가 요약하고, Excel 이 센다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로그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05_equipment_alarm_log.csv — 597행 × 5열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값의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timestamp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날짜와 시각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2026-08-10 09:12:05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equipment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SF-02, GR-01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level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160 · WARN 420 · ALARM 17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등급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종류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S-301, G-310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6842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6652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읽는 설명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3436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3436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온도 편차 경고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이벤트 로그는 일이 많을수록 줄이 많아진다 — 건수 자체가 신호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요약, 검증, 타임라인, 가설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한글이 깨지면 데이터 → 텍스트/CSV에서 → 65001: 유니코드(UTF-8)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level·code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요약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첨부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기준일 8/10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피벗 검증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× 코드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× PM구분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타임라인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 · S-9xx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가설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· 확인할 기록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피벗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온도 알람이 PM 뒤에 몰렸다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PM전 40일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PM후 22일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S-301 TC-3 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9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S-302 히터 보정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S-305 프로파일 이탈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S-120 대차 위치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S-301 TC-3 편차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63436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9250" y="63436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3436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3436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F2: =IF(INT(--A2)&gt;=DATE(2026,8,10),"PM후","PM전") — 일자 단위로 나눈다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읽는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기간을 맞추면 차이가 선명하다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알람 6건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 0.15건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PM 후 SF-02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온도 알람 61건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하루 약 2.8건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기간 SF-01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3건 → 4건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그대로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로그 전체 ALARM 등급 17건 = 전부 SF-02 S-305, 8/10 이후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사건 타임라인 핵심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2781300"/>
            <a:ext cx="9921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메시지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7/13 ~ 7/28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4480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9010" y="34480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편차 경고 6건 ±9~10°C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09:12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433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433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41433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9010" y="41433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시작 — 열전대 TC-3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15:40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3870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3870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3760" y="483870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9010" y="483870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완료 (교정 기록 미입력)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16:10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53402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53402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23760" y="553402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9010" y="553402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30분 뒤 ±10°C 경고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20:34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229350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229350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0" y="6229350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9010" y="6229350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프로파일 이탈 편차 15°C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~ 8/31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63440" y="6924675"/>
            <a:ext cx="25222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8690" y="6924675"/>
            <a:ext cx="23317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S-3xx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23760" y="6924675"/>
            <a:ext cx="9921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9010" y="6924675"/>
            <a:ext cx="9730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22일 중 21일 · 10~19°C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8/10 SF-02 온도 알람은 모두 재가동(15:40) 뒤 — 일자 피벗과 시각 타임라인이 같은 이야기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조건을 빼고 물으면 다른 숫자가 나온다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「S-301 몇 건?」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 전체를 세어 SF-01 까지 섞인다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7135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2375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41건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섞인 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135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2375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7건 · PM 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설비·기간까지 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「SF-02, 8/10 이후 S-301 몇 건?」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 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901005" y="4838700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53405" y="4838700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28건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5400675"/>
            <a:ext cx="88070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01005" y="5400675"/>
            <a:ext cx="599634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53405" y="5400675"/>
            <a:ext cx="569154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조건을 빠짐없이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— 가설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 누락 의심」은 아직 가설이다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로그로 확인된 사실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교체 · 「교정 기록 미입력」 · 이후 온도 알람 61건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아직 추정인 부분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교정을 실제로 안 했는지(기록만 빠졌을 수도) · 균열로 이어졌는지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보전 작업 지시서 · 교정 성적서 · 열전대 사양 · 담당자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7·8교시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597행 · INFO 160 · WARN 420 · ALARM 17 을 Excel 로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PM후 S-301 28 · S-302 16 · S-305 17 — AI 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타임라인에 8/10 09:12 · 15:40 · 16:10 세 줄이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교정 누락을 사실이 아닌 가설로 적었다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설명 안 되는 행은 지우지 않고 확인 질문으로 남겼다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업로드 대신 SF_ALARM 151행 붙여넣기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 597행을 올려 요약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코드별 건수 집계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피벗으로 건수 재확인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08_paste_pack 의 SF_ALARM 복사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두 대만 151행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「첨부한 CSV」→「붙여 넣은 표」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건수는 피벗으로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3교시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조건별 영향도 추론 (4교시)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 — 같은 조건끼리 비교해 영향 크기 순으로 늘어놓습니다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온도편차와 PM — 대조군 SF-01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— 부원인인가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교대·습도 — 작거나 가짜인 영향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영향도 표를 AI 로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피벗 · 타임라인 · 가설 문장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AI 기반 원인분석 프레임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작업·공정 조건별 영향도 추론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온도·로트·교대·습도를 같은 조건끼리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 싶은 조건 하나만 다른 짝을 찾아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조건의 영향 크기를 %p 와 상관계수로 표에 담는다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크기 순 정리와 반론 점검을 맡기고 숫자를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일이 8월에 함께 일어났습니다 — 무엇이 얼마나인지 가립니다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조건끼리 비교 — 짝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짝 지을 두 무리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같게 맞춘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PM(온도편차)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시기(8월)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433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433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PM 전 vs 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433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433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3870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3870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3870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3870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대조군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53402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53402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L-0809 vs L-0821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53402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53402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PM 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229350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229350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설비 주간 vs 야간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229350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229350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0" y="6924675"/>
            <a:ext cx="700278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8770" y="6924675"/>
            <a:ext cx="68122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만의 상관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344400" y="6924675"/>
            <a:ext cx="48006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439650" y="6924675"/>
            <a:ext cx="46101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 없는 설비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실험실처럼 조건을 바꿀 수 없으니, 쌓인 데이터 안에서 짝을 찾는다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— 온도편차와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온도편차가 커지고 불량률이 뛰었다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온도편차 전→후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전→후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(대조)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6.7 → 6.5°C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 → 2.49%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+0.18%p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 → 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8월이라는 시기 영향은 약 0.18%p · 나머지 약 4.2%p 는 SF-02 변화와 함께 · r 0.95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원료 로트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는 부원인 후보 — 작지만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문제가 없는 설비에서 로트끼리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로트 교체 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로트를 바꿔도 내려가지 않았다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42630" y="483870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95030" y="483870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42630" y="5400675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95030" y="5400675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2233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42630" y="5962650"/>
            <a:ext cx="5854720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95030" y="5962650"/>
            <a:ext cx="5549920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아님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교대와 습도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작은 영향과 가짜 상관 걸러내기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+0.25%p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+0.30%p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합치면 r 0.21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 0.11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숙련도는 추정 — 냉간 재시작(온도편차)도 후보 · 습도는 성형의 별개 과제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결과물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영향 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온도편차(SF-02 PM 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+4.39%p · r 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 후보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후보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교대(야간)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+0.25~0.30%p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상시 영향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r 0.11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가짜 상관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성형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0.80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3436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3436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별개 과제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오후 5교시 잠재 원인 후보군 도출의 입력이 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— AI 로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때 함께 요청할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크기 순 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· 조건 · 근거 숫자 · 비교 방법 ·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표의 숫자만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새로 계산한 값은 계산식을 함께 — 한 글자씩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교란 짚기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기간과 PM 시점처럼 시기가 겹친 조합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반론 점검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판정이 틀렸다면 어떤 데이터가 나와야 하나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영향을 SF-02 에서 재면 속는다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에서 비교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L-0809 기간이 PM 시점과 겹쳐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3598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838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이전 로트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3598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838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2.03~2.11%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착각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3598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8838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로트가 주원인?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비교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시기가 정해진 조건은 대조군에서 잰다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L-0809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065639" y="483870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18039" y="483870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다른 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065639" y="5400675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18039" y="5400675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2.24~2.35%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1045339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065639" y="5962650"/>
            <a:ext cx="5831711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218039" y="5962650"/>
            <a:ext cx="5526911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+0.4~0.5%p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조건마다 무엇을 같게 맞췄는지 비교 방법을 적었다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6.0 → 16.6°C · +4.39%p, 대조 SF-01 +0.18%p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로트는 SF-01 에서 재고, SF-02 L-0821 6.61% 반증을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차이를 숙련도 탓으로 단정하지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습도는 소결엔 가짜 상관, 성형엔 별개 과제로 나눴다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잠재 원인 후보군 도출 (5교시)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오전의 단서를 모아 AI 와 함께 원인 후보를 넓게 펼치고, 오후 내내 분류·검증합니다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 특성요인도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 불량 유형 층별표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 타임라인과 가설 문장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 조건별 영향도 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조건별 영향도 표와 반론 점검 메모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잠재 원인 후보군 도출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와 함께 넓게 펼치기 — 아직 지우지 않는다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오전 분석을 현상 문장 한 줄로 고정한다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프롬프트로 4M1E 후보와 확인할 데이터를 받는다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지식을 보태고 중복을 합쳐 후보 15~20개를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진짜 원인이 목록에 없으면 검증으로도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발산과 수렴 — 두 박자를 섞지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발산 (이번 시간)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수렴 (6~8교시)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가능한 원인을 빠짐없이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겹침 정리 · 데이터로 거름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태도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 보류 — 엉뚱해도 적기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숫자가 있는가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쓰임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 갈래를 보태는 동료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[추정]을 표시하는 점검자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15~20개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 · 검증 계획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— 서랍 다섯 개, 서랍마다 두 개 이상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스스로 던질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하느냐에 따라 다른가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· 보전 작업자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상태가 바뀌었는가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· 열전대 · 단열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재료가 달라졌는가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원료 로트 · 성형체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방식 · 절차가 바뀌었는가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재가동 · 승온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주변 조건이 바뀌었는가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3436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3436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사람 먼저, AI 다음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후보는 07_improvement_workbook 의 1_원인후보_4M1E 시트에 모읍니다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현상 문장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언제·어디서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무엇이·얼마나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사람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혼자 5분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 한 장 한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펼치기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각 3개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보태기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지식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갈래 다시 묻기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합치기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15~20개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 — 비교 대상까지 한 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 · 어디서 · 얼마나가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 많다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8월에 품질이 나빠졌다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과 비교가 문장 안에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8/10 PM 뒤 SF-02 불량률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 → 6.5%, 균열·밀도미달 증가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기간 SF-01 2.31% → 2.49%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후보 펼치기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2인 → 상황 → 현상 → 오전 사실 → 4M1E 각 3개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+ 품질 엔지니어의 관점으로,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균열·밀도미달 증가의 잠재 원인 후보를 4M1E 로 각 3개 펼쳐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갈래 | 원인 → 결과 | 데이터에서 보일 흔적 | 확인할 데이터. 단정 대신 「~일 수 있다」.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 요약만 — 현업은 설비번호·설정값 비식별화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지식으로 보태고 빈 곳을 다시 묻는다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표와 메모를 나란히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사람만 · AI 만 · 둘 다 낸 후보를 표시한다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비고 열에서 실마리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「상단 트레이 균열 집중」 「TC-3 지시값 확인 필요」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갈래 · 반대 관점 다시 묻기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설비가 아닌 곳에 원인이 있다면?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후보마다 묻기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보여야 하나?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목록이 좁아지는 네 가지 습관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답부터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의 답이 기준점이 되어 내 생각이 그 안에 갇힌다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「그건 아닐 거야」로 지운다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판정은 7교시에 데이터로 — 지금은 판단 보류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「야간 문제」로 뭉친다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숙련도와 승온 방식은 원리가 다르다 — 둘로 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데이터를 비운다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「없음」이라고 적는다 — 그것도 근거다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문장에 SF-01 비교가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4M1E 다섯 갈래마다 후보가 2개 이상이다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확인할 데이터가 적혀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먼저 적은 후보가 목록에 남아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판정을 이유로 지운 후보가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5교시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5교시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MECE 분류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펼친 후보를 겹치지 않고 빠짐없이 나누고, 빠진 갈래를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 빠짐없이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「야간」, 다른 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갈래: 측정(Measurement)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 받기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 15~20개 목록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분류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로직 트리로 정리하기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의 뜻을 알고 목록의 겹침과 누락을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→ 갈래 → 원인 후보 로직 트리로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MECE 점검을 받고 원인후보 시트에 반영한다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겹치면 두 번 검증하고, 빠지면 끝까지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— 겹치지 않고, 빠짐없이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 — 겹치지 않게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후보는 한 갈래에만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서랍마다 한 종류만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같은 원인을 두 번 검증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두 서랍에 동시에 넣을 수 있나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CE — 빠짐없이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갈래를 합치면 가능한 원인 전체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바닥에 굴러다니는 옷이 없게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어기면: 진짜 원인이 목록 밖에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점검: 어느 서랍에도 안 들어가는 것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갈래 기준은 하나 — 무엇을 바꾸면 사라지나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563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원인을 없애는 조치가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 교육 · 배치 변경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44200" y="34480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39450" y="34480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 수리 · 교체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41433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41433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재료 · 공급처 변경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483870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483870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절차 · 기준 · 순서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44200" y="553402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39450" y="553402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측정기 교정 · 측정 방법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6229350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6229350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95631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93726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온습도 · 환경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6924675"/>
            <a:ext cx="64008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6924675"/>
            <a:ext cx="62103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겹침 찾기 — 같은 낱말, 다른 원리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낱말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92430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숙련도가 낮다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냉간 재시작 승온이 급하다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작업자가 교정 절차를 몰랐다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절차에 교정 확인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92430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90525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→ 지시값 오차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63436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63436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원리가 다르면 나누고, 말만 다르면 합친다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— 빠진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열전대도 측정기다 — Measurement 를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지시값 오차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없애는 조치가 수리가 아니라 교정 → Measurement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검사실 밀도 측정기 오차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재는 쪽이 틀어지면 불량이 과다 판정된다 — I-402 알람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시트에 행 추가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Environment 위에 Measurement(측정) 행을 삽입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4M1E + 측정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5M1E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점검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우리 목록 → 4가지 점검 → 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팀의 원인 후보 목록을 MECE 관점에서 점검해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 겹침 2 잘못 들어간 갈래 3 비어 있는 갈래 4 수준 섞임.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열: 대상 후보 | 문제 | 제안. 새 후보에는 「확인 가능 / 현장 확인 필요」.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지적마다 팀이 수용 · 보류 · 거절을 정한다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— 현상에서 원인 후보까지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갈래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11841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 후보 (예)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0" y="34480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8770" y="34480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숙련도 · PM 작업자 절차 숙지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Machine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03520" y="40703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8770" y="40703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출력 · 단열 열화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Material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6926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6926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L-0809 · 성형체 밀도 편차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Method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53149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8770" y="53149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재가동 교정 확인 · 냉간 재시작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59372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8770" y="59372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교정 누락 · 밀도 측정기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412242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393192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Environment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6559550"/>
            <a:ext cx="1184148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6559550"/>
            <a:ext cx="116509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· 외기 온도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맨 위: SF-02 균열·밀도미달 증가 (8/10 PM 이후)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MECE 정리에서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「야간끼리 합치자」를 받는다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원리와 대책이 다르면 거절한다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를 Machine 에 둔 채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열전대는 측정기 — 조치가 교정이면 Measurement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「설비 문제」 같은 큰 후보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후보와 수준이 맞지 않는다 — 한 층 더 내려간다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 선택 목록을 빠뜨린다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유효성 검사 → 목록: 사실,추정,반증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후보가 두 갈래에 동시에 있지 않다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숙련도(Man) · 냉간 재시작(Method)이 나뉘어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Measurement 행에 TC-3 교정 누락이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지적마다 수용 · 보류 · 거절을 정했다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D열에 사실 · 추정 · 반증 선택 목록이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사실과 추정 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붙이고 사실 · 추정 · 반증으로 판정합니다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로트 · 교대 다시 세기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에서 따로 보기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 [추정]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로직 트리 · 정리된 원인후보 시트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후보마다 근거 데이터를 연결한다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 · 추정 · 반증의 기준을 후보에 적용한다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파일 · 열 · 숫자를 잇고 Excel 로 다시 센다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답에서 근거 없는 문장에 [추정]을 붙이게 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· 출처 · 비교 대상 — 셋이 다 있어야 사실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판정은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데이터로 확인된다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숫자 · 출처 · 비교 대상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없거나 약하다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그럴듯해도 근거 없음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반증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데이터가 부정한다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보여야 할 흔적이 없다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기록이 없다(사실) ≠ 그 일을 안 했다(현장 확인 필요)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데이터 지도 — 어느 파일이 답하나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900" y="2781300"/>
            <a:ext cx="8801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 파일 · 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43900" y="3448050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39150" y="3448050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소결온도편차_C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3900" y="4044043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150" y="4044043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S-900 · S-901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3900" y="4640036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150" y="4640036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05 알람 · S-301 · S-302 · S-305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3900" y="5236029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150" y="5236029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· 원료로트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 · 냉간 재시작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43900" y="5832021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150" y="5832021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· 04 · 교대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43900" y="6428014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39150" y="6428014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불량기록 · 성형실습도_pct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71628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69723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작업자 경력 · 교육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43900" y="7024007"/>
            <a:ext cx="88011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39150" y="7024007"/>
            <a:ext cx="86106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→ 현장 자료 필요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피벗으로 다시 센다 — 불량률은 합계끼리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M열 PM구분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=IF(A2&lt;"2026-08-10","PM전","PM후")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삽입 → 피벗 테이블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설비·원료로트 · 열 PM구분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필드 「불량률」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=(생산수량-양품수량)/생산수량 → 백분율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 대신 교대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피벗에서 교대별 불량률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행별 불량률의 평균은 생산량이 다른 행을 똑같이 취급해 틀어진다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— 나와야 하는 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· 교대별 불량률 — SF-01 에서 따로 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34480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9130" y="34480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703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703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L-0720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40703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9130" y="40703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0703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0703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926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926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L-0809 (PM 과 겹침)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46926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9130" y="46926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2.72%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6926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6926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6.12%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3149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3149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L-0821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80" y="53149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9130" y="53149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3149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3149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6.61%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9372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9372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83880" y="59372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9130" y="59372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2.25%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9372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9372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3.32%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559550"/>
            <a:ext cx="700278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559550"/>
            <a:ext cx="681228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80" y="6559550"/>
            <a:ext cx="44424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9130" y="6559550"/>
            <a:ext cx="42519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2.50%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559550"/>
            <a:ext cx="448056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559550"/>
            <a:ext cx="429006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SF-02 는 로트가 바뀐 뒤에도 높다 — 로트는 주원인이 아니다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후보마다 판정 — 이 데이터의 결론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842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→ 온도편차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6.0 → 16.6°C · r=0.95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 알람 증가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433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433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S-301 6 → 28건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433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433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PM 뒤 교정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3870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3870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S-901 교정 기록 미입력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3870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3870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사실(기록)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 로트 L-0809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53402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53402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53402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53402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사실(부분)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6229350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6229350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데이터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6229350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6229350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 → 소결 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924675"/>
            <a:ext cx="6842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924675"/>
            <a:ext cx="6652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만 r=0.11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924675"/>
            <a:ext cx="40005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924675"/>
            <a:ext cx="3810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반증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표시 원인 요약 프롬프트의 뼈대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품질 엔지니어 → 현상 → 근거 표 → 작성 규칙 5 →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근거 표만 사용해 SF-02 불량 증가의 원인을 요약해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문장마다 (근거: 숫자)를 달고, 근거 숫자가 없는 문장에는 [추정] 표시를 해 주세요.</a:t>
            </a:r>
          </a:p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표에 없는 숫자는 만들지 말고, 「기록 없음」을 「안 했다」로 바꾸지 말아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답의 숫자를 근거 표와 하나씩 맞춰 본다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추정이 섞이는 네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의 L-0809 6.12% 만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과 겹친 기간 — SF-01 에서 따로 봐야 로트 크기가 보인다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야간이 높다 = 숙련도 탓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높은 것은 사실, 이유가 숙련도라는 데이터는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습도와 소결이 같이 올랐다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8월 — SF-01 만 보면 r=0.11 로 사라진다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「교정을 안 했다」로 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로그가 말하는 것은 「교정 기록 미입력」까지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결과 SF-01 L-0809 2.72%, SF-02 L-0821 6.61%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모든 후보의 C열에 파일 · 열 · 숫자 근거가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야간 숙련도는 추정, 습도 → 소결은 반증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요약의 숫자가 모두 근거 표에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기록 누락을 행위로 바꿔 쓴 문장이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가설 검증 계획과 시나리오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판정표의 후보를 가설 문장으로 바꾸고, 판정 기준과 다음 행동을 정합니다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만약 ~라면 ~일 것이다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 먼저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 vs 현장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· 판정이 채워진 원인후보 시트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원인 후보 분류와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검증 계획과 시나리오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기준은 결과보다 먼저 정한다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「만약 ~라면 ~일 것이다」 가설로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그룹과 판정 기준을 결과를 보기 전에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시나리오로 2_가설검증계획 시트를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시트가 4일차 개선안의 입력이다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시트의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적는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[원인]이라면 [흔적]일 것이다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질문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433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433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있는가 — 예/아니오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비교할 데이터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3870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3870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하나만 다른 A vs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53402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53402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전에 정한 숫자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229350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229350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실제로 잰 숫자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924675"/>
            <a:ext cx="11201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924675"/>
            <a:ext cx="11010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· 기각 · 보류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검증할 수 있는 문장으로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 아니다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결과가 나와도 반박할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온도가 문제일 수 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야간이 좀 불안하다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가설이다 (H1)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흔적이 안 보이면 기각할 수 있다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만약 TC-3 교정 누락이 주원인이라면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PM 뒤 SF-02 만 온도편차·불량률이 오르고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은 거의 그대로일 것이다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기준은 결과를 보기 전에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(A vs B)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TC-3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· SF-01 PM 전 vs 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2배↑ · SF-01 0.5%p 이내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L-0809 vs 다른 로트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0.3%p 이상 높으면 부원인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야간 숙련도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vs 야간 · 경력별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 자료 필요 — 판정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기준 숫자는 과정 예시 — 현업은 평소 변동 폭을 보고 팀이 정한다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지금 데이터로 판정하면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853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2.11 → 6.5% · SF-01 +0.18%p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 가능성 높음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8328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853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r=0.95 · Cpk 1.54 → 0.4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확인 대기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853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 2.72 vs 2.24~2.35%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부원인 채택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853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L-0821 6.61%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주원인은 기각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853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조금 높음 · 자료 없음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384280" y="63436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79530" y="63436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확인 계획 — 데이터로 못 가른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이렇게 나오면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TC-3 교정 성적서 · PM 기록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성적서 없음 → H1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 열전대와 이중 측정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큼 → H1 채택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로트 L-0809 수입검사 성적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특성 차이 → H2 확정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익명 경력 · 교육 자료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확보 뒤 H3 재판정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교대별 승온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급승온 → 냉간 재시작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경력 자료는 개인정보 — 익명화, 외부 AI 에 올리지 않는다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채택 · 기각 시나리오 — 다음 행동을 미리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가설 · 결과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재교정 · 체크리스트에 교정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기각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히터 Zone2 · 단열 점검으로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채택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수입검사 항목 · 로트 전환 모니터링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H2 기각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목록에서 제외, 근거만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H3 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확보 뒤 재판정 · 교육 대책 보류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 계획에서 자주 걸리는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결과를 보고 기준을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믿는 답이 통과하도록 기준이 맞춰진다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비교 대상이 없는 가설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「8월 전체가 나빠졌다」와 구별할 수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을 「채택」으로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TC-3 가 출발점인지는 이중 측정으로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보류 가설에 대책을 세운다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추정에 쓴 시간 · 사람은 문제를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 3개 모두 비교 대상이 들어간 「만약 ~라면」 문장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기준이 숫자이고 결과보다 먼저 채웠다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H1 채택 가능성 높음 · H2 부원인 · H3 보류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판정과 현장 확인이 표에서 구분된다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가설마다 채택 · 기각 때 다음 행동이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3일차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 4일차 1교시 — 우수 사례 벤치마킹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SPC · 예지보전 · 표준화 사례를 보고 원인별 개선 대안으로 넘어갑니다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최적화 우수 사례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SPC · 예지보전 · 표준화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원인별 개선 대안 펼치기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기준과 우선순위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가설검증계획 · 시나리오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