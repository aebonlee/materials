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EFF3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8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BF1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CED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DE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8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koreate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952500"/>
            <a:ext cx="3409950" cy="4191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이론 3장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관계형 데이터 모델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모델링 3단계, 릴레이션, 키 5종, 무결성, ERD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한국기술교육대학교 경영학부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(CCT770) · 2026학년도 2학기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학습목표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이 장을 마치면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87178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9700" y="287178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①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1750" y="287178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57500" y="287178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모델링 3단계(개념적·논리적·물리적)와 각 산출물을 설명한다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662362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3662362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71750" y="3662362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57500" y="3662362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속성·튜플·차수·카디널리티를 다온유통 테이블로 설명한다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45293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445293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71750" y="445293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57500" y="445293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슈퍼키·후보키·기본키·대체키·외래키를 직접 찾는다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5243512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5243512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④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71750" y="5243512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57500" y="5243512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무결성 제약 3종이 막는 데이터 사고를 경영 사례로 설명한다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03408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9700" y="603408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71750" y="603408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57500" y="603408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ERD를 읽고 테이블 간 관계와 참조 방향을 파악한다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경영 DB 이론 편람 3장 · 다온유통 사례로 배웁니다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3장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목차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이 장에서 다루는 다섯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434340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434340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371600" y="446722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454342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9300" y="451485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데이터 모델링 — 현실을 테이블로 옮기는 3단계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506730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506730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71600" y="519112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71600" y="526732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9300" y="523875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릴레이션 — 관계형 모델의 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79120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79120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0" y="591502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599122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9300" y="596265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키(Key) — 행을 정확히 짚어내는 장치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334500" y="434340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334500" y="434340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563100" y="446722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63100" y="454342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10800" y="451485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무결성 제약 — 데이터가 스스로 지키는 규칙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34500" y="506730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334500" y="506730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563100" y="519112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63100" y="526732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10800" y="523875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ERD — 데이터 설계를 그림 한 장으로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3장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1. 데이터 모델링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현실을 테이블로 옮기는 3단계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04216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0421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단계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23260" y="2781300"/>
            <a:ext cx="348234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2326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질문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43700" y="2781300"/>
            <a:ext cx="380238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4370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산출물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584180" y="2781300"/>
            <a:ext cx="656082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84180" y="2781300"/>
            <a:ext cx="65608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다온유통에서의 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20421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18516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개념적 설계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2326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1851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무엇을 관리할 것인가?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43700" y="34480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38950" y="34480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개체와 관계를 그린 ERD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584180" y="3448050"/>
            <a:ext cx="65608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679430" y="3448050"/>
            <a:ext cx="63703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「고객이 상품을 주문한다」 — 고객·상품·주문과 그 관계를 찾는다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20421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18516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논리적 설계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2326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1851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어떤 테이블 구조로 담을 것인가?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743700" y="41719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38950" y="41719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릴레이션 스키마 (테이블·열·키)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584180" y="4171950"/>
            <a:ext cx="65608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679430" y="4171950"/>
            <a:ext cx="63703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테이블과 키를 확정, 주문–상품의 M:N을 order_items로 해소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20421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18516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물리적 설계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23260" y="48958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318510" y="48958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실제 DBMS에 어떻게 만들 것인가?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743700" y="48958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38950" y="48958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CREATE TABLE 문 (자료형·제약·인덱스)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584180" y="4895850"/>
            <a:ext cx="65608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679430" y="4895850"/>
            <a:ext cx="63703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cust_id를 CHAR(4)로, price에 CHECK (price &gt;= 0)를 걸어 생성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모델링 = 현실 세계의 업무를 컴퓨터가 저장할 수 있는 구조로 번역하는 과정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3장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1. 데이터 모델링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왜 단계를 나누고, 누가 기여하는가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건물처럼 단계적으로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조감도 → 설계 도면 → 시공 도면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처음부터 자료형을 고민하면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「무엇을 관리할지」를 놓친다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대화 상대가 다르다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개념적 설계는 현업·경영진과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그림(ERD) 하나로 소통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물리적 설계는 DBMS 전문가의 영역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경영학도의 자리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가장 크게 기여하는 곳은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개념적 설계 — 업무를 아는 사람만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무엇을 관리할지 말할 수 있다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모델링과 ERD 실습은 2주차(관계형 데이터베이스 기초)와 11주차 강의에서 다룬다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3장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2. 릴레이션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용어 짝맞추기 — 이론·DB·파일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이론 용어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284226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28422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DB 용어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23760" y="2781300"/>
            <a:ext cx="268224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0" y="2781300"/>
            <a:ext cx="26822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파일 용어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944100" y="2781300"/>
            <a:ext cx="720090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44100" y="2781300"/>
            <a:ext cx="7200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설명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릴레이션(Relation)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34480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38650" y="34480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테이블(Table)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23760" y="34480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9010" y="34480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파일(File)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944100" y="3448050"/>
            <a:ext cx="7200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39350" y="3448050"/>
            <a:ext cx="7010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2차원 표 형태의 데이터 집합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튜플(Tuple)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43400" y="41719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38650" y="41719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행(Row)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23760" y="41719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9010" y="41719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레코드(Record)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944100" y="4171950"/>
            <a:ext cx="7200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39350" y="4171950"/>
            <a:ext cx="7010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하나의 개체 인스턴스 — 고객 한 명, 주문 한 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속성(Attribute)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48958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8650" y="48958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열(Column)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223760" y="48958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9010" y="48958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필드(Field)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944100" y="4895850"/>
            <a:ext cx="7200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39350" y="4895850"/>
            <a:ext cx="7010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개체가 갖는 하나의 특성 — 이름, 등급, 포인트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도메인(Domain)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343400" y="56197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38650" y="56197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자료형 + 제약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223760" y="56197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319010" y="56197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 타입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944100" y="5619750"/>
            <a:ext cx="7200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039350" y="5619750"/>
            <a:ext cx="7010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속성이 가질 수 있는 값의 전체 집합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1970년 E. F. Codd가 제안 — 모든 데이터를 2차원 표 하나의 형태로 통일해 표현한다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3장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2. 릴레이션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다온유통 products 테이블로 보는 용어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11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12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products                                    ← 릴레이션(테이블)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+---------+------------------+----------+--------+-------+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| prod_id | name             | category | price  | stock |   ← 속성(열) 5개 = 차수 5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+---------+------------------+----------+--------+-------+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| P001    | 무선 전기포트    | 가전     |  42000 |    25 |   ← 튜플(행) 하나 = 상품 1종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| P004    | 제주 감귤 3kg    | 식품     |  24000 |     0 |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| P010    | A5 스프링 노트   | 문구     |   3200 |   180 |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+---------+------------------+----------+--------+-------+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(전체 상품 10종 → 카디널리티 10)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도메인(category) = { '가전', '식품', '생활용품', '문구' }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도메인(price)    = 0 이상의 정수  (CHECK 제약이 지킨다)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실무 대화에서는 테이블·행·열, 시험과 교과서에는 릴레이션·튜플·속성이 등장한다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3장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2. 릴레이션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차수와 카디널리티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차수(Degree)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릴레이션을 구성하는 속성(열)의 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90650" y="4838700"/>
            <a:ext cx="1418511" cy="4857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0650" y="4838700"/>
            <a:ext cx="1418511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products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09161" y="4838700"/>
            <a:ext cx="5458539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61561" y="4838700"/>
            <a:ext cx="5153739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 (prod_id·name·category·price·stock)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90650" y="5400675"/>
            <a:ext cx="1418511" cy="4857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90650" y="5400675"/>
            <a:ext cx="1418511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바뀔 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809161" y="5400675"/>
            <a:ext cx="5458539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61561" y="5400675"/>
            <a:ext cx="5153739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스키마(구조)가 바뀔 때만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90650" y="5962650"/>
            <a:ext cx="1418511" cy="4857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90650" y="5962650"/>
            <a:ext cx="1418511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신규 고객 가입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809161" y="5962650"/>
            <a:ext cx="5458539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61561" y="5962650"/>
            <a:ext cx="5153739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열의 수는 그대로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카디널리티(Cardinality)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릴레이션을 구성하는 튜플(행)의 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20300" y="4838700"/>
            <a:ext cx="1589663" cy="4857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20300" y="4838700"/>
            <a:ext cx="1589663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products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609963" y="4838700"/>
            <a:ext cx="5287387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762363" y="4838700"/>
            <a:ext cx="4982587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 (상품 10종)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020300" y="5400675"/>
            <a:ext cx="1589663" cy="4857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20300" y="5400675"/>
            <a:ext cx="1589663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경영 관점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609963" y="5400675"/>
            <a:ext cx="5287387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762363" y="5400675"/>
            <a:ext cx="4982587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곧 데이터의 규모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020300" y="5962650"/>
            <a:ext cx="1589663" cy="4857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20300" y="5962650"/>
            <a:ext cx="1589663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카디널리티 10만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609963" y="5962650"/>
            <a:ext cx="5287387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762363" y="5962650"/>
            <a:ext cx="4982587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회원이 10만 명이라는 뜻</a:t>
            </a:r>
          </a:p>
        </p:txBody>
      </p:sp>
      <p:sp>
        <p:nvSpPr>
          <p:cNvPr id="38" name="Oval 37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3장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2. 릴레이션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릴레이션의 4가지 특성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40005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튜플의 유일성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모든 튜플은 서로 다르다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상품 행이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번 존재하지 않는다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429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튜플의 무순서성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행 사이에 순서가 없다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「3번째 고객」은 없고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정렬은 조회할 때 지정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429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21920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속성의 무순서성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열 사이에도 순서가 없다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위치가 아니라 이름으로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(name, price) 참조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429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속성값의 원자성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더 이상 쪼갤 수 없는 값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칸에 전화번호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개를 넣지 않는다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원자성은 실무에서 가장 자주 어기는 규칙 — 6장의 정규화(1NF)가 여기서 출발한다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3장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3. 키(Key)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키의 5가지 종류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72212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7221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키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03220" y="2781300"/>
            <a:ext cx="140208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03220" y="2781300"/>
            <a:ext cx="14020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유일성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2781300"/>
            <a:ext cx="140208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43400" y="2781300"/>
            <a:ext cx="14020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최소성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83580" y="2781300"/>
            <a:ext cx="524256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83580" y="2781300"/>
            <a:ext cx="52425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정의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다온유통 예시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3448050"/>
            <a:ext cx="17221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8250" y="3448050"/>
            <a:ext cx="15316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슈퍼키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903220" y="3448050"/>
            <a:ext cx="14020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98470" y="3448050"/>
            <a:ext cx="12115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3448050"/>
            <a:ext cx="14020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8650" y="3448050"/>
            <a:ext cx="12115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783580" y="34480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78830" y="34480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유일성만 만족하면 됨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064240" y="34480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159490" y="34480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(cust_id), (cust_id, name) — 뒤엣것은 name이 군더더기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4171950"/>
            <a:ext cx="17221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4171950"/>
            <a:ext cx="15316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후보키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903220" y="4171950"/>
            <a:ext cx="14020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98470" y="4171950"/>
            <a:ext cx="12115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43400" y="4171950"/>
            <a:ext cx="14020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38650" y="4171950"/>
            <a:ext cx="12115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783580" y="41719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878830" y="41719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유일성 + 최소성을 모두 만족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064240" y="41719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159490" y="41719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customers의 cust_id와 email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4895850"/>
            <a:ext cx="17221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4895850"/>
            <a:ext cx="15316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기본키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903220" y="4895850"/>
            <a:ext cx="14020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998470" y="4895850"/>
            <a:ext cx="12115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343400" y="4895850"/>
            <a:ext cx="14020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38650" y="4895850"/>
            <a:ext cx="12115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783580" y="48958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878830" y="48958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후보키 중 대표로 선정. NULL 불가, 테이블당 1개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1064240" y="48958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159490" y="48958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cust_id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5619750"/>
            <a:ext cx="17221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5619750"/>
            <a:ext cx="15316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대체키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903220" y="5619750"/>
            <a:ext cx="14020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998470" y="5619750"/>
            <a:ext cx="12115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343400" y="5619750"/>
            <a:ext cx="14020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438650" y="5619750"/>
            <a:ext cx="12115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783580" y="56197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878830" y="56197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선정되지 못한 나머지 후보키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064240" y="56197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159490" y="56197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email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143000" y="6343650"/>
            <a:ext cx="17221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238250" y="6343650"/>
            <a:ext cx="15316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외래키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2903220" y="6343650"/>
            <a:ext cx="14020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998470" y="6343650"/>
            <a:ext cx="12115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—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343400" y="6343650"/>
            <a:ext cx="14020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438650" y="6343650"/>
            <a:ext cx="12115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—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783580" y="63436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878830" y="63436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다른(또는 자기) 테이블의 기본키를 참조하는 열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1064240" y="63436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1159490" y="63436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orders.cust_id → customers.cust_id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유일성 = 그 값만으로 각 행을 유일하게 식별(겹치지 않는가?) · 최소성 = 꼭 필요한 속성만으로 구성(군더더기가 없는가?)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3장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3. 키(Key)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키 판별 연습 — 다온유통 5개 테이블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11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12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13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14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15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16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customers(cust_id, name, grade, city, email, joined_date, points)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후보키 : cust_id, email     ← 둘 다 겹치지 않는다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기본키 : cust_id            ← 대표로 선정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대체키 : email              ← 선정되지 못한 후보키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order_items(order_id, prod_id, qty, unit_price)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· order_id만으로는 부족 (주문 1001에 상품이 2개 담김)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· prod_id만으로도 부족 (P003이 여러 주문에 등장)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→ (order_id, prod_id) 둘을 묶어야 식별 = 복합키(Composite Key)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orders(order_id, cust_id, emp_id, ...)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· cust_id → customers 참조 = 외래키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· emp_id  → employees 참조 = 외래키 (온라인 주문은 NULL)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employees(emp_id, ..., manager_id)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· manager_id → employees.emp_id = 자기 테이블을 참조하는 외래키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order_items처럼 두 열을 묶어야 식별되는 키 = 복합키(Composite Key)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3장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3. 키(Key)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기본키 고르기와 외래키의 역할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78105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78105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71628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왜 email이 아니라 cust_id인가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이메일은 비어 있을 수 있고(C005 박서연 미입력)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고객이 바꿀 수도 있다 — 기본키는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「절대 비지 않고 변하지 않는 값」이어야 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34500" y="3429000"/>
            <a:ext cx="78105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334500" y="3429000"/>
            <a:ext cx="78105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8350" y="3752850"/>
            <a:ext cx="71628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외래키는 유일성과 무관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orders에는 cust_id가 C001인 행이 3건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(주문 1001·1004·1010) — 역할은 식별이 아니라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참조하는 값이 실제로 존재함을 보장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실무에서 사번·고객번호 같은 인공 번호를 만들어 쓰는 이유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3장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4. 무결성 제약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무결성 3종 — DBMS가 자동으로 강제한다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52222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5222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무결성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03320" y="2781300"/>
            <a:ext cx="668274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03320" y="2781300"/>
            <a:ext cx="66827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규칙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424160" y="2781300"/>
            <a:ext cx="672084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24160" y="2781300"/>
            <a:ext cx="67208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막아 주는 사고 (다온유통)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개체 무결성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03320" y="34480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98570" y="34480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기본키는 NULL이거나 중복일 수 없다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24160" y="34480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9410" y="34480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고객번호가 없는 고객, 같은 사번의 직원 두 명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참조 무결성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03320" y="41719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98570" y="41719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외래키 값은 참조하는 테이블에 존재하는 값이거나 NULL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424160" y="41719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9410" y="41719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존재하지 않는 고객 C999의 주문이 접수되는 것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도메인 무결성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703320" y="48958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98570" y="48958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속성값은 정의된 도메인(자료형·범위) 안의 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424160" y="48958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19410" y="48958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판매가가 -5000원으로 입력되는 것 (CHECK price &gt;= 0)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무결성 = 데이터가 정확하고 일관된 상태를 유지하는 성질 — 담당자가 실수해도 잘못된 데이터는 아예 저장되지 않는다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3장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4. 무결성 제약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참조 무결성이 잘못된 입력을 거부하는 장면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8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-- 존재하지 않는 고객 C999의 주문을 넣으려 하면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INSERT INTO orders (cust_id, emp_id, order_date, status)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VALUES ('C999', 'E002', '2026-07-01', '주문접수');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-- → 오류! customers에 C999가 없으므로 DBMS가 거부한다.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-- 주문이 3건 있는 고객 C001을 지우려 하면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DELETE FROM customers WHERE cust_id = 'C001';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-- → 오류! orders가 C001을 참조 중이므로 기본 설정에서는 거부된다.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퇴사한 직원의 사번이 주문에 남는 「끊어진 참조(고아 데이터)」를 원천 차단한다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3장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4. 무결성 제약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참조되는 행을 지울 때의 세 가지 선택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거부(RESTRICT)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참조되는 행의 삭제·수정을 막는다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기본 동작이며 가장 안전하다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연쇄(CASCADE)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고객을 지우면 그 고객의 주문도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함께 지운다 — 매출 이력까지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사라질 수 있어 신중해야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NULL 설정(SET NULL)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직원 퇴사 시 담당 주문의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emp_id를 NULL로 — 이력은 남기고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연결만 끊는다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기본 설정은 거부 — 주문이 3건 있는 고객 C001을 지우려 하면 DBMS가 거부한다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3장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4. 무결성 제약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도메인 무결성을 지키는 도구들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52222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5222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제약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03320" y="2781300"/>
            <a:ext cx="540258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0332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역할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다온유통 실제 사용처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NOT NULL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03320" y="34480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98570" y="34480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값을 반드시 입력하게 강제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34480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250" y="34480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customers.name — 이름 없는 고객 금지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UNIQUE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03320" y="41719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98570" y="41719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중복 값을 금지 (NULL은 허용)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0" y="41719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9250" y="41719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customers.email — 이메일 중복 가입 방지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CHECK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703320" y="48958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98570" y="48958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값의 범위·조건을 검사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0" y="48958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9250" y="48958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products.price &gt;= 0, order_items.qty &gt; 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DEFAULT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703320" y="56197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98570" y="56197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입력을 생략하면 기본값을 채움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0" y="56197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39250" y="56197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customers.grade → 'SILVER', orders.status → '주문접수'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무결성 제약은 내부통제 장치 — 업무 규칙을 DB에 심어 두면 지점이 100곳으로 늘어도 똑같이 지켜진다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3장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5. ERD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ERD의 구성 요소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구성 요소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700278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70027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의미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384280" y="2781300"/>
            <a:ext cx="576072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384280" y="2781300"/>
            <a:ext cx="57607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다온유통 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개체(Entity)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448050"/>
            <a:ext cx="7002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8650" y="3448050"/>
            <a:ext cx="6812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관리 대상이 되는 사물·사람·사건. 테이블이 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384280" y="34480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79530" y="34480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고객, 상품, 직원, 주문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속성(Attribute)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4171950"/>
            <a:ext cx="7002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8650" y="4171950"/>
            <a:ext cx="6812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개체가 갖는 특성. 열이 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384280" y="41719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79530" y="41719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고객의 이름·등급·포인트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관계(Relationship)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4895850"/>
            <a:ext cx="7002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8650" y="4895850"/>
            <a:ext cx="6812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개체와 개체 사이의 연결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384280" y="48958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79530" y="48958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고객이 주문한다, 직원이 주문을 담당한다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카디널리티 표기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5619750"/>
            <a:ext cx="7002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8650" y="5619750"/>
            <a:ext cx="6812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관계 양쪽에 대응하는 행의 수 (1:1, 1:N, M:N)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384280" y="56197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79530" y="56197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고객 1 : 주문 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ERD(개체-관계 다이어그램) — 현업 담당자·경영진과 소통하는 공통 언어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3장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5. ERD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다온유통 ERD — 개체 5개와 1:N 관계 4개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17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17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17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17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17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17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17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17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17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17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11</a:t>
            </a:r>
          </a:p>
          <a:p>
            <a:pPr algn="r">
              <a:lnSpc>
                <a:spcPct val="115000"/>
              </a:lnSpc>
            </a:pPr>
            <a:r>
              <a:rPr sz="17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12</a:t>
            </a:r>
          </a:p>
          <a:p>
            <a:pPr algn="r">
              <a:lnSpc>
                <a:spcPct val="115000"/>
              </a:lnSpc>
            </a:pPr>
            <a:r>
              <a:rPr sz="17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13</a:t>
            </a:r>
          </a:p>
          <a:p>
            <a:pPr algn="r">
              <a:lnSpc>
                <a:spcPct val="115000"/>
              </a:lnSpc>
            </a:pPr>
            <a:r>
              <a:rPr sz="17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14</a:t>
            </a:r>
          </a:p>
          <a:p>
            <a:pPr algn="r">
              <a:lnSpc>
                <a:spcPct val="115000"/>
              </a:lnSpc>
            </a:pPr>
            <a:r>
              <a:rPr sz="17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15</a:t>
            </a:r>
          </a:p>
        </p:txBody>
      </p:sp>
      <p:pic>
        <p:nvPicPr>
          <p:cNvPr id="11" name="deckgen:code-art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8350" y="2552700"/>
            <a:ext cx="7239000" cy="454342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ERD에 반품 개체가 없다면 — 시스템 수정 없이는 「등급별 반품률」 보고서가 나올 수 없다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3장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확인 퀴즈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확인 퀴즈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57500"/>
            <a:ext cx="16002000" cy="1802130"/>
          </a:xfrm>
          <a:prstGeom prst="roundRect">
            <a:avLst>
              <a:gd name="adj" fmla="val 3171"/>
            </a:avLst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38300" y="3295650"/>
            <a:ext cx="15011400" cy="12306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products 테이블은 prod_id·name·category·price·stock 5개 열로 상품 10종을 담고 있다. 여기에 신규 상품 5종을 등록하면 차수와 카디널리티는 각각 어떻게 되는가?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5097780"/>
            <a:ext cx="7810500" cy="1181100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9050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28750" y="5440680"/>
            <a:ext cx="495300" cy="495300"/>
          </a:xfrm>
          <a:prstGeom prst="ellipse">
            <a:avLst/>
          </a:prstGeom>
          <a:solidFill>
            <a:srgbClr val="EDF3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8750" y="5554980"/>
            <a:ext cx="49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14550" y="5097780"/>
            <a:ext cx="6515100" cy="1181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5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차수 5, 카디널리티 15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34500" y="5097780"/>
            <a:ext cx="7810500" cy="1181100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9050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20250" y="5440680"/>
            <a:ext cx="495300" cy="495300"/>
          </a:xfrm>
          <a:prstGeom prst="ellipse">
            <a:avLst/>
          </a:prstGeom>
          <a:solidFill>
            <a:srgbClr val="EDF3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20250" y="5554980"/>
            <a:ext cx="49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06050" y="5097780"/>
            <a:ext cx="6515100" cy="1181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5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차수 10, 카디널리티 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6526530"/>
            <a:ext cx="7810500" cy="1181100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9050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28750" y="6869430"/>
            <a:ext cx="495300" cy="495300"/>
          </a:xfrm>
          <a:prstGeom prst="ellipse">
            <a:avLst/>
          </a:prstGeom>
          <a:solidFill>
            <a:srgbClr val="EDF3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28750" y="6983730"/>
            <a:ext cx="49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14550" y="6526530"/>
            <a:ext cx="6515100" cy="1181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5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차수 15, 카디널리티 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34500" y="6526530"/>
            <a:ext cx="7810500" cy="1181100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9050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20250" y="6869430"/>
            <a:ext cx="495300" cy="495300"/>
          </a:xfrm>
          <a:prstGeom prst="ellipse">
            <a:avLst/>
          </a:prstGeom>
          <a:solidFill>
            <a:srgbClr val="EDF3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20250" y="6983730"/>
            <a:ext cx="49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06050" y="6526530"/>
            <a:ext cx="6515100" cy="1181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5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차수 5, 카디널리티 10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3장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확인 퀴즈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정답 및 해설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048000"/>
            <a:ext cx="16002000" cy="1428750"/>
          </a:xfrm>
          <a:prstGeom prst="roundRect">
            <a:avLst>
              <a:gd name="adj" fmla="val 4000"/>
            </a:avLst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38300" y="3333750"/>
            <a:ext cx="2095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80">
                <a:solidFill>
                  <a:srgbClr val="BFD3F5"/>
                </a:solidFill>
                <a:latin typeface="Pretendard"/>
                <a:ea typeface="Pretendard"/>
                <a:cs typeface="Pretendard"/>
              </a:rPr>
              <a:t>정답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38300" y="3676650"/>
            <a:ext cx="150114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 차수 5, 카디널리티 15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4953000"/>
            <a:ext cx="1600200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4953000"/>
            <a:ext cx="57150" cy="28575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81150" y="5314950"/>
            <a:ext cx="28575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해설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1150" y="5772150"/>
            <a:ext cx="151257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5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차수는 속성(열)의 수라 스키마가 바뀌지 않는 한 5로 고정입니다. 카디널리티는 튜플(행)의 수이므로 10종에 5종이 더해져 15가 됩니다. 상품이 아무리 늘어도 열의 수는 그대로라는 점이 두 용어를 가르는 핵심입니다.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3장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핵심 요약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876550"/>
            <a:ext cx="1428750" cy="542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9700" y="2876550"/>
            <a:ext cx="8953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①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1750" y="2876550"/>
            <a:ext cx="1457325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57500" y="2876550"/>
            <a:ext cx="140017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모델링: 개념적(무엇을) → 논리적(어떤 구조로) → 물리적(어떤 DBMS에)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533775"/>
            <a:ext cx="1428750" cy="542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3533775"/>
            <a:ext cx="8953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71750" y="3533775"/>
            <a:ext cx="1457325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57500" y="3533775"/>
            <a:ext cx="140017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릴레이션=테이블, 튜플=행, 속성=열 · 차수=열 수, 카디널리티=행 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191000"/>
            <a:ext cx="1428750" cy="542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4191000"/>
            <a:ext cx="8953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71750" y="4191000"/>
            <a:ext cx="1457325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57500" y="4191000"/>
            <a:ext cx="140017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키는 유일성과 최소성으로 판별 — 슈퍼·후보·기본·대체·외래키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848225"/>
            <a:ext cx="1428750" cy="542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4848225"/>
            <a:ext cx="8953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④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71750" y="4848225"/>
            <a:ext cx="1457325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57500" y="4848225"/>
            <a:ext cx="140017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기본키는 NULL 불가·불변 — 고객번호·사번 같은 인공 번호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505450"/>
            <a:ext cx="1428750" cy="542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9700" y="5505450"/>
            <a:ext cx="8953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71750" y="5505450"/>
            <a:ext cx="1457325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57500" y="5505450"/>
            <a:ext cx="140017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무결성 3종(개체·참조·도메인)은 DBMS가 강제하는 내부통제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6162675"/>
            <a:ext cx="1428750" cy="542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09700" y="6162675"/>
            <a:ext cx="8953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⑥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71750" y="6162675"/>
            <a:ext cx="1457325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857500" y="6162675"/>
            <a:ext cx="140017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ERD는 개체·속성·관계를 한 장에 — 외래키는 항상 N쪽 테이블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현실을 테이블로 번역하고, 규칙을 DB에 심어 데이터가 스스로 지키게 한다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3장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다음 장 예고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이론 4장 · SQL의 이론적 기초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810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400050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선언형 언어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어떻게가 아니라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무엇을 말한다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810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809625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관계 연산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선택·투영·조인·집합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SQL 문법의 뿌리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810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219200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SQL 4분류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DDL·DML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DCL·TCL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810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1628775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NULL과 3값 논리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모르는 값의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계산법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3장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pic>
        <p:nvPicPr>
          <p:cNvPr id="4" name="Picture 3" descr="koreate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952500"/>
            <a:ext cx="3409950" cy="4191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이론 3장 마무리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학습 마무리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다온유통 5개 테이블의 키와 관계를 ERD로 읽을 수 있게 되었습니다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모델링 3단계와 산출물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릴레이션 용어·차수·카디널리티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키 5종과 무결성 제약 3종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ERD 읽기 — 외래키는 N쪽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관련 주차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2·11주차 강의에서 모델링·ERD 실습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