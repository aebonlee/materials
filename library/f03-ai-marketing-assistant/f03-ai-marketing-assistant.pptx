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395" r:id="rId52"/>
    <p:sldId id="396" r:id="rId53"/>
    <p:sldId id="348" r:id="rId2"/>
    <p:sldId id="301" r:id="rId3"/>
    <p:sldId id="349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3" r:id="rId38"/>
    <p:sldId id="384" r:id="rId39"/>
    <p:sldId id="393" r:id="rId40"/>
    <p:sldId id="394" r:id="rId41"/>
    <p:sldId id="387" r:id="rId42"/>
    <p:sldId id="388" r:id="rId43"/>
    <p:sldId id="389" r:id="rId44"/>
    <p:sldId id="390" r:id="rId45"/>
    <p:sldId id="391" r:id="rId46"/>
    <p:sldId id="397" r:id="rId5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7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154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2">
            <a:extLst>
              <a:ext uri="{FF2B5EF4-FFF2-40B4-BE49-F238E27FC236}">
                <a16:creationId xmlns:a16="http://schemas.microsoft.com/office/drawing/2014/main" id="{326CBF84-7EF9-F527-C349-457C3FED79EC}"/>
              </a:ext>
            </a:extLst>
          </p:cNvPr>
          <p:cNvSpPr/>
          <p:nvPr/>
        </p:nvSpPr>
        <p:spPr>
          <a:xfrm>
            <a:off x="11644763" y="5633885"/>
            <a:ext cx="5542948" cy="2824316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pic>
        <p:nvPicPr>
          <p:cNvPr id="4" name="Image 0" descr="gen-dedup-8a579a756f04bca9aec7d86ee67c897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333195"/>
            <a:ext cx="15621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· APPLIED · LEVEL 2 · 4HR INTENSIVE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286000"/>
            <a:ext cx="10300214" cy="4029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kern="0" spc="-28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통합 마케팅과</a:t>
            </a:r>
            <a:endParaRPr lang="en-US" sz="9600" b="1" dirty="0"/>
          </a:p>
          <a:p>
            <a:pPr marL="0" indent="0" algn="l">
              <a:buNone/>
            </a:pPr>
            <a:r>
              <a:rPr lang="en-US" sz="9600" b="1" kern="0" spc="-288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나만의 강사 비서</a:t>
            </a:r>
            <a:r>
              <a:rPr lang="en-US" sz="9600" b="1" kern="0" spc="-28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</a:t>
            </a:r>
            <a:endParaRPr lang="en-US" sz="9600" b="1" dirty="0"/>
          </a:p>
          <a:p>
            <a:pPr marL="0" indent="0" algn="l">
              <a:buNone/>
            </a:pPr>
            <a:r>
              <a:rPr lang="en-US" sz="9600" b="1" kern="0" spc="-28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직접 만든다</a:t>
            </a:r>
            <a:endParaRPr lang="en-US" sz="9600" b="1" dirty="0"/>
          </a:p>
        </p:txBody>
      </p:sp>
      <p:sp>
        <p:nvSpPr>
          <p:cNvPr id="7" name="Shape 4"/>
          <p:cNvSpPr/>
          <p:nvPr/>
        </p:nvSpPr>
        <p:spPr>
          <a:xfrm>
            <a:off x="1333195" y="7429500"/>
            <a:ext cx="38405" cy="10287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676095" y="7429500"/>
            <a:ext cx="8290451" cy="1028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"AI는 콘텐츠를 대신 써주는 도구가 아니라 </a:t>
            </a:r>
            <a:endParaRPr lang="en-US" sz="2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7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강사의 기획·홍보·운영을 잇는 전략 파트너입니다."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2339179" y="6097072"/>
            <a:ext cx="23911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kern="0" spc="243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1교시 ·</a:t>
            </a:r>
            <a:r>
              <a:rPr lang="en-US" sz="2800" kern="0" spc="243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 통합 마케팅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2339179" y="6707518"/>
            <a:ext cx="2448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kern="0" spc="243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2교시 ·</a:t>
            </a:r>
            <a:r>
              <a:rPr lang="en-US" sz="2800" kern="0" spc="243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홍보 콘텐츠 5종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2339179" y="7317964"/>
            <a:ext cx="20766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kern="0" spc="243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3교시 ·</a:t>
            </a:r>
            <a:r>
              <a:rPr lang="en-US" sz="2800" kern="0" spc="243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 에이전트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2339179" y="7928409"/>
            <a:ext cx="25054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kern="0" spc="243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4교시 ·</a:t>
            </a:r>
            <a:r>
              <a:rPr lang="en-US" sz="2800" kern="0" spc="243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나만의 강사 비서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6954805" y="1333195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2A598E11-A89B-655C-6B5B-411C676CC911}"/>
              </a:ext>
            </a:extLst>
          </p:cNvPr>
          <p:cNvSpPr txBox="1"/>
          <p:nvPr/>
        </p:nvSpPr>
        <p:spPr>
          <a:xfrm>
            <a:off x="1333195" y="8953805"/>
            <a:ext cx="8578821" cy="6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Ph.D. 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이애본 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(드림아이티비즈(DreamIT Biz)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altLang="ko-KR" sz="2400" b="1" kern="0" spc="144" dirty="0" err="1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aebon@dreamitbiz.com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400" b="1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8233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525305" y="2286000"/>
            <a:ext cx="7429500" cy="7239305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896386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spc="2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결론 먼저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4시간 </a:t>
            </a:r>
            <a:r>
              <a:rPr lang="en-US" sz="39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후</a:t>
            </a: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39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무엇을</a:t>
            </a: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갖게 되는가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286000"/>
            <a:ext cx="7810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 · 상 황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333195" y="2752344"/>
            <a:ext cx="7810805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강사는 강의 외에도 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· 제안 · </a:t>
            </a:r>
            <a:r>
              <a:rPr lang="en-US" sz="25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운영</a:t>
            </a:r>
            <a:r>
              <a:rPr lang="en-US" sz="2500" dirty="0" err="1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까지</a:t>
            </a:r>
            <a:r>
              <a:rPr lang="en-US" sz="25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직접 합니다. 사실상 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1인 기업</a:t>
            </a:r>
            <a:r>
              <a:rPr lang="en-US" sz="25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4572000"/>
            <a:ext cx="7810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· 복잡 요인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333195" y="5038344"/>
            <a:ext cx="7810805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대부분의 강사는 AI를 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'챗봇'</a:t>
            </a:r>
            <a:r>
              <a:rPr lang="en-US" sz="25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으로만 씁니다.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500" dirty="0" err="1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반복</a:t>
            </a:r>
            <a:r>
              <a:rPr lang="en-US" sz="25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500" dirty="0" err="1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업무는</a:t>
            </a:r>
            <a:r>
              <a:rPr lang="en-US" sz="25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그대로입니다.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6858000"/>
            <a:ext cx="7810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 · 핵 심 질 문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333195" y="7324344"/>
            <a:ext cx="7810805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5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반복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업무 </a:t>
            </a:r>
            <a:r>
              <a:rPr lang="en-US" sz="25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전체를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AI </a:t>
            </a:r>
            <a:r>
              <a:rPr lang="en-US" sz="25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위에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5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올려놓을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5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것인가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?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9905695" y="2667305"/>
            <a:ext cx="6667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답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9905695" y="3172054"/>
            <a:ext cx="6667805" cy="213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전략 → 콘텐츠 → </a:t>
            </a:r>
            <a:r>
              <a:rPr lang="en-US" sz="2800" dirty="0" err="1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에이전트</a:t>
            </a:r>
            <a:r>
              <a:rPr lang="ko-KR" altLang="en-US" sz="2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→ 비서 순서로</a:t>
            </a:r>
            <a:endParaRPr lang="en-US" sz="2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FCD34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4시간 </a:t>
            </a:r>
            <a:r>
              <a:rPr lang="en-US" sz="3000" dirty="0" err="1">
                <a:solidFill>
                  <a:srgbClr val="FCD34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안에</a:t>
            </a:r>
            <a:r>
              <a:rPr lang="en-US" sz="30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3000" dirty="0" err="1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강사용</a:t>
            </a:r>
            <a:r>
              <a:rPr lang="en-US" sz="30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AI 운영 체계를 만듭니다.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905695" y="5810098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306202" y="5810098"/>
            <a:ext cx="3565246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1</a:t>
            </a:r>
            <a:r>
              <a:rPr lang="en-US" sz="1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통합 마케팅 전략표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905695" y="6290158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0306202" y="6290158"/>
            <a:ext cx="326349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2</a:t>
            </a:r>
            <a:r>
              <a:rPr lang="en-US" sz="1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홍보 콘텐츠 5종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905695" y="6770218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306202" y="6770218"/>
            <a:ext cx="3565246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3</a:t>
            </a:r>
            <a:r>
              <a:rPr lang="en-US" sz="1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에이전트 이해 카드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905695" y="7250278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306202" y="7250278"/>
            <a:ext cx="2754173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4</a:t>
            </a:r>
            <a:r>
              <a:rPr lang="en-US" sz="1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비서 설계서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905695" y="7730338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306202" y="7730338"/>
            <a:ext cx="463509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5</a:t>
            </a:r>
            <a:r>
              <a:rPr lang="en-US" sz="1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시스템 프롬프트 (즉시 사용)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905695" y="8382305"/>
            <a:ext cx="66678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905695" y="8620049"/>
            <a:ext cx="6667805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0" rIns="228600" bIns="2286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3C5F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비서가 </a:t>
            </a:r>
            <a:r>
              <a:rPr lang="en-US" sz="1800" dirty="0">
                <a:solidFill>
                  <a:srgbClr val="FCD34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초안</a:t>
            </a:r>
            <a:r>
              <a:rPr lang="en-US" sz="1800" dirty="0">
                <a:solidFill>
                  <a:srgbClr val="93C5F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쓰고, 강사는 </a:t>
            </a:r>
            <a:r>
              <a:rPr lang="en-US" sz="1800" dirty="0">
                <a:solidFill>
                  <a:srgbClr val="FCD34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검수</a:t>
            </a:r>
            <a:r>
              <a:rPr lang="en-US" sz="1800" dirty="0">
                <a:solidFill>
                  <a:srgbClr val="93C5F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만 합니다.</a:t>
            </a:r>
            <a:endParaRPr lang="en-US" sz="18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2908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d02ceba45e67abedb6c29d2a42d54fe0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143500" y="5333695"/>
            <a:ext cx="761695" cy="19202"/>
          </a:xfrm>
          <a:prstGeom prst="rect">
            <a:avLst/>
          </a:prstGeom>
        </p:spPr>
      </p:pic>
      <p:pic>
        <p:nvPicPr>
          <p:cNvPr id="5" name="Image 1" descr="gen-dedup-a0f416367f1ae50a485f29f41c314fad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5905195" y="2667305"/>
            <a:ext cx="19202" cy="5524805"/>
          </a:xfrm>
          <a:prstGeom prst="rect">
            <a:avLst/>
          </a:prstGeom>
        </p:spPr>
      </p:pic>
      <p:pic>
        <p:nvPicPr>
          <p:cNvPr id="6" name="Image 2" descr="gen-dedup-35dc3c5d5c55a8f2452eac28c4dc66a2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5905195" y="2667305"/>
            <a:ext cx="571500" cy="19202"/>
          </a:xfrm>
          <a:prstGeom prst="rect">
            <a:avLst/>
          </a:prstGeom>
        </p:spPr>
      </p:pic>
      <p:pic>
        <p:nvPicPr>
          <p:cNvPr id="7" name="Image 3" descr="gen-dedup-35dc3c5d5c55a8f2452eac28c4dc66a2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5905195" y="4381805"/>
            <a:ext cx="571500" cy="19202"/>
          </a:xfrm>
          <a:prstGeom prst="rect">
            <a:avLst/>
          </a:prstGeom>
        </p:spPr>
      </p:pic>
      <p:pic>
        <p:nvPicPr>
          <p:cNvPr id="8" name="Image 4" descr="gen-dedup-35dc3c5d5c55a8f2452eac28c4dc66a2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5905195" y="6286500"/>
            <a:ext cx="571500" cy="19202"/>
          </a:xfrm>
          <a:prstGeom prst="rect">
            <a:avLst/>
          </a:prstGeom>
        </p:spPr>
      </p:pic>
      <p:pic>
        <p:nvPicPr>
          <p:cNvPr id="9" name="Image 5" descr="gen-dedup-35dc3c5d5c55a8f2452eac28c4dc66a2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5905195" y="8191195"/>
            <a:ext cx="571500" cy="19202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3"/>
          <p:cNvSpPr txBox="1"/>
          <p:nvPr/>
        </p:nvSpPr>
        <p:spPr>
          <a:xfrm>
            <a:off x="1333195" y="558800"/>
            <a:ext cx="565830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구조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네 갈래로만 자른다</a:t>
            </a:r>
          </a:p>
        </p:txBody>
      </p:sp>
      <p:sp>
        <p:nvSpPr>
          <p:cNvPr id="12" name="Text 4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13" name="Text 5"/>
          <p:cNvSpPr txBox="1"/>
          <p:nvPr/>
        </p:nvSpPr>
        <p:spPr>
          <a:xfrm>
            <a:off x="1333195" y="4381805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324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 심 질 문</a:t>
            </a:r>
            <a:endParaRPr lang="en-US" sz="1300" dirty="0"/>
          </a:p>
        </p:txBody>
      </p:sp>
      <p:sp>
        <p:nvSpPr>
          <p:cNvPr id="14" name="Text 6"/>
          <p:cNvSpPr txBox="1"/>
          <p:nvPr/>
        </p:nvSpPr>
        <p:spPr>
          <a:xfrm>
            <a:off x="1333195" y="4800600"/>
            <a:ext cx="3810305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강사의 일을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 AI 위에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올릴 것인가?</a:t>
            </a:r>
            <a:endParaRPr lang="en-US" sz="2800" dirty="0"/>
          </a:p>
        </p:txBody>
      </p:sp>
      <p:sp>
        <p:nvSpPr>
          <p:cNvPr id="15" name="Text 7"/>
          <p:cNvSpPr txBox="1"/>
          <p:nvPr/>
        </p:nvSpPr>
        <p:spPr>
          <a:xfrm>
            <a:off x="1333195" y="6533388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네 갈래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6667805" y="2933395"/>
            <a:ext cx="5333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9"/>
          <p:cNvSpPr txBox="1"/>
          <p:nvPr/>
        </p:nvSpPr>
        <p:spPr>
          <a:xfrm>
            <a:off x="6667805" y="2286000"/>
            <a:ext cx="25786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3300" dirty="0"/>
          </a:p>
        </p:txBody>
      </p:sp>
      <p:sp>
        <p:nvSpPr>
          <p:cNvPr id="18" name="Text 10"/>
          <p:cNvSpPr txBox="1"/>
          <p:nvPr/>
        </p:nvSpPr>
        <p:spPr>
          <a:xfrm>
            <a:off x="7109460" y="2381098"/>
            <a:ext cx="272857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통합 마케팅인가</a:t>
            </a:r>
            <a:endParaRPr lang="en-US" sz="2200" dirty="0"/>
          </a:p>
        </p:txBody>
      </p:sp>
      <p:sp>
        <p:nvSpPr>
          <p:cNvPr id="19" name="Text 11"/>
          <p:cNvSpPr txBox="1"/>
          <p:nvPr/>
        </p:nvSpPr>
        <p:spPr>
          <a:xfrm>
            <a:off x="6667805" y="3086100"/>
            <a:ext cx="5334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마케팅의 변화 · 강사 브랜드 · 콘텐츠 퍼널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1교시 · 슬라이드 06~14</a:t>
            </a:r>
            <a:endParaRPr lang="en-US" sz="2000" dirty="0"/>
          </a:p>
        </p:txBody>
      </p:sp>
      <p:sp>
        <p:nvSpPr>
          <p:cNvPr id="20" name="Shape 12"/>
          <p:cNvSpPr/>
          <p:nvPr/>
        </p:nvSpPr>
        <p:spPr>
          <a:xfrm>
            <a:off x="6667805" y="4647895"/>
            <a:ext cx="5333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3"/>
          <p:cNvSpPr txBox="1"/>
          <p:nvPr/>
        </p:nvSpPr>
        <p:spPr>
          <a:xfrm>
            <a:off x="6667805" y="4000500"/>
            <a:ext cx="25786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3300" dirty="0"/>
          </a:p>
        </p:txBody>
      </p:sp>
      <p:sp>
        <p:nvSpPr>
          <p:cNvPr id="22" name="Text 14"/>
          <p:cNvSpPr txBox="1"/>
          <p:nvPr/>
        </p:nvSpPr>
        <p:spPr>
          <a:xfrm>
            <a:off x="7109460" y="4095598"/>
            <a:ext cx="355153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 콘텐츠를 만드는가</a:t>
            </a:r>
            <a:endParaRPr lang="en-US" sz="2200" dirty="0"/>
          </a:p>
        </p:txBody>
      </p:sp>
      <p:sp>
        <p:nvSpPr>
          <p:cNvPr id="23" name="Text 15"/>
          <p:cNvSpPr txBox="1"/>
          <p:nvPr/>
        </p:nvSpPr>
        <p:spPr>
          <a:xfrm>
            <a:off x="6667805" y="4800600"/>
            <a:ext cx="5334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소개문 · SNS · 블로그 · 카드뉴스 · 제안 메일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2교시 · 슬라이드 15~22</a:t>
            </a:r>
            <a:endParaRPr lang="en-US" sz="2000" dirty="0"/>
          </a:p>
        </p:txBody>
      </p:sp>
      <p:sp>
        <p:nvSpPr>
          <p:cNvPr id="24" name="Shape 16"/>
          <p:cNvSpPr/>
          <p:nvPr/>
        </p:nvSpPr>
        <p:spPr>
          <a:xfrm>
            <a:off x="6667805" y="6552590"/>
            <a:ext cx="5333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7"/>
          <p:cNvSpPr txBox="1"/>
          <p:nvPr/>
        </p:nvSpPr>
        <p:spPr>
          <a:xfrm>
            <a:off x="6667805" y="5905195"/>
            <a:ext cx="25786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3300" dirty="0"/>
          </a:p>
        </p:txBody>
      </p:sp>
      <p:sp>
        <p:nvSpPr>
          <p:cNvPr id="26" name="Text 18"/>
          <p:cNvSpPr txBox="1"/>
          <p:nvPr/>
        </p:nvSpPr>
        <p:spPr>
          <a:xfrm>
            <a:off x="7109460" y="6001207"/>
            <a:ext cx="334579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에이전트는 무엇인가</a:t>
            </a:r>
            <a:endParaRPr lang="en-US" sz="2200" dirty="0"/>
          </a:p>
        </p:txBody>
      </p:sp>
      <p:sp>
        <p:nvSpPr>
          <p:cNvPr id="27" name="Text 19"/>
          <p:cNvSpPr txBox="1"/>
          <p:nvPr/>
        </p:nvSpPr>
        <p:spPr>
          <a:xfrm>
            <a:off x="6667805" y="6705295"/>
            <a:ext cx="5334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 · 자동화 · 에이전트의 차이와 구성요소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3교시 · 슬라이드 23~31</a:t>
            </a:r>
            <a:endParaRPr lang="en-US" sz="2000" dirty="0"/>
          </a:p>
        </p:txBody>
      </p:sp>
      <p:sp>
        <p:nvSpPr>
          <p:cNvPr id="28" name="Shape 20"/>
          <p:cNvSpPr/>
          <p:nvPr/>
        </p:nvSpPr>
        <p:spPr>
          <a:xfrm>
            <a:off x="6667805" y="8458200"/>
            <a:ext cx="5333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 txBox="1"/>
          <p:nvPr/>
        </p:nvSpPr>
        <p:spPr>
          <a:xfrm>
            <a:off x="6667805" y="7810805"/>
            <a:ext cx="25786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3300" dirty="0"/>
          </a:p>
        </p:txBody>
      </p:sp>
      <p:sp>
        <p:nvSpPr>
          <p:cNvPr id="30" name="Text 22"/>
          <p:cNvSpPr txBox="1"/>
          <p:nvPr/>
        </p:nvSpPr>
        <p:spPr>
          <a:xfrm>
            <a:off x="7109460" y="7905902"/>
            <a:ext cx="399684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나의 비서를 어떻게 만드는가</a:t>
            </a:r>
            <a:endParaRPr lang="en-US" sz="2200" dirty="0"/>
          </a:p>
        </p:txBody>
      </p:sp>
      <p:sp>
        <p:nvSpPr>
          <p:cNvPr id="31" name="Text 23"/>
          <p:cNvSpPr txBox="1"/>
          <p:nvPr/>
        </p:nvSpPr>
        <p:spPr>
          <a:xfrm>
            <a:off x="6667805" y="8610905"/>
            <a:ext cx="5334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· 입력 · 출력 · 검수 · 시스템 프롬프트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4교시 · 슬라이드 32~41 · 최종 산출물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12763195" y="2286000"/>
            <a:ext cx="419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97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MECE 검증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12763195" y="3372307"/>
            <a:ext cx="419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12763195" y="2876702"/>
            <a:ext cx="2103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400" dirty="0"/>
          </a:p>
        </p:txBody>
      </p:sp>
      <p:sp>
        <p:nvSpPr>
          <p:cNvPr id="35" name="Text 27"/>
          <p:cNvSpPr txBox="1"/>
          <p:nvPr/>
        </p:nvSpPr>
        <p:spPr>
          <a:xfrm>
            <a:off x="13143586" y="2905049"/>
            <a:ext cx="200162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서로 겹치지 않는다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12763195" y="4047134"/>
            <a:ext cx="419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12763195" y="3550615"/>
            <a:ext cx="2103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400" dirty="0"/>
          </a:p>
        </p:txBody>
      </p:sp>
      <p:sp>
        <p:nvSpPr>
          <p:cNvPr id="38" name="Text 30"/>
          <p:cNvSpPr txBox="1"/>
          <p:nvPr/>
        </p:nvSpPr>
        <p:spPr>
          <a:xfrm>
            <a:off x="13143586" y="3579876"/>
            <a:ext cx="165323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전체를 망라한다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12763195" y="4721047"/>
            <a:ext cx="419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 txBox="1"/>
          <p:nvPr/>
        </p:nvSpPr>
        <p:spPr>
          <a:xfrm>
            <a:off x="12763195" y="4225442"/>
            <a:ext cx="2103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400" dirty="0"/>
          </a:p>
        </p:txBody>
      </p:sp>
      <p:sp>
        <p:nvSpPr>
          <p:cNvPr id="41" name="Text 33"/>
          <p:cNvSpPr txBox="1"/>
          <p:nvPr/>
        </p:nvSpPr>
        <p:spPr>
          <a:xfrm>
            <a:off x="13143586" y="4253789"/>
            <a:ext cx="149047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4갈래 4교시</a:t>
            </a:r>
            <a:endParaRPr lang="en-US" sz="1600" dirty="0"/>
          </a:p>
        </p:txBody>
      </p:sp>
      <p:sp>
        <p:nvSpPr>
          <p:cNvPr id="42" name="Shape 34"/>
          <p:cNvSpPr/>
          <p:nvPr/>
        </p:nvSpPr>
        <p:spPr>
          <a:xfrm>
            <a:off x="12763195" y="4956962"/>
            <a:ext cx="419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5"/>
          <p:cNvSpPr txBox="1"/>
          <p:nvPr/>
        </p:nvSpPr>
        <p:spPr>
          <a:xfrm>
            <a:off x="12763195" y="5138014"/>
            <a:ext cx="4191610" cy="2761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5가지를 넘기면 4시간 안에 끝나지 않습니다.</a:t>
            </a:r>
            <a:endParaRPr lang="en-US" sz="13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7116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87c3594914db089ea18e718d44370af0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1333195" y="3553358"/>
            <a:ext cx="57607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333195" y="558800"/>
            <a:ext cx="99441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학습 목표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후 직접 할 수 있어야 합니다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33195" y="2190901"/>
            <a:ext cx="15275053" cy="9994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학습 목표는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"수강생이 직접 할 수 있는 동사"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로 적습니다.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"이해한다"는 검증 불가. </a:t>
            </a:r>
            <a:r>
              <a:rPr lang="en-US" sz="2100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"작성한다 / 설계한다 / 시연한다"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는 검증 가능.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714500" y="4687214"/>
            <a:ext cx="152403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714500" y="3762755"/>
            <a:ext cx="6675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2723998" y="3810304"/>
            <a:ext cx="3743554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통합 마케팅 구조를 </a:t>
            </a:r>
            <a:r>
              <a:rPr lang="en-US" sz="2100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설명한다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714500" y="5572354"/>
            <a:ext cx="152403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714500" y="4648809"/>
            <a:ext cx="6675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2723998" y="4696358"/>
            <a:ext cx="49277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브랜드용 </a:t>
            </a:r>
            <a:r>
              <a:rPr lang="en-US" sz="2100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콘텐츠 퍼널을 설계한다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714500" y="6458407"/>
            <a:ext cx="152403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714500" y="5533948"/>
            <a:ext cx="6675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2723998" y="5581497"/>
            <a:ext cx="451165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에이전트와 챗봇의 차이를 </a:t>
            </a:r>
            <a:r>
              <a:rPr lang="en-US" sz="2100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구분한다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714500" y="7344461"/>
            <a:ext cx="152403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714500" y="6420002"/>
            <a:ext cx="6675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2723998" y="6467551"/>
            <a:ext cx="348752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비서 구조를 </a:t>
            </a:r>
            <a:r>
              <a:rPr lang="en-US" sz="2100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설계한다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714500" y="8230514"/>
            <a:ext cx="152403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1714500" y="7306055"/>
            <a:ext cx="6675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700" dirty="0"/>
          </a:p>
        </p:txBody>
      </p:sp>
      <p:sp>
        <p:nvSpPr>
          <p:cNvPr id="23" name="Text 20"/>
          <p:cNvSpPr txBox="1"/>
          <p:nvPr/>
        </p:nvSpPr>
        <p:spPr>
          <a:xfrm>
            <a:off x="2723998" y="7353604"/>
            <a:ext cx="4383634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콘텐츠 5종을 AI로 </a:t>
            </a:r>
            <a:r>
              <a:rPr lang="en-US" sz="2100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생성한다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1714500" y="8192109"/>
            <a:ext cx="6675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700" dirty="0"/>
          </a:p>
        </p:txBody>
      </p:sp>
      <p:sp>
        <p:nvSpPr>
          <p:cNvPr id="25" name="Text 22"/>
          <p:cNvSpPr txBox="1"/>
          <p:nvPr/>
        </p:nvSpPr>
        <p:spPr>
          <a:xfrm>
            <a:off x="2723998" y="8239658"/>
            <a:ext cx="476768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프롬프트를 </a:t>
            </a:r>
            <a:r>
              <a:rPr lang="en-US" sz="2100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완성하고 시연한다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333195" y="9334195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1333195" y="9533534"/>
            <a:ext cx="15621610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0" rIns="190500" bIns="1905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 원칙</a:t>
            </a:r>
            <a:r>
              <a:rPr lang="en-US" sz="15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· 학습 목표는 </a:t>
            </a:r>
            <a:r>
              <a:rPr lang="en-US" sz="1500" i="1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강의자의 의도</a:t>
            </a:r>
            <a:r>
              <a:rPr lang="en-US" sz="15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아니라 </a:t>
            </a:r>
            <a:r>
              <a:rPr lang="en-US" sz="1500" i="1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수강생의 행동</a:t>
            </a:r>
            <a:r>
              <a:rPr lang="en-US" sz="15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으로 쓴다.</a:t>
            </a:r>
            <a:endParaRPr lang="en-US" sz="15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22597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650595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시간표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4시간 · 50분 × 4교시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3195" y="2286000"/>
            <a:ext cx="15620695" cy="714146"/>
          </a:xfrm>
          <a:prstGeom prst="rect">
            <a:avLst/>
          </a:prstGeom>
          <a:noFill/>
          <a:ln w="3810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1333195" y="2314346"/>
            <a:ext cx="13341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1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27745" y="2314346"/>
            <a:ext cx="2667305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1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70422" y="2314346"/>
            <a:ext cx="4901686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1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내용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334695" y="2314346"/>
            <a:ext cx="3620110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1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산출물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33195" y="4200754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1505102" y="3267151"/>
            <a:ext cx="9912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1교시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05102" y="3705149"/>
            <a:ext cx="1179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398738" y="3119665"/>
            <a:ext cx="390909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통합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마케팅과</a:t>
            </a:r>
            <a:r>
              <a:rPr lang="ko-KR" altLang="en-US" sz="2400" dirty="0"/>
              <a:t>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전략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870422" y="3000146"/>
            <a:ext cx="4901686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마케팅의 변화 · 강사 브랜드 · 콘텐츠 퍼널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13334695" y="3000146"/>
            <a:ext cx="3620110" cy="838505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266700" rIns="177800" bIns="2667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마케팅 전략표 1장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33195" y="5410505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 txBox="1"/>
          <p:nvPr/>
        </p:nvSpPr>
        <p:spPr>
          <a:xfrm>
            <a:off x="1505102" y="4476902"/>
            <a:ext cx="9912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2교시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505102" y="4914900"/>
            <a:ext cx="1179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50분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398738" y="4240925"/>
            <a:ext cx="4283318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강사형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콘텐츠</a:t>
            </a:r>
            <a:r>
              <a:rPr lang="ko-KR" altLang="en-US" sz="2400" dirty="0"/>
              <a:t>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자동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생성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870422" y="4209898"/>
            <a:ext cx="4901686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소개문 · SNS · 블로그 · 카드뉴스 · 제안 메일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3334695" y="4209898"/>
            <a:ext cx="3620110" cy="838505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266700" rIns="177800" bIns="2667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 콘텐츠 5종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333195" y="6620256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1505102" y="5686654"/>
            <a:ext cx="9912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3교시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505102" y="6124651"/>
            <a:ext cx="1179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50분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398738" y="5509671"/>
            <a:ext cx="363438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에이전트란</a:t>
            </a:r>
            <a:r>
              <a:rPr lang="ko-KR" altLang="en-US" sz="2400" dirty="0"/>
              <a:t>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무엇인가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870422" y="5419649"/>
            <a:ext cx="4901686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 · 자동화 · 에이전트의 차이와 구성요소</a:t>
            </a: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13334695" y="5419649"/>
            <a:ext cx="3620110" cy="838505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266700" rIns="177800" bIns="2667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이해 카드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333195" y="7830007"/>
            <a:ext cx="15620695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9"/>
          <p:cNvSpPr txBox="1"/>
          <p:nvPr/>
        </p:nvSpPr>
        <p:spPr>
          <a:xfrm>
            <a:off x="1505102" y="6896405"/>
            <a:ext cx="9912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4교시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505102" y="7334402"/>
            <a:ext cx="1179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50분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398738" y="6837410"/>
            <a:ext cx="363438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나만의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비서</a:t>
            </a:r>
            <a:r>
              <a:rPr lang="ko-KR" altLang="en-US" sz="2400" dirty="0"/>
              <a:t> </a:t>
            </a: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구축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870422" y="6629400"/>
            <a:ext cx="4901686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비서 역할 · 시스템 프롬프트 · 업무 흐름 · 검수</a:t>
            </a:r>
            <a:endParaRPr lang="en-US" dirty="0"/>
          </a:p>
        </p:txBody>
      </p:sp>
      <p:sp>
        <p:nvSpPr>
          <p:cNvPr id="35" name="Text 33"/>
          <p:cNvSpPr txBox="1"/>
          <p:nvPr/>
        </p:nvSpPr>
        <p:spPr>
          <a:xfrm>
            <a:off x="13334695" y="6629400"/>
            <a:ext cx="3620110" cy="838505"/>
          </a:xfrm>
          <a:prstGeom prst="rect">
            <a:avLst/>
          </a:prstGeom>
          <a:solidFill>
            <a:srgbClr val="FFFB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266700" rIns="177800" bIns="2667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+ 시스템 프롬프트 (시연)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1333195" y="9334195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333195" y="9534449"/>
            <a:ext cx="426019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원칙</a:t>
            </a:r>
            <a:r>
              <a:rPr lang="en-US" sz="15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매 교시 끝에 </a:t>
            </a:r>
            <a:r>
              <a:rPr lang="en-US" sz="1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손에 잡히는 결과물 1건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5506395" y="9534449"/>
            <a:ext cx="14484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총 산출물 = 5건</a:t>
            </a:r>
            <a:endParaRPr lang="en-US" sz="15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13421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0282087a399e7c95595faa9cad462f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524305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62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· 01 / 04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476195"/>
            <a:ext cx="15621610" cy="2667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dirty="0">
                <a:solidFill>
                  <a:srgbClr val="F3F4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5333695"/>
            <a:ext cx="15621610" cy="235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0" kern="0" spc="-16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통합 마케팅과</a:t>
            </a:r>
            <a:endParaRPr lang="en-US" sz="8400" dirty="0"/>
          </a:p>
          <a:p>
            <a:pPr marL="0" indent="0" algn="l">
              <a:buNone/>
            </a:pPr>
            <a:r>
              <a:rPr lang="en-US" sz="8400" kern="0" spc="-168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전략</a:t>
            </a:r>
            <a:endParaRPr lang="en-US" sz="8400" dirty="0"/>
          </a:p>
        </p:txBody>
      </p:sp>
      <p:sp>
        <p:nvSpPr>
          <p:cNvPr id="8" name="Shape 5"/>
          <p:cNvSpPr/>
          <p:nvPr/>
        </p:nvSpPr>
        <p:spPr>
          <a:xfrm>
            <a:off x="1333195" y="8382305"/>
            <a:ext cx="38405" cy="47640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638605" y="8382305"/>
            <a:ext cx="1531620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마케팅의 무게중심은 콘텐츠에서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전략 설계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로 옮겨갔습니다.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333195" y="9715500"/>
            <a:ext cx="51727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07 → 14 · 1교시 · 실습 = 마케팅 전략표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6290036" y="9743846"/>
            <a:ext cx="7690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r>
              <a:rPr lang="en-US" sz="1400" kern="0" spc="281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2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4379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7848294"/>
            <a:ext cx="15620695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943020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가설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마케팅 무게중심은 어디로 갔는가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286000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36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 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752344"/>
            <a:ext cx="1637599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"무엇을 쓰느냐"에서 "누구에게 어떤 흐름으로 닿느냐"의 게임으로 바뀌었다.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3791101"/>
            <a:ext cx="7334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7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 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153204"/>
            <a:ext cx="73344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콘텐츠 생성이 가장 어려웠다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667598" y="3791101"/>
            <a:ext cx="9528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620402" y="3791101"/>
            <a:ext cx="7334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7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지 금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20402" y="4153204"/>
            <a:ext cx="73344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전략 </a:t>
            </a:r>
            <a:r>
              <a:rPr lang="en-US" sz="2400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가장 어렵다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33195" y="6294729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333195" y="5198363"/>
            <a:ext cx="7334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7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 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33195" y="5560465"/>
            <a:ext cx="73344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단발성 홍보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667598" y="5198363"/>
            <a:ext cx="9528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620402" y="5198363"/>
            <a:ext cx="7334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7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지 금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20402" y="5560465"/>
            <a:ext cx="73344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고객 여정 기반 운영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333195" y="7701990"/>
            <a:ext cx="15620695" cy="192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333195" y="6606539"/>
            <a:ext cx="7334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7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 전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33195" y="6968641"/>
            <a:ext cx="73344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= 강의 잘하는 사람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667598" y="6606539"/>
            <a:ext cx="9528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620402" y="6606539"/>
            <a:ext cx="7334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7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지 금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20402" y="6968641"/>
            <a:ext cx="73344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= 1인 미디어 / 1인 기업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8076894"/>
            <a:ext cx="1485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324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714500" y="8401506"/>
            <a:ext cx="14859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첫 질문은 "무엇을 쓸까"가 아니라 "내 고객 여정을 어떻게 설계할까"</a:t>
            </a:r>
            <a:endParaRPr lang="en-US" sz="21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44438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9753905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관점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교육 담당자가 보는 강사의 7가지 신호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286000"/>
            <a:ext cx="1610167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담당자는 강사를 검색합니다. 검색 결과의 </a:t>
            </a: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첫 페이지에 무엇이 보이는가</a:t>
            </a:r>
            <a:r>
              <a:rPr lang="en-US" sz="22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이게 강의력보다 먼저 평가됩니다.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33195" y="38103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7"/>
          <p:cNvSpPr/>
          <p:nvPr/>
        </p:nvSpPr>
        <p:spPr>
          <a:xfrm>
            <a:off x="1333195" y="4638751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9134856" y="3829507"/>
            <a:ext cx="9144" cy="8193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1333195" y="4076395"/>
            <a:ext cx="4764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038198" y="4058107"/>
            <a:ext cx="551017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검색하면 본인 이름이 첫 페이지에 나오는가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0" y="4639666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9448495" y="4076395"/>
            <a:ext cx="4764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0153498" y="4058107"/>
            <a:ext cx="455919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전문 주제 한 줄로 정의되어 있는가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33195" y="5458054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Shape 15"/>
          <p:cNvSpPr/>
          <p:nvPr/>
        </p:nvSpPr>
        <p:spPr>
          <a:xfrm>
            <a:off x="9134856" y="4647895"/>
            <a:ext cx="9144" cy="8193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1333195" y="4895698"/>
            <a:ext cx="4764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2038198" y="4876495"/>
            <a:ext cx="402427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후기 구체적이고 최근인가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0" y="5458054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 txBox="1"/>
          <p:nvPr/>
        </p:nvSpPr>
        <p:spPr>
          <a:xfrm>
            <a:off x="9448495" y="4895698"/>
            <a:ext cx="4764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0153498" y="4876495"/>
            <a:ext cx="494599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사례 어디서 / 누구를 가르쳤는가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333195" y="6277356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Shape 22"/>
          <p:cNvSpPr/>
          <p:nvPr/>
        </p:nvSpPr>
        <p:spPr>
          <a:xfrm>
            <a:off x="9134856" y="5467198"/>
            <a:ext cx="9144" cy="8193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1333195" y="5715000"/>
            <a:ext cx="4764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2038198" y="5695798"/>
            <a:ext cx="494599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산출물 사진 / 결과물이 보이는가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144000" y="6277356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 26"/>
          <p:cNvSpPr txBox="1"/>
          <p:nvPr/>
        </p:nvSpPr>
        <p:spPr>
          <a:xfrm>
            <a:off x="9448495" y="5715000"/>
            <a:ext cx="4764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10153498" y="5695798"/>
            <a:ext cx="518373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연락 경로 즉시 제안서를 받을 수 있는가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333195" y="6286500"/>
            <a:ext cx="7810805" cy="1086307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Shape 29"/>
          <p:cNvSpPr/>
          <p:nvPr/>
        </p:nvSpPr>
        <p:spPr>
          <a:xfrm>
            <a:off x="9134856" y="6286500"/>
            <a:ext cx="9144" cy="1086307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2" name="Text 30"/>
          <p:cNvSpPr txBox="1"/>
          <p:nvPr/>
        </p:nvSpPr>
        <p:spPr>
          <a:xfrm>
            <a:off x="1333195" y="6534302"/>
            <a:ext cx="4764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2038198" y="6515100"/>
            <a:ext cx="479694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최근성 마지막 활동이 1개월 이내인가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144000" y="6286500"/>
            <a:ext cx="7810805" cy="1086307"/>
          </a:xfrm>
          <a:prstGeom prst="rect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Text 33"/>
          <p:cNvSpPr txBox="1"/>
          <p:nvPr/>
        </p:nvSpPr>
        <p:spPr>
          <a:xfrm>
            <a:off x="9448495" y="6515100"/>
            <a:ext cx="75063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신호를 매번 직접 만드는 일 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이걸 AI 비서에게 넘기는 게 본 강의의 목표.</a:t>
            </a:r>
            <a:endParaRPr lang="en-US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8754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659191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구조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통합 마케팅 = 6가지 결정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286000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거창한 전략이 아닙니다.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6가지를 한 번에 적어둔 문서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곧 통합 마케팅 전략표입니다. 한 번 짜고 1년을 굴립니다.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333195" y="38103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33195" y="5800954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34302" y="3829507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333195" y="4172407"/>
            <a:ext cx="457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962302" y="4209898"/>
            <a:ext cx="145572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전문 분야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4828946"/>
            <a:ext cx="48582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"누구에게, 어떤 문제를 푼다"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문장으로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40703" y="5800954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741810" y="3829507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883603" y="4172407"/>
            <a:ext cx="457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511796" y="4209898"/>
            <a:ext cx="145572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수강 대상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83603" y="4828946"/>
            <a:ext cx="45153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/ 공공 / 프리랜서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대상이 바뀌면 모든 결정도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747297" y="5801868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2090197" y="4172407"/>
            <a:ext cx="457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2719304" y="4209898"/>
            <a:ext cx="145572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상품 구조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2090197" y="4828946"/>
            <a:ext cx="486735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맛보기 / 정규 / 심화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단계만 있으면 재구매가 없음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34302" y="5801868"/>
            <a:ext cx="9144" cy="197144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333195" y="6144768"/>
            <a:ext cx="457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1962302" y="6182258"/>
            <a:ext cx="145572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채널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333195" y="6801307"/>
            <a:ext cx="48582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블로그 / SNS / 뉴스레터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3개를 넘기지 않기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741810" y="5801868"/>
            <a:ext cx="9144" cy="197144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883603" y="6144768"/>
            <a:ext cx="457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7511796" y="6182258"/>
            <a:ext cx="1772107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콘텐츠 유형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883603" y="6801307"/>
            <a:ext cx="45153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/ 정보 / 후기 / 안내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비율을 적어두기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2090197" y="6144768"/>
            <a:ext cx="457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12719304" y="6182258"/>
            <a:ext cx="267644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문의 → 신청 흐름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12090197" y="6801307"/>
            <a:ext cx="486735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DM → 제안서 → 계약 → 운영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명확해야 자동화 가능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333195" y="9611258"/>
            <a:ext cx="156216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원칙</a:t>
            </a:r>
            <a:r>
              <a:rPr lang="en-US" sz="15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6칸이 한 문장씩 적혀야 AI가 비로소 이 위에서 일합니다.</a:t>
            </a:r>
            <a:endParaRPr lang="en-US" sz="15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10372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4180880e96431f6903d665e230b5483.png"/>
          <p:cNvPicPr>
            <a:picLocks noChangeAspect="1"/>
          </p:cNvPicPr>
          <p:nvPr/>
        </p:nvPicPr>
        <p:blipFill>
          <a:blip r:embed="rId3"/>
          <a:srcRect l="-402" r="-402"/>
          <a:stretch/>
        </p:blipFill>
        <p:spPr>
          <a:xfrm>
            <a:off x="1333195" y="4000500"/>
            <a:ext cx="1562069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333195" y="558800"/>
            <a:ext cx="7411212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고객 여정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마케팅 퍼널 5단계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33195" y="2286000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교육 담당자가 강사를 만나기까지 그리고 한 번 더 의뢰하기까지.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콘텐츠는 단계 위에 배치합니다.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295851" y="4286707"/>
            <a:ext cx="9144" cy="25146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0" name="Text 7"/>
          <p:cNvSpPr txBox="1"/>
          <p:nvPr/>
        </p:nvSpPr>
        <p:spPr>
          <a:xfrm>
            <a:off x="1333195" y="4629607"/>
            <a:ext cx="27724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4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333195" y="5029200"/>
            <a:ext cx="27724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 지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1333195" y="5692140"/>
            <a:ext cx="277246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· 블로그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카드뉴스 · 영상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33195" y="6568135"/>
            <a:ext cx="27724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목표 = 노출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458761" y="4286707"/>
            <a:ext cx="9144" cy="25146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5" name="Text 12"/>
          <p:cNvSpPr txBox="1"/>
          <p:nvPr/>
        </p:nvSpPr>
        <p:spPr>
          <a:xfrm>
            <a:off x="4496105" y="4629607"/>
            <a:ext cx="27724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4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6105" y="5029200"/>
            <a:ext cx="27724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관 심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4496105" y="5692140"/>
            <a:ext cx="277246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후기 · 사례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비포 / 애프터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496105" y="6568135"/>
            <a:ext cx="27724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목표 = 체류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10620756" y="4286707"/>
            <a:ext cx="9144" cy="25146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" name="Text 17"/>
          <p:cNvSpPr txBox="1"/>
          <p:nvPr/>
        </p:nvSpPr>
        <p:spPr>
          <a:xfrm>
            <a:off x="7658100" y="4629607"/>
            <a:ext cx="27724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4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658100" y="5029200"/>
            <a:ext cx="27724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 뢰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7658100" y="5692140"/>
            <a:ext cx="277246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출강 기관 · 성과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658100" y="6568135"/>
            <a:ext cx="27724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목표 = 검증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13782751" y="4286707"/>
            <a:ext cx="9144" cy="25146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" name="Text 22"/>
          <p:cNvSpPr txBox="1"/>
          <p:nvPr/>
        </p:nvSpPr>
        <p:spPr>
          <a:xfrm>
            <a:off x="10820095" y="4629607"/>
            <a:ext cx="27724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4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10820095" y="5029200"/>
            <a:ext cx="27724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 환</a:t>
            </a:r>
            <a:endParaRPr lang="en-US" sz="4000" dirty="0"/>
          </a:p>
        </p:txBody>
      </p:sp>
      <p:sp>
        <p:nvSpPr>
          <p:cNvPr id="27" name="Text 24"/>
          <p:cNvSpPr txBox="1"/>
          <p:nvPr/>
        </p:nvSpPr>
        <p:spPr>
          <a:xfrm>
            <a:off x="10820095" y="5692140"/>
            <a:ext cx="277246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· 소개서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 / 신청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10820095" y="6568135"/>
            <a:ext cx="27724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목표 = 계약</a:t>
            </a:r>
            <a:endParaRPr lang="en-US" dirty="0"/>
          </a:p>
        </p:txBody>
      </p:sp>
      <p:sp>
        <p:nvSpPr>
          <p:cNvPr id="29" name="Text 26"/>
          <p:cNvSpPr txBox="1"/>
          <p:nvPr/>
        </p:nvSpPr>
        <p:spPr>
          <a:xfrm>
            <a:off x="13983005" y="4629607"/>
            <a:ext cx="29718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4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05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13983005" y="5029200"/>
            <a:ext cx="29718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재구매</a:t>
            </a:r>
            <a:endParaRPr lang="en-US" sz="4000" dirty="0"/>
          </a:p>
        </p:txBody>
      </p:sp>
      <p:sp>
        <p:nvSpPr>
          <p:cNvPr id="31" name="Text 28"/>
          <p:cNvSpPr txBox="1"/>
          <p:nvPr/>
        </p:nvSpPr>
        <p:spPr>
          <a:xfrm>
            <a:off x="13983005" y="5692140"/>
            <a:ext cx="29718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심화 과정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뉴스레터 · 추천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13983005" y="6568135"/>
            <a:ext cx="2971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목표 = 지속</a:t>
            </a: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1333195" y="9629546"/>
            <a:ext cx="15621610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0" rIns="190500" bIns="1905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원칙</a:t>
            </a:r>
            <a:r>
              <a:rPr lang="en-US" sz="15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한 콘텐츠는 한 단계에만. 인지용이 전환용으로 쓰이지 않습니다.</a:t>
            </a:r>
            <a:endParaRPr lang="en-US" sz="15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59719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7639812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매핑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단계별 콘텐츠 채널 빈도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3195" y="2286000"/>
            <a:ext cx="15620695" cy="714146"/>
          </a:xfrm>
          <a:prstGeom prst="rect">
            <a:avLst/>
          </a:prstGeom>
          <a:noFill/>
          <a:ln w="3810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1510177" y="2314346"/>
            <a:ext cx="19056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1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02941" y="2314346"/>
            <a:ext cx="632797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1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콘텐츠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2314346"/>
            <a:ext cx="3429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1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채널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59000" y="2314346"/>
            <a:ext cx="2095805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1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빈도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33195" y="4086454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1505102" y="3228746"/>
            <a:ext cx="15627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5102" y="3504895"/>
            <a:ext cx="15627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 지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102941" y="3147365"/>
            <a:ext cx="6327973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짧은 글 · 60초 영상 · 카드뉴스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3161995"/>
            <a:ext cx="3429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인스타 · 링크드인 · 블로그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14859000" y="3161995"/>
            <a:ext cx="2095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3회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33195" y="5181905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 txBox="1"/>
          <p:nvPr/>
        </p:nvSpPr>
        <p:spPr>
          <a:xfrm>
            <a:off x="1505102" y="4324198"/>
            <a:ext cx="15627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5102" y="4600346"/>
            <a:ext cx="15627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관 심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102941" y="4242816"/>
            <a:ext cx="6327973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후기 · 사례 · 문제 해결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4257446"/>
            <a:ext cx="3429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블로그 · 링크드인 · 유튜브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4859000" y="4257446"/>
            <a:ext cx="2095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1~2회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33195" y="6277356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1505102" y="5419649"/>
            <a:ext cx="15627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05102" y="5695798"/>
            <a:ext cx="15627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 뢰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102941" y="5338267"/>
            <a:ext cx="6327973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· 출강 기관 · 산출물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5352898"/>
            <a:ext cx="3429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홈페이지 · 노션</a:t>
            </a: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14859000" y="5352898"/>
            <a:ext cx="2095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 갱신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33195" y="7372807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9"/>
          <p:cNvSpPr txBox="1"/>
          <p:nvPr/>
        </p:nvSpPr>
        <p:spPr>
          <a:xfrm>
            <a:off x="1505102" y="6515100"/>
            <a:ext cx="15627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05102" y="6791249"/>
            <a:ext cx="15627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 환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5102941" y="6432804"/>
            <a:ext cx="6327973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· 소개서 · 견적서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448349"/>
            <a:ext cx="3429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· 카카오 비즈</a:t>
            </a:r>
            <a:endParaRPr lang="en-US" dirty="0"/>
          </a:p>
        </p:txBody>
      </p:sp>
      <p:sp>
        <p:nvSpPr>
          <p:cNvPr id="35" name="Text 33"/>
          <p:cNvSpPr txBox="1"/>
          <p:nvPr/>
        </p:nvSpPr>
        <p:spPr>
          <a:xfrm>
            <a:off x="14859000" y="6448349"/>
            <a:ext cx="2095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의뢰 시 즉시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333195" y="8468258"/>
            <a:ext cx="15620695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Text 35"/>
          <p:cNvSpPr txBox="1"/>
          <p:nvPr/>
        </p:nvSpPr>
        <p:spPr>
          <a:xfrm>
            <a:off x="1505102" y="7610551"/>
            <a:ext cx="15627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05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505102" y="7886700"/>
            <a:ext cx="15627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재구매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5102941" y="7528255"/>
            <a:ext cx="6327973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 요약 · 후속 과정 · 뉴스레터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11430000" y="7543800"/>
            <a:ext cx="3429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뉴스레터 · 카카오톡</a:t>
            </a:r>
            <a:endParaRPr lang="en-US" dirty="0"/>
          </a:p>
        </p:txBody>
      </p:sp>
      <p:sp>
        <p:nvSpPr>
          <p:cNvPr id="41" name="Text 39"/>
          <p:cNvSpPr txBox="1"/>
          <p:nvPr/>
        </p:nvSpPr>
        <p:spPr>
          <a:xfrm>
            <a:off x="14859000" y="7543800"/>
            <a:ext cx="2095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직후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1333195" y="9334195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1333195" y="9533534"/>
            <a:ext cx="15621610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0" rIns="190500" bIns="1905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읽는 법</a:t>
            </a:r>
            <a:r>
              <a:rPr lang="en-US" sz="15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가장 약한 단계부터 보강한다.</a:t>
            </a:r>
            <a:endParaRPr lang="en-US" sz="15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97961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651492" y="4216755"/>
            <a:ext cx="7429500" cy="381030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Shape 3"/>
          <p:cNvSpPr/>
          <p:nvPr/>
        </p:nvSpPr>
        <p:spPr>
          <a:xfrm>
            <a:off x="1333195" y="8762695"/>
            <a:ext cx="15620695" cy="104790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6" name="Shape 4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333195" y="558800"/>
            <a:ext cx="9287561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가설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"누구든 환영" 아무에게도 안 닿는다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286000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36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 설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2752344"/>
            <a:ext cx="156216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AI에게 콘텐츠를 맡길 때 대상이 좁을수록 결과가 좋아진다. </a:t>
            </a:r>
          </a:p>
          <a:p>
            <a:pPr marL="0" indent="0" algn="l">
              <a:buNone/>
            </a:pPr>
            <a:r>
              <a:rPr lang="en-US" sz="25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막연한</a:t>
            </a:r>
            <a:r>
              <a:rPr lang="en-US" sz="25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"강사·담당자"가 아니라 한 명의 가상 인물이 보여야 합니다.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459382" y="4216755"/>
            <a:ext cx="7810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324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타깃 정의 6요소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459382" y="5283860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3" name="Text 11"/>
          <p:cNvSpPr txBox="1"/>
          <p:nvPr/>
        </p:nvSpPr>
        <p:spPr>
          <a:xfrm>
            <a:off x="1459382" y="4769053"/>
            <a:ext cx="3429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030882" y="4769053"/>
            <a:ext cx="273131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어떤 조직의 누구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459382" y="5900165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6" name="Text 14"/>
          <p:cNvSpPr txBox="1"/>
          <p:nvPr/>
        </p:nvSpPr>
        <p:spPr>
          <a:xfrm>
            <a:off x="1459382" y="5385358"/>
            <a:ext cx="3429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030882" y="5385358"/>
            <a:ext cx="350306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지금 어떤 압박을 받는가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459382" y="6516471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" name="Text 17"/>
          <p:cNvSpPr txBox="1"/>
          <p:nvPr/>
        </p:nvSpPr>
        <p:spPr>
          <a:xfrm>
            <a:off x="1459382" y="6001664"/>
            <a:ext cx="3429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2030882" y="6001664"/>
            <a:ext cx="308244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풀리지 않는 한 가지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459382" y="7132777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" name="Text 20"/>
          <p:cNvSpPr txBox="1"/>
          <p:nvPr/>
        </p:nvSpPr>
        <p:spPr>
          <a:xfrm>
            <a:off x="1459382" y="6617969"/>
            <a:ext cx="3429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030882" y="6617969"/>
            <a:ext cx="400324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대안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지금까지 무엇으로 풀어왔는가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459382" y="7749082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" name="Text 23"/>
          <p:cNvSpPr txBox="1"/>
          <p:nvPr/>
        </p:nvSpPr>
        <p:spPr>
          <a:xfrm>
            <a:off x="1459382" y="7234275"/>
            <a:ext cx="3429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2030882" y="7234275"/>
            <a:ext cx="413400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기준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강사를 무엇으로 고르는가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459382" y="7850581"/>
            <a:ext cx="3429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2030882" y="7850581"/>
            <a:ext cx="295168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회당 얼마를 쓰는가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10031882" y="4502962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32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 시 한 명</a:t>
            </a:r>
            <a:endParaRPr lang="en-US" dirty="0"/>
          </a:p>
        </p:txBody>
      </p:sp>
      <p:sp>
        <p:nvSpPr>
          <p:cNvPr id="30" name="Text 28"/>
          <p:cNvSpPr txBox="1"/>
          <p:nvPr/>
        </p:nvSpPr>
        <p:spPr>
          <a:xfrm>
            <a:off x="10031882" y="4960162"/>
            <a:ext cx="6667805" cy="304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"중견 제조업 인재개발팀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김 대리 (34세).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임원이 </a:t>
            </a:r>
            <a:r>
              <a:rPr lang="en-US" sz="2800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'AI 워크숍 한 번'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지시.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직원 50명 · 4시간 · 예산 회당 300만 ·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3주 안에 강사 픽스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목표."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1714500" y="8991295"/>
            <a:ext cx="618811" cy="629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713703" y="8991294"/>
            <a:ext cx="13859797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명을 위해 쓰면 백 명이 자기 얘기처럼 읽는다.</a:t>
            </a:r>
            <a:endParaRPr lang="en-US" sz="24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5773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7582205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산출물 양식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통합 마케팅 전략표 1장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33195" y="2314346"/>
            <a:ext cx="3047695" cy="6665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0" name="Text 8"/>
          <p:cNvSpPr txBox="1"/>
          <p:nvPr/>
        </p:nvSpPr>
        <p:spPr>
          <a:xfrm>
            <a:off x="1333195" y="2314346"/>
            <a:ext cx="2791663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0" bIns="215900" rtlCol="0" anchor="ctr"/>
          <a:lstStyle/>
          <a:p>
            <a:pPr marL="0" indent="0" algn="l">
              <a:buNone/>
            </a:pPr>
            <a:r>
              <a:rPr lang="en-US" sz="2000" kern="0" spc="243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 목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5679603" y="2314346"/>
            <a:ext cx="11275202" cy="667512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254000" bIns="215900" rtlCol="0" anchor="ctr"/>
          <a:lstStyle/>
          <a:p>
            <a:pPr marL="0" indent="0" algn="l">
              <a:buNone/>
            </a:pPr>
            <a:r>
              <a:rPr lang="en-US" sz="2000" kern="0" spc="243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직접 채우는 칸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333195" y="3743554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Text 12"/>
          <p:cNvSpPr txBox="1"/>
          <p:nvPr/>
        </p:nvSpPr>
        <p:spPr>
          <a:xfrm>
            <a:off x="1333195" y="2980944"/>
            <a:ext cx="2791663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0" bIns="21590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강의명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679603" y="2980944"/>
            <a:ext cx="1127520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심화 · 나만의 강사 비서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33195" y="4507992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8" name="Text 16"/>
          <p:cNvSpPr txBox="1"/>
          <p:nvPr/>
        </p:nvSpPr>
        <p:spPr>
          <a:xfrm>
            <a:off x="1333195" y="3745382"/>
            <a:ext cx="2791663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0" bIns="21590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대상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5679603" y="3745382"/>
            <a:ext cx="1127520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· 프리랜서 강사 · HRD 담당자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333195" y="5271516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" name="Text 20"/>
          <p:cNvSpPr txBox="1"/>
          <p:nvPr/>
        </p:nvSpPr>
        <p:spPr>
          <a:xfrm>
            <a:off x="1333195" y="4508906"/>
            <a:ext cx="2791663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0" bIns="21590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해결해 주는 문제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5679603" y="4508906"/>
            <a:ext cx="1127520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홍보·제안·운영을 매번 처음부터 해야 함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333195" y="603504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6" name="Text 24"/>
          <p:cNvSpPr txBox="1"/>
          <p:nvPr/>
        </p:nvSpPr>
        <p:spPr>
          <a:xfrm>
            <a:off x="1333195" y="5272430"/>
            <a:ext cx="2791663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0" bIns="21590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메시지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5679603" y="5272430"/>
            <a:ext cx="1127520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"AI는 콘텐츠 생성기가 아니라 운영체계가 된다"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333195" y="6799478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0" name="Text 28"/>
          <p:cNvSpPr txBox="1"/>
          <p:nvPr/>
        </p:nvSpPr>
        <p:spPr>
          <a:xfrm>
            <a:off x="1333195" y="6036869"/>
            <a:ext cx="2791663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0" bIns="21590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채널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5679603" y="6036869"/>
            <a:ext cx="1127520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링크드인 + 블로그 + 인스타그램 3개 제한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333195" y="7563002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4" name="Text 32"/>
          <p:cNvSpPr txBox="1"/>
          <p:nvPr/>
        </p:nvSpPr>
        <p:spPr>
          <a:xfrm>
            <a:off x="1333195" y="6800393"/>
            <a:ext cx="2791663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0" bIns="21590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콘텐츠 유형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5679603" y="6800393"/>
            <a:ext cx="1127520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40% · 정보 30% · 후기 20% · 안내 10%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333195" y="8326526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8" name="Text 36"/>
          <p:cNvSpPr txBox="1"/>
          <p:nvPr/>
        </p:nvSpPr>
        <p:spPr>
          <a:xfrm>
            <a:off x="1333195" y="7563917"/>
            <a:ext cx="2791663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0" bIns="21590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신청 유도 문구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5679603" y="7563917"/>
            <a:ext cx="1127520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"강의 의뢰서 15초 안에 견적 받기"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333195" y="8327441"/>
            <a:ext cx="15620695" cy="79095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43" name="Text 41"/>
          <p:cNvSpPr txBox="1"/>
          <p:nvPr/>
        </p:nvSpPr>
        <p:spPr>
          <a:xfrm>
            <a:off x="1333195" y="8327441"/>
            <a:ext cx="2791663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215900" rIns="0" bIns="21590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신뢰 요소</a:t>
            </a:r>
            <a:endParaRPr lang="en-US" sz="2800" dirty="0"/>
          </a:p>
        </p:txBody>
      </p:sp>
      <p:sp>
        <p:nvSpPr>
          <p:cNvPr id="44" name="Text 42"/>
          <p:cNvSpPr txBox="1"/>
          <p:nvPr/>
        </p:nvSpPr>
        <p:spPr>
          <a:xfrm>
            <a:off x="5679603" y="8327441"/>
            <a:ext cx="11275202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출강 ○○곳 · 누적 ○○○명 · 만족도 ○.○/5 </a:t>
            </a:r>
            <a:r>
              <a:rPr lang="en-US" sz="24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(매번 갱신)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6" name="Text 44"/>
          <p:cNvSpPr txBox="1"/>
          <p:nvPr/>
        </p:nvSpPr>
        <p:spPr>
          <a:xfrm>
            <a:off x="1333195" y="9629546"/>
            <a:ext cx="15621610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0" rIns="190500" bIns="1905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기록법</a:t>
            </a:r>
            <a:r>
              <a:rPr lang="en-US" sz="20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노션 / 구글 문서 / 메모장 어디든 좋습니다. 매주 한 번 본다는 게 중요.</a:t>
            </a:r>
            <a:endParaRPr lang="en-US" sz="20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96703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525305" y="2286000"/>
            <a:ext cx="7429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647761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· 1교시 실습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전략표 채우기 (15분)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286000"/>
            <a:ext cx="7810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32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절차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3010205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266798" y="3010205"/>
            <a:ext cx="337047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자주 하는 강의 1개 선택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266798" y="3419856"/>
            <a:ext cx="353507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신상 강의 X 1회 이상 진행한 강의로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33195" y="5039258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Text 12"/>
          <p:cNvSpPr txBox="1"/>
          <p:nvPr/>
        </p:nvSpPr>
        <p:spPr>
          <a:xfrm>
            <a:off x="1333195" y="4143146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266798" y="4143146"/>
            <a:ext cx="26389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전략표 8칸 채우기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2266798" y="4552798"/>
            <a:ext cx="314005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13의 표 한 칸당 1~2분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333195" y="6173114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8" name="Text 16"/>
          <p:cNvSpPr txBox="1"/>
          <p:nvPr/>
        </p:nvSpPr>
        <p:spPr>
          <a:xfrm>
            <a:off x="1333195" y="5277002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2266798" y="5277002"/>
            <a:ext cx="369783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옆 사람과 핵심 메시지 발표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2266798" y="5686654"/>
            <a:ext cx="328635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"그게 뭐예요?"가 안 나오면 합격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33195" y="640994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2266798" y="6409944"/>
            <a:ext cx="414314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2교시에 이 표를 그대로 AI에게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2266798" y="6819595"/>
            <a:ext cx="37060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15분이 다음 2시간을 결정한다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905695" y="2572207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32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자기 점검 체크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905695" y="3792017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5"/>
          <p:cNvSpPr txBox="1"/>
          <p:nvPr/>
        </p:nvSpPr>
        <p:spPr>
          <a:xfrm>
            <a:off x="9905695" y="3161995"/>
            <a:ext cx="3429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10439705" y="3219602"/>
            <a:ext cx="421447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대상이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명의 가상 인물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적혔는가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905695" y="4561027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0" name="Text 28"/>
          <p:cNvSpPr txBox="1"/>
          <p:nvPr/>
        </p:nvSpPr>
        <p:spPr>
          <a:xfrm>
            <a:off x="9905695" y="3931920"/>
            <a:ext cx="3429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10439705" y="3988613"/>
            <a:ext cx="408828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문제가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상대의 말투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적혔는가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905695" y="5330952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3" name="Text 31"/>
          <p:cNvSpPr txBox="1"/>
          <p:nvPr/>
        </p:nvSpPr>
        <p:spPr>
          <a:xfrm>
            <a:off x="9905695" y="4701845"/>
            <a:ext cx="3429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3200" dirty="0"/>
          </a:p>
        </p:txBody>
      </p:sp>
      <p:sp>
        <p:nvSpPr>
          <p:cNvPr id="34" name="Text 32"/>
          <p:cNvSpPr txBox="1"/>
          <p:nvPr/>
        </p:nvSpPr>
        <p:spPr>
          <a:xfrm>
            <a:off x="10439705" y="4758538"/>
            <a:ext cx="3685946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메시지가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 이내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905695" y="6099962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6" name="Text 34"/>
          <p:cNvSpPr txBox="1"/>
          <p:nvPr/>
        </p:nvSpPr>
        <p:spPr>
          <a:xfrm>
            <a:off x="9905695" y="5470855"/>
            <a:ext cx="3429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3200" dirty="0"/>
          </a:p>
        </p:txBody>
      </p:sp>
      <p:sp>
        <p:nvSpPr>
          <p:cNvPr id="37" name="Text 35"/>
          <p:cNvSpPr txBox="1"/>
          <p:nvPr/>
        </p:nvSpPr>
        <p:spPr>
          <a:xfrm>
            <a:off x="10439705" y="5528462"/>
            <a:ext cx="3283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 채널이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3개를 안 넘는가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9905695" y="6869887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9" name="Text 37"/>
          <p:cNvSpPr txBox="1"/>
          <p:nvPr/>
        </p:nvSpPr>
        <p:spPr>
          <a:xfrm>
            <a:off x="9905695" y="6240780"/>
            <a:ext cx="3429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3200" dirty="0"/>
          </a:p>
        </p:txBody>
      </p:sp>
      <p:sp>
        <p:nvSpPr>
          <p:cNvPr id="40" name="Text 38"/>
          <p:cNvSpPr txBox="1"/>
          <p:nvPr/>
        </p:nvSpPr>
        <p:spPr>
          <a:xfrm>
            <a:off x="10439705" y="6297473"/>
            <a:ext cx="3862426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비율이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100%로 합산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되는가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9905695" y="7639812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2" name="Text 40"/>
          <p:cNvSpPr txBox="1"/>
          <p:nvPr/>
        </p:nvSpPr>
        <p:spPr>
          <a:xfrm>
            <a:off x="9905695" y="7010705"/>
            <a:ext cx="3429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3200" dirty="0"/>
          </a:p>
        </p:txBody>
      </p:sp>
      <p:sp>
        <p:nvSpPr>
          <p:cNvPr id="43" name="Text 41"/>
          <p:cNvSpPr txBox="1"/>
          <p:nvPr/>
        </p:nvSpPr>
        <p:spPr>
          <a:xfrm>
            <a:off x="10439705" y="7067398"/>
            <a:ext cx="3887114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 문구가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 가능한 형태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9905695" y="7779715"/>
            <a:ext cx="3429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3200" dirty="0"/>
          </a:p>
        </p:txBody>
      </p:sp>
      <p:sp>
        <p:nvSpPr>
          <p:cNvPr id="45" name="Text 43"/>
          <p:cNvSpPr txBox="1"/>
          <p:nvPr/>
        </p:nvSpPr>
        <p:spPr>
          <a:xfrm>
            <a:off x="10439705" y="7837322"/>
            <a:ext cx="408828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 요소에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숫자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있는가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7" name="Text 45"/>
          <p:cNvSpPr txBox="1"/>
          <p:nvPr/>
        </p:nvSpPr>
        <p:spPr>
          <a:xfrm>
            <a:off x="1333195" y="9610344"/>
            <a:ext cx="55156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81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소요 시간</a:t>
            </a:r>
            <a:r>
              <a:rPr lang="en-US" sz="20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작성 12분 + 발표 2분 + 정리 1분 = 15분</a:t>
            </a:r>
            <a:endParaRPr lang="en-US" dirty="0"/>
          </a:p>
        </p:txBody>
      </p:sp>
      <p:sp>
        <p:nvSpPr>
          <p:cNvPr id="48" name="Text 46"/>
          <p:cNvSpPr txBox="1"/>
          <p:nvPr/>
        </p:nvSpPr>
        <p:spPr>
          <a:xfrm>
            <a:off x="13544093" y="9610344"/>
            <a:ext cx="34198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2교시 홍보 콘텐츠 5종 생성</a:t>
            </a:r>
            <a:endParaRPr lang="en-US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19965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0282087a399e7c95595faa9cad462f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524305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62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· 02 / 04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476195"/>
            <a:ext cx="15621610" cy="2667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dirty="0">
                <a:solidFill>
                  <a:srgbClr val="F3F4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5333695"/>
            <a:ext cx="15621610" cy="235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0" kern="0" spc="-16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콘텐츠를</a:t>
            </a:r>
            <a:endParaRPr lang="en-US" sz="8400" dirty="0"/>
          </a:p>
          <a:p>
            <a:pPr marL="0" indent="0" algn="l">
              <a:buNone/>
            </a:pPr>
            <a:r>
              <a:rPr lang="en-US" sz="8400" kern="0" spc="-168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자동 생성</a:t>
            </a:r>
            <a:r>
              <a:rPr lang="en-US" sz="8400" kern="0" spc="-16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한다</a:t>
            </a:r>
            <a:endParaRPr lang="en-US" sz="8400" dirty="0"/>
          </a:p>
        </p:txBody>
      </p:sp>
      <p:sp>
        <p:nvSpPr>
          <p:cNvPr id="8" name="Shape 5"/>
          <p:cNvSpPr/>
          <p:nvPr/>
        </p:nvSpPr>
        <p:spPr>
          <a:xfrm>
            <a:off x="1333195" y="8382305"/>
            <a:ext cx="38405" cy="47640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638605" y="8382305"/>
            <a:ext cx="1531620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프롬프트는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강사의 입력 파일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이다. 좋은 입력만이 좋은 출력을 만든다.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333195" y="9715500"/>
            <a:ext cx="644926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16 → 22 · 2교시 · 실습 = 홍보 콘텐츠 5종 동시 생성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6290036" y="9743846"/>
            <a:ext cx="7690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400" kern="0" spc="281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2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21648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667598"/>
            <a:ext cx="15620695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9382658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· 카탈로그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AI로 만드는 강사 홍보 콘텐츠 8종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286000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번에 8종을 다 만들지 않습니다. 먼저 5종 —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/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강의 의뢰가 오면 즉시 보낼 패키지로.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33195" y="361919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1333195" y="5306263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5229454" y="3638398"/>
            <a:ext cx="9144" cy="167609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 txBox="1"/>
          <p:nvPr/>
        </p:nvSpPr>
        <p:spPr>
          <a:xfrm>
            <a:off x="1333195" y="3905402"/>
            <a:ext cx="366765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인지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4276649"/>
            <a:ext cx="36676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소개문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333195" y="4756709"/>
            <a:ext cx="36676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500자 · 노션 / 홈페이지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38598" y="5306263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4"/>
          <p:cNvSpPr/>
          <p:nvPr/>
        </p:nvSpPr>
        <p:spPr>
          <a:xfrm>
            <a:off x="9134856" y="3638398"/>
            <a:ext cx="9144" cy="167609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5467198" y="3905402"/>
            <a:ext cx="343905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인지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67198" y="4276649"/>
            <a:ext cx="34390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SNS 게시글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5467198" y="4756709"/>
            <a:ext cx="34390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인스타 · 링크드인 (톤 다름)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0" y="5306263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Shape 19"/>
          <p:cNvSpPr/>
          <p:nvPr/>
        </p:nvSpPr>
        <p:spPr>
          <a:xfrm>
            <a:off x="13040258" y="3638398"/>
            <a:ext cx="9144" cy="167609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9372600" y="3905402"/>
            <a:ext cx="343905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관심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4276649"/>
            <a:ext cx="34390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블로그 글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4756709"/>
            <a:ext cx="34390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5개 + 본문 1편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049402" y="5305349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 24"/>
          <p:cNvSpPr txBox="1"/>
          <p:nvPr/>
        </p:nvSpPr>
        <p:spPr>
          <a:xfrm>
            <a:off x="13278002" y="3905402"/>
            <a:ext cx="367680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관심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78002" y="4276649"/>
            <a:ext cx="36768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카드뉴스 기획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13278002" y="4756709"/>
            <a:ext cx="36768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6장 구성안 (문구만)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33195" y="6974129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Shape 28"/>
          <p:cNvSpPr/>
          <p:nvPr/>
        </p:nvSpPr>
        <p:spPr>
          <a:xfrm>
            <a:off x="5229454" y="5307178"/>
            <a:ext cx="9144" cy="167609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9"/>
          <p:cNvSpPr txBox="1"/>
          <p:nvPr/>
        </p:nvSpPr>
        <p:spPr>
          <a:xfrm>
            <a:off x="1333195" y="5574182"/>
            <a:ext cx="366765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신뢰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333195" y="5945429"/>
            <a:ext cx="36676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프로필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1333195" y="6425489"/>
            <a:ext cx="36676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800자 + 짧은 150자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8598" y="6974129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Shape 33"/>
          <p:cNvSpPr/>
          <p:nvPr/>
        </p:nvSpPr>
        <p:spPr>
          <a:xfrm>
            <a:off x="9134856" y="5307178"/>
            <a:ext cx="9144" cy="167609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Text 34"/>
          <p:cNvSpPr txBox="1"/>
          <p:nvPr/>
        </p:nvSpPr>
        <p:spPr>
          <a:xfrm>
            <a:off x="5467198" y="5574182"/>
            <a:ext cx="343905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신뢰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467198" y="5945429"/>
            <a:ext cx="34390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후기 재가공</a:t>
            </a:r>
            <a:endParaRPr lang="en-US" sz="2800" dirty="0"/>
          </a:p>
        </p:txBody>
      </p:sp>
      <p:sp>
        <p:nvSpPr>
          <p:cNvPr id="38" name="Text 36"/>
          <p:cNvSpPr txBox="1"/>
          <p:nvPr/>
        </p:nvSpPr>
        <p:spPr>
          <a:xfrm>
            <a:off x="5467198" y="6425489"/>
            <a:ext cx="34390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날것 후기 → 카드뉴스 / 인용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144000" y="6974129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0" name="Shape 38"/>
          <p:cNvSpPr/>
          <p:nvPr/>
        </p:nvSpPr>
        <p:spPr>
          <a:xfrm>
            <a:off x="13040258" y="5307178"/>
            <a:ext cx="9144" cy="167609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Text 39"/>
          <p:cNvSpPr txBox="1"/>
          <p:nvPr/>
        </p:nvSpPr>
        <p:spPr>
          <a:xfrm>
            <a:off x="9372600" y="5574182"/>
            <a:ext cx="343905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전환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372600" y="5945429"/>
            <a:ext cx="34390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기관 제안 메일</a:t>
            </a:r>
            <a:endParaRPr lang="en-US" sz="2800" dirty="0"/>
          </a:p>
        </p:txBody>
      </p:sp>
      <p:sp>
        <p:nvSpPr>
          <p:cNvPr id="43" name="Text 41"/>
          <p:cNvSpPr txBox="1"/>
          <p:nvPr/>
        </p:nvSpPr>
        <p:spPr>
          <a:xfrm>
            <a:off x="9372600" y="6425489"/>
            <a:ext cx="34390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콜드 + 후속 짧게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3049402" y="6974129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Text 43"/>
          <p:cNvSpPr txBox="1"/>
          <p:nvPr/>
        </p:nvSpPr>
        <p:spPr>
          <a:xfrm>
            <a:off x="13278002" y="5574182"/>
            <a:ext cx="367680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전환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3278002" y="5945429"/>
            <a:ext cx="36768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제안 요약문</a:t>
            </a:r>
            <a:endParaRPr lang="en-US" sz="2800" dirty="0"/>
          </a:p>
        </p:txBody>
      </p:sp>
      <p:sp>
        <p:nvSpPr>
          <p:cNvPr id="47" name="Text 45"/>
          <p:cNvSpPr txBox="1"/>
          <p:nvPr/>
        </p:nvSpPr>
        <p:spPr>
          <a:xfrm>
            <a:off x="13278002" y="6425489"/>
            <a:ext cx="36768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 라인용 한 장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1714500" y="8896198"/>
            <a:ext cx="1485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2교시 실습 패키지 5종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1714500" y="9219895"/>
            <a:ext cx="14859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 소개문 · ② SNS · ③ 블로그 제목 · ④ 카드뉴스 · ⑤ 제안 메일 </a:t>
            </a:r>
            <a:r>
              <a:rPr lang="en-US" sz="2800" dirty="0">
                <a:solidFill>
                  <a:srgbClr val="FCD34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프롬프트로 동시 생성</a:t>
            </a:r>
            <a:endParaRPr lang="en-US" sz="28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99516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8725205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· 원리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홍보 콘텐츠 5단으로 만든다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286000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유형은 8가지 구조는 하나입니다. 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5단</a:t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카드뉴스에도, SNS에도, 제안 메일에도 들어갑니다.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805143" y="3094330"/>
            <a:ext cx="76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872248" y="3113533"/>
            <a:ext cx="574609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 제시 "당신, 지금 이런 상황이죠"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872248" y="3609137"/>
            <a:ext cx="503925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읽는 사람의 머릿속 문장을 내가 먼저 꺼내준다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333195" y="6467551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1805143" y="4418381"/>
            <a:ext cx="76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872248" y="4437584"/>
            <a:ext cx="557418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변화 제시 "강의 후 이렇게 바뀝니다"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872248" y="4933189"/>
            <a:ext cx="494416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배운다"가 아니라 "무엇이 달라진다"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333195" y="7791602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1805143" y="5742433"/>
            <a:ext cx="76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2872248" y="5761635"/>
            <a:ext cx="43059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신뢰 요소 "왜 이 강사인가"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2872248" y="6257240"/>
            <a:ext cx="455737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기관명 · 누적 수강생 · 만족도 구체적인 숫자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333195" y="9115654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 txBox="1"/>
          <p:nvPr/>
        </p:nvSpPr>
        <p:spPr>
          <a:xfrm>
            <a:off x="1805143" y="7066484"/>
            <a:ext cx="76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2872248" y="7085686"/>
            <a:ext cx="475122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산출물 제시 "강의 후 받는 것"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2872248" y="7581291"/>
            <a:ext cx="474025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손에 잡히는 것 프롬프트 / 체크리스트 / 워크북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1805143" y="8390535"/>
            <a:ext cx="76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2872248" y="8409737"/>
            <a:ext cx="37344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행동 유도 "지금 클릭"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2872248" y="8905342"/>
            <a:ext cx="455737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 / 링크 / 카카오톡 다음 동작이 분명해야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 27"/>
          <p:cNvSpPr txBox="1"/>
          <p:nvPr/>
        </p:nvSpPr>
        <p:spPr>
          <a:xfrm>
            <a:off x="1333195" y="9611258"/>
            <a:ext cx="156216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통찰</a:t>
            </a:r>
            <a:r>
              <a:rPr lang="en-US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5단이 좋은 프롬프트의 뼈대가 됩니다. 다음 슬라이드부터.</a:t>
            </a:r>
            <a:endParaRPr lang="en-US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82496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7819949"/>
            <a:ext cx="15620695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810615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가설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같은 AI인데 결과가 다른가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476195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6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 설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980944"/>
            <a:ext cx="1562161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문제는 </a:t>
            </a:r>
            <a:r>
              <a:rPr lang="en-US" sz="3600" dirty="0">
                <a:solidFill>
                  <a:srgbClr val="999999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모델</a:t>
            </a: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아니라 강사가 AI에게 주는 입력 자료다.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8658454" y="4572000"/>
            <a:ext cx="9144" cy="3019349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1333195" y="4914900"/>
            <a:ext cx="7020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7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A 잘 안 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33195" y="5333695"/>
            <a:ext cx="7019849" cy="875995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11"/>
          <p:cNvSpPr/>
          <p:nvPr/>
        </p:nvSpPr>
        <p:spPr>
          <a:xfrm>
            <a:off x="1333195" y="5333695"/>
            <a:ext cx="38405" cy="87599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1638605" y="5333695"/>
            <a:ext cx="6715354" cy="8769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266700" rIns="266700" bIns="26670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활용 강의 홍보 글 써줘"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33195" y="6400800"/>
            <a:ext cx="70207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일반적인 AI 강의 홍보 글. 강사 A의 이름·기관·차별점 없음.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8667598" y="4572000"/>
            <a:ext cx="952805" cy="302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924898" y="4914900"/>
            <a:ext cx="70299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7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B 잘 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24898" y="5333695"/>
            <a:ext cx="7029907" cy="1419149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7"/>
          <p:cNvSpPr/>
          <p:nvPr/>
        </p:nvSpPr>
        <p:spPr>
          <a:xfrm>
            <a:off x="9924898" y="5333695"/>
            <a:ext cx="38405" cy="141914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 txBox="1"/>
          <p:nvPr/>
        </p:nvSpPr>
        <p:spPr>
          <a:xfrm>
            <a:off x="10230307" y="5333695"/>
            <a:ext cx="6724498" cy="1420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66700" rIns="266700" bIns="2667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"역할 = 교육 마케팅 카피라이터. 대상 = HRD 김 대리. 강의명·문제·산출물·CTA를 정리한 표 첨부. 출력 = 카드뉴스 6장 + SNS 1개. 톤 = 전문적이지만 딱딱하지 않게."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9924898" y="6943954"/>
            <a:ext cx="70299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손볼 곳이 거의 없는 콘텐츠 7편. 5분 소요.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1714500" y="8048549"/>
            <a:ext cx="1485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714500" y="8373161"/>
            <a:ext cx="14859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프롬프트는 5개 구성요소로 다음 슬라이드에서 해부.</a:t>
            </a:r>
            <a:endParaRPr lang="en-US" sz="28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11231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8144561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· 해부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프롬프트 5가지 구성요소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286000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5칸을 매번 채웁니다. 5분만 들여도 결과가 눈에 띄게 좋아집니다.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빈 칸이 있으면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AI가 자기 추측으로 채웁니다.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459382" y="3247949"/>
            <a:ext cx="85770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[R]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621585" y="3257093"/>
            <a:ext cx="2667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역할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621585" y="3675888"/>
            <a:ext cx="2667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"너는 ~다"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93385" y="3304642"/>
            <a:ext cx="114876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"교육 마케팅 카피라이터" 등 한 줄로 톤·어휘·관점이 바뀝니다.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59382" y="5277003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1459382" y="4380891"/>
            <a:ext cx="85770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[A]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2621585" y="4390949"/>
            <a:ext cx="2667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대상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2621585" y="4809744"/>
            <a:ext cx="2667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"누가 읽는다"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93385" y="4438498"/>
            <a:ext cx="114876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12쪽의 가상 인물을 그대로 "중견 제조업 HRD 김 대리…"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459382" y="6410859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 txBox="1"/>
          <p:nvPr/>
        </p:nvSpPr>
        <p:spPr>
          <a:xfrm>
            <a:off x="1459382" y="5514747"/>
            <a:ext cx="85770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[C]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2621585" y="5523891"/>
            <a:ext cx="2667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맥락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2621585" y="5942686"/>
            <a:ext cx="2667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"무엇을 / 왜"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93385" y="5571440"/>
            <a:ext cx="114876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강의명·목적·산출물·신뢰 요소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1교시 전략표</a:t>
            </a: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통째로.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459382" y="754380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 txBox="1"/>
          <p:nvPr/>
        </p:nvSpPr>
        <p:spPr>
          <a:xfrm>
            <a:off x="1459382" y="6647688"/>
            <a:ext cx="85770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[O]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2621585" y="6657747"/>
            <a:ext cx="2667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출력 형식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2621585" y="7076542"/>
            <a:ext cx="2667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"몇 개 / 얼마나"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593385" y="6705296"/>
            <a:ext cx="114876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결과의 개수·길이를 못 박는다. "500자 + SNS 1개 + 제목 5개…"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459382" y="8676742"/>
            <a:ext cx="15620695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 27"/>
          <p:cNvSpPr txBox="1"/>
          <p:nvPr/>
        </p:nvSpPr>
        <p:spPr>
          <a:xfrm>
            <a:off x="1459382" y="7781544"/>
            <a:ext cx="85770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[C]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2621585" y="7790688"/>
            <a:ext cx="2667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제약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2621585" y="8210398"/>
            <a:ext cx="2667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"하지 말 것"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593385" y="7838237"/>
            <a:ext cx="114876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 · 금지어 · 길이 한계. "이모지 금지, 확인 안 된 수치 금지."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459382" y="8620049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Text 32"/>
          <p:cNvSpPr txBox="1"/>
          <p:nvPr/>
        </p:nvSpPr>
        <p:spPr>
          <a:xfrm>
            <a:off x="1459382" y="9053474"/>
            <a:ext cx="156216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암기</a:t>
            </a:r>
            <a:r>
              <a:rPr lang="en-US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 · A · C · O · C</a:t>
            </a:r>
            <a:r>
              <a:rPr lang="en-US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역할 / 대상 / 맥락 / 출력 / 제약</a:t>
            </a:r>
            <a:endParaRPr lang="en-US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50025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2769210"/>
            <a:ext cx="15620695" cy="618459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967801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· 그대로 복사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5종 동시 생성 즉시 사용 프롬프트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190902"/>
            <a:ext cx="15621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대괄호 안의 칸만 본인 강의로 바꾸세요. </a:t>
            </a: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대괄호 자체는 유지합니다.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714500" y="3125419"/>
            <a:ext cx="1485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· 강사 홍보 5종 일괄 생성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14500" y="3557219"/>
            <a:ext cx="36301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너는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2159000" y="3557219"/>
            <a:ext cx="14287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교육 마케팅 전문가이자 강사 브랜딩 카피라이터다. 아래 강의 정보를 바탕으로 교육 담당자가 관심을 가질 강사 홍보 콘텐츠를 작성해줘.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714500" y="3989019"/>
            <a:ext cx="7242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[강의명]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3683000" y="3989019"/>
            <a:ext cx="12763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활용 심화 · 나만의 강사 비서 구축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714500" y="4420819"/>
            <a:ext cx="5532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[대상]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3683000" y="4395419"/>
            <a:ext cx="324886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· 프리랜서 강사 · HRD 담당자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1714500" y="4852619"/>
            <a:ext cx="116220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[핵심 메시지]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3683000" y="4801819"/>
            <a:ext cx="441015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"AI는 콘텐츠 생성기가 아니라 운영체계가 된다"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1714500" y="5284419"/>
            <a:ext cx="1000354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[신뢰 요소]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3683000" y="5287518"/>
            <a:ext cx="1475475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출강 ○○곳 · 누적 ○○○명 · 만족도 ○.○/5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714500" y="5767019"/>
            <a:ext cx="116220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[요청 결과물]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3683000" y="5767019"/>
            <a:ext cx="1276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500자 강의 소개문 1편</a:t>
            </a:r>
          </a:p>
          <a:p>
            <a:pPr marL="0" indent="0" algn="l">
              <a:lnSpc>
                <a:spcPts val="2000"/>
              </a:lnSpc>
              <a:spcBef>
                <a:spcPts val="400"/>
              </a:spcBef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SNS 게시글 1개 (링크드인용, 800자 이내)</a:t>
            </a:r>
          </a:p>
          <a:p>
            <a:pPr marL="0" indent="0" algn="l">
              <a:lnSpc>
                <a:spcPts val="2000"/>
              </a:lnSpc>
              <a:spcBef>
                <a:spcPts val="400"/>
              </a:spcBef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블로그 글 제목 5개 (검색 유입, 의문형 / 숫자 포함)</a:t>
            </a:r>
          </a:p>
          <a:p>
            <a:pPr marL="0" indent="0" algn="l">
              <a:lnSpc>
                <a:spcPts val="2000"/>
              </a:lnSpc>
              <a:spcBef>
                <a:spcPts val="400"/>
              </a:spcBef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카드뉴스 6장 구성안 (표지 / 문제 / 변화 / 신뢰 / 산출물 / 행동)</a:t>
            </a:r>
          </a:p>
          <a:p>
            <a:pPr marL="0" indent="0" algn="l">
              <a:lnSpc>
                <a:spcPts val="2000"/>
              </a:lnSpc>
              <a:spcBef>
                <a:spcPts val="400"/>
              </a:spcBef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 교육 담당자에게 보내는 제안 메일 초안 1통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1714500" y="7418019"/>
            <a:ext cx="5532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FCA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[제약]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3683000" y="7418019"/>
            <a:ext cx="12763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문체 = 전문적이지만 너무 딱딱하지 않게</a:t>
            </a:r>
          </a:p>
          <a:p>
            <a:pPr marL="0" indent="0" algn="l">
              <a:lnSpc>
                <a:spcPts val="2000"/>
              </a:lnSpc>
              <a:spcBef>
                <a:spcPts val="400"/>
              </a:spcBef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이모지 / 과장 / 확인되지 않은 수치는 금지</a:t>
            </a:r>
          </a:p>
          <a:p>
            <a:pPr marL="0" indent="0" algn="l">
              <a:lnSpc>
                <a:spcPts val="2000"/>
              </a:lnSpc>
              <a:spcBef>
                <a:spcPts val="400"/>
              </a:spcBef>
              <a:buNone/>
            </a:pPr>
            <a:r>
              <a:rPr lang="en-US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모든 결과물 끝에는 신청 / 문의로 이어지는 한 줄을 둘 것</a:t>
            </a:r>
          </a:p>
        </p:txBody>
      </p:sp>
      <p:sp>
        <p:nvSpPr>
          <p:cNvPr id="24" name="Shape 22"/>
          <p:cNvSpPr/>
          <p:nvPr/>
        </p:nvSpPr>
        <p:spPr>
          <a:xfrm>
            <a:off x="1333195" y="9239098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1333195" y="9420149"/>
            <a:ext cx="356250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81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붙여 넣기 → 5분 뒤 5종 출력 완료.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596214" y="9420149"/>
            <a:ext cx="336316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81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RACOC = 빠짐없이 채워졌는지 확인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96869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707745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· 검수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출력 5종 5기준으로 검수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314346"/>
            <a:ext cx="952805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16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314346"/>
            <a:ext cx="30486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16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기준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100615" y="2314346"/>
            <a:ext cx="6347028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16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통과 기준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2991794" y="2314346"/>
            <a:ext cx="30486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16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실패 시 대응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333195" y="4105656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3" name="Text 11"/>
          <p:cNvSpPr txBox="1"/>
          <p:nvPr/>
        </p:nvSpPr>
        <p:spPr>
          <a:xfrm>
            <a:off x="1333195" y="3000146"/>
            <a:ext cx="952805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457907" y="3228746"/>
            <a:ext cx="27057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사실성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457907" y="3717745"/>
            <a:ext cx="27057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 · 기관명 · 시기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100615" y="3000146"/>
            <a:ext cx="6347028" cy="752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이력에서 나온 숫자만. AI 추측 / 가짜 통계 없음.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991794" y="3000146"/>
            <a:ext cx="304861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삭제. "실제 데이터만" 재지시.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33195" y="522031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" name="Text 17"/>
          <p:cNvSpPr txBox="1"/>
          <p:nvPr/>
        </p:nvSpPr>
        <p:spPr>
          <a:xfrm>
            <a:off x="1333195" y="4114800"/>
            <a:ext cx="952805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2457907" y="4343400"/>
            <a:ext cx="27057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대상 적합성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2457907" y="4832398"/>
            <a:ext cx="27057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사람이 읽을 글인가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100615" y="4114800"/>
            <a:ext cx="6347028" cy="752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"HRD 김 대리"가 읽었을 때 본인 얘기처럼 들리는가.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2991794" y="4114800"/>
            <a:ext cx="304861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 사람 입장에서 다시 검토" 지시.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33195" y="6334963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" name="Text 23"/>
          <p:cNvSpPr txBox="1"/>
          <p:nvPr/>
        </p:nvSpPr>
        <p:spPr>
          <a:xfrm>
            <a:off x="1333195" y="5229454"/>
            <a:ext cx="952805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2457907" y="5458054"/>
            <a:ext cx="27057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차별성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2457907" y="5946137"/>
            <a:ext cx="27057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강사도 똑같이 쓸 글?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6100615" y="5229454"/>
            <a:ext cx="6347028" cy="752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이름을 가렸을 때 다른 강사 글로 보이면 차별성 부족.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2991794" y="5229454"/>
            <a:ext cx="304861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사례 1개 추가 후 재생성.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33195" y="7449617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Text 29"/>
          <p:cNvSpPr txBox="1"/>
          <p:nvPr/>
        </p:nvSpPr>
        <p:spPr>
          <a:xfrm>
            <a:off x="1333195" y="6344107"/>
            <a:ext cx="952805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2457907" y="6572707"/>
            <a:ext cx="27057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행동 유도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2457907" y="7060791"/>
            <a:ext cx="27057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다음에 무엇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6100615" y="6344107"/>
            <a:ext cx="6347028" cy="752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 끝에 신청 / 문의 / 다운로드 구체적인 동작 1개.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12991794" y="6344107"/>
            <a:ext cx="304861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"끝 줄 버튼 문구로" 지시.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333195" y="7457846"/>
            <a:ext cx="952805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3200" dirty="0"/>
          </a:p>
        </p:txBody>
      </p:sp>
      <p:sp>
        <p:nvSpPr>
          <p:cNvPr id="38" name="Text 36"/>
          <p:cNvSpPr txBox="1"/>
          <p:nvPr/>
        </p:nvSpPr>
        <p:spPr>
          <a:xfrm>
            <a:off x="2457907" y="7686446"/>
            <a:ext cx="27057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톤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2457907" y="8175445"/>
            <a:ext cx="27057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말투인가</a:t>
            </a:r>
            <a:endParaRPr lang="en-US" dirty="0"/>
          </a:p>
        </p:txBody>
      </p:sp>
      <p:sp>
        <p:nvSpPr>
          <p:cNvPr id="40" name="Text 38"/>
          <p:cNvSpPr txBox="1"/>
          <p:nvPr/>
        </p:nvSpPr>
        <p:spPr>
          <a:xfrm>
            <a:off x="6100615" y="7457846"/>
            <a:ext cx="6347028" cy="752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"~입니다"/"~합니다" 비율 일관. 반말·존댓말 혼재 X.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12991794" y="7457846"/>
            <a:ext cx="304861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SNS 글 1편 첨부 후 "이 톤으로" 지시.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1333195" y="9106509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3" name="Text 41"/>
          <p:cNvSpPr txBox="1"/>
          <p:nvPr/>
        </p:nvSpPr>
        <p:spPr>
          <a:xfrm>
            <a:off x="1333195" y="9611258"/>
            <a:ext cx="156216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통찰</a:t>
            </a:r>
            <a:r>
              <a:rPr lang="en-US" sz="20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이 5기준이 4교시 "비서 검수 항목"이 됩니다. </a:t>
            </a:r>
            <a:r>
              <a:rPr lang="en-US" sz="2000" i="1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검수 기준 = 비서의 작업 표준</a:t>
            </a:r>
            <a:r>
              <a:rPr lang="en-US" sz="20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  <a:endParaRPr lang="en-US" sz="20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88161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6096305"/>
            <a:ext cx="15620695" cy="2952598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9611258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· 2교시 실습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콘텐츠 5종 즉시 생성 (25분)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286000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32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4단계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333195" y="274320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0" name="Shape 8"/>
          <p:cNvSpPr/>
          <p:nvPr/>
        </p:nvSpPr>
        <p:spPr>
          <a:xfrm>
            <a:off x="5229454" y="2762402"/>
            <a:ext cx="9144" cy="237195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1333195" y="3047695"/>
            <a:ext cx="36292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 · 3분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3467405"/>
            <a:ext cx="362925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20쪽 프롬프트 복사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4129255"/>
            <a:ext cx="36292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대괄호 [ ] 부분을 본인 전략표 값으로 교체. </a:t>
            </a: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대괄호 자체는 두기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34856" y="2762402"/>
            <a:ext cx="9144" cy="237195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5" name="Text 13"/>
          <p:cNvSpPr txBox="1"/>
          <p:nvPr/>
        </p:nvSpPr>
        <p:spPr>
          <a:xfrm>
            <a:off x="5505602" y="3047695"/>
            <a:ext cx="33631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 · 2분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5505602" y="3467405"/>
            <a:ext cx="33631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ChatGPT / </a:t>
            </a:r>
          </a:p>
          <a:p>
            <a:pPr marL="0" indent="0" algn="l">
              <a:buNone/>
            </a:pPr>
            <a:r>
              <a:rPr lang="en-US" sz="28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Claude에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붙여 넣기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505602" y="4451124"/>
            <a:ext cx="33631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대화 창에서. 5종이 한꺼번에 나오는지 확인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040258" y="2762402"/>
            <a:ext cx="9144" cy="237195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" name="Text 17"/>
          <p:cNvSpPr txBox="1"/>
          <p:nvPr/>
        </p:nvSpPr>
        <p:spPr>
          <a:xfrm>
            <a:off x="9411005" y="3047695"/>
            <a:ext cx="33631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 · 10분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9411005" y="3467405"/>
            <a:ext cx="336316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21쪽 5기준 점검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4129255"/>
            <a:ext cx="33631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실패한 항목 추가 지시로 재생성. 통과까지 반복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3049402" y="2762402"/>
            <a:ext cx="3905402" cy="2371954"/>
          </a:xfrm>
          <a:prstGeom prst="rect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" name="Text 21"/>
          <p:cNvSpPr txBox="1"/>
          <p:nvPr/>
        </p:nvSpPr>
        <p:spPr>
          <a:xfrm>
            <a:off x="13316407" y="3047695"/>
            <a:ext cx="36393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43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 · 10분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13316407" y="3467405"/>
            <a:ext cx="36393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5종을 노션에 저장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13316407" y="4129255"/>
            <a:ext cx="388254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4교시에서 이 </a:t>
            </a:r>
            <a:r>
              <a:rPr lang="en-US" sz="2000" dirty="0" err="1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흐름을</a:t>
            </a: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000" dirty="0" err="1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비서</a:t>
            </a: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업무로 등록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714500" y="6324905"/>
            <a:ext cx="1485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32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자주 묻는 질문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1714500" y="6782105"/>
            <a:ext cx="7200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Q. ChatGPT vs Claude?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7151522"/>
            <a:ext cx="7200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둘 다 충분. 톤이 본인에 가까운 쪽으로.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6782105"/>
            <a:ext cx="7200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Q. 결과물이 너무 길어요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7151522"/>
            <a:ext cx="72009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형식에 </a:t>
            </a:r>
            <a:r>
              <a:rPr lang="en-US" sz="2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"각 항목 200자 이내"</a:t>
            </a: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추가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714500" y="7916875"/>
            <a:ext cx="7200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Q. 매번 입력해야 하나요?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714500" y="8287207"/>
            <a:ext cx="7200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아니요 </a:t>
            </a: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4교시에서 시스템 프롬프트로 등록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372600" y="7916875"/>
            <a:ext cx="7200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Q. SNS 응대도 자동화?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9372600" y="8287207"/>
            <a:ext cx="72009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AI 에이전트</a:t>
            </a: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응대 흐름까지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6" name="Text 34"/>
          <p:cNvSpPr txBox="1"/>
          <p:nvPr/>
        </p:nvSpPr>
        <p:spPr>
          <a:xfrm>
            <a:off x="1333195" y="9610344"/>
            <a:ext cx="393466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81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총 소요</a:t>
            </a:r>
            <a:r>
              <a:rPr lang="en-US" sz="20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3 + 2 + 10 + 10 = 25분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12378881" y="9610344"/>
            <a:ext cx="3514954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3교시 챗봇과 에이전트의 차이</a:t>
            </a:r>
            <a:endParaRPr lang="en-US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31591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0282087a399e7c95595faa9cad462f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524305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62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· 03 / 04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476195"/>
            <a:ext cx="15621610" cy="2667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dirty="0">
                <a:solidFill>
                  <a:srgbClr val="F3F4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5333695"/>
            <a:ext cx="15621610" cy="235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0" kern="0" spc="-16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</a:t>
            </a:r>
            <a:r>
              <a:rPr lang="en-US" sz="8400" kern="0" spc="-168" dirty="0">
                <a:solidFill>
                  <a:srgbClr val="1E3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에이전트</a:t>
            </a:r>
            <a:r>
              <a:rPr lang="en-US" sz="8400" kern="0" spc="-16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란</a:t>
            </a:r>
            <a:endParaRPr lang="en-US" sz="8400" dirty="0"/>
          </a:p>
          <a:p>
            <a:pPr marL="0" indent="0" algn="l">
              <a:buNone/>
            </a:pPr>
            <a:r>
              <a:rPr lang="en-US" sz="8400" kern="0" spc="-16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무엇인가</a:t>
            </a:r>
            <a:endParaRPr lang="en-US" sz="8400" dirty="0"/>
          </a:p>
        </p:txBody>
      </p:sp>
      <p:sp>
        <p:nvSpPr>
          <p:cNvPr id="8" name="Shape 5"/>
          <p:cNvSpPr/>
          <p:nvPr/>
        </p:nvSpPr>
        <p:spPr>
          <a:xfrm>
            <a:off x="1333195" y="8382305"/>
            <a:ext cx="38405" cy="47640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638605" y="8382305"/>
            <a:ext cx="1531620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챗봇은 답한다. 자동화는 시킨 대로.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에이전트는 목표를 이해하고 스스로 계획한다.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333195" y="9715500"/>
            <a:ext cx="63157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24 → 31 · 3교시 · 실습 = 에이전트화 업무 3건 찾기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6290036" y="9743846"/>
            <a:ext cx="7690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r>
              <a:rPr lang="en-US" sz="1400" kern="0" spc="281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2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4460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40510" y="7744054"/>
            <a:ext cx="15620695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10372954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· 비교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강사가 만들 것은 챗봇이 아니라 에이전트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314346"/>
            <a:ext cx="2095805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16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관점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314346"/>
            <a:ext cx="4515307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kern="0" spc="216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CHATBOT · 챗봇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7937906" y="2314346"/>
            <a:ext cx="4515307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kern="0" spc="216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 · 자동화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2445898" y="2314346"/>
            <a:ext cx="4515307" cy="667512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15900" rIns="190500" bIns="215900" rtlCol="0" anchor="ctr"/>
          <a:lstStyle/>
          <a:p>
            <a:pPr marL="0" indent="0" algn="ctr">
              <a:buNone/>
            </a:pPr>
            <a:r>
              <a:rPr lang="en-US" sz="2000" kern="0" spc="216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· 에이전트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333195" y="377190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Text 12"/>
          <p:cNvSpPr txBox="1"/>
          <p:nvPr/>
        </p:nvSpPr>
        <p:spPr>
          <a:xfrm>
            <a:off x="1333195" y="3000146"/>
            <a:ext cx="2095805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행동 방식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000146"/>
            <a:ext cx="4515307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질문 → 답한다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37906" y="3000146"/>
            <a:ext cx="4515307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규칙대로 실행한다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445898" y="3000146"/>
            <a:ext cx="4515307" cy="743407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28600" rIns="190500" bIns="2286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목표 → 계획 → 실행한다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33195" y="4552798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" name="Text 17"/>
          <p:cNvSpPr txBox="1"/>
          <p:nvPr/>
        </p:nvSpPr>
        <p:spPr>
          <a:xfrm>
            <a:off x="1333195" y="3781044"/>
            <a:ext cx="2095805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의사 결정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781044"/>
            <a:ext cx="4515307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없음 사람이 매번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937906" y="3781044"/>
            <a:ext cx="4515307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미리 정한 분기만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2445898" y="3781044"/>
            <a:ext cx="4515307" cy="743407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28600" rIns="190500" bIns="2286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상황 보고 도구 선택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333195" y="533461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4" name="Text 22"/>
          <p:cNvSpPr txBox="1"/>
          <p:nvPr/>
        </p:nvSpPr>
        <p:spPr>
          <a:xfrm>
            <a:off x="1333195" y="4562856"/>
            <a:ext cx="2095805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반복 학습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562856"/>
            <a:ext cx="4515307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대화 끝 = 기억 없음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937906" y="4562856"/>
            <a:ext cx="4515307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기록만 남음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2445898" y="4562856"/>
            <a:ext cx="4515307" cy="743407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28600" rIns="190500" bIns="2286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결과 검토 → 재시도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333195" y="6115507"/>
            <a:ext cx="15620695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9" name="Text 27"/>
          <p:cNvSpPr txBox="1"/>
          <p:nvPr/>
        </p:nvSpPr>
        <p:spPr>
          <a:xfrm>
            <a:off x="1333195" y="5343754"/>
            <a:ext cx="2095805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예시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5343754"/>
            <a:ext cx="4515307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"이 강의 소개문 써줘"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937906" y="5343754"/>
            <a:ext cx="4515307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"제안 오면 → 견적 자동 발송"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2445898" y="5343754"/>
            <a:ext cx="4515307" cy="743407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28600" rIns="190500" bIns="2286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"의뢰 오면 분석→견적→제안→일정→후속"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721815" y="7972654"/>
            <a:ext cx="1485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324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1721815" y="8296351"/>
            <a:ext cx="14859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챗봇 = 시간 절약. 자동화 = 빈도 절약. 에이전트 = 책임 절약.</a:t>
            </a:r>
            <a:endParaRPr lang="en-US" sz="32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40763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644926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· 진화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강사의 AI 활용 3레벨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286000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대부분의 강사는 레벨 1입니다.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강의의 목표는 레벨 3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으로 옮기는 것. 한 번에 안 됩니다.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277356" y="3810305"/>
            <a:ext cx="9144" cy="3705149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9" name="Text 7"/>
          <p:cNvSpPr txBox="1"/>
          <p:nvPr/>
        </p:nvSpPr>
        <p:spPr>
          <a:xfrm>
            <a:off x="1303698" y="3161768"/>
            <a:ext cx="47155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7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· 01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302783" y="3737151"/>
            <a:ext cx="47155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물어보고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답을 받는다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5278831"/>
            <a:ext cx="47155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135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챗봇 사용자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5704233"/>
            <a:ext cx="4715561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정보를 다시 입력.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다른 결과물.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절반 이상 개입.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33195" y="7030822"/>
            <a:ext cx="4714646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Text 12"/>
          <p:cNvSpPr txBox="1"/>
          <p:nvPr/>
        </p:nvSpPr>
        <p:spPr>
          <a:xfrm>
            <a:off x="1333195" y="7230161"/>
            <a:ext cx="47155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0" rIns="190500" bIns="1905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시간 절약 · 조금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611966" y="3810305"/>
            <a:ext cx="9144" cy="3705149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6" name="Text 14"/>
          <p:cNvSpPr txBox="1"/>
          <p:nvPr/>
        </p:nvSpPr>
        <p:spPr>
          <a:xfrm>
            <a:off x="6866908" y="3161768"/>
            <a:ext cx="44869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7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· 02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6865993" y="3737151"/>
            <a:ext cx="44869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템플릿을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설계해 둔다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896405" y="5278831"/>
            <a:ext cx="44869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13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프롬프트 운영자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896405" y="5704233"/>
            <a:ext cx="4486961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전략표 + RACOC 저장.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강의명만 바꾸면 5종 즉시.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2교시까지의 단계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96405" y="7030822"/>
            <a:ext cx="4486046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" name="Text 19"/>
          <p:cNvSpPr txBox="1"/>
          <p:nvPr/>
        </p:nvSpPr>
        <p:spPr>
          <a:xfrm>
            <a:off x="6896405" y="7230161"/>
            <a:ext cx="44869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0" rIns="190500" bIns="1905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시간 절약 · 많이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2200603" y="3161768"/>
            <a:ext cx="4724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27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· 03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2199688" y="3737151"/>
            <a:ext cx="47247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비서가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일을 끌고 간다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12230100" y="5278831"/>
            <a:ext cx="47247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kern="0" spc="135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에이전트 설계자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12230100" y="5792724"/>
            <a:ext cx="47247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의뢰서 → 강의안 / 견적 / 제안 / 일정 자동.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4교시 끝의 단계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2230100" y="6707124"/>
            <a:ext cx="4724705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5"/>
          <p:cNvSpPr txBox="1"/>
          <p:nvPr/>
        </p:nvSpPr>
        <p:spPr>
          <a:xfrm>
            <a:off x="12230100" y="7148779"/>
            <a:ext cx="4724705" cy="1769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0" rIns="190500" bIns="19050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시간 절약 · 가장 많이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303698" y="857318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9" name="Text 27"/>
          <p:cNvSpPr txBox="1"/>
          <p:nvPr/>
        </p:nvSpPr>
        <p:spPr>
          <a:xfrm>
            <a:off x="1081735" y="9014842"/>
            <a:ext cx="156216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읽는 법</a:t>
            </a:r>
            <a:r>
              <a:rPr lang="en-US" sz="20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레벨 3을 만들려면 먼저 에이전트의 구성을 알아야 합니다.</a:t>
            </a:r>
            <a:endParaRPr lang="en-US" sz="20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587599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759226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· 해부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에이전트의 9가지 구성요소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286000"/>
            <a:ext cx="15621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9가지가 모인 시스템.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칸이라도 비면 챗봇으로 떨어집니다.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3195" y="342900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7"/>
          <p:cNvSpPr/>
          <p:nvPr/>
        </p:nvSpPr>
        <p:spPr>
          <a:xfrm>
            <a:off x="1333195" y="4715561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6534302" y="3448202"/>
            <a:ext cx="9144" cy="12765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1333195" y="3705149"/>
            <a:ext cx="324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805940" y="3696005"/>
            <a:ext cx="155356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목표 (Goal)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4172407"/>
            <a:ext cx="493410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"의뢰 받으면 → 강의안 + 제안서 만든다"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540703" y="4715561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11741810" y="3448202"/>
            <a:ext cx="9144" cy="12765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6806794" y="3705149"/>
            <a:ext cx="324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279538" y="3696005"/>
            <a:ext cx="154167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역할 (Role)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06794" y="4172407"/>
            <a:ext cx="46680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누구처럼. "15년차 강사 매니저"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1747297" y="4715561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 txBox="1"/>
          <p:nvPr/>
        </p:nvSpPr>
        <p:spPr>
          <a:xfrm>
            <a:off x="12014302" y="3705149"/>
            <a:ext cx="324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2487046" y="3696005"/>
            <a:ext cx="486461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지식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2014302" y="4172407"/>
            <a:ext cx="49441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카탈로그 · 출강 이력 · 후기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333195" y="5985662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Shape 22"/>
          <p:cNvSpPr/>
          <p:nvPr/>
        </p:nvSpPr>
        <p:spPr>
          <a:xfrm>
            <a:off x="6534302" y="4718304"/>
            <a:ext cx="9144" cy="12765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1333195" y="4976165"/>
            <a:ext cx="324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1805940" y="4966106"/>
            <a:ext cx="486461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기억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333195" y="5442509"/>
            <a:ext cx="493410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의뢰 / 결과물 다음에 참고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40703" y="5985662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Shape 27"/>
          <p:cNvSpPr/>
          <p:nvPr/>
        </p:nvSpPr>
        <p:spPr>
          <a:xfrm>
            <a:off x="11741810" y="4718304"/>
            <a:ext cx="9144" cy="12765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 txBox="1"/>
          <p:nvPr/>
        </p:nvSpPr>
        <p:spPr>
          <a:xfrm>
            <a:off x="6806794" y="4976165"/>
            <a:ext cx="324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7279538" y="4966106"/>
            <a:ext cx="486461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도구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6806794" y="5442509"/>
            <a:ext cx="46680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검색 · 캘린더 · 메일 · 노션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1747297" y="5985662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Text 32"/>
          <p:cNvSpPr txBox="1"/>
          <p:nvPr/>
        </p:nvSpPr>
        <p:spPr>
          <a:xfrm>
            <a:off x="12014302" y="4976165"/>
            <a:ext cx="324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12487046" y="4966106"/>
            <a:ext cx="486461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절차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12014302" y="5442509"/>
            <a:ext cx="49441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의뢰 → 분석 → 견적 → 제안 → 일정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1333195" y="5989320"/>
            <a:ext cx="5210251" cy="1276502"/>
          </a:xfrm>
          <a:prstGeom prst="rect">
            <a:avLst/>
          </a:prstGeom>
          <a:solidFill>
            <a:srgbClr val="FFFBEB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Text 36"/>
          <p:cNvSpPr txBox="1"/>
          <p:nvPr/>
        </p:nvSpPr>
        <p:spPr>
          <a:xfrm>
            <a:off x="1333195" y="6246266"/>
            <a:ext cx="324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1805940" y="6237122"/>
            <a:ext cx="118323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검수 기준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1333195" y="6712610"/>
            <a:ext cx="493410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21쪽 5기준이 그대로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540703" y="5989320"/>
            <a:ext cx="5210251" cy="1276502"/>
          </a:xfrm>
          <a:prstGeom prst="rect">
            <a:avLst/>
          </a:prstGeom>
          <a:solidFill>
            <a:srgbClr val="FFFBEB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2" name="Text 40"/>
          <p:cNvSpPr txBox="1"/>
          <p:nvPr/>
        </p:nvSpPr>
        <p:spPr>
          <a:xfrm>
            <a:off x="6806794" y="6246266"/>
            <a:ext cx="324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2800" dirty="0"/>
          </a:p>
        </p:txBody>
      </p:sp>
      <p:sp>
        <p:nvSpPr>
          <p:cNvPr id="43" name="Text 41"/>
          <p:cNvSpPr txBox="1"/>
          <p:nvPr/>
        </p:nvSpPr>
        <p:spPr>
          <a:xfrm>
            <a:off x="7279538" y="6237122"/>
            <a:ext cx="486461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제약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6806794" y="6712610"/>
            <a:ext cx="46680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안 된 수치 · 가격 임의 금지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1747297" y="5989320"/>
            <a:ext cx="5210251" cy="1276502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6" name="Shape 44"/>
          <p:cNvSpPr/>
          <p:nvPr/>
        </p:nvSpPr>
        <p:spPr>
          <a:xfrm>
            <a:off x="11747297" y="7256678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Text 45"/>
          <p:cNvSpPr txBox="1"/>
          <p:nvPr/>
        </p:nvSpPr>
        <p:spPr>
          <a:xfrm>
            <a:off x="12014302" y="6246266"/>
            <a:ext cx="324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2800" dirty="0"/>
          </a:p>
        </p:txBody>
      </p:sp>
      <p:sp>
        <p:nvSpPr>
          <p:cNvPr id="48" name="Text 46"/>
          <p:cNvSpPr txBox="1"/>
          <p:nvPr/>
        </p:nvSpPr>
        <p:spPr>
          <a:xfrm>
            <a:off x="12487046" y="6237122"/>
            <a:ext cx="118323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사람 승인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12014302" y="6712610"/>
            <a:ext cx="49441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 직전 강사 확인 의무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Text 49"/>
          <p:cNvSpPr txBox="1"/>
          <p:nvPr/>
        </p:nvSpPr>
        <p:spPr>
          <a:xfrm>
            <a:off x="1333195" y="9611258"/>
            <a:ext cx="156216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색 구분</a:t>
            </a:r>
            <a:r>
              <a:rPr lang="en-US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파란 1~6 = </a:t>
            </a:r>
            <a:r>
              <a:rPr lang="en-US" i="1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비서의 일</a:t>
            </a:r>
            <a:r>
              <a:rPr lang="en-US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노란 7~9 = </a:t>
            </a:r>
            <a:r>
              <a:rPr lang="en-US" i="1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강사의 통제</a:t>
            </a:r>
            <a:r>
              <a:rPr lang="en-US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노란 칸이 빠지면 위험.</a:t>
            </a:r>
            <a:endParaRPr lang="en-US" dirty="0"/>
          </a:p>
        </p:txBody>
      </p:sp>
      <p:sp>
        <p:nvSpPr>
          <p:cNvPr id="5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22802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667598"/>
            <a:ext cx="15620695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90297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· 작동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에이전트는 어떻게 일하는가 4단계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286000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네 단계의 루프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검수 기준에 안 맞으면 다시 계획으로. 챗봇은 1회로 끝납니다. 에이전트는 통과할 때까지.</a:t>
            </a:r>
            <a:endParaRPr lang="en-US" sz="21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42F09FC-767F-2D42-D6D4-D78E797756EC}"/>
              </a:ext>
            </a:extLst>
          </p:cNvPr>
          <p:cNvGrpSpPr/>
          <p:nvPr/>
        </p:nvGrpSpPr>
        <p:grpSpPr>
          <a:xfrm>
            <a:off x="1333195" y="4095598"/>
            <a:ext cx="3476549" cy="2545689"/>
            <a:chOff x="1333195" y="4095598"/>
            <a:chExt cx="3476549" cy="2545689"/>
          </a:xfrm>
        </p:grpSpPr>
        <p:sp>
          <p:nvSpPr>
            <p:cNvPr id="9" name="Shape 7"/>
            <p:cNvSpPr/>
            <p:nvPr/>
          </p:nvSpPr>
          <p:spPr>
            <a:xfrm>
              <a:off x="1333195" y="4095598"/>
              <a:ext cx="3476549" cy="38405"/>
            </a:xfrm>
            <a:prstGeom prst="rect">
              <a:avLst/>
            </a:prstGeom>
            <a:solidFill>
              <a:srgbClr val="1E3A8A"/>
            </a:solidFill>
            <a:ln w="12700">
              <a:solidFill>
                <a:srgbClr val="1E3A8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561795" y="4476902"/>
              <a:ext cx="3020263" cy="4764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600" dirty="0">
                  <a:solidFill>
                    <a:srgbClr val="1E3A8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01</a:t>
              </a:r>
              <a:endParaRPr lang="en-US" sz="36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1561795" y="5105095"/>
              <a:ext cx="3020263" cy="4288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이 해</a:t>
              </a:r>
              <a:endParaRPr lang="en-US" sz="32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1561795" y="5602529"/>
              <a:ext cx="3020263" cy="2103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kern="0" spc="230" dirty="0">
                  <a:solidFill>
                    <a:srgbClr val="9999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PERCEIVE</a:t>
              </a:r>
              <a:endParaRPr lang="en-US" sz="16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1561795" y="6040526"/>
              <a:ext cx="3020263" cy="600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의뢰서 / 입력 자료를 </a:t>
              </a:r>
              <a:r>
                <a:rPr lang="en-US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읽고</a:t>
              </a:r>
              <a:r>
                <a:rPr lang="en-US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핵심을</a:t>
              </a:r>
              <a:r>
                <a:rPr lang="en-US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정리</a:t>
              </a:r>
              <a:endParaRPr lang="en-US" dirty="0"/>
            </a:p>
          </p:txBody>
        </p:sp>
      </p:grpSp>
      <p:sp>
        <p:nvSpPr>
          <p:cNvPr id="14" name="Text 12"/>
          <p:cNvSpPr txBox="1"/>
          <p:nvPr/>
        </p:nvSpPr>
        <p:spPr>
          <a:xfrm>
            <a:off x="4809744" y="4900270"/>
            <a:ext cx="571500" cy="127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8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080F91D-AA8E-9C8E-0692-7ADB4D6C8BB5}"/>
              </a:ext>
            </a:extLst>
          </p:cNvPr>
          <p:cNvGrpSpPr/>
          <p:nvPr/>
        </p:nvGrpSpPr>
        <p:grpSpPr>
          <a:xfrm>
            <a:off x="5381244" y="4095598"/>
            <a:ext cx="3476549" cy="2250339"/>
            <a:chOff x="5381244" y="4244645"/>
            <a:chExt cx="3476549" cy="2250339"/>
          </a:xfrm>
        </p:grpSpPr>
        <p:sp>
          <p:nvSpPr>
            <p:cNvPr id="15" name="Shape 13"/>
            <p:cNvSpPr/>
            <p:nvPr/>
          </p:nvSpPr>
          <p:spPr>
            <a:xfrm>
              <a:off x="5381244" y="4244645"/>
              <a:ext cx="3476549" cy="38405"/>
            </a:xfrm>
            <a:prstGeom prst="rect">
              <a:avLst/>
            </a:prstGeom>
            <a:solidFill>
              <a:srgbClr val="1E3A8A"/>
            </a:solidFill>
            <a:ln w="12700">
              <a:solidFill>
                <a:srgbClr val="1E3A8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5609844" y="4625950"/>
              <a:ext cx="3020263" cy="4764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600" dirty="0">
                  <a:solidFill>
                    <a:srgbClr val="1E3A8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02</a:t>
              </a:r>
              <a:endParaRPr lang="en-US" sz="36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5609844" y="5255057"/>
              <a:ext cx="3020263" cy="4288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계 획</a:t>
              </a:r>
              <a:endParaRPr lang="en-US" sz="32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5609844" y="5751576"/>
              <a:ext cx="3020263" cy="2103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kern="0" spc="230" dirty="0">
                  <a:solidFill>
                    <a:srgbClr val="9999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PLAN</a:t>
              </a:r>
              <a:endParaRPr lang="en-US" sz="16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5609844" y="6189574"/>
              <a:ext cx="3020263" cy="3054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필요한 단계를 나눈다</a:t>
              </a:r>
              <a:endParaRPr lang="en-US" dirty="0"/>
            </a:p>
          </p:txBody>
        </p:sp>
      </p:grpSp>
      <p:sp>
        <p:nvSpPr>
          <p:cNvPr id="20" name="Text 18"/>
          <p:cNvSpPr txBox="1"/>
          <p:nvPr/>
        </p:nvSpPr>
        <p:spPr>
          <a:xfrm>
            <a:off x="8858707" y="4900270"/>
            <a:ext cx="571500" cy="127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8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B99C069-AFC8-7BB4-57FA-DA54FB9DEF44}"/>
              </a:ext>
            </a:extLst>
          </p:cNvPr>
          <p:cNvGrpSpPr/>
          <p:nvPr/>
        </p:nvGrpSpPr>
        <p:grpSpPr>
          <a:xfrm>
            <a:off x="9430207" y="4095598"/>
            <a:ext cx="3476549" cy="2250339"/>
            <a:chOff x="9430207" y="4244645"/>
            <a:chExt cx="3476549" cy="2250339"/>
          </a:xfrm>
        </p:grpSpPr>
        <p:sp>
          <p:nvSpPr>
            <p:cNvPr id="21" name="Shape 19"/>
            <p:cNvSpPr/>
            <p:nvPr/>
          </p:nvSpPr>
          <p:spPr>
            <a:xfrm>
              <a:off x="9430207" y="4244645"/>
              <a:ext cx="3476549" cy="38405"/>
            </a:xfrm>
            <a:prstGeom prst="rect">
              <a:avLst/>
            </a:prstGeom>
            <a:solidFill>
              <a:srgbClr val="1E3A8A"/>
            </a:solidFill>
            <a:ln w="12700">
              <a:solidFill>
                <a:srgbClr val="1E3A8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9658807" y="4625950"/>
              <a:ext cx="3020263" cy="4764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600" dirty="0">
                  <a:solidFill>
                    <a:srgbClr val="1E3A8A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03</a:t>
              </a:r>
              <a:endParaRPr lang="en-US" sz="360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9658807" y="5255057"/>
              <a:ext cx="3020263" cy="4288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실 행</a:t>
              </a:r>
              <a:endParaRPr lang="en-US" sz="3200" dirty="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9658807" y="5751576"/>
              <a:ext cx="3020263" cy="2103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kern="0" spc="230" dirty="0">
                  <a:solidFill>
                    <a:srgbClr val="9999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ACT</a:t>
              </a:r>
              <a:endParaRPr lang="en-US" sz="160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9658807" y="6189574"/>
              <a:ext cx="3020263" cy="3054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도구 골라서 단계별 결과물 생성</a:t>
              </a:r>
              <a:endParaRPr lang="en-US" dirty="0"/>
            </a:p>
          </p:txBody>
        </p:sp>
      </p:grpSp>
      <p:sp>
        <p:nvSpPr>
          <p:cNvPr id="26" name="Text 24"/>
          <p:cNvSpPr txBox="1"/>
          <p:nvPr/>
        </p:nvSpPr>
        <p:spPr>
          <a:xfrm>
            <a:off x="12906756" y="4900270"/>
            <a:ext cx="571500" cy="127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8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9DC7A05-8C07-8C02-1C34-FDCC586DC8DE}"/>
              </a:ext>
            </a:extLst>
          </p:cNvPr>
          <p:cNvGrpSpPr/>
          <p:nvPr/>
        </p:nvGrpSpPr>
        <p:grpSpPr>
          <a:xfrm>
            <a:off x="13478256" y="4095598"/>
            <a:ext cx="3476549" cy="2545689"/>
            <a:chOff x="13478256" y="4095598"/>
            <a:chExt cx="3476549" cy="2545689"/>
          </a:xfrm>
        </p:grpSpPr>
        <p:sp>
          <p:nvSpPr>
            <p:cNvPr id="27" name="Shape 25"/>
            <p:cNvSpPr/>
            <p:nvPr/>
          </p:nvSpPr>
          <p:spPr>
            <a:xfrm>
              <a:off x="13478256" y="4095598"/>
              <a:ext cx="3476549" cy="38405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13706856" y="4476902"/>
              <a:ext cx="3020263" cy="4764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600" dirty="0">
                  <a:solidFill>
                    <a:srgbClr val="D9770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04</a:t>
              </a:r>
              <a:endParaRPr lang="en-US" sz="360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13706856" y="5105095"/>
              <a:ext cx="3020263" cy="4288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검 토</a:t>
              </a:r>
              <a:endParaRPr lang="en-US" sz="3200" dirty="0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13706856" y="5602529"/>
              <a:ext cx="3020263" cy="2103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kern="0" spc="230" dirty="0">
                  <a:solidFill>
                    <a:srgbClr val="9999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REVIEW</a:t>
              </a:r>
              <a:endParaRPr lang="en-US" sz="1600" dirty="0"/>
            </a:p>
          </p:txBody>
        </p:sp>
        <p:sp>
          <p:nvSpPr>
            <p:cNvPr id="31" name="Text 29"/>
            <p:cNvSpPr txBox="1"/>
            <p:nvPr/>
          </p:nvSpPr>
          <p:spPr>
            <a:xfrm>
              <a:off x="13706856" y="6040526"/>
              <a:ext cx="3020263" cy="600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D9770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기준 안 맞으면 → 02로 / 통과 → 강사 승인</a:t>
              </a:r>
              <a:endParaRPr lang="en-US" dirty="0"/>
            </a:p>
          </p:txBody>
        </p:sp>
      </p:grpSp>
      <p:sp>
        <p:nvSpPr>
          <p:cNvPr id="32" name="Text 30"/>
          <p:cNvSpPr txBox="1"/>
          <p:nvPr/>
        </p:nvSpPr>
        <p:spPr>
          <a:xfrm>
            <a:off x="6190488" y="7476134"/>
            <a:ext cx="8668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7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↺ LOOP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321601" y="7437730"/>
            <a:ext cx="54681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"통과 못 함" → 02 → 03 → 04 다시. </a:t>
            </a:r>
            <a:r>
              <a:rPr lang="en-US" sz="2000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통과할 때까지.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1714500" y="8896198"/>
            <a:ext cx="1485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714500" y="9219895"/>
            <a:ext cx="14859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에이전트의 진짜 가치 = "04 검토". 챗봇은 검토하지 않습니다.</a:t>
            </a:r>
            <a:endParaRPr lang="en-US" sz="24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68230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8725205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· 사례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업무에 적용 8가지 에이전트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286000"/>
            <a:ext cx="15621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모두 한 번에 안 만듭니다.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"가장 자주 하는 3가지부터"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4교시 비서 안에 묶습니다.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3195" y="361919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7"/>
          <p:cNvSpPr/>
          <p:nvPr/>
        </p:nvSpPr>
        <p:spPr>
          <a:xfrm>
            <a:off x="1333195" y="4696358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9134856" y="3638398"/>
            <a:ext cx="9144" cy="10671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1333195" y="3886200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779422" y="3847795"/>
            <a:ext cx="28867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제안서 작성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779422" y="4219956"/>
            <a:ext cx="356524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의뢰서 → 제안서 1장 · </a:t>
            </a: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= 최종 가격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4696358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 txBox="1"/>
          <p:nvPr/>
        </p:nvSpPr>
        <p:spPr>
          <a:xfrm>
            <a:off x="9486900" y="3886200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933127" y="3847795"/>
            <a:ext cx="27340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커리큘럼 설계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933127" y="4219956"/>
            <a:ext cx="325343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+ 시간 → 시간표 · </a:t>
            </a: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= 난이도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33195" y="5762549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7"/>
          <p:cNvSpPr/>
          <p:nvPr/>
        </p:nvSpPr>
        <p:spPr>
          <a:xfrm>
            <a:off x="9134856" y="4704588"/>
            <a:ext cx="9144" cy="10671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 txBox="1"/>
          <p:nvPr/>
        </p:nvSpPr>
        <p:spPr>
          <a:xfrm>
            <a:off x="1333195" y="4952390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779422" y="4913986"/>
            <a:ext cx="2905963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수강생 수준 분석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779422" y="5285232"/>
            <a:ext cx="345551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설문 → 평균 / 분포 · </a:t>
            </a: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= 익명화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0" y="5762549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 txBox="1"/>
          <p:nvPr/>
        </p:nvSpPr>
        <p:spPr>
          <a:xfrm>
            <a:off x="9486900" y="4952390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933127" y="4913986"/>
            <a:ext cx="24862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콘텐츠 생성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933127" y="5285232"/>
            <a:ext cx="295899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강의명 → 5종 · </a:t>
            </a: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= 사실성 / 톤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33195" y="6827825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Shape 26"/>
          <p:cNvSpPr/>
          <p:nvPr/>
        </p:nvSpPr>
        <p:spPr>
          <a:xfrm>
            <a:off x="9134856" y="5770778"/>
            <a:ext cx="9144" cy="10671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 27"/>
          <p:cNvSpPr txBox="1"/>
          <p:nvPr/>
        </p:nvSpPr>
        <p:spPr>
          <a:xfrm>
            <a:off x="1333195" y="6017666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779422" y="5980176"/>
            <a:ext cx="30769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후기 분석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1779422" y="6351422"/>
            <a:ext cx="365302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200개 후기 → 항목별 요약 · </a:t>
            </a: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= 익명화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44000" y="6828739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 31"/>
          <p:cNvSpPr txBox="1"/>
          <p:nvPr/>
        </p:nvSpPr>
        <p:spPr>
          <a:xfrm>
            <a:off x="9486900" y="6017666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9933127" y="5980176"/>
            <a:ext cx="29535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교안 작성 보조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9933127" y="6351422"/>
            <a:ext cx="36265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→ 슬라이드 목차 · </a:t>
            </a: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= 출처 표기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134856" y="6836054"/>
            <a:ext cx="9144" cy="105704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Text 35"/>
          <p:cNvSpPr txBox="1"/>
          <p:nvPr/>
        </p:nvSpPr>
        <p:spPr>
          <a:xfrm>
            <a:off x="1333195" y="7083857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1779422" y="7045452"/>
            <a:ext cx="29343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Q&amp;A 정리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1779422" y="7417613"/>
            <a:ext cx="348843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→ FAQ + 후속 메일 · </a:t>
            </a: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= 정확도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9486900" y="7083857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9933127" y="7045452"/>
            <a:ext cx="3591763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담당자 응대 메일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9933127" y="7417613"/>
            <a:ext cx="424464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메일 → 답장 초안 · </a:t>
            </a: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= 가격 / 일정 / 톤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4" name="Text 42"/>
          <p:cNvSpPr txBox="1"/>
          <p:nvPr/>
        </p:nvSpPr>
        <p:spPr>
          <a:xfrm>
            <a:off x="1333195" y="9611258"/>
            <a:ext cx="156216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우선순위</a:t>
            </a:r>
            <a:r>
              <a:rPr lang="en-US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가장 자주 + 가장 시간 들이는 3가지를 4교시 비서로.</a:t>
            </a:r>
            <a:endParaRPr lang="en-US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59294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794430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· 우선순위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어떤 업무부터 에이전트화?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286000"/>
            <a:ext cx="15621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두 축으로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반복 빈도 × 소요 시간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자주 + 오래 걸리는 업무가 비서의 첫 일감.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 rot="16200000">
            <a:off x="483718" y="5976518"/>
            <a:ext cx="22768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소 요 시 간 · 길 다 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04695" y="3619195"/>
            <a:ext cx="7867498" cy="5009998"/>
          </a:xfrm>
          <a:prstGeom prst="rect">
            <a:avLst/>
          </a:prstGeom>
          <a:noFill/>
          <a:ln w="381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1933956" y="6581851"/>
            <a:ext cx="43717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6296558" y="3648456"/>
            <a:ext cx="9144" cy="29434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 txBox="1"/>
          <p:nvPr/>
        </p:nvSpPr>
        <p:spPr>
          <a:xfrm>
            <a:off x="2162556" y="3877056"/>
            <a:ext cx="39054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25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 · 차순위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62556" y="4162349"/>
            <a:ext cx="390540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드물지만 오래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162556" y="4591202"/>
            <a:ext cx="3905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 분석 / 자료 리뉴얼</a:t>
            </a:r>
            <a:endParaRPr lang="en-US" sz="1600" dirty="0"/>
          </a:p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1회 비서 호출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81244" y="3648456"/>
            <a:ext cx="4362602" cy="294345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4"/>
          <p:cNvSpPr/>
          <p:nvPr/>
        </p:nvSpPr>
        <p:spPr>
          <a:xfrm>
            <a:off x="5381244" y="6582766"/>
            <a:ext cx="4362602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5609844" y="3877056"/>
            <a:ext cx="39054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25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· 1순위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09844" y="4162349"/>
            <a:ext cx="390540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자주 + 오래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09844" y="4591202"/>
            <a:ext cx="221559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/ 홍보 / 응대 메일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09844" y="4841748"/>
            <a:ext cx="168981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4교시 비서의 핵심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96558" y="5667451"/>
            <a:ext cx="9144" cy="29333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2162556" y="5896051"/>
            <a:ext cx="39054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25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 · 후순위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162556" y="6181344"/>
            <a:ext cx="390540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드물고 짧다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2162556" y="6610198"/>
            <a:ext cx="3905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손이 더 빠름</a:t>
            </a:r>
            <a:endParaRPr lang="en-US" sz="1600" dirty="0"/>
          </a:p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무시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81244" y="5667451"/>
            <a:ext cx="4362602" cy="2933395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 24"/>
          <p:cNvSpPr txBox="1"/>
          <p:nvPr/>
        </p:nvSpPr>
        <p:spPr>
          <a:xfrm>
            <a:off x="5609844" y="5896051"/>
            <a:ext cx="39054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25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· 2순위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09844" y="6181344"/>
            <a:ext cx="390540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자주 + 짧다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09844" y="6610198"/>
            <a:ext cx="175747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답글 · 일정 안내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609844" y="6861658"/>
            <a:ext cx="154167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분기별 묶음 자동화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057400" y="8691372"/>
            <a:ext cx="14100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빈도 · 낮다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459114" y="8691372"/>
            <a:ext cx="14100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3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빈도 · 높다 →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287000" y="3619195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매트릭스 사용법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287000" y="4733849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Text 32"/>
          <p:cNvSpPr txBox="1"/>
          <p:nvPr/>
        </p:nvSpPr>
        <p:spPr>
          <a:xfrm>
            <a:off x="10287000" y="4209898"/>
            <a:ext cx="47640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10953598" y="4209898"/>
            <a:ext cx="3233318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일주일치 본인 업무를 종이에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0287000" y="5397703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Text 35"/>
          <p:cNvSpPr txBox="1"/>
          <p:nvPr/>
        </p:nvSpPr>
        <p:spPr>
          <a:xfrm>
            <a:off x="10287000" y="4873752"/>
            <a:ext cx="47640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0953598" y="4873752"/>
            <a:ext cx="3003804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빈도(월 N회) + 소요(분) 적기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0287000" y="6061558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0" name="Text 38"/>
          <p:cNvSpPr txBox="1"/>
          <p:nvPr/>
        </p:nvSpPr>
        <p:spPr>
          <a:xfrm>
            <a:off x="10287000" y="5537606"/>
            <a:ext cx="47640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10953598" y="5537606"/>
            <a:ext cx="3560674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4분면 어디에 들어가는지 점찍기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10287000" y="6201461"/>
            <a:ext cx="47640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10953598" y="6201461"/>
            <a:ext cx="3343961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 의 3가지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비서 일감으로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0287000" y="6951269"/>
            <a:ext cx="666780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Text 43"/>
          <p:cNvSpPr txBox="1"/>
          <p:nvPr/>
        </p:nvSpPr>
        <p:spPr>
          <a:xfrm>
            <a:off x="10287000" y="7132320"/>
            <a:ext cx="66678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Q1 업무 3개 = 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매주 6~8시간</a:t>
            </a:r>
            <a:r>
              <a:rPr lang="en-US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이 시간이 강의로 돌아옵니다.</a:t>
            </a:r>
            <a:endParaRPr lang="en-US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57671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8363102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· 매핑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현재 방식 → AI 비서 → 사람 검수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3195" y="2286000"/>
            <a:ext cx="15620695" cy="714146"/>
          </a:xfrm>
          <a:prstGeom prst="rect">
            <a:avLst/>
          </a:prstGeom>
          <a:noFill/>
          <a:ln w="3810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1333195" y="2314346"/>
            <a:ext cx="2667305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반복 업무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00500" y="2314346"/>
            <a:ext cx="2667305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현재 방식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67805" y="2314346"/>
            <a:ext cx="7620610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비서 방식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287500" y="2314346"/>
            <a:ext cx="2667305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검수 지점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33195" y="4038905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1524305" y="3209544"/>
            <a:ext cx="2286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제안서 작성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24305" y="3581705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3~5건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00500" y="3000146"/>
            <a:ext cx="2667305" cy="715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새로 60분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667805" y="3000146"/>
            <a:ext cx="7620610" cy="715061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15900" rIns="190500" bIns="2159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· 시간 입력 → 비서가 제안서 + 견적 → 5분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14287500" y="3000146"/>
            <a:ext cx="2667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메시지 / 가격 / 일정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33195" y="5086807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 txBox="1"/>
          <p:nvPr/>
        </p:nvSpPr>
        <p:spPr>
          <a:xfrm>
            <a:off x="1524305" y="4257446"/>
            <a:ext cx="2286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콘텐츠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24305" y="4629607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2~3건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000500" y="4048049"/>
            <a:ext cx="2667305" cy="715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채널별 다시 각 30분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667805" y="4048049"/>
            <a:ext cx="7620610" cy="715061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15900" rIns="190500" bIns="2159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강의명 + 일정 → 채널별 5종 동시 생성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4287500" y="4048049"/>
            <a:ext cx="2667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 / 톤 / 차별성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333195" y="613471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1524305" y="5305349"/>
            <a:ext cx="2286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피드백 정리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24305" y="5676595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1회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000500" y="5095951"/>
            <a:ext cx="2667305" cy="715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 수작업 3시간+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6667805" y="5095951"/>
            <a:ext cx="7620610" cy="715061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15900" rIns="190500" bIns="2159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 입력 → 만족도 / 키워드 / 개선 요약</a:t>
            </a: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14287500" y="5095951"/>
            <a:ext cx="2667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 정보 / 익명화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333195" y="7182612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9"/>
          <p:cNvSpPr txBox="1"/>
          <p:nvPr/>
        </p:nvSpPr>
        <p:spPr>
          <a:xfrm>
            <a:off x="1524305" y="6353251"/>
            <a:ext cx="2286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응대 메일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524305" y="6724498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5~10건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000500" y="6143854"/>
            <a:ext cx="2667305" cy="715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직접 톤 들쭉날쭉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6667805" y="6143854"/>
            <a:ext cx="7620610" cy="715061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15900" rIns="190500" bIns="2159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메일 붙여넣기 → 답장 초안 + 첨부 안내</a:t>
            </a:r>
            <a:endParaRPr lang="en-US" dirty="0"/>
          </a:p>
        </p:txBody>
      </p:sp>
      <p:sp>
        <p:nvSpPr>
          <p:cNvPr id="35" name="Text 33"/>
          <p:cNvSpPr txBox="1"/>
          <p:nvPr/>
        </p:nvSpPr>
        <p:spPr>
          <a:xfrm>
            <a:off x="14287500" y="6143854"/>
            <a:ext cx="2667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최종 발송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1333195" y="8230514"/>
            <a:ext cx="15620695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Text 35"/>
          <p:cNvSpPr txBox="1"/>
          <p:nvPr/>
        </p:nvSpPr>
        <p:spPr>
          <a:xfrm>
            <a:off x="1524305" y="7401154"/>
            <a:ext cx="2286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[ 본인 업무 ]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524305" y="7772400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실습에서 채우기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4000500" y="7191756"/>
            <a:ext cx="2667305" cy="715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</a:t>
            </a:r>
            <a:endParaRPr lang="en-US" dirty="0"/>
          </a:p>
        </p:txBody>
      </p:sp>
      <p:sp>
        <p:nvSpPr>
          <p:cNvPr id="40" name="Text 38"/>
          <p:cNvSpPr txBox="1"/>
          <p:nvPr/>
        </p:nvSpPr>
        <p:spPr>
          <a:xfrm>
            <a:off x="6667805" y="7191756"/>
            <a:ext cx="7620610" cy="715061"/>
          </a:xfrm>
          <a:prstGeom prst="rect">
            <a:avLst/>
          </a:prstGeom>
          <a:solidFill>
            <a:srgbClr val="FFFB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215900" rIns="190500" bIns="2159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</a:t>
            </a:r>
            <a:endParaRPr lang="en-US" dirty="0"/>
          </a:p>
        </p:txBody>
      </p:sp>
      <p:sp>
        <p:nvSpPr>
          <p:cNvPr id="41" name="Text 39"/>
          <p:cNvSpPr txBox="1"/>
          <p:nvPr/>
        </p:nvSpPr>
        <p:spPr>
          <a:xfrm>
            <a:off x="14287500" y="7191756"/>
            <a:ext cx="2667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1333195" y="9611258"/>
            <a:ext cx="156216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</a:t>
            </a:r>
            <a:r>
              <a:rPr lang="en-US" sz="1500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마지막 줄을 본인 업무로 직접 채우기.</a:t>
            </a:r>
            <a:endParaRPr lang="en-US" sz="15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50673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525305" y="2286000"/>
            <a:ext cx="7429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8782812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· 3교시 실습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에이전트화 업무 3건 찾기 (15분)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286000"/>
            <a:ext cx="7810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실습 절차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3010205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266798" y="3010205"/>
            <a:ext cx="331104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일주일 업무 종이에 적기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266798" y="3419856"/>
            <a:ext cx="2971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시간순으로 모두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333195" y="5039258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1333195" y="4143146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2266798" y="4143146"/>
            <a:ext cx="27624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29쪽 매트릭스에 점찍기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266798" y="4552798"/>
            <a:ext cx="336133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Q1(자주+오래)에 들어간 업무 = 후보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333195" y="6173114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1333195" y="5277002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2266798" y="5277002"/>
            <a:ext cx="331104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가장 위에 적힌 3건 고르기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2266798" y="5686654"/>
            <a:ext cx="314462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3건 초과 비서 하나에 안 들어감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333195" y="7305142"/>
            <a:ext cx="781080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1333195" y="640994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2266798" y="6409944"/>
            <a:ext cx="2857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30쪽 매핑 표 채우기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2266798" y="6819595"/>
            <a:ext cx="340065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방식 / AI 방식 / 검수 3건 모두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9905695" y="2572207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적합도 6칸 점검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05695" y="3763670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 25"/>
          <p:cNvSpPr txBox="1"/>
          <p:nvPr/>
        </p:nvSpPr>
        <p:spPr>
          <a:xfrm>
            <a:off x="9905695" y="3161995"/>
            <a:ext cx="3054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0382098" y="3209544"/>
            <a:ext cx="220919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반복성</a:t>
            </a: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월 2회 이상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9905695" y="4497934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 txBox="1"/>
          <p:nvPr/>
        </p:nvSpPr>
        <p:spPr>
          <a:xfrm>
            <a:off x="9905695" y="3896258"/>
            <a:ext cx="3054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10382098" y="3943807"/>
            <a:ext cx="321503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표준성</a:t>
            </a: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매번 새로 만들지 않음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9905695" y="5232197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 31"/>
          <p:cNvSpPr txBox="1"/>
          <p:nvPr/>
        </p:nvSpPr>
        <p:spPr>
          <a:xfrm>
            <a:off x="9905695" y="4630522"/>
            <a:ext cx="3054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10382098" y="4678985"/>
            <a:ext cx="359907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명확</a:t>
            </a: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무엇이 들어가는가 적힘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9905695" y="5966460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Text 34"/>
          <p:cNvSpPr txBox="1"/>
          <p:nvPr/>
        </p:nvSpPr>
        <p:spPr>
          <a:xfrm>
            <a:off x="9905695" y="5365699"/>
            <a:ext cx="3054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10382098" y="5413248"/>
            <a:ext cx="2700223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명확</a:t>
            </a: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같은 형식인가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905695" y="6700723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Text 37"/>
          <p:cNvSpPr txBox="1"/>
          <p:nvPr/>
        </p:nvSpPr>
        <p:spPr>
          <a:xfrm>
            <a:off x="9905695" y="6099962"/>
            <a:ext cx="3054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10382098" y="6147511"/>
            <a:ext cx="333573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가능</a:t>
            </a: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좋고 나쁨 기준 있음</a:t>
            </a:r>
            <a:endParaRPr lang="en-US" dirty="0"/>
          </a:p>
        </p:txBody>
      </p:sp>
      <p:sp>
        <p:nvSpPr>
          <p:cNvPr id="41" name="Text 39"/>
          <p:cNvSpPr txBox="1"/>
          <p:nvPr/>
        </p:nvSpPr>
        <p:spPr>
          <a:xfrm>
            <a:off x="9905695" y="6834226"/>
            <a:ext cx="3054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10382098" y="6881774"/>
            <a:ext cx="228691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 비용</a:t>
            </a:r>
            <a:r>
              <a:rPr lang="en-US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회복 가능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9905695" y="7653528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4" name="Text 42"/>
          <p:cNvSpPr txBox="1"/>
          <p:nvPr/>
        </p:nvSpPr>
        <p:spPr>
          <a:xfrm>
            <a:off x="9905695" y="7834579"/>
            <a:ext cx="66678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666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6칸 모두 차야 Q1 후보. 안 차면 </a:t>
            </a:r>
            <a:r>
              <a:rPr lang="en-US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아직 사람이.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1333195" y="9610344"/>
            <a:ext cx="55632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81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총 소요</a:t>
            </a:r>
            <a:r>
              <a:rPr lang="en-US" sz="14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적기 5분 + 매트릭스 8분 + 정리 2분 = 15분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3544093" y="9610344"/>
            <a:ext cx="34198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81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4교시 이 3건을 비서로 묶기</a:t>
            </a:r>
            <a:endParaRPr lang="en-US" sz="12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368651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99ef6f8cf4b4a000dda1e7539aeb857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333195"/>
            <a:ext cx="15621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504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· 04 / 04 · FINAL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190902"/>
            <a:ext cx="15621610" cy="2667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dirty="0">
                <a:solidFill>
                  <a:srgbClr val="FFFB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5048402"/>
            <a:ext cx="15621610" cy="2229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100" kern="0" spc="-162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나만의 </a:t>
            </a:r>
            <a:r>
              <a:rPr lang="en-US" sz="8100" kern="0" spc="-162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비서</a:t>
            </a:r>
            <a:r>
              <a:rPr lang="en-US" sz="8100" kern="0" spc="-162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</a:t>
            </a:r>
            <a:endParaRPr lang="en-US" sz="8100" dirty="0"/>
          </a:p>
          <a:p>
            <a:pPr marL="0" indent="0" algn="l">
              <a:buNone/>
            </a:pPr>
            <a:r>
              <a:rPr lang="en-US" sz="8100" kern="0" spc="-162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실제로 만든다</a:t>
            </a:r>
            <a:endParaRPr lang="en-US" sz="8100" dirty="0"/>
          </a:p>
        </p:txBody>
      </p:sp>
      <p:sp>
        <p:nvSpPr>
          <p:cNvPr id="8" name="Shape 5"/>
          <p:cNvSpPr/>
          <p:nvPr/>
        </p:nvSpPr>
        <p:spPr>
          <a:xfrm>
            <a:off x="1333195" y="8287207"/>
            <a:ext cx="38405" cy="9528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638605" y="8287207"/>
            <a:ext cx="15316200" cy="9528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"1~3교시는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재료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였습니다.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이번 50분에 그 재료를 한 사람의 비서로 묶습니다."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333195" y="9620402"/>
            <a:ext cx="62106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97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33 → 41 · 10매 · 최종 산출물 = 시스템 프롬프트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6251631" y="9648749"/>
            <a:ext cx="8138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97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r>
              <a:rPr lang="en-US" sz="1400" kern="0" spc="297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3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41951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7810805"/>
            <a:ext cx="15620695" cy="161940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931590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 · 업무 범위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비서가 도와줄 수 있는 일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비서에게 모든 일을 시키지 않습니다. 강사 활동 4구간 중 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구간만</a:t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첫 비서로 정착시킵니다.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33195" y="3619195"/>
            <a:ext cx="15620695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5229454" y="3648456"/>
            <a:ext cx="9144" cy="23052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1333195" y="3952951"/>
            <a:ext cx="36292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01 · 의뢰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390949"/>
            <a:ext cx="362925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의뢰서 분석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4809744"/>
            <a:ext cx="362925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주제 / 시간 정리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33195" y="5229454"/>
            <a:ext cx="362925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견적 / 제안서 초안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34856" y="3648456"/>
            <a:ext cx="9144" cy="23052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5505602" y="3952951"/>
            <a:ext cx="33631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02 · 준비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05602" y="4390949"/>
            <a:ext cx="336316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커리큘럼 설계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05602" y="4809744"/>
            <a:ext cx="336316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교안 / PPT 목차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505602" y="5229454"/>
            <a:ext cx="336316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실습 과제 생성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040258" y="3648456"/>
            <a:ext cx="9144" cy="23052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 txBox="1"/>
          <p:nvPr/>
        </p:nvSpPr>
        <p:spPr>
          <a:xfrm>
            <a:off x="9411005" y="3952951"/>
            <a:ext cx="33631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03 · 홍보 ★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411005" y="4390949"/>
            <a:ext cx="336316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홍보 콘텐츠 5종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411005" y="4809744"/>
            <a:ext cx="336316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소개문 갱신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5229454"/>
            <a:ext cx="3363163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제안 메일 초안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3316407" y="3952951"/>
            <a:ext cx="36393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04 · 강의 후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316407" y="4390949"/>
            <a:ext cx="36393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후기 분석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3316407" y="4809744"/>
            <a:ext cx="36393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만족도 정리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3316407" y="5229454"/>
            <a:ext cx="36393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후속 강의 제안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714500" y="8020202"/>
            <a:ext cx="1485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오늘의 실습 첫 비서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714500" y="8419794"/>
            <a:ext cx="15544800" cy="839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PHASE 01 + 03 (의뢰 + 홍보)의 비서를 만듭니다 → </a:t>
            </a:r>
          </a:p>
          <a:p>
            <a:pPr marL="0" indent="0" algn="l">
              <a:buNone/>
            </a:pPr>
            <a:r>
              <a:rPr lang="en-US" sz="28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제안서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초안 + 홍보 콘텐츠 5종을 한 번에 출력하는 비서.</a:t>
            </a:r>
            <a:endParaRPr lang="en-US" sz="28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39620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7096658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 · 설계 방법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비서 설계 다섯 단계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190902"/>
            <a:ext cx="15621610" cy="1029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35~39쪽에서 한 단계씩 본인 비서를 작성합니다. </a:t>
            </a:r>
          </a:p>
          <a:p>
            <a:pPr marL="0" indent="0" algn="l">
              <a:buNone/>
            </a:pPr>
            <a:r>
              <a:rPr lang="en-US" sz="32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마지막</a:t>
            </a:r>
            <a:r>
              <a:rPr lang="en-US" sz="32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39쪽 = </a:t>
            </a: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완성된 시스템 프롬프트 1장</a:t>
            </a:r>
            <a:r>
              <a:rPr lang="en-US" sz="32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33195" y="3524098"/>
            <a:ext cx="2885846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9" name="Text 7"/>
          <p:cNvSpPr txBox="1"/>
          <p:nvPr/>
        </p:nvSpPr>
        <p:spPr>
          <a:xfrm>
            <a:off x="1333195" y="3791102"/>
            <a:ext cx="28867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4401007"/>
            <a:ext cx="288676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역할 정의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5112235"/>
            <a:ext cx="28867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"너는 누구인가?"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비서의 정체 / 경력 / 책임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6100290"/>
            <a:ext cx="28867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슬라이드 35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18965" y="3524098"/>
            <a:ext cx="2885846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Text 12"/>
          <p:cNvSpPr txBox="1"/>
          <p:nvPr/>
        </p:nvSpPr>
        <p:spPr>
          <a:xfrm>
            <a:off x="4518965" y="3791102"/>
            <a:ext cx="28867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4518965" y="4401007"/>
            <a:ext cx="288676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입력 / 출력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4518965" y="5112235"/>
            <a:ext cx="28867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매번 채울 칸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비서가 매번 낼 산출물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18965" y="6100290"/>
            <a:ext cx="28867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슬라이드 36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703820" y="3524098"/>
            <a:ext cx="2885846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" name="Text 17"/>
          <p:cNvSpPr txBox="1"/>
          <p:nvPr/>
        </p:nvSpPr>
        <p:spPr>
          <a:xfrm>
            <a:off x="7703820" y="3791102"/>
            <a:ext cx="28867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7703820" y="4401007"/>
            <a:ext cx="288676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검수 / 금지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703820" y="5112235"/>
            <a:ext cx="28867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원칙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금지사항 4~6줄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03820" y="6100290"/>
            <a:ext cx="28867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슬라이드 37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0888675" y="3524098"/>
            <a:ext cx="2885846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4" name="Text 22"/>
          <p:cNvSpPr txBox="1"/>
          <p:nvPr/>
        </p:nvSpPr>
        <p:spPr>
          <a:xfrm>
            <a:off x="10888675" y="3791102"/>
            <a:ext cx="28867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10888675" y="4401007"/>
            <a:ext cx="288676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구조 묶기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10888675" y="5112235"/>
            <a:ext cx="28867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 + 역할 + I/O + 원칙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한 장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888675" y="6100290"/>
            <a:ext cx="28867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슬라이드 38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4074445" y="3524098"/>
            <a:ext cx="2885846" cy="3840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9" name="Text 27"/>
          <p:cNvSpPr txBox="1"/>
          <p:nvPr/>
        </p:nvSpPr>
        <p:spPr>
          <a:xfrm>
            <a:off x="14074445" y="3791102"/>
            <a:ext cx="28867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4800" dirty="0"/>
          </a:p>
        </p:txBody>
      </p:sp>
      <p:sp>
        <p:nvSpPr>
          <p:cNvPr id="30" name="Text 28"/>
          <p:cNvSpPr txBox="1"/>
          <p:nvPr/>
        </p:nvSpPr>
        <p:spPr>
          <a:xfrm>
            <a:off x="14074445" y="4401007"/>
            <a:ext cx="288676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붙여넣기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14074445" y="5112235"/>
            <a:ext cx="28867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 · Claude · Gem</a:t>
            </a:r>
            <a:endParaRPr lang="en-US" sz="2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지침 칸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4074445" y="6100290"/>
            <a:ext cx="28867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슬라이드 39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333195" y="9239098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4" name="Text 32"/>
          <p:cNvSpPr txBox="1"/>
          <p:nvPr/>
        </p:nvSpPr>
        <p:spPr>
          <a:xfrm>
            <a:off x="1333195" y="9457639"/>
            <a:ext cx="15621610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0" rIns="215900" bIns="21590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"다섯 단계 모두 A4 한 장에 들어갑니다. 길어지면 비서가 길을 잃습니다."</a:t>
            </a:r>
            <a:endParaRPr lang="en-US" sz="20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810034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919246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· 단계 01 · 역할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"너는 누구인가?" 세 줄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비서의 첫 줄은 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정체 + 경력 + 책임</a:t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 세 줄 안에 다 들어가야 비서가 자신을 잊지 않습니다.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33195" y="3619195"/>
            <a:ext cx="15620695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1333195" y="3914546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공식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4334256"/>
            <a:ext cx="1562161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너는 [정체]로서, [경력 / 전문성]처럼 일하며,</a:t>
            </a:r>
            <a:endParaRPr lang="en-US" sz="3200" dirty="0"/>
          </a:p>
          <a:p>
            <a:pPr marL="0" indent="0" algn="l">
              <a:buNone/>
            </a:pP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[책임 범위]를 대신 맡는다.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333195" y="6096305"/>
            <a:ext cx="15620695" cy="1920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 txBox="1"/>
          <p:nvPr/>
        </p:nvSpPr>
        <p:spPr>
          <a:xfrm>
            <a:off x="1333195" y="6381598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예시 AI · 교수법 강사의 비서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6838798"/>
            <a:ext cx="1562161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너는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나의 강사 업무를 돕는 AI 강사 비서다.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15년차 기업 교육 매니저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처럼 일하며 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· 디지털 전환 · 강사 브랜딩 · 교수법을 가르치는 나를 대신해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의뢰 처리 + 홍보 콘텐츠 생성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까지의 사전 업무를 맡는다.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 txBox="1"/>
          <p:nvPr/>
        </p:nvSpPr>
        <p:spPr>
          <a:xfrm>
            <a:off x="1333195" y="9611258"/>
            <a:ext cx="156216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</a:t>
            </a: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나의 비서는 어떤 정체 / 어떤 경력 / 어떤 책임으로 정의되는가?</a:t>
            </a:r>
            <a:endParaRPr lang="en-US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048337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762695"/>
            <a:ext cx="15620695" cy="1143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759226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 · 단계 02 · I/O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입력 6칸 · 출력 5섹션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매번 강사가 채울 칸 = 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6칸</a:t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 매번 비서가 낼 산출물 = 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5섹션</a:t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둘 다 고정합니다.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33195" y="3619195"/>
            <a:ext cx="7429500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1333195" y="3877056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강사가 매번 채울 6칸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352544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강의명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851806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(직급 / 부서 / 인원)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5351069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(총 / 회당)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333195" y="5850331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33195" y="6349594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333195" y="6848856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(자유 텍스트)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525305" y="3619195"/>
            <a:ext cx="7429500" cy="2834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9525305" y="3877056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 비서가 매번 낼 5섹션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525305" y="4352544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의뢰 분석 (대상 / 시간 / 난이도)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525305" y="4851806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견적 (단가 / 산정 근거)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525305" y="5351069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초안 (목차 / 산출물)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525305" y="5850331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 콘텐츠 5종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525305" y="6349594"/>
            <a:ext cx="7429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r>
              <a:rPr lang="en-US" sz="24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 (강사 행동 3개)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714500" y="8973007"/>
            <a:ext cx="1485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88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왜 출력을 고정해야 하는가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714500" y="9315907"/>
            <a:ext cx="14859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매번 같은 5섹션이 나와야 강사가 검수에 30초만 쓸 수 있습니다.</a:t>
            </a:r>
            <a:endParaRPr lang="en-US" sz="24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788524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382305"/>
            <a:ext cx="15620695" cy="1524305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7905902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· 단계 03 · 가드레일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출력 원칙 + 금지사항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할 수 있는 일</a:t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보다 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하지 않는 일</a:t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더 분명히 적습니다. 비서의 신뢰는 금지 줄에서 결정됩니다."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33195" y="3619195"/>
            <a:ext cx="7429500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1333195" y="3877056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출력 원칙 7줄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352544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표 + 설명을 항상 함께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751222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대상 / 시간 / 난이도를 먼저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5148986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실습 중심 구성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33195" y="5547665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과장된 표현 피함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33195" y="5945429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교육 담당자가 바로 이해 가능한 문장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33195" y="6343193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마지막은 산출물 + 기대효과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33195" y="6741871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항상 같은 순서 A → B → C → D → 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525305" y="3619195"/>
            <a:ext cx="7429500" cy="2834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 txBox="1"/>
          <p:nvPr/>
        </p:nvSpPr>
        <p:spPr>
          <a:xfrm>
            <a:off x="9525305" y="3877056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금지사항 6줄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525305" y="4352544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확인 안 된 수치 / 기관명 임의 생성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525305" y="4751222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추상적인 말만 반복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525305" y="5148986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단순한 도구 소개로 끝냄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525305" y="5547665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강의 운영 / 실습과 분리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525305" y="5945429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단가표 없이 가격 임의 표기 (→ "미정")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525305" y="6343193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과장 표현 (국내 최고 / 최초 / 유일)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714500" y="8620049"/>
            <a:ext cx="1485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336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714500" y="8982151"/>
            <a:ext cx="14859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</a:t>
            </a:r>
            <a:r>
              <a:rPr lang="en-US" sz="2800" dirty="0">
                <a:solidFill>
                  <a:srgbClr val="FCD34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금지가 없는 비서</a:t>
            </a:r>
            <a:r>
              <a:rPr lang="en-US" sz="2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는 첫 주는 신기하지만, 둘째 주에는 강사가 다시 손으로 다 고치게 됩니다."</a:t>
            </a:r>
            <a:endParaRPr lang="en-US" sz="28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83965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9744761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· 단계 04 · 묶기</a:t>
            </a:r>
          </a:p>
          <a:p>
            <a:pPr marL="0" indent="0" algn="l">
              <a:buNone/>
            </a:pP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프롬프트 6 블록 구조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35~37쪽에서 만든 재료를 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6개의 [블록]</a:t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으로 묶습니다. 순서가 곧 비서의 사고 흐름입니다.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33195" y="3619195"/>
            <a:ext cx="7429500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1333195" y="3877056"/>
            <a:ext cx="734263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[01]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236622" y="3857854"/>
            <a:ext cx="1365199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너의 정체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401007"/>
            <a:ext cx="7429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35쪽 3줄을 그대로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525305" y="3619195"/>
            <a:ext cx="7429500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9525305" y="3877056"/>
            <a:ext cx="734263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[02]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10427818" y="3857854"/>
            <a:ext cx="213603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너의 주요 역할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525305" y="4401007"/>
            <a:ext cx="7429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번호 매김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33195" y="5307178"/>
            <a:ext cx="7429500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1333195" y="5564124"/>
            <a:ext cx="734263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[03]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2236622" y="5544922"/>
            <a:ext cx="1365199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입력 양식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333195" y="6088075"/>
            <a:ext cx="7429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36쪽 6칸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25305" y="5307178"/>
            <a:ext cx="7429500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 txBox="1"/>
          <p:nvPr/>
        </p:nvSpPr>
        <p:spPr>
          <a:xfrm>
            <a:off x="9525305" y="5564124"/>
            <a:ext cx="734263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[04]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10427818" y="5544922"/>
            <a:ext cx="1365199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출력 원칙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9525305" y="6088075"/>
            <a:ext cx="7429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37쪽 7줄 + A→E 순서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33195" y="6995160"/>
            <a:ext cx="7429500" cy="2834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1333195" y="7252106"/>
            <a:ext cx="734263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[05]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2236622" y="7232904"/>
            <a:ext cx="11055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금지사항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1333195" y="7776058"/>
            <a:ext cx="7429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37쪽 6줄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525305" y="6995160"/>
            <a:ext cx="7429500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 27"/>
          <p:cNvSpPr txBox="1"/>
          <p:nvPr/>
        </p:nvSpPr>
        <p:spPr>
          <a:xfrm>
            <a:off x="9525305" y="7252106"/>
            <a:ext cx="734263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[06]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10427818" y="7232904"/>
            <a:ext cx="1365199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작업 시작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9525305" y="7776058"/>
            <a:ext cx="7429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"입력 받으면 → 출력 원칙대로 작성"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 31"/>
          <p:cNvSpPr txBox="1"/>
          <p:nvPr/>
        </p:nvSpPr>
        <p:spPr>
          <a:xfrm>
            <a:off x="1333195" y="9611258"/>
            <a:ext cx="156216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39쪽 6 블록이 한 장으로 묶인 완성본 시스템 프롬프트</a:t>
            </a:r>
            <a:endParaRPr lang="en-US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66251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904695"/>
            <a:ext cx="15620695" cy="74295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60020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10944454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 · 완성본 · 1 / 2 정체 · 역할 · 입력</a:t>
            </a:r>
          </a:p>
          <a:p>
            <a:pPr marL="0" indent="0" algn="l">
              <a:buNone/>
            </a:pPr>
            <a:r>
              <a:rPr lang="en-US" sz="3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프롬프트 앞 절반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57046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994AB9F-F384-987D-1040-B97E4CA8A74D}"/>
              </a:ext>
            </a:extLst>
          </p:cNvPr>
          <p:cNvGrpSpPr/>
          <p:nvPr/>
        </p:nvGrpSpPr>
        <p:grpSpPr>
          <a:xfrm>
            <a:off x="1714500" y="2286000"/>
            <a:ext cx="14833190" cy="6943954"/>
            <a:chOff x="1714500" y="2286000"/>
            <a:chExt cx="11729558" cy="4368800"/>
          </a:xfrm>
        </p:grpSpPr>
        <p:sp>
          <p:nvSpPr>
            <p:cNvPr id="8" name="Text 6"/>
            <p:cNvSpPr txBox="1"/>
            <p:nvPr/>
          </p:nvSpPr>
          <p:spPr>
            <a:xfrm>
              <a:off x="1714500" y="2286000"/>
              <a:ext cx="8890000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FCD34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[너의 정체]</a:t>
              </a:r>
              <a:endParaRPr lang="en-US" sz="24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714500" y="2692400"/>
              <a:ext cx="11554015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너는 나의 강사 업무를 돕는 AI 강사 비서다. 15년차 기업 교육 매니저처럼 일하며 AI · 디지털 전환 · 강사 브랜딩 · 교수법을 가르치는 나를 대신해 강의 의뢰 처리부터 홍보 콘텐츠 생성까지의 사전 업무를 맡는다.</a:t>
              </a:r>
              <a:endParaRPr lang="en-US" sz="24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714500" y="3708400"/>
              <a:ext cx="4109863" cy="406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FCD34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[너의 주요 역할]</a:t>
              </a:r>
              <a:endParaRPr lang="en-US" sz="24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1714500" y="4114800"/>
              <a:ext cx="4774790" cy="25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1. 강의 의뢰 내용을 분석한다.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2. 대상자 수준에 맞는 강의 목표를 설계한다.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3. 시간별 커리큘럼을 작성한다.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4. 강의안과 PPT 목차를 만든다.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5. 실습 과제와 예시 프롬프트를 만든다.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6. 강의 홍보 문구와 제안 메일을 작성한다.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7. 강의 후 만족도와 후속 제안을 정리한다.</a:t>
              </a:r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9334195" y="3809999"/>
              <a:ext cx="4109863" cy="355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FCD34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[입력 양식 강사가 매번 채울 6칸]</a:t>
              </a:r>
              <a:endParaRPr lang="en-US" sz="24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9334195" y="4216399"/>
              <a:ext cx="4109863" cy="190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01 · 강의명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02 · 대상 (직급 / 부서 / 인원)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03 · 시간 (총 / 회당)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04 · 일정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05 · 예산</a:t>
              </a:r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2400" dirty="0">
                  <a:solidFill>
                    <a:srgbClr val="E5E7E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06 · 요구사항 (자유 텍스트)</a:t>
              </a:r>
            </a:p>
          </p:txBody>
        </p:sp>
      </p:grpSp>
      <p:sp>
        <p:nvSpPr>
          <p:cNvPr id="14" name="Shape 12"/>
          <p:cNvSpPr/>
          <p:nvPr/>
        </p:nvSpPr>
        <p:spPr>
          <a:xfrm>
            <a:off x="1333195" y="9620402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333195" y="9763049"/>
            <a:ext cx="82680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97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앞 절반</a:t>
            </a:r>
            <a:r>
              <a:rPr lang="en-US" sz="1400" kern="0" spc="297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정체 · 역할 · 입력 양식. 다음 장에 출력 원칙 + 금지 + 작업 시작.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479878" y="9763049"/>
            <a:ext cx="1476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97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→ 39B</a:t>
            </a:r>
            <a:endParaRPr lang="en-US" sz="1300" dirty="0"/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91304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904695"/>
            <a:ext cx="15620695" cy="74295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60020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1153515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 · 완성본 · 2 / 2 출력 · 금지 · 작업 시작</a:t>
            </a:r>
          </a:p>
          <a:p>
            <a:pPr marL="0" indent="0" algn="l">
              <a:buNone/>
            </a:pPr>
            <a:r>
              <a:rPr lang="en-US" sz="3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프롬프트 뒤 절반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199510" y="1057046"/>
            <a:ext cx="88148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39B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14500" y="22606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[출력 원칙]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714500" y="2616200"/>
            <a:ext cx="149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항상 표와 설명을 함께 제공한다.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강의 대상 / 시간 / 난이도 / 산출물을 먼저 정리한다.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실습 중심으로 구성한다.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과장된 표현은 피한다.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마지막에는 강의 산출물과 기대효과를 함께 제시한다.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출력 순서: [A]분석 → [B]견적 → [C]제안서 → [D]홍보 5종 → [E]다음 단계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714500" y="50546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CA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[금지사항]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714500" y="5410200"/>
            <a:ext cx="149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확인되지 않은 수치 · 기관명 · 인용을 임의로 만들지 않는다.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추상적인 말만 반복하지 않는다.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단순한 도구 소개에 그치지 않는다.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강의 운영 / 실습으로 반드시 연결한다.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가격은 단가 표를 입력하지 않은 경우 "미정"으로 반환한다.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과장 표현(국내 최고 / 최초 / 유일한 등) 사용하지 않는다.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714500" y="78486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[작업 시작]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14500" y="8204200"/>
            <a:ext cx="149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내가 [입력 양식] 6칸을 입력하면 위 기준에 따라 [출력 원칙]의 5섹션을 항상 같은 순서로 작성한다.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33195" y="9620402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 txBox="1"/>
          <p:nvPr/>
        </p:nvSpPr>
        <p:spPr>
          <a:xfrm>
            <a:off x="1333194" y="9629547"/>
            <a:ext cx="15367305" cy="62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ChatGPT 프로젝트 / Claude 프로젝트 / Gemini Gem</a:t>
            </a:r>
            <a:r>
              <a:rPr lang="en-US" kern="0" spc="297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의 지침(Instructions) 칸에 39 + 39B를 그대로 이어붙여 한 번에 저장.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587806" y="2248205"/>
            <a:ext cx="3747389" cy="69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분량 = 2장 · 적용 = 3분</a:t>
            </a:r>
            <a:endParaRPr lang="en-US" sz="1600" dirty="0"/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570386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8524951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· 업무 흐름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비서 의뢰처: 새 흐름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비서가 정착되면 </a:t>
            </a: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건의 의뢰 처리 시간이 90분 → 15분</a:t>
            </a: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으로 줄어듭니다.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192952"/>
              </p:ext>
            </p:extLst>
          </p:nvPr>
        </p:nvGraphicFramePr>
        <p:xfrm>
          <a:off x="1333195" y="3048300"/>
          <a:ext cx="15621609" cy="6078936"/>
        </p:xfrm>
        <a:graphic>
          <a:graphicData uri="http://schemas.openxmlformats.org/drawingml/2006/table">
            <a:tbl>
              <a:tblPr/>
              <a:tblGrid>
                <a:gridCol w="223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4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7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66666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단계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66666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강사 (사람)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E3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강사 비서 (AI)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D9770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소요 시간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01</a:t>
                      </a: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의뢰 접수</a:t>
                      </a:r>
                      <a:endParaRPr lang="en-US" sz="1600" dirty="0"/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의뢰 메일 → 입력 6칸으로 정리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대기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3분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02</a:t>
                      </a: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1차 출력</a:t>
                      </a:r>
                      <a:endParaRPr lang="en-US" sz="1600" dirty="0"/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입력 → 비서에 붙여넣기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분석 → B 견적 → C 제안서 → D 홍보 5종 → E 다음 단계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 (비서)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03</a:t>
                      </a: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검수</a:t>
                      </a:r>
                      <a:endParaRPr lang="en-US" sz="1600" dirty="0"/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D9770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사실 / 가격 / 톤 3가지만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강사 지시에 따라 수정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5분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04</a:t>
                      </a: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발송</a:t>
                      </a:r>
                      <a:endParaRPr lang="en-US" sz="1600" dirty="0"/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메일 / 견적 / 홍보 발송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발송 문구 채널별 변환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5분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4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합 계</a:t>
                      </a:r>
                      <a:endParaRPr lang="en-US" sz="24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1111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강사 손시간 13분 + 비서 2분 = 15분</a:t>
                      </a:r>
                      <a:endParaRPr lang="en-US" sz="1600" dirty="0"/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D9770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↓ 83%</a:t>
                      </a:r>
                      <a:endParaRPr lang="en-US" sz="2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333195" y="9525305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7"/>
          <p:cNvSpPr txBox="1"/>
          <p:nvPr/>
        </p:nvSpPr>
        <p:spPr>
          <a:xfrm>
            <a:off x="1332280" y="9838634"/>
            <a:ext cx="156216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전제</a:t>
            </a:r>
            <a:r>
              <a:rPr lang="en-US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비서 정착 = 같은 입력 양식 / 같은 출력 5섹션을 3회 이상 반복했을 때</a:t>
            </a:r>
            <a:endParaRPr lang="en-US" dirty="0"/>
          </a:p>
        </p:txBody>
      </p:sp>
      <p:sp>
        <p:nvSpPr>
          <p:cNvPr id="1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159569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162849"/>
            <a:ext cx="15620695" cy="104790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58800"/>
            <a:ext cx="9344254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 · 실습 30분 · 시연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내 비서를 실제로 돌려본다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앞의 4단계를 본인 노트북에서 직접 30분 안에 시연까지 마칩니다.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33195" y="3524098"/>
            <a:ext cx="7572146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1333195" y="3781044"/>
            <a:ext cx="75730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 5분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162349"/>
            <a:ext cx="757306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프롬프트 붙여넣기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842929"/>
            <a:ext cx="75730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39쪽 한 장을 ChatGPT·Claude 프로젝트 / Gemini Gem </a:t>
            </a:r>
          </a:p>
          <a:p>
            <a:pPr marL="0" indent="0" algn="l">
              <a:buNone/>
            </a:pPr>
            <a:r>
              <a:rPr lang="en-US" sz="2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곳의 지침 칸에 그대로 붙여넣고 저장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81744" y="3524098"/>
            <a:ext cx="7572146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9381744" y="3781044"/>
            <a:ext cx="75730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 5분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4162349"/>
            <a:ext cx="757306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실제 의뢰 1건 입력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381744" y="4842929"/>
            <a:ext cx="75730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본인이 최근 받은 / 받고 싶은 강의 의뢰 1건을 6칸에 </a:t>
            </a:r>
          </a:p>
          <a:p>
            <a:pPr marL="0" indent="0" algn="l">
              <a:buNone/>
            </a:pPr>
            <a:r>
              <a:rPr lang="en-US" sz="2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채워</a:t>
            </a: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입력. 가상이라도 실제 형식으로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33195" y="5750662"/>
            <a:ext cx="7572146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1333195" y="6008522"/>
            <a:ext cx="75730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 10분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33195" y="6388913"/>
            <a:ext cx="757306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출력 검수 + 1회 수정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333195" y="7070407"/>
            <a:ext cx="75730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→ B → C → D → E 순서로 출력 확인. 사실 / 가격 / </a:t>
            </a:r>
            <a:r>
              <a:rPr lang="en-US" sz="2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톤</a:t>
            </a: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 검수 후 1회만 "이 부분만 이렇게 바꿔" 지시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81744" y="5750662"/>
            <a:ext cx="7572146" cy="2834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9381744" y="6008522"/>
            <a:ext cx="75730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 10분 · 시연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81744" y="6388913"/>
            <a:ext cx="757306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옆자리 동료에게 시연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381744" y="7070407"/>
            <a:ext cx="75730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2인 1조. 3분 본인 비서 시연. 3분 동료 비서 관찰. </a:t>
            </a:r>
          </a:p>
          <a:p>
            <a:pPr marL="0" indent="0" algn="l">
              <a:buNone/>
            </a:pPr>
            <a:r>
              <a:rPr lang="en-US" sz="2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</a:t>
            </a: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4분 "내 비서가 동료 비서보다 잘하는 한 가지"를 짚어주기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714500" y="8372247"/>
            <a:ext cx="1485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88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완료 기준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714500" y="8695944"/>
            <a:ext cx="14859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프롬프트 1장 + 실제 출력 1건 + 동료 시연 완료 = 오늘의 산출물 5</a:t>
            </a:r>
            <a:endParaRPr lang="en-US" sz="24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974275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558800"/>
            <a:ext cx="784921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 · 회고</a:t>
            </a:r>
          </a:p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 만든 5가지를 다시 본다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5가지가 모두 본인 노트북에 파일로 남아 있다면 오늘 강의는 성공입니다.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33195" y="3524098"/>
            <a:ext cx="2915107" cy="38405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1333195" y="3791102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 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4209898"/>
            <a:ext cx="29151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통합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마케팅 전략표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5101438"/>
            <a:ext cx="29151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6결정 한 장에 정리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5586984"/>
            <a:ext cx="29151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1교시 14쪽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10735" y="3524098"/>
            <a:ext cx="2915107" cy="38405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4510735" y="3791102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 02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10735" y="4209898"/>
            <a:ext cx="29151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홍보 콘텐츠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5종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10735" y="5101438"/>
            <a:ext cx="29151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소개문 / 카드뉴스 / 블로그 / 메일 / 자기소개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510735" y="5901538"/>
            <a:ext cx="29151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2교시 22쪽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88275" y="3524098"/>
            <a:ext cx="2915107" cy="38405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 txBox="1"/>
          <p:nvPr/>
        </p:nvSpPr>
        <p:spPr>
          <a:xfrm>
            <a:off x="7688275" y="3791102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 03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688275" y="4209898"/>
            <a:ext cx="29151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에이전트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이해 카드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688275" y="5101438"/>
            <a:ext cx="29151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 / 자동화 / </a:t>
            </a:r>
            <a:r>
              <a:rPr lang="en-US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동료에게 설명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7688275" y="5901538"/>
            <a:ext cx="29151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3교시 31쪽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865815" y="3524098"/>
            <a:ext cx="2915107" cy="38405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 txBox="1"/>
          <p:nvPr/>
        </p:nvSpPr>
        <p:spPr>
          <a:xfrm>
            <a:off x="10865815" y="3791102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 04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865815" y="4209898"/>
            <a:ext cx="29151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비서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설계서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10865815" y="5101438"/>
            <a:ext cx="29151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35~38쪽 4단계 작성본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10865815" y="5586984"/>
            <a:ext cx="29151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4교시 35~38쪽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4043355" y="3524098"/>
            <a:ext cx="2915107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 27"/>
          <p:cNvSpPr txBox="1"/>
          <p:nvPr/>
        </p:nvSpPr>
        <p:spPr>
          <a:xfrm>
            <a:off x="14043355" y="3791102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97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산출물 05 ★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4043355" y="4209898"/>
            <a:ext cx="29151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프롬프트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(완성본)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14043355" y="5101438"/>
            <a:ext cx="29151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39쪽 그대로 내 도구에 적용 완료</a:t>
            </a:r>
            <a:endParaRPr lang="en-US" dirty="0"/>
          </a:p>
        </p:txBody>
      </p:sp>
      <p:sp>
        <p:nvSpPr>
          <p:cNvPr id="32" name="Text 30"/>
          <p:cNvSpPr txBox="1"/>
          <p:nvPr/>
        </p:nvSpPr>
        <p:spPr>
          <a:xfrm>
            <a:off x="14043355" y="5901538"/>
            <a:ext cx="29151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4교시 39쪽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33195" y="8572500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1333195" y="8810244"/>
            <a:ext cx="1562161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0" rIns="228600" bIns="22860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"이 5가지 모두 </a:t>
            </a: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 안에 본인 파일로</a:t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남아 있다면 의뢰 처리 시간이 눈에 띄게 줄어듭</a:t>
            </a:r>
            <a:r>
              <a:rPr lang="en-US" sz="1900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/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니다."</a:t>
            </a:r>
            <a:endParaRPr lang="en-US" sz="19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111338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0282087a399e7c95595faa9cad462f16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33195" y="7239305"/>
            <a:ext cx="15620695" cy="190469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333195" y="1143000"/>
            <a:ext cx="31437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62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 · 43 / 44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325698" y="1143000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33195" y="2286000"/>
            <a:ext cx="15621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363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오늘의 단 한 문장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33195" y="3238805"/>
            <a:ext cx="15621610" cy="2343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kern="0" spc="-156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AI는 </a:t>
            </a:r>
            <a:r>
              <a:rPr lang="en-US" sz="7800" kern="0" spc="-156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전략 파트너</a:t>
            </a:r>
            <a:r>
              <a:rPr lang="en-US" sz="7800" kern="0" spc="-156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</a:t>
            </a:r>
            <a:endParaRPr lang="en-US" sz="7800" dirty="0"/>
          </a:p>
          <a:p>
            <a:pPr marL="0" indent="0" algn="l">
              <a:buNone/>
            </a:pPr>
            <a:r>
              <a:rPr lang="en-US" sz="7800" kern="0" spc="-156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도구가 아닙니다.</a:t>
            </a:r>
            <a:endParaRPr lang="en-US" sz="7800" dirty="0"/>
          </a:p>
        </p:txBody>
      </p:sp>
      <p:sp>
        <p:nvSpPr>
          <p:cNvPr id="10" name="Text 7"/>
          <p:cNvSpPr txBox="1"/>
          <p:nvPr/>
        </p:nvSpPr>
        <p:spPr>
          <a:xfrm>
            <a:off x="1714500" y="7543800"/>
            <a:ext cx="1485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336" dirty="0">
                <a:solidFill>
                  <a:srgbClr val="FCD3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REFRAME 도구에서 파트너로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714500" y="7944307"/>
            <a:ext cx="1485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도구는 시키는 일을 합니다. 파트너는 </a:t>
            </a:r>
            <a:r>
              <a:rPr lang="en-US" sz="2400" dirty="0">
                <a:solidFill>
                  <a:srgbClr val="FCD34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물어보고, 제안하고, 같이 결정</a:t>
            </a: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합니다.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 본인 비서에게 첫 의뢰를 함께 의논해 보세요.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14093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33195" y="1143000"/>
            <a:ext cx="24003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62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 · 44 / 44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325698" y="1143000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</a:t>
            </a:r>
            <a:r>
              <a:rPr lang="en-US" sz="16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33195" y="2667305"/>
            <a:ext cx="15621610" cy="140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0" kern="0" spc="-315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감사합니다</a:t>
            </a:r>
            <a:endParaRPr lang="en-US" sz="10500" dirty="0"/>
          </a:p>
        </p:txBody>
      </p:sp>
      <p:sp>
        <p:nvSpPr>
          <p:cNvPr id="7" name="Shape 5"/>
          <p:cNvSpPr/>
          <p:nvPr/>
        </p:nvSpPr>
        <p:spPr>
          <a:xfrm>
            <a:off x="1333195" y="4953305"/>
            <a:ext cx="38405" cy="10287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638605" y="4953305"/>
            <a:ext cx="15316200" cy="1028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4시간 후 강의 의뢰가 들어오면 </a:t>
            </a:r>
            <a:endParaRPr lang="en-US" sz="2700" dirty="0"/>
          </a:p>
          <a:p>
            <a:pPr marL="0" indent="0" algn="l">
              <a:buNone/>
            </a:pPr>
            <a:r>
              <a:rPr lang="en-US" sz="27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비서가 초안을 쓰고, 강사는 검수만 합니다.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333195" y="72393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333195" y="7563002"/>
            <a:ext cx="4905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6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오늘 한 일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8116998"/>
            <a:ext cx="4905756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→ 콘텐츠 → 에이전트 → 나만의 비서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35295" y="7546315"/>
            <a:ext cx="4905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64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한 일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35295" y="7925105"/>
            <a:ext cx="536295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의뢰 1건 비서로 처리 → 동료에게 결과 공유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595507" y="7624724"/>
            <a:ext cx="4905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64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이어지는 강의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595507" y="7925105"/>
            <a:ext cx="536295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브랜딩과 교수법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33195" y="9620402"/>
            <a:ext cx="73728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97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활용 심화 · AI 통합 마케팅 · AI 에이전트 · 강사 비서 구축</a:t>
            </a:r>
            <a:endParaRPr lang="en-US" sz="1300" dirty="0"/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15126676"/>
      </p:ext>
    </p:extLst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B0BB2C-FD0F-CE40-956D-24149EE67DF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1be681d-a95b-4f58-add4-11c77bc2a9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5572</Words>
  <Application>Microsoft Macintosh PowerPoint</Application>
  <PresentationFormat>사용자 지정</PresentationFormat>
  <Paragraphs>1089</Paragraphs>
  <Slides>45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0" baseType="lpstr">
      <vt:lpstr>JetBrains Mono</vt:lpstr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9</cp:revision>
  <dcterms:created xsi:type="dcterms:W3CDTF">2026-06-30T11:57:44Z</dcterms:created>
  <dcterms:modified xsi:type="dcterms:W3CDTF">2026-07-01T08:47:14Z</dcterms:modified>
</cp:coreProperties>
</file>