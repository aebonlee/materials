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4"/>
  </p:notesMasterIdLst>
  <p:sldIdLst>
    <p:sldId id="578" r:id="rId2"/>
    <p:sldId id="579" r:id="rId3"/>
    <p:sldId id="361" r:id="rId4"/>
    <p:sldId id="369" r:id="rId5"/>
    <p:sldId id="370" r:id="rId6"/>
    <p:sldId id="452" r:id="rId7"/>
    <p:sldId id="372" r:id="rId8"/>
    <p:sldId id="450" r:id="rId9"/>
    <p:sldId id="453" r:id="rId10"/>
    <p:sldId id="464" r:id="rId11"/>
    <p:sldId id="375" r:id="rId12"/>
    <p:sldId id="497" r:id="rId13"/>
    <p:sldId id="266" r:id="rId14"/>
    <p:sldId id="383" r:id="rId15"/>
    <p:sldId id="456" r:id="rId16"/>
    <p:sldId id="359" r:id="rId17"/>
    <p:sldId id="385" r:id="rId18"/>
    <p:sldId id="386" r:id="rId19"/>
    <p:sldId id="387" r:id="rId20"/>
    <p:sldId id="388" r:id="rId21"/>
    <p:sldId id="471" r:id="rId22"/>
    <p:sldId id="389" r:id="rId23"/>
    <p:sldId id="498" r:id="rId24"/>
    <p:sldId id="275" r:id="rId25"/>
    <p:sldId id="396" r:id="rId26"/>
    <p:sldId id="397" r:id="rId27"/>
    <p:sldId id="398" r:id="rId28"/>
    <p:sldId id="399" r:id="rId29"/>
    <p:sldId id="400" r:id="rId30"/>
    <p:sldId id="472" r:id="rId31"/>
    <p:sldId id="401" r:id="rId32"/>
    <p:sldId id="499" r:id="rId33"/>
    <p:sldId id="282" r:id="rId34"/>
    <p:sldId id="454" r:id="rId35"/>
    <p:sldId id="409" r:id="rId36"/>
    <p:sldId id="461" r:id="rId37"/>
    <p:sldId id="411" r:id="rId38"/>
    <p:sldId id="459" r:id="rId39"/>
    <p:sldId id="473" r:id="rId40"/>
    <p:sldId id="413" r:id="rId41"/>
    <p:sldId id="500" r:id="rId42"/>
    <p:sldId id="289" r:id="rId43"/>
    <p:sldId id="420" r:id="rId44"/>
    <p:sldId id="421" r:id="rId45"/>
    <p:sldId id="422" r:id="rId46"/>
    <p:sldId id="458" r:id="rId47"/>
    <p:sldId id="424" r:id="rId48"/>
    <p:sldId id="474" r:id="rId49"/>
    <p:sldId id="425" r:id="rId50"/>
    <p:sldId id="501" r:id="rId51"/>
    <p:sldId id="296" r:id="rId52"/>
    <p:sldId id="432" r:id="rId53"/>
    <p:sldId id="433" r:id="rId54"/>
    <p:sldId id="434" r:id="rId55"/>
    <p:sldId id="435" r:id="rId56"/>
    <p:sldId id="460" r:id="rId57"/>
    <p:sldId id="475" r:id="rId58"/>
    <p:sldId id="437" r:id="rId59"/>
    <p:sldId id="502" r:id="rId60"/>
    <p:sldId id="303" r:id="rId61"/>
    <p:sldId id="444" r:id="rId62"/>
    <p:sldId id="457" r:id="rId63"/>
    <p:sldId id="446" r:id="rId64"/>
    <p:sldId id="447" r:id="rId65"/>
    <p:sldId id="448" r:id="rId66"/>
    <p:sldId id="477" r:id="rId67"/>
    <p:sldId id="449" r:id="rId68"/>
    <p:sldId id="503" r:id="rId69"/>
    <p:sldId id="484" r:id="rId70"/>
    <p:sldId id="510" r:id="rId71"/>
    <p:sldId id="511" r:id="rId72"/>
    <p:sldId id="512" r:id="rId73"/>
    <p:sldId id="513" r:id="rId74"/>
    <p:sldId id="514" r:id="rId75"/>
    <p:sldId id="515" r:id="rId76"/>
    <p:sldId id="522" r:id="rId77"/>
    <p:sldId id="533" r:id="rId78"/>
    <p:sldId id="534" r:id="rId79"/>
    <p:sldId id="535" r:id="rId80"/>
    <p:sldId id="536" r:id="rId81"/>
    <p:sldId id="537" r:id="rId82"/>
    <p:sldId id="523" r:id="rId83"/>
    <p:sldId id="542" r:id="rId84"/>
    <p:sldId id="543" r:id="rId85"/>
    <p:sldId id="544" r:id="rId86"/>
    <p:sldId id="545" r:id="rId87"/>
    <p:sldId id="524" r:id="rId88"/>
    <p:sldId id="550" r:id="rId89"/>
    <p:sldId id="551" r:id="rId90"/>
    <p:sldId id="552" r:id="rId91"/>
    <p:sldId id="553" r:id="rId92"/>
    <p:sldId id="525" r:id="rId93"/>
    <p:sldId id="557" r:id="rId94"/>
    <p:sldId id="558" r:id="rId95"/>
    <p:sldId id="559" r:id="rId96"/>
    <p:sldId id="526" r:id="rId97"/>
    <p:sldId id="564" r:id="rId98"/>
    <p:sldId id="565" r:id="rId99"/>
    <p:sldId id="566" r:id="rId100"/>
    <p:sldId id="567" r:id="rId101"/>
    <p:sldId id="527" r:id="rId102"/>
    <p:sldId id="573" r:id="rId103"/>
    <p:sldId id="574" r:id="rId104"/>
    <p:sldId id="575" r:id="rId105"/>
    <p:sldId id="576" r:id="rId106"/>
    <p:sldId id="577" r:id="rId107"/>
    <p:sldId id="485" r:id="rId108"/>
    <p:sldId id="486" r:id="rId109"/>
    <p:sldId id="487" r:id="rId110"/>
    <p:sldId id="488" r:id="rId111"/>
    <p:sldId id="489" r:id="rId112"/>
    <p:sldId id="580" r:id="rId1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4363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A7DB-BFD0-9385-8AA7-0A85F29FA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BC0AE-96B2-7654-E9FB-FC8D75C0A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3E96C1-1ED5-BFA8-A942-5D5C8D65C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E6DFB-95EB-3C5F-6CEE-A0DD9CCA26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36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68680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2514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520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기반 연구 업무 활용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4434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6.24 WED  ·  10:00–18:00  ·  7교시 (50분 수업 + 10분 휴식)</a:t>
            </a:r>
            <a:endParaRPr lang="en-US"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F97986E-88E1-C0DB-9C9E-EA079801F51F}"/>
              </a:ext>
            </a:extLst>
          </p:cNvPr>
          <p:cNvGrpSpPr/>
          <p:nvPr/>
        </p:nvGrpSpPr>
        <p:grpSpPr>
          <a:xfrm>
            <a:off x="10083800" y="609600"/>
            <a:ext cx="1422400" cy="1422400"/>
            <a:chOff x="10083800" y="609600"/>
            <a:chExt cx="1422400" cy="1422400"/>
          </a:xfrm>
        </p:grpSpPr>
        <p:sp>
          <p:nvSpPr>
            <p:cNvPr id="900" name="clogo0"/>
            <p:cNvSpPr/>
            <p:nvPr/>
          </p:nvSpPr>
          <p:spPr>
            <a:xfrm>
              <a:off x="10737850" y="609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1" name="clogo1"/>
            <p:cNvSpPr/>
            <p:nvPr/>
          </p:nvSpPr>
          <p:spPr>
            <a:xfrm rot="1800000">
              <a:off x="10928350" y="660644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2" name="clogo2"/>
            <p:cNvSpPr/>
            <p:nvPr/>
          </p:nvSpPr>
          <p:spPr>
            <a:xfrm rot="3600000">
              <a:off x="11067806" y="800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3" name="clogo3"/>
            <p:cNvSpPr/>
            <p:nvPr/>
          </p:nvSpPr>
          <p:spPr>
            <a:xfrm rot="5400000">
              <a:off x="11118850" y="990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4" name="clogo4"/>
            <p:cNvSpPr/>
            <p:nvPr/>
          </p:nvSpPr>
          <p:spPr>
            <a:xfrm rot="7200000">
              <a:off x="11067806" y="1181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5" name="clogo5"/>
            <p:cNvSpPr/>
            <p:nvPr/>
          </p:nvSpPr>
          <p:spPr>
            <a:xfrm rot="9000000">
              <a:off x="10928350" y="1320556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6" name="clogo6"/>
            <p:cNvSpPr/>
            <p:nvPr/>
          </p:nvSpPr>
          <p:spPr>
            <a:xfrm rot="10800000">
              <a:off x="10737850" y="1371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7" name="clogo7"/>
            <p:cNvSpPr/>
            <p:nvPr/>
          </p:nvSpPr>
          <p:spPr>
            <a:xfrm rot="12600000">
              <a:off x="10547350" y="1320556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8" name="clogo8"/>
            <p:cNvSpPr/>
            <p:nvPr/>
          </p:nvSpPr>
          <p:spPr>
            <a:xfrm rot="14400000">
              <a:off x="10407894" y="1181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9" name="clogo9"/>
            <p:cNvSpPr/>
            <p:nvPr/>
          </p:nvSpPr>
          <p:spPr>
            <a:xfrm rot="16200000">
              <a:off x="10356850" y="990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10" name="clogo10"/>
            <p:cNvSpPr/>
            <p:nvPr/>
          </p:nvSpPr>
          <p:spPr>
            <a:xfrm rot="18000000">
              <a:off x="10407894" y="800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11" name="clogo11"/>
            <p:cNvSpPr/>
            <p:nvPr/>
          </p:nvSpPr>
          <p:spPr>
            <a:xfrm rot="19800000">
              <a:off x="10547350" y="660644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CBEA058-BF06-FDB5-99E7-3BF370BD6E07}"/>
              </a:ext>
            </a:extLst>
          </p:cNvPr>
          <p:cNvGrpSpPr/>
          <p:nvPr/>
        </p:nvGrpSpPr>
        <p:grpSpPr>
          <a:xfrm rot="741642">
            <a:off x="10858329" y="2102059"/>
            <a:ext cx="825082" cy="825082"/>
            <a:chOff x="10083800" y="609600"/>
            <a:chExt cx="1422400" cy="1422400"/>
          </a:xfrm>
        </p:grpSpPr>
        <p:sp>
          <p:nvSpPr>
            <p:cNvPr id="9" name="clogo0">
              <a:extLst>
                <a:ext uri="{FF2B5EF4-FFF2-40B4-BE49-F238E27FC236}">
                  <a16:creationId xmlns:a16="http://schemas.microsoft.com/office/drawing/2014/main" id="{0BC1D685-C1E3-C6C1-BAFF-0C21F1E15972}"/>
                </a:ext>
              </a:extLst>
            </p:cNvPr>
            <p:cNvSpPr/>
            <p:nvPr/>
          </p:nvSpPr>
          <p:spPr>
            <a:xfrm>
              <a:off x="10737850" y="609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" name="clogo1">
              <a:extLst>
                <a:ext uri="{FF2B5EF4-FFF2-40B4-BE49-F238E27FC236}">
                  <a16:creationId xmlns:a16="http://schemas.microsoft.com/office/drawing/2014/main" id="{AAF138E1-6F37-E31D-B595-C9A97B686833}"/>
                </a:ext>
              </a:extLst>
            </p:cNvPr>
            <p:cNvSpPr/>
            <p:nvPr/>
          </p:nvSpPr>
          <p:spPr>
            <a:xfrm rot="1800000">
              <a:off x="10928350" y="660644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" name="clogo2">
              <a:extLst>
                <a:ext uri="{FF2B5EF4-FFF2-40B4-BE49-F238E27FC236}">
                  <a16:creationId xmlns:a16="http://schemas.microsoft.com/office/drawing/2014/main" id="{07CE0C19-34F5-8F89-6EA1-1D04A7A1766E}"/>
                </a:ext>
              </a:extLst>
            </p:cNvPr>
            <p:cNvSpPr/>
            <p:nvPr/>
          </p:nvSpPr>
          <p:spPr>
            <a:xfrm rot="3600000">
              <a:off x="11067806" y="800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" name="clogo3">
              <a:extLst>
                <a:ext uri="{FF2B5EF4-FFF2-40B4-BE49-F238E27FC236}">
                  <a16:creationId xmlns:a16="http://schemas.microsoft.com/office/drawing/2014/main" id="{F9299B9C-71FC-B080-FE78-85A0AE56F548}"/>
                </a:ext>
              </a:extLst>
            </p:cNvPr>
            <p:cNvSpPr/>
            <p:nvPr/>
          </p:nvSpPr>
          <p:spPr>
            <a:xfrm rot="5400000">
              <a:off x="11118850" y="990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3" name="clogo4">
              <a:extLst>
                <a:ext uri="{FF2B5EF4-FFF2-40B4-BE49-F238E27FC236}">
                  <a16:creationId xmlns:a16="http://schemas.microsoft.com/office/drawing/2014/main" id="{1D2A9929-263E-6D33-C775-50D5D36C2858}"/>
                </a:ext>
              </a:extLst>
            </p:cNvPr>
            <p:cNvSpPr/>
            <p:nvPr/>
          </p:nvSpPr>
          <p:spPr>
            <a:xfrm rot="7200000">
              <a:off x="11067806" y="1181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4" name="clogo5">
              <a:extLst>
                <a:ext uri="{FF2B5EF4-FFF2-40B4-BE49-F238E27FC236}">
                  <a16:creationId xmlns:a16="http://schemas.microsoft.com/office/drawing/2014/main" id="{F7E1A7A4-8484-994A-58CC-5D3ACD3DB15C}"/>
                </a:ext>
              </a:extLst>
            </p:cNvPr>
            <p:cNvSpPr/>
            <p:nvPr/>
          </p:nvSpPr>
          <p:spPr>
            <a:xfrm rot="9000000">
              <a:off x="10928350" y="1320556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5" name="clogo6">
              <a:extLst>
                <a:ext uri="{FF2B5EF4-FFF2-40B4-BE49-F238E27FC236}">
                  <a16:creationId xmlns:a16="http://schemas.microsoft.com/office/drawing/2014/main" id="{5E142703-793C-A64A-3802-1C90694B6B63}"/>
                </a:ext>
              </a:extLst>
            </p:cNvPr>
            <p:cNvSpPr/>
            <p:nvPr/>
          </p:nvSpPr>
          <p:spPr>
            <a:xfrm rot="10800000">
              <a:off x="10737850" y="1371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6" name="clogo7">
              <a:extLst>
                <a:ext uri="{FF2B5EF4-FFF2-40B4-BE49-F238E27FC236}">
                  <a16:creationId xmlns:a16="http://schemas.microsoft.com/office/drawing/2014/main" id="{482EEAC3-D492-2352-8553-E7EB12CA47F2}"/>
                </a:ext>
              </a:extLst>
            </p:cNvPr>
            <p:cNvSpPr/>
            <p:nvPr/>
          </p:nvSpPr>
          <p:spPr>
            <a:xfrm rot="12600000">
              <a:off x="10547350" y="1320556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7" name="clogo8">
              <a:extLst>
                <a:ext uri="{FF2B5EF4-FFF2-40B4-BE49-F238E27FC236}">
                  <a16:creationId xmlns:a16="http://schemas.microsoft.com/office/drawing/2014/main" id="{2388B3C8-8F80-4417-F68F-F0E52AAFEA2D}"/>
                </a:ext>
              </a:extLst>
            </p:cNvPr>
            <p:cNvSpPr/>
            <p:nvPr/>
          </p:nvSpPr>
          <p:spPr>
            <a:xfrm rot="14400000">
              <a:off x="10407894" y="1181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8" name="clogo9">
              <a:extLst>
                <a:ext uri="{FF2B5EF4-FFF2-40B4-BE49-F238E27FC236}">
                  <a16:creationId xmlns:a16="http://schemas.microsoft.com/office/drawing/2014/main" id="{08C398E4-8695-F3AD-431E-18CF4EFF0612}"/>
                </a:ext>
              </a:extLst>
            </p:cNvPr>
            <p:cNvSpPr/>
            <p:nvPr/>
          </p:nvSpPr>
          <p:spPr>
            <a:xfrm rot="16200000">
              <a:off x="10356850" y="990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9" name="clogo10">
              <a:extLst>
                <a:ext uri="{FF2B5EF4-FFF2-40B4-BE49-F238E27FC236}">
                  <a16:creationId xmlns:a16="http://schemas.microsoft.com/office/drawing/2014/main" id="{39E6C243-E04C-7293-6204-3078DFF41C3B}"/>
                </a:ext>
              </a:extLst>
            </p:cNvPr>
            <p:cNvSpPr/>
            <p:nvPr/>
          </p:nvSpPr>
          <p:spPr>
            <a:xfrm rot="18000000">
              <a:off x="10407894" y="800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" name="clogo11">
              <a:extLst>
                <a:ext uri="{FF2B5EF4-FFF2-40B4-BE49-F238E27FC236}">
                  <a16:creationId xmlns:a16="http://schemas.microsoft.com/office/drawing/2014/main" id="{B30627C1-D79F-6C42-5BC3-FCD9EFD161F6}"/>
                </a:ext>
              </a:extLst>
            </p:cNvPr>
            <p:cNvSpPr/>
            <p:nvPr/>
          </p:nvSpPr>
          <p:spPr>
            <a:xfrm rot="19800000">
              <a:off x="10547350" y="660644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  <p:sp>
        <p:nvSpPr>
          <p:cNvPr id="21" name="Text 4">
            <a:extLst>
              <a:ext uri="{FF2B5EF4-FFF2-40B4-BE49-F238E27FC236}">
                <a16:creationId xmlns:a16="http://schemas.microsoft.com/office/drawing/2014/main" id="{614B4485-D03B-E7F1-5490-FCB206F0504A}"/>
              </a:ext>
            </a:extLst>
          </p:cNvPr>
          <p:cNvSpPr/>
          <p:nvPr/>
        </p:nvSpPr>
        <p:spPr>
          <a:xfrm>
            <a:off x="918573" y="594229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ko-KR" alt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n-US" altLang="ko-KR" sz="1600" dirty="0" err="1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aebon@hs.ac.kr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 |  </a:t>
            </a:r>
            <a:r>
              <a:rPr lang="en-US" sz="1600" dirty="0" err="1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한신대학교</a:t>
            </a:r>
            <a:r>
              <a:rPr 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600" dirty="0" err="1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AI.SW대학</a:t>
            </a:r>
            <a:r>
              <a:rPr 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ko-KR" altLang="en-US" sz="1600" dirty="0" err="1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드림아이티비즈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(DreamIT Biz)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91994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  ·  10:00–10:50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오리엔테이션 &amp; Claude 기초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LLM의 확률적 토큰 생성 메커니즘과 환각·최신성·정량추론의 한계를 설명한다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대화·프로젝트·파일 업로드 등 작업 환경을 본인 연구 맥락에 맞게 구성한다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역할·맥락·과업·형식·제약의 다섯 요소로 프롬프트를 구조화한다</a:t>
            </a:r>
            <a:endParaRPr lang="en-US" sz="15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AEF1C73-4107-C16A-4349-C05D6E2ECAFB}"/>
              </a:ext>
            </a:extLst>
          </p:cNvPr>
          <p:cNvGrpSpPr/>
          <p:nvPr/>
        </p:nvGrpSpPr>
        <p:grpSpPr>
          <a:xfrm>
            <a:off x="10566426" y="631351"/>
            <a:ext cx="1117600" cy="1117600"/>
            <a:chOff x="10115666" y="1808408"/>
            <a:chExt cx="1117600" cy="1117600"/>
          </a:xfrm>
        </p:grpSpPr>
        <p:sp>
          <p:nvSpPr>
            <p:cNvPr id="900" name="csq"/>
            <p:cNvSpPr/>
            <p:nvPr/>
          </p:nvSpPr>
          <p:spPr>
            <a:xfrm>
              <a:off x="10115666" y="1808408"/>
              <a:ext cx="1117600" cy="1117600"/>
            </a:xfrm>
            <a:prstGeom prst="roundRect">
              <a:avLst>
                <a:gd name="adj" fmla="val 24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2E9B842E-8BDD-D6D6-6CBD-6A066837965D}"/>
                </a:ext>
              </a:extLst>
            </p:cNvPr>
            <p:cNvGrpSpPr/>
            <p:nvPr/>
          </p:nvGrpSpPr>
          <p:grpSpPr>
            <a:xfrm>
              <a:off x="10205720" y="1887220"/>
              <a:ext cx="921626" cy="921626"/>
              <a:chOff x="10439400" y="914400"/>
              <a:chExt cx="711200" cy="711200"/>
            </a:xfrm>
          </p:grpSpPr>
          <p:sp>
            <p:nvSpPr>
              <p:cNvPr id="901" name="cr0"/>
              <p:cNvSpPr/>
              <p:nvPr/>
            </p:nvSpPr>
            <p:spPr>
              <a:xfrm>
                <a:off x="10763250" y="914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02" name="cr1"/>
              <p:cNvSpPr/>
              <p:nvPr/>
            </p:nvSpPr>
            <p:spPr>
              <a:xfrm rot="1800000">
                <a:off x="108585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03" name="cr2"/>
              <p:cNvSpPr/>
              <p:nvPr/>
            </p:nvSpPr>
            <p:spPr>
              <a:xfrm rot="3600000">
                <a:off x="10928228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04" name="cr3"/>
              <p:cNvSpPr/>
              <p:nvPr/>
            </p:nvSpPr>
            <p:spPr>
              <a:xfrm rot="5400000">
                <a:off x="10953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05" name="cr4"/>
              <p:cNvSpPr/>
              <p:nvPr/>
            </p:nvSpPr>
            <p:spPr>
              <a:xfrm rot="7200000">
                <a:off x="10928228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06" name="cr5"/>
              <p:cNvSpPr/>
              <p:nvPr/>
            </p:nvSpPr>
            <p:spPr>
              <a:xfrm rot="9000000">
                <a:off x="108585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07" name="cr6"/>
              <p:cNvSpPr/>
              <p:nvPr/>
            </p:nvSpPr>
            <p:spPr>
              <a:xfrm rot="10800000">
                <a:off x="10763250" y="1295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08" name="cr7"/>
              <p:cNvSpPr/>
              <p:nvPr/>
            </p:nvSpPr>
            <p:spPr>
              <a:xfrm rot="12600000">
                <a:off x="106680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09" name="cr8"/>
              <p:cNvSpPr/>
              <p:nvPr/>
            </p:nvSpPr>
            <p:spPr>
              <a:xfrm rot="14400000">
                <a:off x="10598272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10" name="cr9"/>
              <p:cNvSpPr/>
              <p:nvPr/>
            </p:nvSpPr>
            <p:spPr>
              <a:xfrm rot="16200000">
                <a:off x="10572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11" name="cr10"/>
              <p:cNvSpPr/>
              <p:nvPr/>
            </p:nvSpPr>
            <p:spPr>
              <a:xfrm rot="18000000">
                <a:off x="10598272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12" name="cr11"/>
              <p:cNvSpPr/>
              <p:nvPr/>
            </p:nvSpPr>
            <p:spPr>
              <a:xfrm rot="19800000">
                <a:off x="106680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46714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표지 · 과정 소개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 개요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'Claude 기반 연구 업무 활용'과 'AX 브릿지 교과목 설계'를 2일·총 14시간으로 구성한다.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대상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전임 교원을 대상으로 연구 업무 전반의 생성형 AI 활용 역량을 배양한다.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안내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소개와 교시별 산출물(리뷰 매트릭스·초록·분석 리포트·제안서·Project)을 안내한다.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 개요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대상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운영·산출물 안내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532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학습 목표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원리 이해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LLM의 확률적 토큰 생성 메커니즘과 환각·최신성·정량추론의 한계를 설명할 수 있다.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환경 구성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대화·프로젝트·파일 업로드 환경을 본인의 연구 맥락에 맞게 설계·구성할 수 있다.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구조화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역할·맥락·과업·형식·제약의 다섯 요소로 프롬프트를 체계적으로 설계할 수 있다.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원리 이해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환경 구성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구조화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57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LLM이란 무엇인가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확률적 언어모델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대규모 말뭉치에 대한 자기지도 사전학습으로 토큰 시퀀스의 통계적 분포를 내재화한 모델이다.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자기회귀 생성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직전 문맥을 조건으로 다음 토큰의 조건부확률을 추정하고, 이를 순차 반복해 텍스트를 산출한다.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아닌 생성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사실을 색인·조회하는 지식베이스가 아니라, 학습 분포에서 개연성 높은 표현을 표집(sampling)하는 생성 기제다.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출력의 비결정성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표집의 확률성으로 동일 입력에도 출력이 가변적이므로, 재현성이 요구되는 과업은 형식·제약을 명시해 통제한다.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ar202"/>
          <p:cNvSpPr/>
          <p:nvPr/>
        </p:nvSpPr>
        <p:spPr>
          <a:xfrm>
            <a:off x="8813800" y="3505200"/>
            <a:ext cx="304800" cy="1524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ar203"/>
          <p:cNvSpPr/>
          <p:nvPr/>
        </p:nvSpPr>
        <p:spPr>
          <a:xfrm>
            <a:off x="8813800" y="4241800"/>
            <a:ext cx="304800" cy="1524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ar204"/>
          <p:cNvSpPr/>
          <p:nvPr/>
        </p:nvSpPr>
        <p:spPr>
          <a:xfrm>
            <a:off x="8813800" y="4978400"/>
            <a:ext cx="304800" cy="1524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4" name="dn205"/>
          <p:cNvSpPr/>
          <p:nvPr/>
        </p:nvSpPr>
        <p:spPr>
          <a:xfrm>
            <a:off x="7061200" y="2870200"/>
            <a:ext cx="3810000" cy="6096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자기지도 사전학습</a:t>
            </a:r>
          </a:p>
        </p:txBody>
      </p:sp>
      <p:sp>
        <p:nvSpPr>
          <p:cNvPr id="205" name="dn206"/>
          <p:cNvSpPr/>
          <p:nvPr/>
        </p:nvSpPr>
        <p:spPr>
          <a:xfrm>
            <a:off x="7061200" y="3606800"/>
            <a:ext cx="3810000" cy="6096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토큰 확률 예측</a:t>
            </a:r>
          </a:p>
        </p:txBody>
      </p:sp>
      <p:sp>
        <p:nvSpPr>
          <p:cNvPr id="206" name="dn207"/>
          <p:cNvSpPr/>
          <p:nvPr/>
        </p:nvSpPr>
        <p:spPr>
          <a:xfrm>
            <a:off x="7061200" y="4343400"/>
            <a:ext cx="3810000" cy="6096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표집(sampling)</a:t>
            </a:r>
          </a:p>
        </p:txBody>
      </p:sp>
      <p:sp>
        <p:nvSpPr>
          <p:cNvPr id="207" name="dn208"/>
          <p:cNvSpPr/>
          <p:nvPr/>
        </p:nvSpPr>
        <p:spPr>
          <a:xfrm>
            <a:off x="7061200" y="5080000"/>
            <a:ext cx="3810000" cy="6096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생성</a:t>
            </a:r>
          </a:p>
        </p:txBody>
      </p:sp>
      <p:pic>
        <p:nvPicPr>
          <p:cNvPr id="208" name="Graphic 20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592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잘하고, 무엇을 주의하나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 영역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요약·초안 작성·구조화·번역·형식 변환 등 언어적 변환 과업에서 높은 생산성을 보인다.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환각(hallucination)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분포에 없는 사실·인용을 그럴듯하게 생성할 수 있어 출처 검증이 필수다.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최신성 한계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사전학습 시점 이후의 정보는 반영되지 않으므로 시의성 있는 사실은 별도 확인이 필요하다.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추론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수치 계산은 오류 가능성이 있어 전용 도구로 검산해야 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0" name="tcdiv"/>
          <p:cNvSpPr/>
          <p:nvPr/>
        </p:nvSpPr>
        <p:spPr>
          <a:xfrm>
            <a:off x="8966200" y="2362200"/>
            <a:ext cx="25400" cy="3352800"/>
          </a:xfrm>
          <a:prstGeom prst="rect">
            <a:avLst/>
          </a:prstGeom>
          <a:solidFill>
            <a:srgbClr val="D8C7AE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" name="tc302"/>
          <p:cNvSpPr/>
          <p:nvPr/>
        </p:nvSpPr>
        <p:spPr>
          <a:xfrm>
            <a:off x="6654800" y="2336800"/>
            <a:ext cx="2235200" cy="482600"/>
          </a:xfrm>
          <a:prstGeom prst="roundRect">
            <a:avLst>
              <a:gd name="adj" fmla="val 30000"/>
            </a:avLst>
          </a:prstGeom>
          <a:solidFill>
            <a:srgbClr val="1E3A5F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</a:p>
        </p:txBody>
      </p:sp>
      <p:sp>
        <p:nvSpPr>
          <p:cNvPr id="302" name="tc303"/>
          <p:cNvSpPr/>
          <p:nvPr/>
        </p:nvSpPr>
        <p:spPr>
          <a:xfrm>
            <a:off x="6654800" y="2946400"/>
            <a:ext cx="2235200" cy="1333500"/>
          </a:xfrm>
          <a:prstGeom prst="roundRect">
            <a:avLst>
              <a:gd name="adj" fmla="val 16000"/>
            </a:avLst>
          </a:prstGeom>
          <a:solidFill>
            <a:srgbClr val="E8EDF3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요약·초안·구조화</a:t>
            </a:r>
          </a:p>
        </p:txBody>
      </p:sp>
      <p:sp>
        <p:nvSpPr>
          <p:cNvPr id="303" name="tc304"/>
          <p:cNvSpPr/>
          <p:nvPr/>
        </p:nvSpPr>
        <p:spPr>
          <a:xfrm>
            <a:off x="6654800" y="4406900"/>
            <a:ext cx="2235200" cy="1333500"/>
          </a:xfrm>
          <a:prstGeom prst="roundRect">
            <a:avLst>
              <a:gd name="adj" fmla="val 16000"/>
            </a:avLst>
          </a:prstGeom>
          <a:solidFill>
            <a:srgbClr val="E8EDF3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번역·형식 변환</a:t>
            </a:r>
          </a:p>
        </p:txBody>
      </p:sp>
      <p:sp>
        <p:nvSpPr>
          <p:cNvPr id="304" name="tc305"/>
          <p:cNvSpPr/>
          <p:nvPr/>
        </p:nvSpPr>
        <p:spPr>
          <a:xfrm>
            <a:off x="9042400" y="2336800"/>
            <a:ext cx="2235200" cy="482600"/>
          </a:xfrm>
          <a:prstGeom prst="roundRect">
            <a:avLst>
              <a:gd name="adj" fmla="val 30000"/>
            </a:avLst>
          </a:prstGeom>
          <a:solidFill>
            <a:srgbClr val="9C4221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</a:t>
            </a:r>
          </a:p>
        </p:txBody>
      </p:sp>
      <p:sp>
        <p:nvSpPr>
          <p:cNvPr id="305" name="tc306"/>
          <p:cNvSpPr/>
          <p:nvPr/>
        </p:nvSpPr>
        <p:spPr>
          <a:xfrm>
            <a:off x="9042400" y="2946400"/>
            <a:ext cx="2235200" cy="838200"/>
          </a:xfrm>
          <a:prstGeom prst="roundRect">
            <a:avLst>
              <a:gd name="adj" fmla="val 16000"/>
            </a:avLst>
          </a:prstGeom>
          <a:solidFill>
            <a:srgbClr val="F3E2DA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9C42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환각(없는 사실)</a:t>
            </a:r>
          </a:p>
        </p:txBody>
      </p:sp>
      <p:sp>
        <p:nvSpPr>
          <p:cNvPr id="306" name="tc307"/>
          <p:cNvSpPr/>
          <p:nvPr/>
        </p:nvSpPr>
        <p:spPr>
          <a:xfrm>
            <a:off x="9042400" y="3911600"/>
            <a:ext cx="2235200" cy="838200"/>
          </a:xfrm>
          <a:prstGeom prst="roundRect">
            <a:avLst>
              <a:gd name="adj" fmla="val 16000"/>
            </a:avLst>
          </a:prstGeom>
          <a:solidFill>
            <a:srgbClr val="F3E2DA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9C42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최신성 한계</a:t>
            </a:r>
          </a:p>
        </p:txBody>
      </p:sp>
      <p:sp>
        <p:nvSpPr>
          <p:cNvPr id="307" name="tc308"/>
          <p:cNvSpPr/>
          <p:nvPr/>
        </p:nvSpPr>
        <p:spPr>
          <a:xfrm>
            <a:off x="9042400" y="4876800"/>
            <a:ext cx="2235200" cy="838200"/>
          </a:xfrm>
          <a:prstGeom prst="roundRect">
            <a:avLst>
              <a:gd name="adj" fmla="val 16000"/>
            </a:avLst>
          </a:prstGeom>
          <a:solidFill>
            <a:srgbClr val="F3E2DA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9C42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추론 오류</a:t>
            </a:r>
          </a:p>
        </p:txBody>
      </p:sp>
    </p:spTree>
    <p:extLst>
      <p:ext uri="{BB962C8B-B14F-4D97-AF65-F5344CB8AC3E}">
        <p14:creationId xmlns:p14="http://schemas.microsoft.com/office/powerpoint/2010/main" val="1851209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환경 구성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· 프로젝트 · 파일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단발성 대화, 맥락이 영속되는 프로젝트, 자료를 첨부하는 파일 업로드를 용도별로 구분한다.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맥락 세팅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분야·대상 독자·선호 형식을 작업 환경에 반영해 반복 입력을 줄이고 출력의 일관성을 확보한다.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보안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미공개 데이터·개인정보 업로드 전 소속 기관의 데이터 활용·보안 규정을 반드시 확인한다.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업로드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92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프롬프트의 5요소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· 맥락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모델에 부여할 전문가 페르소나(Role)와 과업의 배경 정보(Context)를 명시한다.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과업 · 형식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수행할 작업(Task)과 산출물의 구조(Format: 표·목록·문단 등)를 구체적으로 지정한다.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제약(Constraints)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분량·어조·금지사항 등 출력의 경계 조건을 설정한다.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구조화의 효과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요소의 명세 정도가 출력의 정확성·일관성·재사용성을 좌우한다.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0" name="hb301"/>
          <p:cNvSpPr/>
          <p:nvPr/>
        </p:nvSpPr>
        <p:spPr>
          <a:xfrm>
            <a:off x="7467600" y="2540000"/>
            <a:ext cx="3048000" cy="3048000"/>
          </a:xfrm>
          <a:prstGeom prst="ellipse">
            <a:avLst/>
          </a:prstGeom>
          <a:noFill/>
          <a:ln w="25400">
            <a:solidFill>
              <a:srgbClr val="C2603D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1" name="hb302"/>
          <p:cNvSpPr/>
          <p:nvPr/>
        </p:nvSpPr>
        <p:spPr>
          <a:xfrm>
            <a:off x="8242300" y="2324100"/>
            <a:ext cx="1498600" cy="431800"/>
          </a:xfrm>
          <a:prstGeom prst="roundRect">
            <a:avLst>
              <a:gd name="adj" fmla="val 22000"/>
            </a:avLst>
          </a:prstGeom>
          <a:solidFill>
            <a:srgbClr val="1E3A5F"/>
          </a:solidFill>
          <a:ln>
            <a:noFill/>
          </a:ln>
        </p:spPr>
        <p:txBody>
          <a:bodyPr lIns="18000" rIns="18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</a:t>
            </a:r>
          </a:p>
        </p:txBody>
      </p:sp>
      <p:sp>
        <p:nvSpPr>
          <p:cNvPr id="302" name="hb303"/>
          <p:cNvSpPr/>
          <p:nvPr/>
        </p:nvSpPr>
        <p:spPr>
          <a:xfrm>
            <a:off x="9690100" y="3378200"/>
            <a:ext cx="1498600" cy="431800"/>
          </a:xfrm>
          <a:prstGeom prst="roundRect">
            <a:avLst>
              <a:gd name="adj" fmla="val 22000"/>
            </a:avLst>
          </a:prstGeom>
          <a:solidFill>
            <a:srgbClr val="1E3A5F"/>
          </a:solidFill>
          <a:ln>
            <a:noFill/>
          </a:ln>
        </p:spPr>
        <p:txBody>
          <a:bodyPr lIns="18000" rIns="18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맥락</a:t>
            </a:r>
          </a:p>
        </p:txBody>
      </p:sp>
      <p:sp>
        <p:nvSpPr>
          <p:cNvPr id="303" name="hb304"/>
          <p:cNvSpPr/>
          <p:nvPr/>
        </p:nvSpPr>
        <p:spPr>
          <a:xfrm>
            <a:off x="9131300" y="5080000"/>
            <a:ext cx="1498600" cy="431800"/>
          </a:xfrm>
          <a:prstGeom prst="roundRect">
            <a:avLst>
              <a:gd name="adj" fmla="val 22000"/>
            </a:avLst>
          </a:prstGeom>
          <a:solidFill>
            <a:srgbClr val="1E3A5F"/>
          </a:solidFill>
          <a:ln>
            <a:noFill/>
          </a:ln>
        </p:spPr>
        <p:txBody>
          <a:bodyPr lIns="18000" rIns="18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과업</a:t>
            </a:r>
          </a:p>
        </p:txBody>
      </p:sp>
      <p:sp>
        <p:nvSpPr>
          <p:cNvPr id="304" name="hb305"/>
          <p:cNvSpPr/>
          <p:nvPr/>
        </p:nvSpPr>
        <p:spPr>
          <a:xfrm>
            <a:off x="7353300" y="5080000"/>
            <a:ext cx="1498600" cy="431800"/>
          </a:xfrm>
          <a:prstGeom prst="roundRect">
            <a:avLst>
              <a:gd name="adj" fmla="val 22000"/>
            </a:avLst>
          </a:prstGeom>
          <a:solidFill>
            <a:srgbClr val="1E3A5F"/>
          </a:solidFill>
          <a:ln>
            <a:noFill/>
          </a:ln>
        </p:spPr>
        <p:txBody>
          <a:bodyPr lIns="18000" rIns="18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</a:t>
            </a:r>
          </a:p>
        </p:txBody>
      </p:sp>
      <p:sp>
        <p:nvSpPr>
          <p:cNvPr id="305" name="hb306"/>
          <p:cNvSpPr/>
          <p:nvPr/>
        </p:nvSpPr>
        <p:spPr>
          <a:xfrm>
            <a:off x="6794500" y="3378200"/>
            <a:ext cx="1498600" cy="431800"/>
          </a:xfrm>
          <a:prstGeom prst="roundRect">
            <a:avLst>
              <a:gd name="adj" fmla="val 22000"/>
            </a:avLst>
          </a:prstGeom>
          <a:solidFill>
            <a:srgbClr val="1E3A5F"/>
          </a:solidFill>
          <a:ln>
            <a:noFill/>
          </a:ln>
        </p:spPr>
        <p:txBody>
          <a:bodyPr lIns="18000" rIns="18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</a:t>
            </a:r>
          </a:p>
        </p:txBody>
      </p:sp>
      <p:sp>
        <p:nvSpPr>
          <p:cNvPr id="306" name="hbc"/>
          <p:cNvSpPr/>
          <p:nvPr/>
        </p:nvSpPr>
        <p:spPr>
          <a:xfrm>
            <a:off x="8356600" y="3429000"/>
            <a:ext cx="1270000" cy="1270000"/>
          </a:xfrm>
          <a:prstGeom prst="ellipse">
            <a:avLst/>
          </a:prstGeom>
          <a:solidFill>
            <a:srgbClr val="9C4221"/>
          </a:solidFill>
          <a:ln w="38100">
            <a:solidFill>
              <a:srgbClr val="FFFFFF"/>
            </a:solidFill>
          </a:ln>
        </p:spPr>
        <p:txBody>
          <a:bodyPr lIns="10000" rIns="10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</a:t>
            </a:r>
          </a:p>
        </p:txBody>
      </p:sp>
    </p:spTree>
    <p:extLst>
      <p:ext uri="{BB962C8B-B14F-4D97-AF65-F5344CB8AC3E}">
        <p14:creationId xmlns:p14="http://schemas.microsoft.com/office/powerpoint/2010/main" val="2757751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시연: 제로샷 vs 구조화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제로샷의 한계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"요약해줘" 식 비구조적 지시는 길이·관점·형식이 불확정해 결과 편차가 크다.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 프롬프트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역할·맥락·형식·제약을 명시하면 의도에 부합하는 산출을 안정적으로 재현할 수 있다.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관점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구체성·정확성·재사용성 측면에서 두 접근의 출력 품질 차이를 정성적으로 비교한다.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0" name="tcdiv"/>
          <p:cNvSpPr/>
          <p:nvPr/>
        </p:nvSpPr>
        <p:spPr>
          <a:xfrm>
            <a:off x="8966200" y="2362200"/>
            <a:ext cx="25400" cy="3352800"/>
          </a:xfrm>
          <a:prstGeom prst="rect">
            <a:avLst/>
          </a:prstGeom>
          <a:solidFill>
            <a:srgbClr val="D8C7AE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" name="tc302"/>
          <p:cNvSpPr/>
          <p:nvPr/>
        </p:nvSpPr>
        <p:spPr>
          <a:xfrm>
            <a:off x="6654800" y="2336800"/>
            <a:ext cx="2235200" cy="482600"/>
          </a:xfrm>
          <a:prstGeom prst="roundRect">
            <a:avLst>
              <a:gd name="adj" fmla="val 30000"/>
            </a:avLst>
          </a:prstGeom>
          <a:solidFill>
            <a:srgbClr val="9C4221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제로샷</a:t>
            </a:r>
          </a:p>
        </p:txBody>
      </p:sp>
      <p:sp>
        <p:nvSpPr>
          <p:cNvPr id="302" name="tc303"/>
          <p:cNvSpPr/>
          <p:nvPr/>
        </p:nvSpPr>
        <p:spPr>
          <a:xfrm>
            <a:off x="6654800" y="2946400"/>
            <a:ext cx="2235200" cy="1333500"/>
          </a:xfrm>
          <a:prstGeom prst="roundRect">
            <a:avLst>
              <a:gd name="adj" fmla="val 16000"/>
            </a:avLst>
          </a:prstGeom>
          <a:solidFill>
            <a:srgbClr val="F3E2DA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9C42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비구조적 지시</a:t>
            </a:r>
          </a:p>
        </p:txBody>
      </p:sp>
      <p:sp>
        <p:nvSpPr>
          <p:cNvPr id="303" name="tc304"/>
          <p:cNvSpPr/>
          <p:nvPr/>
        </p:nvSpPr>
        <p:spPr>
          <a:xfrm>
            <a:off x="6654800" y="4406900"/>
            <a:ext cx="2235200" cy="1333500"/>
          </a:xfrm>
          <a:prstGeom prst="roundRect">
            <a:avLst>
              <a:gd name="adj" fmla="val 16000"/>
            </a:avLst>
          </a:prstGeom>
          <a:solidFill>
            <a:srgbClr val="F3E2DA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9C42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편차 큼</a:t>
            </a:r>
          </a:p>
        </p:txBody>
      </p:sp>
      <p:sp>
        <p:nvSpPr>
          <p:cNvPr id="304" name="tc305"/>
          <p:cNvSpPr/>
          <p:nvPr/>
        </p:nvSpPr>
        <p:spPr>
          <a:xfrm>
            <a:off x="9042400" y="2336800"/>
            <a:ext cx="2235200" cy="482600"/>
          </a:xfrm>
          <a:prstGeom prst="roundRect">
            <a:avLst>
              <a:gd name="adj" fmla="val 30000"/>
            </a:avLst>
          </a:prstGeom>
          <a:solidFill>
            <a:srgbClr val="1E3A5F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</a:t>
            </a:r>
          </a:p>
        </p:txBody>
      </p:sp>
      <p:sp>
        <p:nvSpPr>
          <p:cNvPr id="305" name="tc306"/>
          <p:cNvSpPr/>
          <p:nvPr/>
        </p:nvSpPr>
        <p:spPr>
          <a:xfrm>
            <a:off x="9042400" y="2946400"/>
            <a:ext cx="2235200" cy="838200"/>
          </a:xfrm>
          <a:prstGeom prst="roundRect">
            <a:avLst>
              <a:gd name="adj" fmla="val 16000"/>
            </a:avLst>
          </a:prstGeom>
          <a:solidFill>
            <a:srgbClr val="E8EDF3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역할·맥락·형식·제약</a:t>
            </a:r>
          </a:p>
        </p:txBody>
      </p:sp>
      <p:sp>
        <p:nvSpPr>
          <p:cNvPr id="306" name="tc307"/>
          <p:cNvSpPr/>
          <p:nvPr/>
        </p:nvSpPr>
        <p:spPr>
          <a:xfrm>
            <a:off x="9042400" y="3911600"/>
            <a:ext cx="2235200" cy="838200"/>
          </a:xfrm>
          <a:prstGeom prst="roundRect">
            <a:avLst>
              <a:gd name="adj" fmla="val 16000"/>
            </a:avLst>
          </a:prstGeom>
          <a:solidFill>
            <a:srgbClr val="E8EDF3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의도에 부합</a:t>
            </a:r>
          </a:p>
        </p:txBody>
      </p:sp>
      <p:sp>
        <p:nvSpPr>
          <p:cNvPr id="307" name="tc308"/>
          <p:cNvSpPr/>
          <p:nvPr/>
        </p:nvSpPr>
        <p:spPr>
          <a:xfrm>
            <a:off x="9042400" y="4876800"/>
            <a:ext cx="2235200" cy="838200"/>
          </a:xfrm>
          <a:prstGeom prst="roundRect">
            <a:avLst>
              <a:gd name="adj" fmla="val 16000"/>
            </a:avLst>
          </a:prstGeom>
          <a:solidFill>
            <a:srgbClr val="E8EDF3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안정·재현</a:t>
            </a:r>
          </a:p>
        </p:txBody>
      </p:sp>
    </p:spTree>
    <p:extLst>
      <p:ext uri="{BB962C8B-B14F-4D97-AF65-F5344CB8AC3E}">
        <p14:creationId xmlns:p14="http://schemas.microsoft.com/office/powerpoint/2010/main" val="3565379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예제: 5요소 구조화 프롬프트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175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6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국문 초록 → 영문 기여 3문장 요약</a:t>
            </a:r>
          </a:p>
          <a:p>
            <a:pPr algn="l">
              <a:lnSpc>
                <a:spcPct val="116000"/>
              </a:lnSpc>
              <a:spcBef>
                <a:spcPts val="56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 분야 학술지의 영문 교열자로 행동한다.</a:t>
            </a:r>
          </a:p>
          <a:p>
            <a:pPr algn="l">
              <a:lnSpc>
                <a:spcPct val="116000"/>
              </a:lnSpc>
              <a:spcBef>
                <a:spcPts val="46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아래는 내 논문 초록 초안(국문)이다: "…"</a:t>
            </a:r>
          </a:p>
          <a:p>
            <a:pPr algn="l">
              <a:lnSpc>
                <a:spcPct val="116000"/>
              </a:lnSpc>
              <a:spcBef>
                <a:spcPts val="46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기여를 영문 3문장으로 요약하라.</a:t>
            </a:r>
          </a:p>
          <a:p>
            <a:pPr algn="l">
              <a:lnSpc>
                <a:spcPct val="116000"/>
              </a:lnSpc>
              <a:spcBef>
                <a:spcPts val="46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불릿 3개 · 각 25단어 이내 · 학술 문체.</a:t>
            </a:r>
          </a:p>
          <a:p>
            <a:pPr algn="l">
              <a:lnSpc>
                <a:spcPct val="116000"/>
              </a:lnSpc>
              <a:spcBef>
                <a:spcPts val="46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원문에 없는 수치·주장 추가 금지. 불확실 시 "확인 필요".</a:t>
            </a:r>
          </a:p>
          <a:p>
            <a:pPr algn="l">
              <a:lnSpc>
                <a:spcPct val="114000"/>
              </a:lnSpc>
              <a:spcBef>
                <a:spcPts val="560"/>
              </a:spcBef>
              <a:buNone/>
            </a:pPr>
            <a:r>
              <a:rPr lang="ko-KR" sz="1300" b="0" i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같은 초록을 "요약해줘"로도 실행해 차이를 비교한다.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1750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기대 출력</a:t>
            </a:r>
          </a:p>
          <a:p>
            <a:pPr algn="l">
              <a:lnSpc>
                <a:spcPct val="110000"/>
              </a:lnSpc>
              <a:spcBef>
                <a:spcPts val="22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기여 중심 영문 불릿 3개</a:t>
            </a:r>
          </a:p>
          <a:p>
            <a:pPr algn="l">
              <a:lnSpc>
                <a:spcPct val="110000"/>
              </a:lnSpc>
              <a:spcBef>
                <a:spcPts val="12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"This study proposes a method that …"</a:t>
            </a:r>
          </a:p>
          <a:p>
            <a:pPr algn="l">
              <a:lnSpc>
                <a:spcPct val="100000"/>
              </a:lnSpc>
              <a:spcBef>
                <a:spcPts val="5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원문에 없는 사실 추가 여부</a:t>
            </a:r>
          </a:p>
          <a:p>
            <a:pPr algn="l">
              <a:lnSpc>
                <a:spcPct val="110000"/>
              </a:lnSpc>
              <a:spcBef>
                <a:spcPts val="12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형식(개수·길이) 준수</a:t>
            </a:r>
          </a:p>
          <a:p>
            <a:pPr algn="l">
              <a:lnSpc>
                <a:spcPct val="110000"/>
              </a:lnSpc>
              <a:spcBef>
                <a:spcPts val="12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용어 일관성</a:t>
            </a:r>
          </a:p>
          <a:p>
            <a:pPr algn="l">
              <a:lnSpc>
                <a:spcPct val="100000"/>
              </a:lnSpc>
              <a:spcBef>
                <a:spcPts val="5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claude.ai 새 대화 → 입력 → 제로샷과 비교</a:t>
            </a:r>
          </a:p>
          <a:p>
            <a:pPr algn="l">
              <a:lnSpc>
                <a:spcPct val="110000"/>
              </a:lnSpc>
              <a:spcBef>
                <a:spcPts val="12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재사용 프롬프트 + 비교 메모</a:t>
            </a:r>
          </a:p>
        </p:txBody>
      </p:sp>
    </p:spTree>
    <p:extLst>
      <p:ext uri="{BB962C8B-B14F-4D97-AF65-F5344CB8AC3E}">
        <p14:creationId xmlns:p14="http://schemas.microsoft.com/office/powerpoint/2010/main" val="1892489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안전·윤리 &amp; 실습 안내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보호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미공개 연구데이터·개인정보의 입력을 지양하고, 필요 시 익명화·집계 처리 후 활용한다.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인간 검증(human-in-the-loop)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결과의 사실·인용·논리는 연구자가 최종적으로 검증·책임진다.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과제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연구 주제를 소재로 5요소 구조화 프롬프트를 직접 작성한다.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보호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인간 검증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과제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157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· 1교시 — 프롬프트 개선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심화: 프롬프트 반복 개선·few-shot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기법 — 출력을 끌어올리기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출력이 기대와 다를 때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[few-shot]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출력 예 1~2개를 먼저 제시한다.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[단계화]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"먼저 개요, 다음 본문"으로 작업을 분리한다.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[자기수정]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"방금 답을 ○○ 기준으로 개선하라".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[역할분리]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작성자/검토자 2역할로 교차 점검한다.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한 변수만 바꿔 효과를 비교한다.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효과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정확성·일관성·재현성 향상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예시 1개 추가 → 형식 안정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점검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변경은 한 번에 1개씩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few-shot 예시 품질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과도한 지시 회피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과업 기법 전/후 비교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프롬프트 개선 로그</a:t>
            </a:r>
          </a:p>
        </p:txBody>
      </p:sp>
    </p:spTree>
    <p:extLst>
      <p:ext uri="{BB962C8B-B14F-4D97-AF65-F5344CB8AC3E}">
        <p14:creationId xmlns:p14="http://schemas.microsoft.com/office/powerpoint/2010/main" val="1965262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  ·  11:00–11:50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PDF 기반 연구 리뷰 매트릭스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PDF에서 연구 핵심 요소를 사전 정의한 분석틀로 일관되게 추출한다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복수 문헌을 항목별로 교차 비교하는 매트릭스를 구성한다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 결과를 원문과 대조하여 정확성·근거를 검증한다</a:t>
            </a:r>
            <a:endParaRPr lang="en-US" sz="15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668C73E-BD31-3448-EA6E-ED26406682DF}"/>
              </a:ext>
            </a:extLst>
          </p:cNvPr>
          <p:cNvGrpSpPr/>
          <p:nvPr/>
        </p:nvGrpSpPr>
        <p:grpSpPr>
          <a:xfrm>
            <a:off x="10566426" y="631351"/>
            <a:ext cx="1117600" cy="1117600"/>
            <a:chOff x="10115666" y="1808408"/>
            <a:chExt cx="1117600" cy="1117600"/>
          </a:xfrm>
        </p:grpSpPr>
        <p:sp>
          <p:nvSpPr>
            <p:cNvPr id="6" name="csq">
              <a:extLst>
                <a:ext uri="{FF2B5EF4-FFF2-40B4-BE49-F238E27FC236}">
                  <a16:creationId xmlns:a16="http://schemas.microsoft.com/office/drawing/2014/main" id="{4941A2D0-4574-4E03-96BF-96FD4C8FC815}"/>
                </a:ext>
              </a:extLst>
            </p:cNvPr>
            <p:cNvSpPr/>
            <p:nvPr/>
          </p:nvSpPr>
          <p:spPr>
            <a:xfrm>
              <a:off x="10115666" y="1808408"/>
              <a:ext cx="1117600" cy="1117600"/>
            </a:xfrm>
            <a:prstGeom prst="roundRect">
              <a:avLst>
                <a:gd name="adj" fmla="val 24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D8AB99AA-11BB-6F3F-A6A4-A235E423ED49}"/>
                </a:ext>
              </a:extLst>
            </p:cNvPr>
            <p:cNvGrpSpPr/>
            <p:nvPr/>
          </p:nvGrpSpPr>
          <p:grpSpPr>
            <a:xfrm>
              <a:off x="10205720" y="1887220"/>
              <a:ext cx="921626" cy="921626"/>
              <a:chOff x="10439400" y="914400"/>
              <a:chExt cx="711200" cy="711200"/>
            </a:xfrm>
          </p:grpSpPr>
          <p:sp>
            <p:nvSpPr>
              <p:cNvPr id="8" name="cr0">
                <a:extLst>
                  <a:ext uri="{FF2B5EF4-FFF2-40B4-BE49-F238E27FC236}">
                    <a16:creationId xmlns:a16="http://schemas.microsoft.com/office/drawing/2014/main" id="{47F30864-D9AD-50C5-FCA3-3AC9979C6BB7}"/>
                  </a:ext>
                </a:extLst>
              </p:cNvPr>
              <p:cNvSpPr/>
              <p:nvPr/>
            </p:nvSpPr>
            <p:spPr>
              <a:xfrm>
                <a:off x="10763250" y="914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" name="cr1">
                <a:extLst>
                  <a:ext uri="{FF2B5EF4-FFF2-40B4-BE49-F238E27FC236}">
                    <a16:creationId xmlns:a16="http://schemas.microsoft.com/office/drawing/2014/main" id="{3518238D-8C2C-2528-5600-4B0C6D6C0C79}"/>
                  </a:ext>
                </a:extLst>
              </p:cNvPr>
              <p:cNvSpPr/>
              <p:nvPr/>
            </p:nvSpPr>
            <p:spPr>
              <a:xfrm rot="1800000">
                <a:off x="108585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0" name="cr2">
                <a:extLst>
                  <a:ext uri="{FF2B5EF4-FFF2-40B4-BE49-F238E27FC236}">
                    <a16:creationId xmlns:a16="http://schemas.microsoft.com/office/drawing/2014/main" id="{FB9BAEE8-5C2C-C5C1-CFD4-DEE4680710D5}"/>
                  </a:ext>
                </a:extLst>
              </p:cNvPr>
              <p:cNvSpPr/>
              <p:nvPr/>
            </p:nvSpPr>
            <p:spPr>
              <a:xfrm rot="3600000">
                <a:off x="10928228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1" name="cr3">
                <a:extLst>
                  <a:ext uri="{FF2B5EF4-FFF2-40B4-BE49-F238E27FC236}">
                    <a16:creationId xmlns:a16="http://schemas.microsoft.com/office/drawing/2014/main" id="{1027069A-F3C3-1A39-F9C2-C77223B06873}"/>
                  </a:ext>
                </a:extLst>
              </p:cNvPr>
              <p:cNvSpPr/>
              <p:nvPr/>
            </p:nvSpPr>
            <p:spPr>
              <a:xfrm rot="5400000">
                <a:off x="10953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2" name="cr4">
                <a:extLst>
                  <a:ext uri="{FF2B5EF4-FFF2-40B4-BE49-F238E27FC236}">
                    <a16:creationId xmlns:a16="http://schemas.microsoft.com/office/drawing/2014/main" id="{AE4BB8EF-4FEF-ECDD-7033-5F0679AFDD7F}"/>
                  </a:ext>
                </a:extLst>
              </p:cNvPr>
              <p:cNvSpPr/>
              <p:nvPr/>
            </p:nvSpPr>
            <p:spPr>
              <a:xfrm rot="7200000">
                <a:off x="10928228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3" name="cr5">
                <a:extLst>
                  <a:ext uri="{FF2B5EF4-FFF2-40B4-BE49-F238E27FC236}">
                    <a16:creationId xmlns:a16="http://schemas.microsoft.com/office/drawing/2014/main" id="{BAC2E4D4-F711-DBA3-CBB7-1D107360893F}"/>
                  </a:ext>
                </a:extLst>
              </p:cNvPr>
              <p:cNvSpPr/>
              <p:nvPr/>
            </p:nvSpPr>
            <p:spPr>
              <a:xfrm rot="9000000">
                <a:off x="108585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4" name="cr6">
                <a:extLst>
                  <a:ext uri="{FF2B5EF4-FFF2-40B4-BE49-F238E27FC236}">
                    <a16:creationId xmlns:a16="http://schemas.microsoft.com/office/drawing/2014/main" id="{B768AC96-13F8-E33D-1909-52A72F0A6990}"/>
                  </a:ext>
                </a:extLst>
              </p:cNvPr>
              <p:cNvSpPr/>
              <p:nvPr/>
            </p:nvSpPr>
            <p:spPr>
              <a:xfrm rot="10800000">
                <a:off x="10763250" y="1295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5" name="cr7">
                <a:extLst>
                  <a:ext uri="{FF2B5EF4-FFF2-40B4-BE49-F238E27FC236}">
                    <a16:creationId xmlns:a16="http://schemas.microsoft.com/office/drawing/2014/main" id="{DD8342B1-8D4E-FDED-FA81-4FEA0A2D7A42}"/>
                  </a:ext>
                </a:extLst>
              </p:cNvPr>
              <p:cNvSpPr/>
              <p:nvPr/>
            </p:nvSpPr>
            <p:spPr>
              <a:xfrm rot="12600000">
                <a:off x="106680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6" name="cr8">
                <a:extLst>
                  <a:ext uri="{FF2B5EF4-FFF2-40B4-BE49-F238E27FC236}">
                    <a16:creationId xmlns:a16="http://schemas.microsoft.com/office/drawing/2014/main" id="{AA602DE4-F1B5-72FC-F6F7-E211BBEE89AA}"/>
                  </a:ext>
                </a:extLst>
              </p:cNvPr>
              <p:cNvSpPr/>
              <p:nvPr/>
            </p:nvSpPr>
            <p:spPr>
              <a:xfrm rot="14400000">
                <a:off x="10598272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7" name="cr9">
                <a:extLst>
                  <a:ext uri="{FF2B5EF4-FFF2-40B4-BE49-F238E27FC236}">
                    <a16:creationId xmlns:a16="http://schemas.microsoft.com/office/drawing/2014/main" id="{45BBEAAB-3246-2C68-6863-0E46E7ED804F}"/>
                  </a:ext>
                </a:extLst>
              </p:cNvPr>
              <p:cNvSpPr/>
              <p:nvPr/>
            </p:nvSpPr>
            <p:spPr>
              <a:xfrm rot="16200000">
                <a:off x="10572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8" name="cr10">
                <a:extLst>
                  <a:ext uri="{FF2B5EF4-FFF2-40B4-BE49-F238E27FC236}">
                    <a16:creationId xmlns:a16="http://schemas.microsoft.com/office/drawing/2014/main" id="{0779A4D9-2673-DADD-8CA6-BB2792DB8FE8}"/>
                  </a:ext>
                </a:extLst>
              </p:cNvPr>
              <p:cNvSpPr/>
              <p:nvPr/>
            </p:nvSpPr>
            <p:spPr>
              <a:xfrm rot="18000000">
                <a:off x="10598272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9" name="cr11">
                <a:extLst>
                  <a:ext uri="{FF2B5EF4-FFF2-40B4-BE49-F238E27FC236}">
                    <a16:creationId xmlns:a16="http://schemas.microsoft.com/office/drawing/2014/main" id="{C088CF3A-C3C1-C95E-E1B9-8C5AD7B0F6CA}"/>
                  </a:ext>
                </a:extLst>
              </p:cNvPr>
              <p:cNvSpPr/>
              <p:nvPr/>
            </p:nvSpPr>
            <p:spPr>
              <a:xfrm rot="19800000">
                <a:off x="106680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문헌고찰의 부담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수작업의 한계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다수 논문을 개별 정독·비교하면 시간 소모가 크고 항목 적용의 일관성을 유지하기 어렵다.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체계화 필요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매트릭스로 비교 항목을 표준화하면 문헌고찰의 재현성과 누락 통제가 향상된다.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본시 목표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복수 문헌을 항목별로 교차 비교하는 구조화된 비교표를 반자동으로 생성한다.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9C4221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수작업의 한계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매트릭스로 체계화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비교표 자동화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168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매트릭스란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행·열 구조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행은 개별 논문, 열은 비교 항목으로 구성된 2차원 분석표다.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항목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연구질문·방법·표본·주요 결과·한계 등 비교 차원을 열로 정의한다.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문헌고찰의 체계성과 재현가능성을 높이고 연구 간 이질성을 가시화한다.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0" name="gc301"/>
          <p:cNvSpPr/>
          <p:nvPr/>
        </p:nvSpPr>
        <p:spPr>
          <a:xfrm>
            <a:off x="6604000" y="2362200"/>
            <a:ext cx="889000" cy="558800"/>
          </a:xfrm>
          <a:prstGeom prst="rect">
            <a:avLst/>
          </a:prstGeom>
          <a:solidFill>
            <a:srgbClr val="F6F2EA"/>
          </a:solidFill>
          <a:ln w="19050">
            <a:solidFill>
              <a:srgbClr val="FFFFFF"/>
            </a:solidFill>
          </a:ln>
        </p:spPr>
        <p:txBody>
          <a:bodyPr lIns="9000" rIns="9000" rtlCol="0" anchor="ctr">
            <a:normAutofit/>
          </a:bodyPr>
          <a:lstStyle/>
          <a:p>
            <a:pPr algn="ctr"/>
            <a:endParaRPr lang="ko-KR"/>
          </a:p>
        </p:txBody>
      </p:sp>
      <p:sp>
        <p:nvSpPr>
          <p:cNvPr id="301" name="gc302"/>
          <p:cNvSpPr/>
          <p:nvPr/>
        </p:nvSpPr>
        <p:spPr>
          <a:xfrm>
            <a:off x="7493000" y="2362200"/>
            <a:ext cx="1308100" cy="558800"/>
          </a:xfrm>
          <a:prstGeom prst="rect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txBody>
          <a:bodyPr lIns="9000" rIns="9000" rtlCol="0" anchor="ctr">
            <a:normAutofit/>
          </a:bodyPr>
          <a:lstStyle/>
          <a:p>
            <a:pPr algn="ctr"/>
            <a:r>
              <a:rPr lang="ko-KR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연구질문</a:t>
            </a:r>
          </a:p>
        </p:txBody>
      </p:sp>
      <p:sp>
        <p:nvSpPr>
          <p:cNvPr id="302" name="gc303"/>
          <p:cNvSpPr/>
          <p:nvPr/>
        </p:nvSpPr>
        <p:spPr>
          <a:xfrm>
            <a:off x="8801100" y="2362200"/>
            <a:ext cx="1308100" cy="558800"/>
          </a:xfrm>
          <a:prstGeom prst="rect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txBody>
          <a:bodyPr lIns="9000" rIns="9000" rtlCol="0" anchor="ctr">
            <a:normAutofit/>
          </a:bodyPr>
          <a:lstStyle/>
          <a:p>
            <a:pPr algn="ctr"/>
            <a:r>
              <a:rPr lang="ko-KR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</a:p>
        </p:txBody>
      </p:sp>
      <p:sp>
        <p:nvSpPr>
          <p:cNvPr id="303" name="gc304"/>
          <p:cNvSpPr/>
          <p:nvPr/>
        </p:nvSpPr>
        <p:spPr>
          <a:xfrm>
            <a:off x="10109200" y="2362200"/>
            <a:ext cx="1320800" cy="558800"/>
          </a:xfrm>
          <a:prstGeom prst="rect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txBody>
          <a:bodyPr lIns="9000" rIns="9000" rtlCol="0" anchor="ctr">
            <a:normAutofit/>
          </a:bodyPr>
          <a:lstStyle/>
          <a:p>
            <a:pPr algn="ctr"/>
            <a:r>
              <a:rPr lang="ko-KR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</a:p>
        </p:txBody>
      </p:sp>
      <p:sp>
        <p:nvSpPr>
          <p:cNvPr id="304" name="gc305"/>
          <p:cNvSpPr/>
          <p:nvPr/>
        </p:nvSpPr>
        <p:spPr>
          <a:xfrm>
            <a:off x="6604000" y="2921000"/>
            <a:ext cx="889000" cy="914400"/>
          </a:xfrm>
          <a:prstGeom prst="rect">
            <a:avLst/>
          </a:prstGeom>
          <a:solidFill>
            <a:srgbClr val="31507A"/>
          </a:solidFill>
          <a:ln w="19050">
            <a:solidFill>
              <a:srgbClr val="FFFFFF"/>
            </a:solidFill>
          </a:ln>
        </p:spPr>
        <p:txBody>
          <a:bodyPr lIns="9000" rIns="9000" rtlCol="0" anchor="ctr">
            <a:normAutofit/>
          </a:bodyPr>
          <a:lstStyle/>
          <a:p>
            <a:pPr algn="ctr"/>
            <a:r>
              <a:rPr lang="ko-KR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A</a:t>
            </a:r>
          </a:p>
        </p:txBody>
      </p:sp>
      <p:sp>
        <p:nvSpPr>
          <p:cNvPr id="305" name="gc306"/>
          <p:cNvSpPr/>
          <p:nvPr/>
        </p:nvSpPr>
        <p:spPr>
          <a:xfrm>
            <a:off x="7493000" y="2921000"/>
            <a:ext cx="1308100" cy="914400"/>
          </a:xfrm>
          <a:prstGeom prst="rect">
            <a:avLst/>
          </a:prstGeom>
          <a:solidFill>
            <a:srgbClr val="F7F4EE"/>
          </a:solidFill>
          <a:ln w="19050">
            <a:solidFill>
              <a:srgbClr val="FFFFFF"/>
            </a:solidFill>
          </a:ln>
        </p:spPr>
        <p:txBody>
          <a:bodyPr lIns="9000" rIns="9000" rtlCol="0" anchor="ctr">
            <a:normAutofit/>
          </a:bodyPr>
          <a:lstStyle/>
          <a:p>
            <a:pPr algn="ctr"/>
            <a:endParaRPr lang="ko-KR"/>
          </a:p>
        </p:txBody>
      </p:sp>
      <p:sp>
        <p:nvSpPr>
          <p:cNvPr id="306" name="gc307"/>
          <p:cNvSpPr/>
          <p:nvPr/>
        </p:nvSpPr>
        <p:spPr>
          <a:xfrm>
            <a:off x="8070850" y="3302000"/>
            <a:ext cx="152400" cy="1524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7" name="gc308"/>
          <p:cNvSpPr/>
          <p:nvPr/>
        </p:nvSpPr>
        <p:spPr>
          <a:xfrm>
            <a:off x="8801100" y="2921000"/>
            <a:ext cx="1308100" cy="914400"/>
          </a:xfrm>
          <a:prstGeom prst="rect">
            <a:avLst/>
          </a:prstGeom>
          <a:solidFill>
            <a:srgbClr val="EEF1F6"/>
          </a:solidFill>
          <a:ln w="19050">
            <a:solidFill>
              <a:srgbClr val="FFFFFF"/>
            </a:solidFill>
          </a:ln>
        </p:spPr>
        <p:txBody>
          <a:bodyPr lIns="9000" rIns="9000" rtlCol="0" anchor="ctr">
            <a:normAutofit/>
          </a:bodyPr>
          <a:lstStyle/>
          <a:p>
            <a:pPr algn="ctr"/>
            <a:endParaRPr lang="ko-KR"/>
          </a:p>
        </p:txBody>
      </p:sp>
      <p:sp>
        <p:nvSpPr>
          <p:cNvPr id="308" name="gc309"/>
          <p:cNvSpPr/>
          <p:nvPr/>
        </p:nvSpPr>
        <p:spPr>
          <a:xfrm>
            <a:off x="9378950" y="3302000"/>
            <a:ext cx="152400" cy="1524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9" name="gc310"/>
          <p:cNvSpPr/>
          <p:nvPr/>
        </p:nvSpPr>
        <p:spPr>
          <a:xfrm>
            <a:off x="10109200" y="2921000"/>
            <a:ext cx="1320800" cy="914400"/>
          </a:xfrm>
          <a:prstGeom prst="rect">
            <a:avLst/>
          </a:prstGeom>
          <a:solidFill>
            <a:srgbClr val="F7F4EE"/>
          </a:solidFill>
          <a:ln w="19050">
            <a:solidFill>
              <a:srgbClr val="FFFFFF"/>
            </a:solidFill>
          </a:ln>
        </p:spPr>
        <p:txBody>
          <a:bodyPr lIns="9000" rIns="9000" rtlCol="0" anchor="ctr">
            <a:normAutofit/>
          </a:bodyPr>
          <a:lstStyle/>
          <a:p>
            <a:pPr algn="ctr"/>
            <a:endParaRPr lang="ko-KR"/>
          </a:p>
        </p:txBody>
      </p:sp>
      <p:sp>
        <p:nvSpPr>
          <p:cNvPr id="310" name="gc311"/>
          <p:cNvSpPr/>
          <p:nvPr/>
        </p:nvSpPr>
        <p:spPr>
          <a:xfrm>
            <a:off x="10693400" y="3302000"/>
            <a:ext cx="152400" cy="1524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11" name="gc312"/>
          <p:cNvSpPr/>
          <p:nvPr/>
        </p:nvSpPr>
        <p:spPr>
          <a:xfrm>
            <a:off x="6604000" y="3835400"/>
            <a:ext cx="889000" cy="914400"/>
          </a:xfrm>
          <a:prstGeom prst="rect">
            <a:avLst/>
          </a:prstGeom>
          <a:solidFill>
            <a:srgbClr val="31507A"/>
          </a:solidFill>
          <a:ln w="19050">
            <a:solidFill>
              <a:srgbClr val="FFFFFF"/>
            </a:solidFill>
          </a:ln>
        </p:spPr>
        <p:txBody>
          <a:bodyPr lIns="9000" rIns="9000" rtlCol="0" anchor="ctr">
            <a:normAutofit/>
          </a:bodyPr>
          <a:lstStyle/>
          <a:p>
            <a:pPr algn="ctr"/>
            <a:r>
              <a:rPr lang="ko-KR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B</a:t>
            </a:r>
          </a:p>
        </p:txBody>
      </p:sp>
      <p:sp>
        <p:nvSpPr>
          <p:cNvPr id="312" name="gc313"/>
          <p:cNvSpPr/>
          <p:nvPr/>
        </p:nvSpPr>
        <p:spPr>
          <a:xfrm>
            <a:off x="7493000" y="3835400"/>
            <a:ext cx="1308100" cy="914400"/>
          </a:xfrm>
          <a:prstGeom prst="rect">
            <a:avLst/>
          </a:prstGeom>
          <a:solidFill>
            <a:srgbClr val="EEF1F6"/>
          </a:solidFill>
          <a:ln w="19050">
            <a:solidFill>
              <a:srgbClr val="FFFFFF"/>
            </a:solidFill>
          </a:ln>
        </p:spPr>
        <p:txBody>
          <a:bodyPr lIns="9000" rIns="9000" rtlCol="0" anchor="ctr">
            <a:normAutofit/>
          </a:bodyPr>
          <a:lstStyle/>
          <a:p>
            <a:pPr algn="ctr"/>
            <a:endParaRPr lang="ko-KR"/>
          </a:p>
        </p:txBody>
      </p:sp>
      <p:sp>
        <p:nvSpPr>
          <p:cNvPr id="313" name="gc314"/>
          <p:cNvSpPr/>
          <p:nvPr/>
        </p:nvSpPr>
        <p:spPr>
          <a:xfrm>
            <a:off x="8070850" y="4216400"/>
            <a:ext cx="152400" cy="1524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14" name="gc315"/>
          <p:cNvSpPr/>
          <p:nvPr/>
        </p:nvSpPr>
        <p:spPr>
          <a:xfrm>
            <a:off x="8801100" y="3835400"/>
            <a:ext cx="1308100" cy="914400"/>
          </a:xfrm>
          <a:prstGeom prst="rect">
            <a:avLst/>
          </a:prstGeom>
          <a:solidFill>
            <a:srgbClr val="F7F4EE"/>
          </a:solidFill>
          <a:ln w="19050">
            <a:solidFill>
              <a:srgbClr val="FFFFFF"/>
            </a:solidFill>
          </a:ln>
        </p:spPr>
        <p:txBody>
          <a:bodyPr lIns="9000" rIns="9000" rtlCol="0" anchor="ctr">
            <a:normAutofit/>
          </a:bodyPr>
          <a:lstStyle/>
          <a:p>
            <a:pPr algn="ctr"/>
            <a:endParaRPr lang="ko-KR"/>
          </a:p>
        </p:txBody>
      </p:sp>
      <p:sp>
        <p:nvSpPr>
          <p:cNvPr id="315" name="gc316"/>
          <p:cNvSpPr/>
          <p:nvPr/>
        </p:nvSpPr>
        <p:spPr>
          <a:xfrm>
            <a:off x="9378950" y="4216400"/>
            <a:ext cx="152400" cy="1524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16" name="gc317"/>
          <p:cNvSpPr/>
          <p:nvPr/>
        </p:nvSpPr>
        <p:spPr>
          <a:xfrm>
            <a:off x="10109200" y="3835400"/>
            <a:ext cx="1320800" cy="914400"/>
          </a:xfrm>
          <a:prstGeom prst="rect">
            <a:avLst/>
          </a:prstGeom>
          <a:solidFill>
            <a:srgbClr val="EEF1F6"/>
          </a:solidFill>
          <a:ln w="19050">
            <a:solidFill>
              <a:srgbClr val="FFFFFF"/>
            </a:solidFill>
          </a:ln>
        </p:spPr>
        <p:txBody>
          <a:bodyPr lIns="9000" rIns="9000" rtlCol="0" anchor="ctr">
            <a:normAutofit/>
          </a:bodyPr>
          <a:lstStyle/>
          <a:p>
            <a:pPr algn="ctr"/>
            <a:endParaRPr lang="ko-KR"/>
          </a:p>
        </p:txBody>
      </p:sp>
      <p:sp>
        <p:nvSpPr>
          <p:cNvPr id="317" name="gc318"/>
          <p:cNvSpPr/>
          <p:nvPr/>
        </p:nvSpPr>
        <p:spPr>
          <a:xfrm>
            <a:off x="10693400" y="4216400"/>
            <a:ext cx="152400" cy="1524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18" name="gc319"/>
          <p:cNvSpPr/>
          <p:nvPr/>
        </p:nvSpPr>
        <p:spPr>
          <a:xfrm>
            <a:off x="6604000" y="4749800"/>
            <a:ext cx="889000" cy="914400"/>
          </a:xfrm>
          <a:prstGeom prst="rect">
            <a:avLst/>
          </a:prstGeom>
          <a:solidFill>
            <a:srgbClr val="31507A"/>
          </a:solidFill>
          <a:ln w="19050">
            <a:solidFill>
              <a:srgbClr val="FFFFFF"/>
            </a:solidFill>
          </a:ln>
        </p:spPr>
        <p:txBody>
          <a:bodyPr lIns="9000" rIns="9000" rtlCol="0" anchor="ctr">
            <a:normAutofit/>
          </a:bodyPr>
          <a:lstStyle/>
          <a:p>
            <a:pPr algn="ctr"/>
            <a:r>
              <a:rPr lang="ko-KR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C</a:t>
            </a:r>
          </a:p>
        </p:txBody>
      </p:sp>
      <p:sp>
        <p:nvSpPr>
          <p:cNvPr id="319" name="gc320"/>
          <p:cNvSpPr/>
          <p:nvPr/>
        </p:nvSpPr>
        <p:spPr>
          <a:xfrm>
            <a:off x="7493000" y="4749800"/>
            <a:ext cx="1308100" cy="914400"/>
          </a:xfrm>
          <a:prstGeom prst="rect">
            <a:avLst/>
          </a:prstGeom>
          <a:solidFill>
            <a:srgbClr val="F7F4EE"/>
          </a:solidFill>
          <a:ln w="19050">
            <a:solidFill>
              <a:srgbClr val="FFFFFF"/>
            </a:solidFill>
          </a:ln>
        </p:spPr>
        <p:txBody>
          <a:bodyPr lIns="9000" rIns="9000" rtlCol="0" anchor="ctr">
            <a:normAutofit/>
          </a:bodyPr>
          <a:lstStyle/>
          <a:p>
            <a:pPr algn="ctr"/>
            <a:endParaRPr lang="ko-KR"/>
          </a:p>
        </p:txBody>
      </p:sp>
      <p:sp>
        <p:nvSpPr>
          <p:cNvPr id="320" name="gc321"/>
          <p:cNvSpPr/>
          <p:nvPr/>
        </p:nvSpPr>
        <p:spPr>
          <a:xfrm>
            <a:off x="8070850" y="5130800"/>
            <a:ext cx="152400" cy="1524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21" name="gc322"/>
          <p:cNvSpPr/>
          <p:nvPr/>
        </p:nvSpPr>
        <p:spPr>
          <a:xfrm>
            <a:off x="8801100" y="4749800"/>
            <a:ext cx="1308100" cy="914400"/>
          </a:xfrm>
          <a:prstGeom prst="rect">
            <a:avLst/>
          </a:prstGeom>
          <a:solidFill>
            <a:srgbClr val="EEF1F6"/>
          </a:solidFill>
          <a:ln w="19050">
            <a:solidFill>
              <a:srgbClr val="FFFFFF"/>
            </a:solidFill>
          </a:ln>
        </p:spPr>
        <p:txBody>
          <a:bodyPr lIns="9000" rIns="9000" rtlCol="0" anchor="ctr">
            <a:normAutofit/>
          </a:bodyPr>
          <a:lstStyle/>
          <a:p>
            <a:pPr algn="ctr"/>
            <a:endParaRPr lang="ko-KR"/>
          </a:p>
        </p:txBody>
      </p:sp>
      <p:sp>
        <p:nvSpPr>
          <p:cNvPr id="322" name="gc323"/>
          <p:cNvSpPr/>
          <p:nvPr/>
        </p:nvSpPr>
        <p:spPr>
          <a:xfrm>
            <a:off x="9378950" y="5130800"/>
            <a:ext cx="152400" cy="1524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23" name="gc324"/>
          <p:cNvSpPr/>
          <p:nvPr/>
        </p:nvSpPr>
        <p:spPr>
          <a:xfrm>
            <a:off x="10109200" y="4749800"/>
            <a:ext cx="1320800" cy="914400"/>
          </a:xfrm>
          <a:prstGeom prst="rect">
            <a:avLst/>
          </a:prstGeom>
          <a:solidFill>
            <a:srgbClr val="F7F4EE"/>
          </a:solidFill>
          <a:ln w="19050">
            <a:solidFill>
              <a:srgbClr val="FFFFFF"/>
            </a:solidFill>
          </a:ln>
        </p:spPr>
        <p:txBody>
          <a:bodyPr lIns="9000" rIns="9000" rtlCol="0" anchor="ctr">
            <a:normAutofit/>
          </a:bodyPr>
          <a:lstStyle/>
          <a:p>
            <a:pPr algn="ctr"/>
            <a:endParaRPr lang="ko-KR"/>
          </a:p>
        </p:txBody>
      </p:sp>
      <p:sp>
        <p:nvSpPr>
          <p:cNvPr id="324" name="gc325"/>
          <p:cNvSpPr/>
          <p:nvPr/>
        </p:nvSpPr>
        <p:spPr>
          <a:xfrm>
            <a:off x="10693400" y="5130800"/>
            <a:ext cx="152400" cy="1524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577382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원칙: 분석틀 먼저 고정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 스킴 확정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추출에 앞서 각 항목의 조작적 정의(coding scheme)를 먼저 확정한다.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 적용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문헌에 동일한 정의를 적용해 항목 간 비교 가능성을 담보한다.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타당성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정의가 흔들리면 비교의 구성타당도가 붕괴하므로 분석틀을 우선 고정한다.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dn202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코딩 스킴(항목 정의) 확정</a:t>
            </a:r>
          </a:p>
        </p:txBody>
      </p:sp>
      <p:sp>
        <p:nvSpPr>
          <p:cNvPr id="202" name="ar203"/>
          <p:cNvSpPr/>
          <p:nvPr/>
        </p:nvSpPr>
        <p:spPr>
          <a:xfrm>
            <a:off x="8813800" y="3556000"/>
            <a:ext cx="3048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모든 문헌에 동일 적용</a:t>
            </a:r>
          </a:p>
        </p:txBody>
      </p:sp>
      <p:sp>
        <p:nvSpPr>
          <p:cNvPr id="204" name="ar205"/>
          <p:cNvSpPr/>
          <p:nvPr/>
        </p:nvSpPr>
        <p:spPr>
          <a:xfrm>
            <a:off x="8813800" y="4470400"/>
            <a:ext cx="3048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5" name="dn206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9C4221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비교 타당성 확보</a:t>
            </a:r>
          </a:p>
        </p:txBody>
      </p:sp>
      <p:pic>
        <p:nvPicPr>
          <p:cNvPr id="206" name="Graphic 2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283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 1 — 추출(Extraction)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업로드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논문 원문을 파일로 업로드해 분석 대상으로 지정한다.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항목 추출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확정한 분석틀에 따라 논문별로 동일 항목을 추출하도록 지시한다.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병기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추출값의 출처가 된 원문 문장을 함께 제시하도록 요청한다.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ar202"/>
          <p:cNvSpPr/>
          <p:nvPr/>
        </p:nvSpPr>
        <p:spPr>
          <a:xfrm>
            <a:off x="8801100" y="35560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ar203"/>
          <p:cNvSpPr/>
          <p:nvPr/>
        </p:nvSpPr>
        <p:spPr>
          <a:xfrm>
            <a:off x="8801100" y="44704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dn204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업로드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항목 추출</a:t>
            </a:r>
          </a:p>
        </p:txBody>
      </p:sp>
      <p:sp>
        <p:nvSpPr>
          <p:cNvPr id="205" name="dn206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문장 병기</a:t>
            </a:r>
          </a:p>
        </p:txBody>
      </p:sp>
      <p:pic>
        <p:nvPicPr>
          <p:cNvPr id="206" name="Graphic 2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71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 2 — 통합(Synthesis)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비교표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항목을 열로 하여 복수 논문의 추출 결과를 하나의 비교표로 통합한다.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 확장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이론틀·측정도구 등 분석에 필요한 비교 차원을 추가로 편성한다.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 일관성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표기·단위·서술 방식의 일관성을 유지해 비교 가독성을 확보한다.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ar202"/>
          <p:cNvSpPr/>
          <p:nvPr/>
        </p:nvSpPr>
        <p:spPr>
          <a:xfrm>
            <a:off x="8801100" y="35560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ar203"/>
          <p:cNvSpPr/>
          <p:nvPr/>
        </p:nvSpPr>
        <p:spPr>
          <a:xfrm>
            <a:off x="8801100" y="44704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dn204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추출값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비교표 통합</a:t>
            </a:r>
          </a:p>
        </p:txBody>
      </p:sp>
      <p:sp>
        <p:nvSpPr>
          <p:cNvPr id="205" name="dn206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 일관성 유지</a:t>
            </a:r>
          </a:p>
        </p:txBody>
      </p:sp>
      <p:pic>
        <p:nvPicPr>
          <p:cNvPr id="206" name="Graphic 2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658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 3 — 검증(Verification)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 대조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수치·인용·표본 규모를 원문과 직접 대조해 추출 정확성을 확인한다.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오추출 점검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환각·항목 혼동 등 추출 오류를 항목별로 점검한다.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 처리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문헌량이 많으면 배치로 분할 추출한 뒤 통합해 안정성을 확보한다.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ar202"/>
          <p:cNvSpPr/>
          <p:nvPr/>
        </p:nvSpPr>
        <p:spPr>
          <a:xfrm>
            <a:off x="8801100" y="35560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ar203"/>
          <p:cNvSpPr/>
          <p:nvPr/>
        </p:nvSpPr>
        <p:spPr>
          <a:xfrm>
            <a:off x="8801100" y="44704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dn204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수치·인용 원문 대조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9C4221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환각·오추출 점검</a:t>
            </a:r>
          </a:p>
        </p:txBody>
      </p:sp>
      <p:sp>
        <p:nvSpPr>
          <p:cNvPr id="205" name="dn206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 분할·통합</a:t>
            </a:r>
          </a:p>
        </p:txBody>
      </p:sp>
      <p:pic>
        <p:nvPicPr>
          <p:cNvPr id="206" name="Graphic 2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05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예시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비교표 형태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A·B·C를 행, 분석 항목을 열로 하는 매트릭스로 정리된다.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포함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셀에 핵심 내용과 그 근거가 된 원문 문장을 병기한다.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동향 파악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간 방법·결과의 공통점과 차이를 한눈에 조망할 수 있다.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A·B·C × 항목 표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칸마다 근거 문장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동향 한눈에 파악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916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예제: 논문 PDF 리뷰 매트릭스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175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논문 PDF 2편 → 항목별 비교표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체계적 문헌고찰 보조 분석가로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첨부한 논문 PDF 2편을 분석 대상으로 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연구질문·방법·표본·결과·한계를 추출한다.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행=논문, 열=5항목 표. 칸마다 근거 문장 1개.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원문에 없으면 "명시 안 됨". 수치는 원문 그대로.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1750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기대 출력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2×5 비교표(근거 문장 포함)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| 논문 | 연구질문 | 방법 | …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수치·표본 원문 대조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칸마다 근거 문장 존재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누락 = "명시 안 됨" 표기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파일 업로드 → 표 생성 → 원문 대조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재사용 비교 시트</a:t>
            </a:r>
          </a:p>
        </p:txBody>
      </p:sp>
    </p:spTree>
    <p:extLst>
      <p:ext uri="{BB962C8B-B14F-4D97-AF65-F5344CB8AC3E}">
        <p14:creationId xmlns:p14="http://schemas.microsoft.com/office/powerpoint/2010/main" val="2740206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&amp; 산출물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연구 분야의 논문 2~3편으로 리뷰 매트릭스를 작성한다.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정의가 표준화된, 재사용 가능한 비교 시트를 완성한다.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ar202"/>
          <p:cNvSpPr/>
          <p:nvPr/>
        </p:nvSpPr>
        <p:spPr>
          <a:xfrm>
            <a:off x="8801100" y="35560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ar203"/>
          <p:cNvSpPr/>
          <p:nvPr/>
        </p:nvSpPr>
        <p:spPr>
          <a:xfrm>
            <a:off x="8801100" y="44704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dn204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2~3편 선정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매트릭스 작성</a:t>
            </a:r>
          </a:p>
        </p:txBody>
      </p:sp>
      <p:sp>
        <p:nvSpPr>
          <p:cNvPr id="205" name="dn206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 비교 시트</a:t>
            </a:r>
          </a:p>
        </p:txBody>
      </p:sp>
      <p:pic>
        <p:nvPicPr>
          <p:cNvPr id="206" name="Graphic 2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12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· 2교시 — 문헌 코딩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심화: 대량 문헌·코딩 신뢰도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기법 — 대량·일관 추출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문헌 10편+ 일괄 추출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[배치]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3~4편씩 나눠 추출 후 통합한다.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[스키마 고정]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정의를 프롬프트 상단에 고정한다.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[근거 강제]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칸마다 원문 인용 1개를 요구한다.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[교차 점검]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논문 2회 추출 후 일치를 확인한다.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불일치는 "재확인"으로 표기한다.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효과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일관·재현 가능한 추출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코딩 스킴 → 동일 적용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점검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항목 정의 일관성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칸별 인용 존재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2회 추출 일치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배치별 표를 하나로 통합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표준 코딩 시트</a:t>
            </a:r>
          </a:p>
        </p:txBody>
      </p:sp>
    </p:spTree>
    <p:extLst>
      <p:ext uri="{BB962C8B-B14F-4D97-AF65-F5344CB8AC3E}">
        <p14:creationId xmlns:p14="http://schemas.microsoft.com/office/powerpoint/2010/main" val="3222772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3교시  ·  13:00–13:50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학술 글쓰기 &amp; 영문 초록·교정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초록을 목적·방법·결과·함의의 표준 구조로 재구성한다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 표현을 학술 영어 규범에 맞게 교정하고 어조를 조정한다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 전개·중복·응집성을 점검하여 가독성을 향상한다</a:t>
            </a:r>
            <a:endParaRPr lang="en-US" sz="15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BE66170-64E9-D724-10E1-332269A9DAAB}"/>
              </a:ext>
            </a:extLst>
          </p:cNvPr>
          <p:cNvGrpSpPr/>
          <p:nvPr/>
        </p:nvGrpSpPr>
        <p:grpSpPr>
          <a:xfrm>
            <a:off x="10566426" y="631351"/>
            <a:ext cx="1117600" cy="1117600"/>
            <a:chOff x="10115666" y="1808408"/>
            <a:chExt cx="1117600" cy="1117600"/>
          </a:xfrm>
        </p:grpSpPr>
        <p:sp>
          <p:nvSpPr>
            <p:cNvPr id="6" name="csq">
              <a:extLst>
                <a:ext uri="{FF2B5EF4-FFF2-40B4-BE49-F238E27FC236}">
                  <a16:creationId xmlns:a16="http://schemas.microsoft.com/office/drawing/2014/main" id="{5496C748-F736-ADCB-DE80-2BD3C6F1C32F}"/>
                </a:ext>
              </a:extLst>
            </p:cNvPr>
            <p:cNvSpPr/>
            <p:nvPr/>
          </p:nvSpPr>
          <p:spPr>
            <a:xfrm>
              <a:off x="10115666" y="1808408"/>
              <a:ext cx="1117600" cy="1117600"/>
            </a:xfrm>
            <a:prstGeom prst="roundRect">
              <a:avLst>
                <a:gd name="adj" fmla="val 24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C941EE8-50AE-44B5-D7DC-D8E2DA74E998}"/>
                </a:ext>
              </a:extLst>
            </p:cNvPr>
            <p:cNvGrpSpPr/>
            <p:nvPr/>
          </p:nvGrpSpPr>
          <p:grpSpPr>
            <a:xfrm>
              <a:off x="10205720" y="1887220"/>
              <a:ext cx="921626" cy="921626"/>
              <a:chOff x="10439400" y="914400"/>
              <a:chExt cx="711200" cy="711200"/>
            </a:xfrm>
          </p:grpSpPr>
          <p:sp>
            <p:nvSpPr>
              <p:cNvPr id="8" name="cr0">
                <a:extLst>
                  <a:ext uri="{FF2B5EF4-FFF2-40B4-BE49-F238E27FC236}">
                    <a16:creationId xmlns:a16="http://schemas.microsoft.com/office/drawing/2014/main" id="{5D8B3A2E-7D0D-3566-760F-8448B7FC8563}"/>
                  </a:ext>
                </a:extLst>
              </p:cNvPr>
              <p:cNvSpPr/>
              <p:nvPr/>
            </p:nvSpPr>
            <p:spPr>
              <a:xfrm>
                <a:off x="10763250" y="914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" name="cr1">
                <a:extLst>
                  <a:ext uri="{FF2B5EF4-FFF2-40B4-BE49-F238E27FC236}">
                    <a16:creationId xmlns:a16="http://schemas.microsoft.com/office/drawing/2014/main" id="{3497B435-33C8-ED78-8C6B-BA5AB1F3D3D3}"/>
                  </a:ext>
                </a:extLst>
              </p:cNvPr>
              <p:cNvSpPr/>
              <p:nvPr/>
            </p:nvSpPr>
            <p:spPr>
              <a:xfrm rot="1800000">
                <a:off x="108585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0" name="cr2">
                <a:extLst>
                  <a:ext uri="{FF2B5EF4-FFF2-40B4-BE49-F238E27FC236}">
                    <a16:creationId xmlns:a16="http://schemas.microsoft.com/office/drawing/2014/main" id="{0E026899-C894-E11F-87F1-30E4CCD35B34}"/>
                  </a:ext>
                </a:extLst>
              </p:cNvPr>
              <p:cNvSpPr/>
              <p:nvPr/>
            </p:nvSpPr>
            <p:spPr>
              <a:xfrm rot="3600000">
                <a:off x="10928228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1" name="cr3">
                <a:extLst>
                  <a:ext uri="{FF2B5EF4-FFF2-40B4-BE49-F238E27FC236}">
                    <a16:creationId xmlns:a16="http://schemas.microsoft.com/office/drawing/2014/main" id="{8D896E80-DDE1-B112-EFFA-659058ACE8F9}"/>
                  </a:ext>
                </a:extLst>
              </p:cNvPr>
              <p:cNvSpPr/>
              <p:nvPr/>
            </p:nvSpPr>
            <p:spPr>
              <a:xfrm rot="5400000">
                <a:off x="10953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2" name="cr4">
                <a:extLst>
                  <a:ext uri="{FF2B5EF4-FFF2-40B4-BE49-F238E27FC236}">
                    <a16:creationId xmlns:a16="http://schemas.microsoft.com/office/drawing/2014/main" id="{8FA1E1BB-1515-A044-15A7-06F2F6C29EAF}"/>
                  </a:ext>
                </a:extLst>
              </p:cNvPr>
              <p:cNvSpPr/>
              <p:nvPr/>
            </p:nvSpPr>
            <p:spPr>
              <a:xfrm rot="7200000">
                <a:off x="10928228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3" name="cr5">
                <a:extLst>
                  <a:ext uri="{FF2B5EF4-FFF2-40B4-BE49-F238E27FC236}">
                    <a16:creationId xmlns:a16="http://schemas.microsoft.com/office/drawing/2014/main" id="{0241EBB0-ACC9-9ABB-D3D7-734AF7E5425F}"/>
                  </a:ext>
                </a:extLst>
              </p:cNvPr>
              <p:cNvSpPr/>
              <p:nvPr/>
            </p:nvSpPr>
            <p:spPr>
              <a:xfrm rot="9000000">
                <a:off x="108585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4" name="cr6">
                <a:extLst>
                  <a:ext uri="{FF2B5EF4-FFF2-40B4-BE49-F238E27FC236}">
                    <a16:creationId xmlns:a16="http://schemas.microsoft.com/office/drawing/2014/main" id="{7AEDE4FE-5475-002A-7FB5-C03783917F3C}"/>
                  </a:ext>
                </a:extLst>
              </p:cNvPr>
              <p:cNvSpPr/>
              <p:nvPr/>
            </p:nvSpPr>
            <p:spPr>
              <a:xfrm rot="10800000">
                <a:off x="10763250" y="1295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5" name="cr7">
                <a:extLst>
                  <a:ext uri="{FF2B5EF4-FFF2-40B4-BE49-F238E27FC236}">
                    <a16:creationId xmlns:a16="http://schemas.microsoft.com/office/drawing/2014/main" id="{1C08DB3E-2AE3-81B7-65B4-D9768EABB5EB}"/>
                  </a:ext>
                </a:extLst>
              </p:cNvPr>
              <p:cNvSpPr/>
              <p:nvPr/>
            </p:nvSpPr>
            <p:spPr>
              <a:xfrm rot="12600000">
                <a:off x="106680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6" name="cr8">
                <a:extLst>
                  <a:ext uri="{FF2B5EF4-FFF2-40B4-BE49-F238E27FC236}">
                    <a16:creationId xmlns:a16="http://schemas.microsoft.com/office/drawing/2014/main" id="{88AC1E54-16AE-41A7-A5D8-21E2E633A1DC}"/>
                  </a:ext>
                </a:extLst>
              </p:cNvPr>
              <p:cNvSpPr/>
              <p:nvPr/>
            </p:nvSpPr>
            <p:spPr>
              <a:xfrm rot="14400000">
                <a:off x="10598272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7" name="cr9">
                <a:extLst>
                  <a:ext uri="{FF2B5EF4-FFF2-40B4-BE49-F238E27FC236}">
                    <a16:creationId xmlns:a16="http://schemas.microsoft.com/office/drawing/2014/main" id="{E6F88FA3-40CA-A4D8-DD78-E656DD1DC624}"/>
                  </a:ext>
                </a:extLst>
              </p:cNvPr>
              <p:cNvSpPr/>
              <p:nvPr/>
            </p:nvSpPr>
            <p:spPr>
              <a:xfrm rot="16200000">
                <a:off x="10572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8" name="cr10">
                <a:extLst>
                  <a:ext uri="{FF2B5EF4-FFF2-40B4-BE49-F238E27FC236}">
                    <a16:creationId xmlns:a16="http://schemas.microsoft.com/office/drawing/2014/main" id="{4A8141D5-2343-E259-29B2-4B50E047F1B6}"/>
                  </a:ext>
                </a:extLst>
              </p:cNvPr>
              <p:cNvSpPr/>
              <p:nvPr/>
            </p:nvSpPr>
            <p:spPr>
              <a:xfrm rot="18000000">
                <a:off x="10598272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9" name="cr11">
                <a:extLst>
                  <a:ext uri="{FF2B5EF4-FFF2-40B4-BE49-F238E27FC236}">
                    <a16:creationId xmlns:a16="http://schemas.microsoft.com/office/drawing/2014/main" id="{9F9D5B95-D490-D79C-AABC-5230754B7C57}"/>
                  </a:ext>
                </a:extLst>
              </p:cNvPr>
              <p:cNvSpPr/>
              <p:nvPr/>
            </p:nvSpPr>
            <p:spPr>
              <a:xfrm rot="19800000">
                <a:off x="106680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학술 글쓰기와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보조와 대필의 경계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표현·구성의 교정 보조 도구이며, 학술적 주장의 저자는 연구자 자신이다.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신속한 피드백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문법·표현·논리 구성에 대한 피드백을 빠르게 받아 퇴고 주기를 단축한다.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저자 책임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사실관계와 학술적 판단의 정당성은 전적으로 저자에게 귀속된다.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보조 vs 대필 경계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신속한 피드백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저자 책임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26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초록의 표준 구조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4부 구조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 → 방법 → 결과 → 함의의 표준 흐름으로 초록을 구성한다.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압축 서술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부를 1~2문장으로 압축해 핵심 정보만 명료하게 제시한다.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 고려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심사자와 비전공 독자가 모두 이해할 수 있는 수준으로 표현을 조정한다.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ar202"/>
          <p:cNvSpPr/>
          <p:nvPr/>
        </p:nvSpPr>
        <p:spPr>
          <a:xfrm>
            <a:off x="8801100" y="3492500"/>
            <a:ext cx="330200" cy="1524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ar203"/>
          <p:cNvSpPr/>
          <p:nvPr/>
        </p:nvSpPr>
        <p:spPr>
          <a:xfrm>
            <a:off x="8801100" y="4229100"/>
            <a:ext cx="330200" cy="1524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ar204"/>
          <p:cNvSpPr/>
          <p:nvPr/>
        </p:nvSpPr>
        <p:spPr>
          <a:xfrm>
            <a:off x="8801100" y="4965700"/>
            <a:ext cx="330200" cy="1524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4" name="dn205"/>
          <p:cNvSpPr/>
          <p:nvPr/>
        </p:nvSpPr>
        <p:spPr>
          <a:xfrm>
            <a:off x="7061200" y="2870200"/>
            <a:ext cx="3810000" cy="6096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</a:p>
        </p:txBody>
      </p:sp>
      <p:sp>
        <p:nvSpPr>
          <p:cNvPr id="205" name="dn206"/>
          <p:cNvSpPr/>
          <p:nvPr/>
        </p:nvSpPr>
        <p:spPr>
          <a:xfrm>
            <a:off x="7061200" y="3606800"/>
            <a:ext cx="3810000" cy="6096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</a:p>
        </p:txBody>
      </p:sp>
      <p:sp>
        <p:nvSpPr>
          <p:cNvPr id="206" name="dn207"/>
          <p:cNvSpPr/>
          <p:nvPr/>
        </p:nvSpPr>
        <p:spPr>
          <a:xfrm>
            <a:off x="7061200" y="4343400"/>
            <a:ext cx="3810000" cy="6096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</a:p>
        </p:txBody>
      </p:sp>
      <p:sp>
        <p:nvSpPr>
          <p:cNvPr id="207" name="dn208"/>
          <p:cNvSpPr/>
          <p:nvPr/>
        </p:nvSpPr>
        <p:spPr>
          <a:xfrm>
            <a:off x="7061200" y="5080000"/>
            <a:ext cx="3810000" cy="6096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함의</a:t>
            </a:r>
          </a:p>
        </p:txBody>
      </p:sp>
      <p:pic>
        <p:nvPicPr>
          <p:cNvPr id="208" name="Graphic 20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577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 요청의 명세화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지정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문법 교정·간결화·학술 어조 조정 등 교정의 범위를 명확히 한정한다.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독자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심사자·비전공 독자 등 목표 독자를 지정해 어조와 난이도를 맞춘다.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추적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지점과 그 사유를 함께 표기하도록 요구해 검토 가능성을 확보한다.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지정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독자 지정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지점 추적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282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 교정의 유의점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뉘앙스 변동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 과정에서 인과의 강도나 함의가 바뀔 수 있어 의미 보존을 반드시 점검한다.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과대주장 완화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넘어서는 단정적 표현을 헤지(hedging) 표현으로 조정한다.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유지 명시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"원 의미를 유지하라"는 제약을 프롬프트에 명시해 왜곡을 방지한다.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9C4221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뉘앙스 변동 주의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9C4221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과대주장 완화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유지 명시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82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시연: Before → After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재구성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원초록을 목적·방법·결과·함의의 4부 구조로 재배열한다.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사유 확인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 메모를 통해 각 수정의 근거와 의도를 확인한다.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변동 점검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의미가 바뀔 위험이 있는 지점을 경고로 표시하고 저자가 검토한다.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ar202"/>
          <p:cNvSpPr/>
          <p:nvPr/>
        </p:nvSpPr>
        <p:spPr>
          <a:xfrm>
            <a:off x="8801100" y="35560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ar203"/>
          <p:cNvSpPr/>
          <p:nvPr/>
        </p:nvSpPr>
        <p:spPr>
          <a:xfrm>
            <a:off x="8801100" y="44704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dn204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원초록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4부 구조 재구성</a:t>
            </a:r>
          </a:p>
        </p:txBody>
      </p:sp>
      <p:sp>
        <p:nvSpPr>
          <p:cNvPr id="205" name="dn206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사유 검토</a:t>
            </a:r>
          </a:p>
        </p:txBody>
      </p:sp>
      <p:pic>
        <p:nvPicPr>
          <p:cNvPr id="206" name="Graphic 2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847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예제: 초록 4부 구조화·영문 교정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175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영문 초록 초안 → 4부 구조·교정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 학술지의 영문 에디터로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아래는 내 초록 초안(영문)이다: "…"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목적·방법·결과·함의 4부로 재구성·교정한다.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교정본 + 변경 사유 메모(표).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보존. 과대주장 완화. 사실 추가 금지.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1750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기대 출력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4부 구조 초록 + 변경 메모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Purpose / Methods / Results / …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의미 변동 지점 확인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과대주장 완화 여부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4부 구조·문체 충족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교정본을 원문과 나란히 비교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확정 초록 + 사유 메모</a:t>
            </a:r>
          </a:p>
        </p:txBody>
      </p:sp>
    </p:spTree>
    <p:extLst>
      <p:ext uri="{BB962C8B-B14F-4D97-AF65-F5344CB8AC3E}">
        <p14:creationId xmlns:p14="http://schemas.microsoft.com/office/powerpoint/2010/main" val="4133986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&amp; 산출물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초록을 표준 구조로 재구성하고 영문 표현을 학술 규범에 맞게 교정한다.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 사유 메모를 검토해 최종 확정한 구조화·교정 완료 초록.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ar202"/>
          <p:cNvSpPr/>
          <p:nvPr/>
        </p:nvSpPr>
        <p:spPr>
          <a:xfrm>
            <a:off x="8801100" y="35560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ar203"/>
          <p:cNvSpPr/>
          <p:nvPr/>
        </p:nvSpPr>
        <p:spPr>
          <a:xfrm>
            <a:off x="8801100" y="44704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dn204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 구조화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교정</a:t>
            </a:r>
          </a:p>
        </p:txBody>
      </p:sp>
      <p:sp>
        <p:nvSpPr>
          <p:cNvPr id="205" name="dn206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후 확정</a:t>
            </a:r>
          </a:p>
        </p:txBody>
      </p:sp>
      <p:pic>
        <p:nvPicPr>
          <p:cNvPr id="206" name="Graphic 2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01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· 3교시 — 투고·심사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심화: 저널 맞춤 교정·리비전 레터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기법 — 투고·심사 대응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저널 투고와 심사 대응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[규정 주입]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저널 가이드(단어수·구조)를 맥락에 제공한다.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[리비전 레터]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심사평 → 대응표 → 수정문을 생성한다.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[톤 조정]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정중·전문 어조를 지정한다.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[변경 추적]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지점·사유를 표기하게 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보존, 과대주장은 완화한다.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효과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투고·재심 효율 향상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Reviewer 1 → point-by-point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점검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저널 규정 충족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심사 코멘트 누락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의미 변동 지점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저널 규정과 대조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리비전 레터 초안</a:t>
            </a:r>
          </a:p>
        </p:txBody>
      </p:sp>
    </p:spTree>
    <p:extLst>
      <p:ext uri="{BB962C8B-B14F-4D97-AF65-F5344CB8AC3E}">
        <p14:creationId xmlns:p14="http://schemas.microsoft.com/office/powerpoint/2010/main" val="38128356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4교시  ·  14:00–14:50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 리포트 작성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구조와 기술통계(descriptive statistics)를 요약하도록 지시한다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결과를 해석하는 서술 문단을 생성한다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요약–방법–결과–시사점 구조의 분석 리포트를 설계한다</a:t>
            </a:r>
            <a:endParaRPr lang="en-US" sz="15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9C7BC06-3B88-2A1C-DE05-82097B74003E}"/>
              </a:ext>
            </a:extLst>
          </p:cNvPr>
          <p:cNvGrpSpPr/>
          <p:nvPr/>
        </p:nvGrpSpPr>
        <p:grpSpPr>
          <a:xfrm>
            <a:off x="10566426" y="631351"/>
            <a:ext cx="1117600" cy="1117600"/>
            <a:chOff x="10115666" y="1808408"/>
            <a:chExt cx="1117600" cy="1117600"/>
          </a:xfrm>
        </p:grpSpPr>
        <p:sp>
          <p:nvSpPr>
            <p:cNvPr id="6" name="csq">
              <a:extLst>
                <a:ext uri="{FF2B5EF4-FFF2-40B4-BE49-F238E27FC236}">
                  <a16:creationId xmlns:a16="http://schemas.microsoft.com/office/drawing/2014/main" id="{208F0E74-EE6B-BC57-BC54-8FDB86F88AA5}"/>
                </a:ext>
              </a:extLst>
            </p:cNvPr>
            <p:cNvSpPr/>
            <p:nvPr/>
          </p:nvSpPr>
          <p:spPr>
            <a:xfrm>
              <a:off x="10115666" y="1808408"/>
              <a:ext cx="1117600" cy="1117600"/>
            </a:xfrm>
            <a:prstGeom prst="roundRect">
              <a:avLst>
                <a:gd name="adj" fmla="val 24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D771F4E-C652-ECB4-FE9F-957069F1209E}"/>
                </a:ext>
              </a:extLst>
            </p:cNvPr>
            <p:cNvGrpSpPr/>
            <p:nvPr/>
          </p:nvGrpSpPr>
          <p:grpSpPr>
            <a:xfrm>
              <a:off x="10205720" y="1887220"/>
              <a:ext cx="921626" cy="921626"/>
              <a:chOff x="10439400" y="914400"/>
              <a:chExt cx="711200" cy="711200"/>
            </a:xfrm>
          </p:grpSpPr>
          <p:sp>
            <p:nvSpPr>
              <p:cNvPr id="8" name="cr0">
                <a:extLst>
                  <a:ext uri="{FF2B5EF4-FFF2-40B4-BE49-F238E27FC236}">
                    <a16:creationId xmlns:a16="http://schemas.microsoft.com/office/drawing/2014/main" id="{EA909885-C500-FD93-B041-1CFC8385FB62}"/>
                  </a:ext>
                </a:extLst>
              </p:cNvPr>
              <p:cNvSpPr/>
              <p:nvPr/>
            </p:nvSpPr>
            <p:spPr>
              <a:xfrm>
                <a:off x="10763250" y="914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" name="cr1">
                <a:extLst>
                  <a:ext uri="{FF2B5EF4-FFF2-40B4-BE49-F238E27FC236}">
                    <a16:creationId xmlns:a16="http://schemas.microsoft.com/office/drawing/2014/main" id="{F45DCF67-66E2-D021-DE50-22D4785ADEA6}"/>
                  </a:ext>
                </a:extLst>
              </p:cNvPr>
              <p:cNvSpPr/>
              <p:nvPr/>
            </p:nvSpPr>
            <p:spPr>
              <a:xfrm rot="1800000">
                <a:off x="108585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0" name="cr2">
                <a:extLst>
                  <a:ext uri="{FF2B5EF4-FFF2-40B4-BE49-F238E27FC236}">
                    <a16:creationId xmlns:a16="http://schemas.microsoft.com/office/drawing/2014/main" id="{FEC833A0-6CAD-AD19-910C-28D7E5813D40}"/>
                  </a:ext>
                </a:extLst>
              </p:cNvPr>
              <p:cNvSpPr/>
              <p:nvPr/>
            </p:nvSpPr>
            <p:spPr>
              <a:xfrm rot="3600000">
                <a:off x="10928228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1" name="cr3">
                <a:extLst>
                  <a:ext uri="{FF2B5EF4-FFF2-40B4-BE49-F238E27FC236}">
                    <a16:creationId xmlns:a16="http://schemas.microsoft.com/office/drawing/2014/main" id="{41EA662B-A107-0D9B-D56D-7DC99C434E9F}"/>
                  </a:ext>
                </a:extLst>
              </p:cNvPr>
              <p:cNvSpPr/>
              <p:nvPr/>
            </p:nvSpPr>
            <p:spPr>
              <a:xfrm rot="5400000">
                <a:off x="10953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2" name="cr4">
                <a:extLst>
                  <a:ext uri="{FF2B5EF4-FFF2-40B4-BE49-F238E27FC236}">
                    <a16:creationId xmlns:a16="http://schemas.microsoft.com/office/drawing/2014/main" id="{824897D2-80F7-F659-AF87-C4F063982AE0}"/>
                  </a:ext>
                </a:extLst>
              </p:cNvPr>
              <p:cNvSpPr/>
              <p:nvPr/>
            </p:nvSpPr>
            <p:spPr>
              <a:xfrm rot="7200000">
                <a:off x="10928228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3" name="cr5">
                <a:extLst>
                  <a:ext uri="{FF2B5EF4-FFF2-40B4-BE49-F238E27FC236}">
                    <a16:creationId xmlns:a16="http://schemas.microsoft.com/office/drawing/2014/main" id="{D4AA4590-BA3D-7580-2702-799B7A576371}"/>
                  </a:ext>
                </a:extLst>
              </p:cNvPr>
              <p:cNvSpPr/>
              <p:nvPr/>
            </p:nvSpPr>
            <p:spPr>
              <a:xfrm rot="9000000">
                <a:off x="108585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4" name="cr6">
                <a:extLst>
                  <a:ext uri="{FF2B5EF4-FFF2-40B4-BE49-F238E27FC236}">
                    <a16:creationId xmlns:a16="http://schemas.microsoft.com/office/drawing/2014/main" id="{CCC0337B-5760-28B5-D5D9-610D4D16007A}"/>
                  </a:ext>
                </a:extLst>
              </p:cNvPr>
              <p:cNvSpPr/>
              <p:nvPr/>
            </p:nvSpPr>
            <p:spPr>
              <a:xfrm rot="10800000">
                <a:off x="10763250" y="1295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5" name="cr7">
                <a:extLst>
                  <a:ext uri="{FF2B5EF4-FFF2-40B4-BE49-F238E27FC236}">
                    <a16:creationId xmlns:a16="http://schemas.microsoft.com/office/drawing/2014/main" id="{677FEBA8-5F65-8568-7D81-D6398BAE0067}"/>
                  </a:ext>
                </a:extLst>
              </p:cNvPr>
              <p:cNvSpPr/>
              <p:nvPr/>
            </p:nvSpPr>
            <p:spPr>
              <a:xfrm rot="12600000">
                <a:off x="106680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6" name="cr8">
                <a:extLst>
                  <a:ext uri="{FF2B5EF4-FFF2-40B4-BE49-F238E27FC236}">
                    <a16:creationId xmlns:a16="http://schemas.microsoft.com/office/drawing/2014/main" id="{D1885E1E-5076-5F21-A685-2E8812193F44}"/>
                  </a:ext>
                </a:extLst>
              </p:cNvPr>
              <p:cNvSpPr/>
              <p:nvPr/>
            </p:nvSpPr>
            <p:spPr>
              <a:xfrm rot="14400000">
                <a:off x="10598272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7" name="cr9">
                <a:extLst>
                  <a:ext uri="{FF2B5EF4-FFF2-40B4-BE49-F238E27FC236}">
                    <a16:creationId xmlns:a16="http://schemas.microsoft.com/office/drawing/2014/main" id="{C5D68FCA-2AD1-7354-8CB4-22705E873D19}"/>
                  </a:ext>
                </a:extLst>
              </p:cNvPr>
              <p:cNvSpPr/>
              <p:nvPr/>
            </p:nvSpPr>
            <p:spPr>
              <a:xfrm rot="16200000">
                <a:off x="10572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8" name="cr10">
                <a:extLst>
                  <a:ext uri="{FF2B5EF4-FFF2-40B4-BE49-F238E27FC236}">
                    <a16:creationId xmlns:a16="http://schemas.microsoft.com/office/drawing/2014/main" id="{7D9C467B-EBF5-3D1F-E7D1-4D0C778206B9}"/>
                  </a:ext>
                </a:extLst>
              </p:cNvPr>
              <p:cNvSpPr/>
              <p:nvPr/>
            </p:nvSpPr>
            <p:spPr>
              <a:xfrm rot="18000000">
                <a:off x="10598272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9" name="cr11">
                <a:extLst>
                  <a:ext uri="{FF2B5EF4-FFF2-40B4-BE49-F238E27FC236}">
                    <a16:creationId xmlns:a16="http://schemas.microsoft.com/office/drawing/2014/main" id="{A666F442-0572-F7DC-5F57-46C04549A564}"/>
                  </a:ext>
                </a:extLst>
              </p:cNvPr>
              <p:cNvSpPr/>
              <p:nvPr/>
            </p:nvSpPr>
            <p:spPr>
              <a:xfrm rot="19800000">
                <a:off x="106680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</p:grp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분석에서 AI의 역할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계산과 서술의 분업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계산은 통계 도구가, 결과의 서술·해석은 AI가 분담하는 원칙을 둔다.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 단계 가속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패턴 기술과 해석 문단 작성 등 서술 단계의 생산성을 높인다.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통계량 산출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통계량 자체는 전용 도구로 산출하고, 그 결과를 AI의 입력으로 삼는다.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0" name="tcdiv"/>
          <p:cNvSpPr/>
          <p:nvPr/>
        </p:nvSpPr>
        <p:spPr>
          <a:xfrm>
            <a:off x="8966200" y="2362200"/>
            <a:ext cx="25400" cy="3352800"/>
          </a:xfrm>
          <a:prstGeom prst="rect">
            <a:avLst/>
          </a:prstGeom>
          <a:solidFill>
            <a:srgbClr val="D8C7AE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" name="tc302"/>
          <p:cNvSpPr/>
          <p:nvPr/>
        </p:nvSpPr>
        <p:spPr>
          <a:xfrm>
            <a:off x="6654800" y="2336800"/>
            <a:ext cx="2235200" cy="482600"/>
          </a:xfrm>
          <a:prstGeom prst="roundRect">
            <a:avLst>
              <a:gd name="adj" fmla="val 30000"/>
            </a:avLst>
          </a:prstGeom>
          <a:solidFill>
            <a:srgbClr val="1E3A5F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(도구)</a:t>
            </a:r>
          </a:p>
        </p:txBody>
      </p:sp>
      <p:sp>
        <p:nvSpPr>
          <p:cNvPr id="302" name="tc303"/>
          <p:cNvSpPr/>
          <p:nvPr/>
        </p:nvSpPr>
        <p:spPr>
          <a:xfrm>
            <a:off x="6654800" y="2946400"/>
            <a:ext cx="2235200" cy="1333500"/>
          </a:xfrm>
          <a:prstGeom prst="roundRect">
            <a:avLst>
              <a:gd name="adj" fmla="val 16000"/>
            </a:avLst>
          </a:prstGeom>
          <a:solidFill>
            <a:srgbClr val="E8EDF3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통계량</a:t>
            </a:r>
          </a:p>
        </p:txBody>
      </p:sp>
      <p:sp>
        <p:nvSpPr>
          <p:cNvPr id="303" name="tc304"/>
          <p:cNvSpPr/>
          <p:nvPr/>
        </p:nvSpPr>
        <p:spPr>
          <a:xfrm>
            <a:off x="6654800" y="4406900"/>
            <a:ext cx="2235200" cy="1333500"/>
          </a:xfrm>
          <a:prstGeom prst="roundRect">
            <a:avLst>
              <a:gd name="adj" fmla="val 16000"/>
            </a:avLst>
          </a:prstGeom>
          <a:solidFill>
            <a:srgbClr val="E8EDF3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전용 도구로 산출</a:t>
            </a:r>
          </a:p>
        </p:txBody>
      </p:sp>
      <p:sp>
        <p:nvSpPr>
          <p:cNvPr id="304" name="tc305"/>
          <p:cNvSpPr/>
          <p:nvPr/>
        </p:nvSpPr>
        <p:spPr>
          <a:xfrm>
            <a:off x="9042400" y="2336800"/>
            <a:ext cx="2235200" cy="482600"/>
          </a:xfrm>
          <a:prstGeom prst="roundRect">
            <a:avLst>
              <a:gd name="adj" fmla="val 30000"/>
            </a:avLst>
          </a:prstGeom>
          <a:solidFill>
            <a:srgbClr val="3A5A7A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 (AI)</a:t>
            </a:r>
          </a:p>
        </p:txBody>
      </p:sp>
      <p:sp>
        <p:nvSpPr>
          <p:cNvPr id="305" name="tc306"/>
          <p:cNvSpPr/>
          <p:nvPr/>
        </p:nvSpPr>
        <p:spPr>
          <a:xfrm>
            <a:off x="9042400" y="2946400"/>
            <a:ext cx="2235200" cy="1333500"/>
          </a:xfrm>
          <a:prstGeom prst="roundRect">
            <a:avLst>
              <a:gd name="adj" fmla="val 16000"/>
            </a:avLst>
          </a:prstGeom>
          <a:solidFill>
            <a:srgbClr val="E8EDF3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패턴 기술</a:t>
            </a:r>
          </a:p>
        </p:txBody>
      </p:sp>
      <p:sp>
        <p:nvSpPr>
          <p:cNvPr id="306" name="tc307"/>
          <p:cNvSpPr/>
          <p:nvPr/>
        </p:nvSpPr>
        <p:spPr>
          <a:xfrm>
            <a:off x="9042400" y="4406900"/>
            <a:ext cx="2235200" cy="1333500"/>
          </a:xfrm>
          <a:prstGeom prst="roundRect">
            <a:avLst>
              <a:gd name="adj" fmla="val 16000"/>
            </a:avLst>
          </a:prstGeom>
          <a:solidFill>
            <a:srgbClr val="E8EDF3"/>
          </a:solidFill>
          <a:ln>
            <a:noFill/>
          </a:ln>
        </p:spPr>
        <p:txBody>
          <a:bodyPr lIns="27000" rIns="27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 문단 생성</a:t>
            </a:r>
          </a:p>
        </p:txBody>
      </p:sp>
    </p:spTree>
    <p:extLst>
      <p:ext uri="{BB962C8B-B14F-4D97-AF65-F5344CB8AC3E}">
        <p14:creationId xmlns:p14="http://schemas.microsoft.com/office/powerpoint/2010/main" val="632193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데이터에서 리포트로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기술통계 요약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구조와 기술통계(평균·분산·분포 등)를 요약하도록 지시한다.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패턴 해석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결과에서 관찰되는 패턴을 기술·해석하는 문단을 생성한다.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서술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그래프·표가 보여주는 경향을 자연어 서술로 풀어 설명한다.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ar202"/>
          <p:cNvSpPr/>
          <p:nvPr/>
        </p:nvSpPr>
        <p:spPr>
          <a:xfrm>
            <a:off x="8801100" y="35560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ar203"/>
          <p:cNvSpPr/>
          <p:nvPr/>
        </p:nvSpPr>
        <p:spPr>
          <a:xfrm>
            <a:off x="8801100" y="44704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dn204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기술통계 요약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패턴 해석 문단</a:t>
            </a:r>
          </a:p>
        </p:txBody>
      </p:sp>
      <p:sp>
        <p:nvSpPr>
          <p:cNvPr id="205" name="dn206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서술</a:t>
            </a:r>
          </a:p>
        </p:txBody>
      </p:sp>
      <p:pic>
        <p:nvPicPr>
          <p:cNvPr id="206" name="Graphic 2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6261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표준 구조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결론을 문서 첫머리에 제시해 독자가 결과를 먼저 파악하게 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방법·결과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절차와 주요 결과를 구조적으로 기술한다.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시사점·후속 제안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함의와 후속 연구 방향을 독자 맞춤 어조로 정리한다.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ar202"/>
          <p:cNvSpPr/>
          <p:nvPr/>
        </p:nvSpPr>
        <p:spPr>
          <a:xfrm>
            <a:off x="8801100" y="35560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ar203"/>
          <p:cNvSpPr/>
          <p:nvPr/>
        </p:nvSpPr>
        <p:spPr>
          <a:xfrm>
            <a:off x="8801100" y="44704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dn204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요약(핵심 결론)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· 결과</a:t>
            </a:r>
          </a:p>
        </p:txBody>
      </p:sp>
      <p:sp>
        <p:nvSpPr>
          <p:cNvPr id="205" name="dn206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 · 후속</a:t>
            </a:r>
          </a:p>
        </p:txBody>
      </p:sp>
      <p:pic>
        <p:nvPicPr>
          <p:cNvPr id="206" name="Graphic 2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9525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타당성 확보 원칙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검산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수치는 통계 도구로 별도 검산해 신뢰성을 확보한다.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무근거 추론 금지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데이터에 존재하지 않는 내용을 추론·생성하지 않도록 제약한다.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 ≠ 인과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상관관계를 인과로 단정하지 않고 가설적 표현으로 진술한다.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도구로 검산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9C4221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무근거 추론 금지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9C4221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 ≠ 인과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5506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시연: 통계 패턴 해석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통계 입력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산출된 요약 통계를 입력해 주요 패턴 세 가지를 도출한다.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가설적 진술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"~로 보인다" 등 잠정적 표현으로 해석의 불확실성을 명시한다.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과대해석 제거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초과하는 해석을 식별해 제거한다.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ar202"/>
          <p:cNvSpPr/>
          <p:nvPr/>
        </p:nvSpPr>
        <p:spPr>
          <a:xfrm>
            <a:off x="8801100" y="35560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ar203"/>
          <p:cNvSpPr/>
          <p:nvPr/>
        </p:nvSpPr>
        <p:spPr>
          <a:xfrm>
            <a:off x="8801100" y="44704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dn204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통계 입력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패턴 3가지 해석</a:t>
            </a:r>
          </a:p>
        </p:txBody>
      </p:sp>
      <p:sp>
        <p:nvSpPr>
          <p:cNvPr id="205" name="dn206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9C4221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과대해석 제거</a:t>
            </a:r>
          </a:p>
        </p:txBody>
      </p:sp>
      <p:pic>
        <p:nvPicPr>
          <p:cNvPr id="206" name="Graphic 2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298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예제: 기술통계 해석 리포트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175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요약 통계표 → 해석 리포트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 리포트 작성자로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아래는 요약 통계(평균·표준편차·상관)다.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패턴 3가지를 식별해 해석 문단을 쓴다.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요약–방법–결과–시사점 구조.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상관을 인과로 단정 금지. 표 외 수치 금지.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1750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기대 출력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4부 구조 해석 서술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"A와 B는 정적 상관으로 보인다"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상관 ≠ 인과 표현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표 외 수치 없음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가설적 진술 사용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별도 도구 검산값과 대조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분석 리포트 초안</a:t>
            </a:r>
          </a:p>
        </p:txBody>
      </p:sp>
    </p:spTree>
    <p:extLst>
      <p:ext uri="{BB962C8B-B14F-4D97-AF65-F5344CB8AC3E}">
        <p14:creationId xmlns:p14="http://schemas.microsoft.com/office/powerpoint/2010/main" val="33860752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&amp; 유의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데이터 또는 공개 데이터를 활용해 분석 리포트를 작성한다.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보호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데이터는 익명화·집계 처리 후 입력해 개인정보 노출을 방지한다.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594100"/>
            <a:ext cx="50800" cy="12700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3251200"/>
            <a:ext cx="3810000" cy="6858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데이터로 작성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4521200"/>
            <a:ext cx="3810000" cy="685800"/>
          </a:xfrm>
          <a:prstGeom prst="roundRect">
            <a:avLst>
              <a:gd name="adj" fmla="val 16000"/>
            </a:avLst>
          </a:prstGeom>
          <a:solidFill>
            <a:srgbClr val="9C4221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민감데이터 익명화</a:t>
            </a:r>
          </a:p>
        </p:txBody>
      </p:sp>
      <p:pic>
        <p:nvPicPr>
          <p:cNvPr id="204" name="Graphic 20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559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· 4교시 — 통계·시각화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심화: 통계 가정·시각화 설계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기법 — 해석 타당성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결과 해석과 그림 설계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[가정 점검]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정규성·등분산 등 사전 점검을 지시한다.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[검정 추천]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구조에 맞는 검정을 제안받는다.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[효과크기]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p값과 함께 효과크기·신뢰구간을 요청한다.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[시각화]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종류·축·주석을 설계받는다.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수치는 통계 도구로 검산한다.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효과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해석의 타당성·투명성 향상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t-검정 → 효과크기 d 병기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점검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통계 가정 충족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효과크기·CI 제시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상관 ≠ 인과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코드 실행값과 대조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분석 노트</a:t>
            </a:r>
          </a:p>
        </p:txBody>
      </p:sp>
    </p:spTree>
    <p:extLst>
      <p:ext uri="{BB962C8B-B14F-4D97-AF65-F5344CB8AC3E}">
        <p14:creationId xmlns:p14="http://schemas.microsoft.com/office/powerpoint/2010/main" val="589786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5교시  ·  15:00–15:50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공고문 기반 제안서 초안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공고문에서 평가 기준·필수 항목·형식 제약을 추출한다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추출한 요건을 제안서 목차에 체계적으로 매핑한다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항목의 초안과 강조점을 작성한다</a:t>
            </a:r>
            <a:endParaRPr lang="en-US" sz="15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6DC5974-65F2-978D-5763-DD5F155755CF}"/>
              </a:ext>
            </a:extLst>
          </p:cNvPr>
          <p:cNvGrpSpPr/>
          <p:nvPr/>
        </p:nvGrpSpPr>
        <p:grpSpPr>
          <a:xfrm>
            <a:off x="10566426" y="631351"/>
            <a:ext cx="1117600" cy="1117600"/>
            <a:chOff x="10115666" y="1808408"/>
            <a:chExt cx="1117600" cy="1117600"/>
          </a:xfrm>
        </p:grpSpPr>
        <p:sp>
          <p:nvSpPr>
            <p:cNvPr id="6" name="csq">
              <a:extLst>
                <a:ext uri="{FF2B5EF4-FFF2-40B4-BE49-F238E27FC236}">
                  <a16:creationId xmlns:a16="http://schemas.microsoft.com/office/drawing/2014/main" id="{73B42719-E934-C8F1-CCA8-4A855A93F262}"/>
                </a:ext>
              </a:extLst>
            </p:cNvPr>
            <p:cNvSpPr/>
            <p:nvPr/>
          </p:nvSpPr>
          <p:spPr>
            <a:xfrm>
              <a:off x="10115666" y="1808408"/>
              <a:ext cx="1117600" cy="1117600"/>
            </a:xfrm>
            <a:prstGeom prst="roundRect">
              <a:avLst>
                <a:gd name="adj" fmla="val 24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867BFC8-4F06-349F-20CF-5ACDF1240D50}"/>
                </a:ext>
              </a:extLst>
            </p:cNvPr>
            <p:cNvGrpSpPr/>
            <p:nvPr/>
          </p:nvGrpSpPr>
          <p:grpSpPr>
            <a:xfrm>
              <a:off x="10205720" y="1887220"/>
              <a:ext cx="921626" cy="921626"/>
              <a:chOff x="10439400" y="914400"/>
              <a:chExt cx="711200" cy="711200"/>
            </a:xfrm>
          </p:grpSpPr>
          <p:sp>
            <p:nvSpPr>
              <p:cNvPr id="8" name="cr0">
                <a:extLst>
                  <a:ext uri="{FF2B5EF4-FFF2-40B4-BE49-F238E27FC236}">
                    <a16:creationId xmlns:a16="http://schemas.microsoft.com/office/drawing/2014/main" id="{987A21CB-B6BF-2B6E-C7E7-7CD5D1F78EF1}"/>
                  </a:ext>
                </a:extLst>
              </p:cNvPr>
              <p:cNvSpPr/>
              <p:nvPr/>
            </p:nvSpPr>
            <p:spPr>
              <a:xfrm>
                <a:off x="10763250" y="914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" name="cr1">
                <a:extLst>
                  <a:ext uri="{FF2B5EF4-FFF2-40B4-BE49-F238E27FC236}">
                    <a16:creationId xmlns:a16="http://schemas.microsoft.com/office/drawing/2014/main" id="{21630DE6-E517-90BD-CA92-3C638286BD5D}"/>
                  </a:ext>
                </a:extLst>
              </p:cNvPr>
              <p:cNvSpPr/>
              <p:nvPr/>
            </p:nvSpPr>
            <p:spPr>
              <a:xfrm rot="1800000">
                <a:off x="108585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0" name="cr2">
                <a:extLst>
                  <a:ext uri="{FF2B5EF4-FFF2-40B4-BE49-F238E27FC236}">
                    <a16:creationId xmlns:a16="http://schemas.microsoft.com/office/drawing/2014/main" id="{DA735AA1-F1AC-22AB-5942-3BEDEA9A9F49}"/>
                  </a:ext>
                </a:extLst>
              </p:cNvPr>
              <p:cNvSpPr/>
              <p:nvPr/>
            </p:nvSpPr>
            <p:spPr>
              <a:xfrm rot="3600000">
                <a:off x="10928228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1" name="cr3">
                <a:extLst>
                  <a:ext uri="{FF2B5EF4-FFF2-40B4-BE49-F238E27FC236}">
                    <a16:creationId xmlns:a16="http://schemas.microsoft.com/office/drawing/2014/main" id="{85D8559F-5E30-09CF-353E-5680FC5A5262}"/>
                  </a:ext>
                </a:extLst>
              </p:cNvPr>
              <p:cNvSpPr/>
              <p:nvPr/>
            </p:nvSpPr>
            <p:spPr>
              <a:xfrm rot="5400000">
                <a:off x="10953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2" name="cr4">
                <a:extLst>
                  <a:ext uri="{FF2B5EF4-FFF2-40B4-BE49-F238E27FC236}">
                    <a16:creationId xmlns:a16="http://schemas.microsoft.com/office/drawing/2014/main" id="{429C524B-D749-2A67-EF81-E16DF9181395}"/>
                  </a:ext>
                </a:extLst>
              </p:cNvPr>
              <p:cNvSpPr/>
              <p:nvPr/>
            </p:nvSpPr>
            <p:spPr>
              <a:xfrm rot="7200000">
                <a:off x="10928228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3" name="cr5">
                <a:extLst>
                  <a:ext uri="{FF2B5EF4-FFF2-40B4-BE49-F238E27FC236}">
                    <a16:creationId xmlns:a16="http://schemas.microsoft.com/office/drawing/2014/main" id="{E94DED80-D423-9D26-DDD7-A8EC7B836E9C}"/>
                  </a:ext>
                </a:extLst>
              </p:cNvPr>
              <p:cNvSpPr/>
              <p:nvPr/>
            </p:nvSpPr>
            <p:spPr>
              <a:xfrm rot="9000000">
                <a:off x="108585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4" name="cr6">
                <a:extLst>
                  <a:ext uri="{FF2B5EF4-FFF2-40B4-BE49-F238E27FC236}">
                    <a16:creationId xmlns:a16="http://schemas.microsoft.com/office/drawing/2014/main" id="{DDDADE92-9188-15BE-BD00-CC5213325DB5}"/>
                  </a:ext>
                </a:extLst>
              </p:cNvPr>
              <p:cNvSpPr/>
              <p:nvPr/>
            </p:nvSpPr>
            <p:spPr>
              <a:xfrm rot="10800000">
                <a:off x="10763250" y="1295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5" name="cr7">
                <a:extLst>
                  <a:ext uri="{FF2B5EF4-FFF2-40B4-BE49-F238E27FC236}">
                    <a16:creationId xmlns:a16="http://schemas.microsoft.com/office/drawing/2014/main" id="{ED366C95-33EA-39E0-D328-D4910E602999}"/>
                  </a:ext>
                </a:extLst>
              </p:cNvPr>
              <p:cNvSpPr/>
              <p:nvPr/>
            </p:nvSpPr>
            <p:spPr>
              <a:xfrm rot="12600000">
                <a:off x="106680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6" name="cr8">
                <a:extLst>
                  <a:ext uri="{FF2B5EF4-FFF2-40B4-BE49-F238E27FC236}">
                    <a16:creationId xmlns:a16="http://schemas.microsoft.com/office/drawing/2014/main" id="{EA3E2C3D-358E-BFF0-E157-1554FD4E306E}"/>
                  </a:ext>
                </a:extLst>
              </p:cNvPr>
              <p:cNvSpPr/>
              <p:nvPr/>
            </p:nvSpPr>
            <p:spPr>
              <a:xfrm rot="14400000">
                <a:off x="10598272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7" name="cr9">
                <a:extLst>
                  <a:ext uri="{FF2B5EF4-FFF2-40B4-BE49-F238E27FC236}">
                    <a16:creationId xmlns:a16="http://schemas.microsoft.com/office/drawing/2014/main" id="{EF279927-22B6-F889-FF61-D672F5E33D15}"/>
                  </a:ext>
                </a:extLst>
              </p:cNvPr>
              <p:cNvSpPr/>
              <p:nvPr/>
            </p:nvSpPr>
            <p:spPr>
              <a:xfrm rot="16200000">
                <a:off x="10572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8" name="cr10">
                <a:extLst>
                  <a:ext uri="{FF2B5EF4-FFF2-40B4-BE49-F238E27FC236}">
                    <a16:creationId xmlns:a16="http://schemas.microsoft.com/office/drawing/2014/main" id="{F3CC6FD8-1A86-E942-D054-DC21F8603C37}"/>
                  </a:ext>
                </a:extLst>
              </p:cNvPr>
              <p:cNvSpPr/>
              <p:nvPr/>
            </p:nvSpPr>
            <p:spPr>
              <a:xfrm rot="18000000">
                <a:off x="10598272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9" name="cr11">
                <a:extLst>
                  <a:ext uri="{FF2B5EF4-FFF2-40B4-BE49-F238E27FC236}">
                    <a16:creationId xmlns:a16="http://schemas.microsoft.com/office/drawing/2014/main" id="{881603ED-62B4-A50C-6800-65F27F843EB7}"/>
                  </a:ext>
                </a:extLst>
              </p:cNvPr>
              <p:cNvSpPr/>
              <p:nvPr/>
            </p:nvSpPr>
            <p:spPr>
              <a:xfrm rot="19800000">
                <a:off x="106680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</p:grp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제안서의 출발점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요건 식별 우선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제안서 작성의 출발점은 공고문의 평가 기준·필수 항목·형식 제약을 식별하는 것이다.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누락의 비용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요건 누락은 곧 감점이므로, 빠짐없는 대응이 좋은 평가의 전제다.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효율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요건에 정렬해 작성하면 재작업이 줄어 전체 작성 비용이 절감된다.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요건 식별 우선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9C4221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 = 감점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효율 ↑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0036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요건 추출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기준·배점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 항목과 배점 구조를 추출해 대응 우선순위를 파악한다.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제출 항목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 시 결격이 되는 필수 서식·첨부 항목을 식별한다.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 제약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분량·서식·제출 양식 등 형식 제약을 표로 구조화한다.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기준 · 배점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제출 항목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분량 · 형식 제약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1194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요건 → 목차 매핑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요건 전사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추출한 요건을 제안서 목차 항목으로 빠짐없이 전사한다.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점검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요건과 목차 항목의 대응 관계를 점검한다.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 방지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매핑 표로 미대응 요건을 사전에 차단한다.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ar202"/>
          <p:cNvSpPr/>
          <p:nvPr/>
        </p:nvSpPr>
        <p:spPr>
          <a:xfrm>
            <a:off x="8801100" y="35560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ar203"/>
          <p:cNvSpPr/>
          <p:nvPr/>
        </p:nvSpPr>
        <p:spPr>
          <a:xfrm>
            <a:off x="8801100" y="44704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dn204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요건 → 목차 전사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관계 점검</a:t>
            </a:r>
          </a:p>
        </p:txBody>
      </p:sp>
      <p:sp>
        <p:nvSpPr>
          <p:cNvPr id="205" name="dn206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 항목 방지</a:t>
            </a:r>
          </a:p>
        </p:txBody>
      </p:sp>
      <p:pic>
        <p:nvPicPr>
          <p:cNvPr id="206" name="Graphic 2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5807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배점 기반 분량 배분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배점 = 노력 기준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배점을 분량·노력 배분의 기준으로 삼는다.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고배점 심화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배점이 높은 항목을 우선적으로 심화 기술한다.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전략적 강조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가중치에 맞춰 강조점을 전략적으로 배치한다.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0" name="wb301"/>
          <p:cNvSpPr/>
          <p:nvPr/>
        </p:nvSpPr>
        <p:spPr>
          <a:xfrm>
            <a:off x="6654800" y="2667000"/>
            <a:ext cx="1270000" cy="558800"/>
          </a:xfrm>
          <a:prstGeom prst="roundRect">
            <a:avLst>
              <a:gd name="adj" fmla="val 24000"/>
            </a:avLst>
          </a:prstGeom>
          <a:solidFill>
            <a:srgbClr val="1E3A5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" name="wb302"/>
          <p:cNvSpPr/>
          <p:nvPr/>
        </p:nvSpPr>
        <p:spPr>
          <a:xfrm>
            <a:off x="6654800" y="26670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lIns="0" rIns="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고배점</a:t>
            </a:r>
          </a:p>
        </p:txBody>
      </p:sp>
      <p:sp>
        <p:nvSpPr>
          <p:cNvPr id="302" name="wb303"/>
          <p:cNvSpPr/>
          <p:nvPr/>
        </p:nvSpPr>
        <p:spPr>
          <a:xfrm>
            <a:off x="8077200" y="2755900"/>
            <a:ext cx="3149600" cy="381000"/>
          </a:xfrm>
          <a:prstGeom prst="roundRect">
            <a:avLst>
              <a:gd name="adj" fmla="val 50000"/>
            </a:avLst>
          </a:prstGeom>
          <a:solidFill>
            <a:srgbClr val="EAE3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3" name="wb304"/>
          <p:cNvSpPr/>
          <p:nvPr/>
        </p:nvSpPr>
        <p:spPr>
          <a:xfrm>
            <a:off x="8077200" y="2755900"/>
            <a:ext cx="3149600" cy="381000"/>
          </a:xfrm>
          <a:prstGeom prst="roundRect">
            <a:avLst>
              <a:gd name="adj" fmla="val 50000"/>
            </a:avLst>
          </a:prstGeom>
          <a:solidFill>
            <a:srgbClr val="9C422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4" name="wb305"/>
          <p:cNvSpPr/>
          <p:nvPr/>
        </p:nvSpPr>
        <p:spPr>
          <a:xfrm>
            <a:off x="8178800" y="2755900"/>
            <a:ext cx="2946400" cy="381000"/>
          </a:xfrm>
          <a:prstGeom prst="rect">
            <a:avLst/>
          </a:prstGeom>
          <a:noFill/>
          <a:ln>
            <a:noFill/>
          </a:ln>
        </p:spPr>
        <p:txBody>
          <a:bodyPr lIns="0" rIns="0" rtlCol="0" anchor="ctr">
            <a:normAutofit/>
          </a:bodyPr>
          <a:lstStyle/>
          <a:p>
            <a:pPr algn="l"/>
            <a:r>
              <a:rPr lang="ko-KR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집중 서술</a:t>
            </a:r>
          </a:p>
        </p:txBody>
      </p:sp>
      <p:sp>
        <p:nvSpPr>
          <p:cNvPr id="305" name="wb306"/>
          <p:cNvSpPr/>
          <p:nvPr/>
        </p:nvSpPr>
        <p:spPr>
          <a:xfrm>
            <a:off x="6654800" y="3657600"/>
            <a:ext cx="1270000" cy="558800"/>
          </a:xfrm>
          <a:prstGeom prst="roundRect">
            <a:avLst>
              <a:gd name="adj" fmla="val 24000"/>
            </a:avLst>
          </a:prstGeom>
          <a:solidFill>
            <a:srgbClr val="1E3A5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6" name="wb307"/>
          <p:cNvSpPr/>
          <p:nvPr/>
        </p:nvSpPr>
        <p:spPr>
          <a:xfrm>
            <a:off x="6654800" y="36576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lIns="0" rIns="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중배점</a:t>
            </a:r>
          </a:p>
        </p:txBody>
      </p:sp>
      <p:sp>
        <p:nvSpPr>
          <p:cNvPr id="307" name="wb308"/>
          <p:cNvSpPr/>
          <p:nvPr/>
        </p:nvSpPr>
        <p:spPr>
          <a:xfrm>
            <a:off x="8077200" y="3746500"/>
            <a:ext cx="3149600" cy="381000"/>
          </a:xfrm>
          <a:prstGeom prst="roundRect">
            <a:avLst>
              <a:gd name="adj" fmla="val 50000"/>
            </a:avLst>
          </a:prstGeom>
          <a:solidFill>
            <a:srgbClr val="EAE3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8" name="wb309"/>
          <p:cNvSpPr/>
          <p:nvPr/>
        </p:nvSpPr>
        <p:spPr>
          <a:xfrm>
            <a:off x="8077200" y="3746500"/>
            <a:ext cx="1892300" cy="38100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9" name="wb310"/>
          <p:cNvSpPr/>
          <p:nvPr/>
        </p:nvSpPr>
        <p:spPr>
          <a:xfrm>
            <a:off x="8178800" y="3746500"/>
            <a:ext cx="2946400" cy="381000"/>
          </a:xfrm>
          <a:prstGeom prst="rect">
            <a:avLst/>
          </a:prstGeom>
          <a:noFill/>
          <a:ln>
            <a:noFill/>
          </a:ln>
        </p:spPr>
        <p:txBody>
          <a:bodyPr lIns="0" rIns="0" rtlCol="0" anchor="ctr">
            <a:normAutofit/>
          </a:bodyPr>
          <a:lstStyle/>
          <a:p>
            <a:pPr algn="l"/>
            <a:r>
              <a:rPr lang="ko-KR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분량</a:t>
            </a:r>
          </a:p>
        </p:txBody>
      </p:sp>
      <p:sp>
        <p:nvSpPr>
          <p:cNvPr id="310" name="wb311"/>
          <p:cNvSpPr/>
          <p:nvPr/>
        </p:nvSpPr>
        <p:spPr>
          <a:xfrm>
            <a:off x="6654800" y="4648200"/>
            <a:ext cx="1270000" cy="558800"/>
          </a:xfrm>
          <a:prstGeom prst="roundRect">
            <a:avLst>
              <a:gd name="adj" fmla="val 24000"/>
            </a:avLst>
          </a:prstGeom>
          <a:solidFill>
            <a:srgbClr val="1E3A5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11" name="wb312"/>
          <p:cNvSpPr/>
          <p:nvPr/>
        </p:nvSpPr>
        <p:spPr>
          <a:xfrm>
            <a:off x="6654800" y="46482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lIns="0" rIns="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저배점</a:t>
            </a:r>
          </a:p>
        </p:txBody>
      </p:sp>
      <p:sp>
        <p:nvSpPr>
          <p:cNvPr id="312" name="wb313"/>
          <p:cNvSpPr/>
          <p:nvPr/>
        </p:nvSpPr>
        <p:spPr>
          <a:xfrm>
            <a:off x="8077200" y="4737100"/>
            <a:ext cx="3149600" cy="381000"/>
          </a:xfrm>
          <a:prstGeom prst="roundRect">
            <a:avLst>
              <a:gd name="adj" fmla="val 50000"/>
            </a:avLst>
          </a:prstGeom>
          <a:solidFill>
            <a:srgbClr val="EAE3D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13" name="wb314"/>
          <p:cNvSpPr/>
          <p:nvPr/>
        </p:nvSpPr>
        <p:spPr>
          <a:xfrm>
            <a:off x="8077200" y="4737100"/>
            <a:ext cx="1003300" cy="381000"/>
          </a:xfrm>
          <a:prstGeom prst="roundRect">
            <a:avLst>
              <a:gd name="adj" fmla="val 50000"/>
            </a:avLst>
          </a:prstGeom>
          <a:solidFill>
            <a:srgbClr val="31507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14" name="wb315"/>
          <p:cNvSpPr/>
          <p:nvPr/>
        </p:nvSpPr>
        <p:spPr>
          <a:xfrm>
            <a:off x="8178800" y="4737100"/>
            <a:ext cx="2946400" cy="381000"/>
          </a:xfrm>
          <a:prstGeom prst="rect">
            <a:avLst/>
          </a:prstGeom>
          <a:noFill/>
          <a:ln>
            <a:noFill/>
          </a:ln>
        </p:spPr>
        <p:txBody>
          <a:bodyPr lIns="0" rIns="0" rtlCol="0" anchor="ctr">
            <a:normAutofit/>
          </a:bodyPr>
          <a:lstStyle/>
          <a:p>
            <a:pPr algn="l"/>
            <a:r>
              <a:rPr lang="ko-KR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간략 처리</a:t>
            </a:r>
          </a:p>
        </p:txBody>
      </p:sp>
    </p:spTree>
    <p:extLst>
      <p:ext uri="{BB962C8B-B14F-4D97-AF65-F5344CB8AC3E}">
        <p14:creationId xmlns:p14="http://schemas.microsoft.com/office/powerpoint/2010/main" val="7110023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항목 초안 생성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항목 초안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연구목표·연구방법·기대효과의 초안을 우선 생성한다.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강조점 메모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차별화 포인트와 강조점을 메모로 정리한다.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출발점으로 활용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초안은 보완 대상인 1차 안으로 활용한다.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항목 초안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강조점 메모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출발점으로 활용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07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예제: 공고문 기반 제안서 초안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175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사업 공고문 → 요건 추출·매핑·초안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제안서 작성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아래는 사업 공고문 발췌다: "…"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평가기준·필수항목·형식제약을 목차에 매핑한다.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요건표 + 목차(요건 대응) + 연구목표 초안.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요건 가정 금지. 배점 높은 항목 우선.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1750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기대 출력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요건표 · 매핑 목차 · 초안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[평가기준] → [목차 3.1]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요건 누락 여부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배점 대비 분량 배분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AI 활용 고지 확인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공고 원문과 요건표 대조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제안서 초안 + 요건표</a:t>
            </a:r>
          </a:p>
        </p:txBody>
      </p:sp>
    </p:spTree>
    <p:extLst>
      <p:ext uri="{BB962C8B-B14F-4D97-AF65-F5344CB8AC3E}">
        <p14:creationId xmlns:p14="http://schemas.microsoft.com/office/powerpoint/2010/main" val="40334480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정련 &amp; 윤리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 보강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독창성과 연구 맥락은 저자가 직접 보강해 완성도를 높인다.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고지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공모 규정상 AI 활용 고지 의무가 있는지 확인·준수한다.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초안의 위상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생성물은 완성본이 아닌 출발점임을 전제로 검토한다.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독창성·맥락 보강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고지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9C4221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초안은 출발점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4359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· 5교시 — 제안서 점검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심화: 평가위원 관점 자기점검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기법 — 채택률 높이기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제안서 완성도 점검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 전환]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"평가위원으로서 약점을 지적하라".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[배점 매핑]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배점 → 분량·강조를 재배분한다.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[예산·일정]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→ 예산·간트 초안을 생성한다.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[차별성]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연구 대비 우위를 정리한다.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 요건 범위 내에서만 작성한다.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효과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채택 가능성·완성도 향상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평가 루브릭 자기채점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점검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요건 충족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배점–분량 정렬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예산 현실성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공고문과 대조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자기점검표</a:t>
            </a:r>
          </a:p>
        </p:txBody>
      </p:sp>
    </p:spTree>
    <p:extLst>
      <p:ext uri="{BB962C8B-B14F-4D97-AF65-F5344CB8AC3E}">
        <p14:creationId xmlns:p14="http://schemas.microsoft.com/office/powerpoint/2010/main" val="21943764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6교시  ·  16:00–16:50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문헌·자료 탐색과 인용 정리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주제로부터 검색 키워드·동의어 전략을 도출한다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자료를 핵심 요지로 요약하고 주제별로 분류한다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참고문헌을 일관된 인용 양식으로 정리하고 출처를 검증한다</a:t>
            </a:r>
            <a:endParaRPr lang="en-US" sz="15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2267261-928C-DD8A-EBE6-D17CB5066690}"/>
              </a:ext>
            </a:extLst>
          </p:cNvPr>
          <p:cNvGrpSpPr/>
          <p:nvPr/>
        </p:nvGrpSpPr>
        <p:grpSpPr>
          <a:xfrm>
            <a:off x="10566426" y="631351"/>
            <a:ext cx="1117600" cy="1117600"/>
            <a:chOff x="10115666" y="1808408"/>
            <a:chExt cx="1117600" cy="1117600"/>
          </a:xfrm>
        </p:grpSpPr>
        <p:sp>
          <p:nvSpPr>
            <p:cNvPr id="6" name="csq">
              <a:extLst>
                <a:ext uri="{FF2B5EF4-FFF2-40B4-BE49-F238E27FC236}">
                  <a16:creationId xmlns:a16="http://schemas.microsoft.com/office/drawing/2014/main" id="{7EF4F9A8-C99B-912E-1EBB-735548297254}"/>
                </a:ext>
              </a:extLst>
            </p:cNvPr>
            <p:cNvSpPr/>
            <p:nvPr/>
          </p:nvSpPr>
          <p:spPr>
            <a:xfrm>
              <a:off x="10115666" y="1808408"/>
              <a:ext cx="1117600" cy="1117600"/>
            </a:xfrm>
            <a:prstGeom prst="roundRect">
              <a:avLst>
                <a:gd name="adj" fmla="val 24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2809270-0069-4F3C-25DB-02D942B51CF2}"/>
                </a:ext>
              </a:extLst>
            </p:cNvPr>
            <p:cNvGrpSpPr/>
            <p:nvPr/>
          </p:nvGrpSpPr>
          <p:grpSpPr>
            <a:xfrm>
              <a:off x="10205720" y="1887220"/>
              <a:ext cx="921626" cy="921626"/>
              <a:chOff x="10439400" y="914400"/>
              <a:chExt cx="711200" cy="711200"/>
            </a:xfrm>
          </p:grpSpPr>
          <p:sp>
            <p:nvSpPr>
              <p:cNvPr id="8" name="cr0">
                <a:extLst>
                  <a:ext uri="{FF2B5EF4-FFF2-40B4-BE49-F238E27FC236}">
                    <a16:creationId xmlns:a16="http://schemas.microsoft.com/office/drawing/2014/main" id="{931AF202-5D04-D5BA-456B-7E19AF06959C}"/>
                  </a:ext>
                </a:extLst>
              </p:cNvPr>
              <p:cNvSpPr/>
              <p:nvPr/>
            </p:nvSpPr>
            <p:spPr>
              <a:xfrm>
                <a:off x="10763250" y="914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" name="cr1">
                <a:extLst>
                  <a:ext uri="{FF2B5EF4-FFF2-40B4-BE49-F238E27FC236}">
                    <a16:creationId xmlns:a16="http://schemas.microsoft.com/office/drawing/2014/main" id="{F600D8D3-95C9-62DF-6D0A-1EDE01715A0F}"/>
                  </a:ext>
                </a:extLst>
              </p:cNvPr>
              <p:cNvSpPr/>
              <p:nvPr/>
            </p:nvSpPr>
            <p:spPr>
              <a:xfrm rot="1800000">
                <a:off x="108585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0" name="cr2">
                <a:extLst>
                  <a:ext uri="{FF2B5EF4-FFF2-40B4-BE49-F238E27FC236}">
                    <a16:creationId xmlns:a16="http://schemas.microsoft.com/office/drawing/2014/main" id="{D52446AB-D0A5-6904-4A30-7945C2475CC7}"/>
                  </a:ext>
                </a:extLst>
              </p:cNvPr>
              <p:cNvSpPr/>
              <p:nvPr/>
            </p:nvSpPr>
            <p:spPr>
              <a:xfrm rot="3600000">
                <a:off x="10928228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1" name="cr3">
                <a:extLst>
                  <a:ext uri="{FF2B5EF4-FFF2-40B4-BE49-F238E27FC236}">
                    <a16:creationId xmlns:a16="http://schemas.microsoft.com/office/drawing/2014/main" id="{8E4DDF53-034B-51C0-6D79-5A374A9701F5}"/>
                  </a:ext>
                </a:extLst>
              </p:cNvPr>
              <p:cNvSpPr/>
              <p:nvPr/>
            </p:nvSpPr>
            <p:spPr>
              <a:xfrm rot="5400000">
                <a:off x="10953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2" name="cr4">
                <a:extLst>
                  <a:ext uri="{FF2B5EF4-FFF2-40B4-BE49-F238E27FC236}">
                    <a16:creationId xmlns:a16="http://schemas.microsoft.com/office/drawing/2014/main" id="{12401438-4046-B62A-1DEA-3BA4672D99D8}"/>
                  </a:ext>
                </a:extLst>
              </p:cNvPr>
              <p:cNvSpPr/>
              <p:nvPr/>
            </p:nvSpPr>
            <p:spPr>
              <a:xfrm rot="7200000">
                <a:off x="10928228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3" name="cr5">
                <a:extLst>
                  <a:ext uri="{FF2B5EF4-FFF2-40B4-BE49-F238E27FC236}">
                    <a16:creationId xmlns:a16="http://schemas.microsoft.com/office/drawing/2014/main" id="{72EDB4AC-A759-B29C-FE43-BB66EC26900C}"/>
                  </a:ext>
                </a:extLst>
              </p:cNvPr>
              <p:cNvSpPr/>
              <p:nvPr/>
            </p:nvSpPr>
            <p:spPr>
              <a:xfrm rot="9000000">
                <a:off x="108585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4" name="cr6">
                <a:extLst>
                  <a:ext uri="{FF2B5EF4-FFF2-40B4-BE49-F238E27FC236}">
                    <a16:creationId xmlns:a16="http://schemas.microsoft.com/office/drawing/2014/main" id="{01814E5E-EC68-F968-2B9B-690D0D1EC5A7}"/>
                  </a:ext>
                </a:extLst>
              </p:cNvPr>
              <p:cNvSpPr/>
              <p:nvPr/>
            </p:nvSpPr>
            <p:spPr>
              <a:xfrm rot="10800000">
                <a:off x="10763250" y="1295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5" name="cr7">
                <a:extLst>
                  <a:ext uri="{FF2B5EF4-FFF2-40B4-BE49-F238E27FC236}">
                    <a16:creationId xmlns:a16="http://schemas.microsoft.com/office/drawing/2014/main" id="{D531DC6A-DE8F-C3A8-85B4-07116ED80528}"/>
                  </a:ext>
                </a:extLst>
              </p:cNvPr>
              <p:cNvSpPr/>
              <p:nvPr/>
            </p:nvSpPr>
            <p:spPr>
              <a:xfrm rot="12600000">
                <a:off x="106680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6" name="cr8">
                <a:extLst>
                  <a:ext uri="{FF2B5EF4-FFF2-40B4-BE49-F238E27FC236}">
                    <a16:creationId xmlns:a16="http://schemas.microsoft.com/office/drawing/2014/main" id="{B65E869D-F4CA-4084-6B9E-7FCEE769B0EE}"/>
                  </a:ext>
                </a:extLst>
              </p:cNvPr>
              <p:cNvSpPr/>
              <p:nvPr/>
            </p:nvSpPr>
            <p:spPr>
              <a:xfrm rot="14400000">
                <a:off x="10598272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7" name="cr9">
                <a:extLst>
                  <a:ext uri="{FF2B5EF4-FFF2-40B4-BE49-F238E27FC236}">
                    <a16:creationId xmlns:a16="http://schemas.microsoft.com/office/drawing/2014/main" id="{F1BF12FD-3AA8-1F4E-CF4B-A5521128E227}"/>
                  </a:ext>
                </a:extLst>
              </p:cNvPr>
              <p:cNvSpPr/>
              <p:nvPr/>
            </p:nvSpPr>
            <p:spPr>
              <a:xfrm rot="16200000">
                <a:off x="10572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8" name="cr10">
                <a:extLst>
                  <a:ext uri="{FF2B5EF4-FFF2-40B4-BE49-F238E27FC236}">
                    <a16:creationId xmlns:a16="http://schemas.microsoft.com/office/drawing/2014/main" id="{9CA1F17B-F32F-A482-6D21-72E21492192C}"/>
                  </a:ext>
                </a:extLst>
              </p:cNvPr>
              <p:cNvSpPr/>
              <p:nvPr/>
            </p:nvSpPr>
            <p:spPr>
              <a:xfrm rot="18000000">
                <a:off x="10598272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9" name="cr11">
                <a:extLst>
                  <a:ext uri="{FF2B5EF4-FFF2-40B4-BE49-F238E27FC236}">
                    <a16:creationId xmlns:a16="http://schemas.microsoft.com/office/drawing/2014/main" id="{A587C5C3-DF36-FFE8-90C5-DC6513F298B4}"/>
                  </a:ext>
                </a:extLst>
              </p:cNvPr>
              <p:cNvSpPr/>
              <p:nvPr/>
            </p:nvSpPr>
            <p:spPr>
              <a:xfrm rot="19800000">
                <a:off x="106680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</p:grp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탐색은 키워드 설계부터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 분해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주제를 검색 가능한 핵심 개념 단위로 분해한다.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어휘 확장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동의어·상위어·관련어로 검색어를 확장해 관련 문헌의 누락을 줄인다.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포함·제외 기준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포함/제외 기준을 설정해 검색 범위와 적합성을 통제한다.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 분해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동의어·상위어 확장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포함·제외 기준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861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AI의 역할과 경계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유용 영역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전략 수립·초록 요약·주제 분류 등 탐색 보조에 효과적이다.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 불가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검색 엔진이나 학술 DB를 대체하지는 못한다.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 원칙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문헌은 반드시 공인 학술 DB에서 직접 확보한다.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전략·요약·분류 유용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9C4221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검색 대체 불가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학술 DB에서 확보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2128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서지정보 환각 주의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서지 환각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존재하지 않는 제목·저자·DOI를 그럴듯하게 생성할 수 있다.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검증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서지정보는 원문·학술 DB에서 직접 대조·검증한다.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 활용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"제공한 정보만 사용" 제약으로 날조 위험을 낮춘다.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9C4221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서지정보 환각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원문·DB 직접 검증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"제공 정보만" 제약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733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정리 3단계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요약(annotation)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자료별 핵심 요지를 한 줄 주석으로 요약한다.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분류(classification)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쟁점·주제별로 자료를 분류해 구조를 부여한다.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인용(citation)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 등 단일 양식으로 인용 형식을 통일한다.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ar202"/>
          <p:cNvSpPr/>
          <p:nvPr/>
        </p:nvSpPr>
        <p:spPr>
          <a:xfrm>
            <a:off x="8801100" y="35560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ar203"/>
          <p:cNvSpPr/>
          <p:nvPr/>
        </p:nvSpPr>
        <p:spPr>
          <a:xfrm>
            <a:off x="8801100" y="44704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dn204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(annotation)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(classification)</a:t>
            </a:r>
          </a:p>
        </p:txBody>
      </p:sp>
      <p:sp>
        <p:nvSpPr>
          <p:cNvPr id="205" name="dn206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(citation)</a:t>
            </a:r>
          </a:p>
        </p:txBody>
      </p:sp>
      <p:pic>
        <p:nvPicPr>
          <p:cNvPr id="206" name="Graphic 2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3192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시연: 탐색·인용 정리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전략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주제로부터 키워드·불리언 조합 검색 전략을 생성한다.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요약·분류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수집한 초록을 요약하고 주제별로 분류한다.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한정 인용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정보에 한정해 APA 참고문헌 목록을 작성한다.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ar202"/>
          <p:cNvSpPr/>
          <p:nvPr/>
        </p:nvSpPr>
        <p:spPr>
          <a:xfrm>
            <a:off x="8801100" y="35560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ar203"/>
          <p:cNvSpPr/>
          <p:nvPr/>
        </p:nvSpPr>
        <p:spPr>
          <a:xfrm>
            <a:off x="8801100" y="44704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dn204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키워드·조합 전략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 요약·분류</a:t>
            </a:r>
          </a:p>
        </p:txBody>
      </p:sp>
      <p:sp>
        <p:nvSpPr>
          <p:cNvPr id="205" name="dn206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 목록 생성</a:t>
            </a:r>
          </a:p>
        </p:txBody>
      </p:sp>
      <p:pic>
        <p:nvPicPr>
          <p:cNvPr id="206" name="Graphic 2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8107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예제: 키워드 전략·인용 정리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175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연구 주제 → 키워드 전략·APA 정리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문헌 탐색 전략가로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"○○가 ○○에 미치는 영향".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분해 → 동의어·불리언 조합 → 포함/제외.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매트릭스 + 검색식(AND/OR).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서지정보 생성 금지. 제공 초록만 요약·정리.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1750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기대 출력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키워드 매트릭스 + 검색식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("키워드A" OR 동의어) AND …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DOI·저자 환각 여부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제공 정보 한정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APA 양식 일관성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검색식을 학술 DB에 직접 입력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검증된 참고문헌 목록</a:t>
            </a:r>
          </a:p>
        </p:txBody>
      </p:sp>
    </p:spTree>
    <p:extLst>
      <p:ext uri="{BB962C8B-B14F-4D97-AF65-F5344CB8AC3E}">
        <p14:creationId xmlns:p14="http://schemas.microsoft.com/office/powerpoint/2010/main" val="16902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&amp; 산출물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연구 주제의 키워드 전략과 주제별 분류표를 작성한다.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출처가 검증된 일관 양식의 참고문헌 목록을 완성한다.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594100"/>
            <a:ext cx="50800" cy="12700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3251200"/>
            <a:ext cx="3810000" cy="6858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전략 + 분류표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4521200"/>
            <a:ext cx="3810000" cy="6858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참고문헌 목록</a:t>
            </a:r>
          </a:p>
        </p:txBody>
      </p:sp>
      <p:pic>
        <p:nvPicPr>
          <p:cNvPr id="204" name="Graphic 20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262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· 6교시 — 검색식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심화: 고급 검색식·DB 변환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기법 — 재현 가능 탐색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정밀 문헌 탐색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[불리언]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(개념A OR 동의어) AND (개념B) NOT 제외어.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[절단·인접]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truncation(*)·근접 연산자를 활용한다.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[DB 변환]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식을 Scopus/PubMed 문법으로 변환한다.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[프레임]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PICO/PCC로 리뷰 질문을 분해한다.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서지정보(저자·DOI) 생성을 금지한다.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효과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재현 가능한 검색 전략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MeSH·필드 태그 적용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점검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서지 환각 여부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검색식 재현성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DB별 문법 정확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검색식을 학술 DB에 직접 입력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검색 전략표</a:t>
            </a:r>
          </a:p>
        </p:txBody>
      </p:sp>
    </p:spTree>
    <p:extLst>
      <p:ext uri="{BB962C8B-B14F-4D97-AF65-F5344CB8AC3E}">
        <p14:creationId xmlns:p14="http://schemas.microsoft.com/office/powerpoint/2010/main" val="30454254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7교시  ·  17:00–17:50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연구 업무용 Claude Project 구축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Project와 일반 대화의 차이(맥락의 영속성)를 설명한다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맥락을 담은 지침(custom instructions)을 작성한다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참조 자료를 지식으로 등록해 재사용 환경을 구성한다</a:t>
            </a:r>
            <a:endParaRPr lang="en-US" sz="15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2CB0E0C-55E6-234B-7DE6-CF59868F7C75}"/>
              </a:ext>
            </a:extLst>
          </p:cNvPr>
          <p:cNvGrpSpPr/>
          <p:nvPr/>
        </p:nvGrpSpPr>
        <p:grpSpPr>
          <a:xfrm>
            <a:off x="10566426" y="631351"/>
            <a:ext cx="1117600" cy="1117600"/>
            <a:chOff x="10115666" y="1808408"/>
            <a:chExt cx="1117600" cy="1117600"/>
          </a:xfrm>
        </p:grpSpPr>
        <p:sp>
          <p:nvSpPr>
            <p:cNvPr id="6" name="csq">
              <a:extLst>
                <a:ext uri="{FF2B5EF4-FFF2-40B4-BE49-F238E27FC236}">
                  <a16:creationId xmlns:a16="http://schemas.microsoft.com/office/drawing/2014/main" id="{2F667530-5B39-7DA6-2F8B-EA1143D17D8A}"/>
                </a:ext>
              </a:extLst>
            </p:cNvPr>
            <p:cNvSpPr/>
            <p:nvPr/>
          </p:nvSpPr>
          <p:spPr>
            <a:xfrm>
              <a:off x="10115666" y="1808408"/>
              <a:ext cx="1117600" cy="1117600"/>
            </a:xfrm>
            <a:prstGeom prst="roundRect">
              <a:avLst>
                <a:gd name="adj" fmla="val 24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D7C7E48-9DC3-2A3D-0E80-148EF8CB7C8D}"/>
                </a:ext>
              </a:extLst>
            </p:cNvPr>
            <p:cNvGrpSpPr/>
            <p:nvPr/>
          </p:nvGrpSpPr>
          <p:grpSpPr>
            <a:xfrm>
              <a:off x="10205720" y="1887220"/>
              <a:ext cx="921626" cy="921626"/>
              <a:chOff x="10439400" y="914400"/>
              <a:chExt cx="711200" cy="711200"/>
            </a:xfrm>
          </p:grpSpPr>
          <p:sp>
            <p:nvSpPr>
              <p:cNvPr id="8" name="cr0">
                <a:extLst>
                  <a:ext uri="{FF2B5EF4-FFF2-40B4-BE49-F238E27FC236}">
                    <a16:creationId xmlns:a16="http://schemas.microsoft.com/office/drawing/2014/main" id="{E9FE7FDF-BB99-5351-E2AB-901716E9278C}"/>
                  </a:ext>
                </a:extLst>
              </p:cNvPr>
              <p:cNvSpPr/>
              <p:nvPr/>
            </p:nvSpPr>
            <p:spPr>
              <a:xfrm>
                <a:off x="10763250" y="914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" name="cr1">
                <a:extLst>
                  <a:ext uri="{FF2B5EF4-FFF2-40B4-BE49-F238E27FC236}">
                    <a16:creationId xmlns:a16="http://schemas.microsoft.com/office/drawing/2014/main" id="{64A6AE98-46E4-854E-F7DA-5120D326D18C}"/>
                  </a:ext>
                </a:extLst>
              </p:cNvPr>
              <p:cNvSpPr/>
              <p:nvPr/>
            </p:nvSpPr>
            <p:spPr>
              <a:xfrm rot="1800000">
                <a:off x="108585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0" name="cr2">
                <a:extLst>
                  <a:ext uri="{FF2B5EF4-FFF2-40B4-BE49-F238E27FC236}">
                    <a16:creationId xmlns:a16="http://schemas.microsoft.com/office/drawing/2014/main" id="{CA475499-2799-FAEE-3276-DE513FD54AAF}"/>
                  </a:ext>
                </a:extLst>
              </p:cNvPr>
              <p:cNvSpPr/>
              <p:nvPr/>
            </p:nvSpPr>
            <p:spPr>
              <a:xfrm rot="3600000">
                <a:off x="10928228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1" name="cr3">
                <a:extLst>
                  <a:ext uri="{FF2B5EF4-FFF2-40B4-BE49-F238E27FC236}">
                    <a16:creationId xmlns:a16="http://schemas.microsoft.com/office/drawing/2014/main" id="{E941293F-7695-D072-7044-A63F7C4AF5DB}"/>
                  </a:ext>
                </a:extLst>
              </p:cNvPr>
              <p:cNvSpPr/>
              <p:nvPr/>
            </p:nvSpPr>
            <p:spPr>
              <a:xfrm rot="5400000">
                <a:off x="10953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2" name="cr4">
                <a:extLst>
                  <a:ext uri="{FF2B5EF4-FFF2-40B4-BE49-F238E27FC236}">
                    <a16:creationId xmlns:a16="http://schemas.microsoft.com/office/drawing/2014/main" id="{1571C609-BEF9-43D5-88E7-0A6E6E366EC8}"/>
                  </a:ext>
                </a:extLst>
              </p:cNvPr>
              <p:cNvSpPr/>
              <p:nvPr/>
            </p:nvSpPr>
            <p:spPr>
              <a:xfrm rot="7200000">
                <a:off x="10928228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3" name="cr5">
                <a:extLst>
                  <a:ext uri="{FF2B5EF4-FFF2-40B4-BE49-F238E27FC236}">
                    <a16:creationId xmlns:a16="http://schemas.microsoft.com/office/drawing/2014/main" id="{3F321BE0-1521-BBB9-2A63-34A45CD0F35F}"/>
                  </a:ext>
                </a:extLst>
              </p:cNvPr>
              <p:cNvSpPr/>
              <p:nvPr/>
            </p:nvSpPr>
            <p:spPr>
              <a:xfrm rot="9000000">
                <a:off x="108585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4" name="cr6">
                <a:extLst>
                  <a:ext uri="{FF2B5EF4-FFF2-40B4-BE49-F238E27FC236}">
                    <a16:creationId xmlns:a16="http://schemas.microsoft.com/office/drawing/2014/main" id="{04C01B66-FF31-1F27-F860-F95BA2AB79FF}"/>
                  </a:ext>
                </a:extLst>
              </p:cNvPr>
              <p:cNvSpPr/>
              <p:nvPr/>
            </p:nvSpPr>
            <p:spPr>
              <a:xfrm rot="10800000">
                <a:off x="10763250" y="1295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5" name="cr7">
                <a:extLst>
                  <a:ext uri="{FF2B5EF4-FFF2-40B4-BE49-F238E27FC236}">
                    <a16:creationId xmlns:a16="http://schemas.microsoft.com/office/drawing/2014/main" id="{222C1599-D012-298D-DA8B-36931A7CEB4B}"/>
                  </a:ext>
                </a:extLst>
              </p:cNvPr>
              <p:cNvSpPr/>
              <p:nvPr/>
            </p:nvSpPr>
            <p:spPr>
              <a:xfrm rot="12600000">
                <a:off x="106680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6" name="cr8">
                <a:extLst>
                  <a:ext uri="{FF2B5EF4-FFF2-40B4-BE49-F238E27FC236}">
                    <a16:creationId xmlns:a16="http://schemas.microsoft.com/office/drawing/2014/main" id="{88E7394F-B70A-9239-3106-7A68C78536B5}"/>
                  </a:ext>
                </a:extLst>
              </p:cNvPr>
              <p:cNvSpPr/>
              <p:nvPr/>
            </p:nvSpPr>
            <p:spPr>
              <a:xfrm rot="14400000">
                <a:off x="10598272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7" name="cr9">
                <a:extLst>
                  <a:ext uri="{FF2B5EF4-FFF2-40B4-BE49-F238E27FC236}">
                    <a16:creationId xmlns:a16="http://schemas.microsoft.com/office/drawing/2014/main" id="{571D360E-6822-E6F5-87BB-1A4CE406C961}"/>
                  </a:ext>
                </a:extLst>
              </p:cNvPr>
              <p:cNvSpPr/>
              <p:nvPr/>
            </p:nvSpPr>
            <p:spPr>
              <a:xfrm rot="16200000">
                <a:off x="10572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8" name="cr10">
                <a:extLst>
                  <a:ext uri="{FF2B5EF4-FFF2-40B4-BE49-F238E27FC236}">
                    <a16:creationId xmlns:a16="http://schemas.microsoft.com/office/drawing/2014/main" id="{9D035E96-F54A-0744-C158-BD119042CCF5}"/>
                  </a:ext>
                </a:extLst>
              </p:cNvPr>
              <p:cNvSpPr/>
              <p:nvPr/>
            </p:nvSpPr>
            <p:spPr>
              <a:xfrm rot="18000000">
                <a:off x="10598272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9" name="cr11">
                <a:extLst>
                  <a:ext uri="{FF2B5EF4-FFF2-40B4-BE49-F238E27FC236}">
                    <a16:creationId xmlns:a16="http://schemas.microsoft.com/office/drawing/2014/main" id="{0FDBFE2A-4585-2102-E109-EB09BA4E6B0C}"/>
                  </a:ext>
                </a:extLst>
              </p:cNvPr>
              <p:cNvSpPr/>
              <p:nvPr/>
            </p:nvSpPr>
            <p:spPr>
              <a:xfrm rot="19800000">
                <a:off x="106680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</p:grp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반복 설명의 비효율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입력의 비효율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대화마다 연구 배경을 재입력해야 하는 비효율이 누적된다.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 결여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맥락이 매번 달라 산출물의 형식·품질이 일관되지 않는다.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해결책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맥락을 영속화하는 전용 Project로 이 문제를 구조적으로 해소한다.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9C4221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입력 비효율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9C4221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일관성 결여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전용 Project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067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영속 캡슐화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지침(instructions)과 지식(knowledge)을 영속적으로 캡슐화한 작업 공간이다.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 설정·전체 적용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맥락을 한 번 설정하면 그 Project의 모든 대화에 자동 적용된다.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작업실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과업을 위한 '나만의 연구 작업실'로 기능한다.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0" name="hbring"/>
          <p:cNvSpPr/>
          <p:nvPr/>
        </p:nvSpPr>
        <p:spPr>
          <a:xfrm>
            <a:off x="7493000" y="2565400"/>
            <a:ext cx="2997200" cy="2997200"/>
          </a:xfrm>
          <a:prstGeom prst="ellipse">
            <a:avLst/>
          </a:prstGeom>
          <a:noFill/>
          <a:ln w="25400">
            <a:solidFill>
              <a:srgbClr val="C2603D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1" name="hb302"/>
          <p:cNvSpPr/>
          <p:nvPr/>
        </p:nvSpPr>
        <p:spPr>
          <a:xfrm>
            <a:off x="8153400" y="2336800"/>
            <a:ext cx="1676400" cy="457200"/>
          </a:xfrm>
          <a:prstGeom prst="roundRect">
            <a:avLst>
              <a:gd name="adj" fmla="val 22000"/>
            </a:avLst>
          </a:prstGeom>
          <a:solidFill>
            <a:srgbClr val="1E3A5F"/>
          </a:solidFill>
          <a:ln>
            <a:noFill/>
          </a:ln>
        </p:spPr>
        <p:txBody>
          <a:bodyPr lIns="18000" rIns="18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지침 (instructions)</a:t>
            </a:r>
          </a:p>
        </p:txBody>
      </p:sp>
      <p:sp>
        <p:nvSpPr>
          <p:cNvPr id="302" name="hb303"/>
          <p:cNvSpPr/>
          <p:nvPr/>
        </p:nvSpPr>
        <p:spPr>
          <a:xfrm>
            <a:off x="9652000" y="3835400"/>
            <a:ext cx="1676400" cy="457200"/>
          </a:xfrm>
          <a:prstGeom prst="roundRect">
            <a:avLst>
              <a:gd name="adj" fmla="val 22000"/>
            </a:avLst>
          </a:prstGeom>
          <a:solidFill>
            <a:srgbClr val="1E3A5F"/>
          </a:solidFill>
          <a:ln>
            <a:noFill/>
          </a:ln>
        </p:spPr>
        <p:txBody>
          <a:bodyPr lIns="18000" rIns="18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(knowledge)</a:t>
            </a:r>
          </a:p>
        </p:txBody>
      </p:sp>
      <p:sp>
        <p:nvSpPr>
          <p:cNvPr id="303" name="hb304"/>
          <p:cNvSpPr/>
          <p:nvPr/>
        </p:nvSpPr>
        <p:spPr>
          <a:xfrm>
            <a:off x="8153400" y="5334000"/>
            <a:ext cx="1676400" cy="457200"/>
          </a:xfrm>
          <a:prstGeom prst="roundRect">
            <a:avLst>
              <a:gd name="adj" fmla="val 22000"/>
            </a:avLst>
          </a:prstGeom>
          <a:solidFill>
            <a:srgbClr val="1E3A5F"/>
          </a:solidFill>
          <a:ln>
            <a:noFill/>
          </a:ln>
        </p:spPr>
        <p:txBody>
          <a:bodyPr lIns="18000" rIns="18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맥락 영속</a:t>
            </a:r>
          </a:p>
        </p:txBody>
      </p:sp>
      <p:sp>
        <p:nvSpPr>
          <p:cNvPr id="304" name="hb305"/>
          <p:cNvSpPr/>
          <p:nvPr/>
        </p:nvSpPr>
        <p:spPr>
          <a:xfrm>
            <a:off x="6654800" y="3835400"/>
            <a:ext cx="1676400" cy="457200"/>
          </a:xfrm>
          <a:prstGeom prst="roundRect">
            <a:avLst>
              <a:gd name="adj" fmla="val 22000"/>
            </a:avLst>
          </a:prstGeom>
          <a:solidFill>
            <a:srgbClr val="1E3A5F"/>
          </a:solidFill>
          <a:ln>
            <a:noFill/>
          </a:ln>
        </p:spPr>
        <p:txBody>
          <a:bodyPr lIns="18000" rIns="18000" rtlCol="0" anchor="ctr">
            <a:normAutofit/>
          </a:bodyPr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대화 적용</a:t>
            </a:r>
          </a:p>
        </p:txBody>
      </p:sp>
      <p:sp>
        <p:nvSpPr>
          <p:cNvPr id="305" name="hbc"/>
          <p:cNvSpPr/>
          <p:nvPr/>
        </p:nvSpPr>
        <p:spPr>
          <a:xfrm>
            <a:off x="8331200" y="3403600"/>
            <a:ext cx="1320800" cy="1320800"/>
          </a:xfrm>
          <a:prstGeom prst="ellipse">
            <a:avLst/>
          </a:prstGeom>
          <a:solidFill>
            <a:srgbClr val="9C4221"/>
          </a:solidFill>
          <a:ln w="38100">
            <a:solidFill>
              <a:srgbClr val="FFFFFF"/>
            </a:solidFill>
          </a:ln>
        </p:spPr>
        <p:txBody>
          <a:bodyPr lIns="10000" rIns="10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9045678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지침(instructions) 구성요소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분야 · 대상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분야와 대상 독자를 명시해 응답의 전문 수준을 고정한다.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어조 · 형식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선호하는 어조와 출력 형식(표·단락 등)을 규정한다.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규칙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불확실한 사항은 "확인 필요"로 표기하도록 규칙화한다.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분야 · 대상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어조 · 출력 형식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규칙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394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지식(knowledge) 등록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대상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용어집·선행 논문·문서 양식 등을 지식 자료로 등록한다.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참조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반복적으로 참조하는 자료를 한곳에 모아 재사용한다.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제공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자료가 응답의 사실적 근거를 제공해 신뢰성을 높인다.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용어집 · 논문 · 양식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참조 자료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응답의 근거 제공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663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재현성 시연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재수행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1의 산출물 과업을 Project 환경에서 다시 수행한다.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지시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지시만으로 일관된 형식의 산출물을 얻는다.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생략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배경을 재입력하지 않고도 동일한 품질을 재현한다.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ar202"/>
          <p:cNvSpPr/>
          <p:nvPr/>
        </p:nvSpPr>
        <p:spPr>
          <a:xfrm>
            <a:off x="8801100" y="35560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ar203"/>
          <p:cNvSpPr/>
          <p:nvPr/>
        </p:nvSpPr>
        <p:spPr>
          <a:xfrm>
            <a:off x="8801100" y="4470400"/>
            <a:ext cx="330200" cy="2286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dn204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Project에서 재수행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지시</a:t>
            </a:r>
          </a:p>
        </p:txBody>
      </p:sp>
      <p:sp>
        <p:nvSpPr>
          <p:cNvPr id="205" name="dn206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없이 재현</a:t>
            </a:r>
          </a:p>
        </p:txBody>
      </p:sp>
      <p:pic>
        <p:nvPicPr>
          <p:cNvPr id="206" name="Graphic 2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86660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예제: 연구용 Claude Project 구축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40" name="we541"/>
          <p:cNvSpPr/>
          <p:nvPr/>
        </p:nvSpPr>
        <p:spPr>
          <a:xfrm>
            <a:off x="546100" y="1955800"/>
            <a:ext cx="5740400" cy="3175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설정 — Project 만들기</a:t>
            </a:r>
          </a:p>
          <a:p>
            <a:pPr algn="l">
              <a:lnSpc>
                <a:spcPct val="110000"/>
              </a:lnSpc>
              <a:spcBef>
                <a:spcPts val="26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반복 연구 업무용 Project 구축</a:t>
            </a:r>
          </a:p>
          <a:p>
            <a:pPr algn="l">
              <a:lnSpc>
                <a:spcPct val="116000"/>
              </a:lnSpc>
              <a:spcBef>
                <a:spcPts val="56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[지침]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분야·대상 독자·형식·어조를 고정한다.</a:t>
            </a:r>
          </a:p>
          <a:p>
            <a:pPr algn="l">
              <a:lnSpc>
                <a:spcPct val="116000"/>
              </a:lnSpc>
              <a:spcBef>
                <a:spcPts val="46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[지식]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용어집·선행 논문·문서 양식을 업로드한다.</a:t>
            </a:r>
          </a:p>
          <a:p>
            <a:pPr algn="l">
              <a:lnSpc>
                <a:spcPct val="116000"/>
              </a:lnSpc>
              <a:spcBef>
                <a:spcPts val="46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산출물을 짧은 지시로 재수행한다.</a:t>
            </a:r>
          </a:p>
          <a:p>
            <a:pPr algn="l">
              <a:lnSpc>
                <a:spcPct val="116000"/>
              </a:lnSpc>
              <a:spcBef>
                <a:spcPts val="46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[검증]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불확실 시 "확인 필요" 규칙을 넣는다.</a:t>
            </a:r>
          </a:p>
          <a:p>
            <a:pPr algn="l">
              <a:lnSpc>
                <a:spcPct val="114000"/>
              </a:lnSpc>
              <a:spcBef>
                <a:spcPts val="560"/>
              </a:spcBef>
              <a:buNone/>
            </a:pPr>
            <a:r>
              <a:rPr lang="ko-KR" sz="1300" b="0" i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연구용·교육용 Project를 분리해 운영한다.</a:t>
            </a:r>
          </a:p>
        </p:txBody>
      </p:sp>
      <p:sp>
        <p:nvSpPr>
          <p:cNvPr id="541" name="we542"/>
          <p:cNvSpPr/>
          <p:nvPr/>
        </p:nvSpPr>
        <p:spPr>
          <a:xfrm>
            <a:off x="6553200" y="1955800"/>
            <a:ext cx="4876800" cy="31750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기대 결과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재사용 Project(지침 + 지식)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"초록 교정해줘" → 일관 형식 산출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배경 재입력 없이 재현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출력 형식 일관성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검증 규칙 동작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claude.ai Projects → 지침·지식 등록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운영용 연구 Project</a:t>
            </a:r>
          </a:p>
        </p:txBody>
      </p:sp>
    </p:spTree>
    <p:extLst>
      <p:ext uri="{BB962C8B-B14F-4D97-AF65-F5344CB8AC3E}">
        <p14:creationId xmlns:p14="http://schemas.microsoft.com/office/powerpoint/2010/main" val="27654827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팁 &amp; 마무리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461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 개정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지침은 운영하면서 지속적으로 개정해 정교화한다.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분리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연구용·교육용 Project를 목적별로 분리해 운영한다.</a:t>
            </a:r>
          </a:p>
          <a:p>
            <a:pPr marL="254000" indent="-2540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— </a:t>
            </a:r>
            <a:r>
              <a:rPr lang="ko-KR" sz="17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내용을 정리하고 Day 2 일정을 예고한다.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200" name="panel"/>
          <p:cNvSpPr/>
          <p:nvPr/>
        </p:nvSpPr>
        <p:spPr>
          <a:xfrm>
            <a:off x="6553200" y="2133600"/>
            <a:ext cx="4876800" cy="38100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rl202"/>
          <p:cNvSpPr/>
          <p:nvPr/>
        </p:nvSpPr>
        <p:spPr>
          <a:xfrm>
            <a:off x="8940800" y="3213100"/>
            <a:ext cx="50800" cy="18288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2" name="dn203"/>
          <p:cNvSpPr/>
          <p:nvPr/>
        </p:nvSpPr>
        <p:spPr>
          <a:xfrm>
            <a:off x="7061200" y="28956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지침 지속 개정</a:t>
            </a:r>
          </a:p>
        </p:txBody>
      </p:sp>
      <p:sp>
        <p:nvSpPr>
          <p:cNvPr id="203" name="dn204"/>
          <p:cNvSpPr/>
          <p:nvPr/>
        </p:nvSpPr>
        <p:spPr>
          <a:xfrm>
            <a:off x="7061200" y="3810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연구용·교육용 분리</a:t>
            </a:r>
          </a:p>
        </p:txBody>
      </p:sp>
      <p:sp>
        <p:nvSpPr>
          <p:cNvPr id="204" name="dn205"/>
          <p:cNvSpPr/>
          <p:nvPr/>
        </p:nvSpPr>
        <p:spPr>
          <a:xfrm>
            <a:off x="7061200" y="47244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</p:spPr>
        <p:txBody>
          <a:bodyPr lIns="36000" rIns="36000" rtlCol="0" anchor="ctr">
            <a:normAutofit/>
          </a:bodyPr>
          <a:lstStyle/>
          <a:p>
            <a:pPr algn="ctr"/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정리 · Day 2 예고</a:t>
            </a:r>
          </a:p>
        </p:txBody>
      </p:sp>
      <p:pic>
        <p:nvPicPr>
          <p:cNvPr id="205" name="Graphic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286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2580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· 7교시 — Project 운영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심화: Project 운영·버전·공유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기법 — 장기 운영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Project 장기 운영·확장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[버전 관리]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지침 변경 이력을 날짜로 메모한다.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[모듈화]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연구용/교육용/행정용을 분리한다.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[지식 갱신]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추가 시 색인 라인을 갱신한다.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[공유]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Project로 표준 지침을 공유한다.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민감자료 접근 권한을 점검한다.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효과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일관·확장 가능한 운영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지침 v1.2 변경 메모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점검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접근 권한 점검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버전 변경 기록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지식 최신성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Projects 설정 → 지침·지식 갱신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Project 운영 가이드</a:t>
            </a:r>
          </a:p>
        </p:txBody>
      </p:sp>
    </p:spTree>
    <p:extLst>
      <p:ext uri="{BB962C8B-B14F-4D97-AF65-F5344CB8AC3E}">
        <p14:creationId xmlns:p14="http://schemas.microsoft.com/office/powerpoint/2010/main" val="32312052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05000" cy="10058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 · 심화 레퍼런스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Claude로 모든 지적 활동을</a:t>
            </a:r>
            <a:endParaRPr lang="en-US" sz="2800" dirty="0"/>
          </a:p>
        </p:txBody>
      </p:sp>
      <p:sp>
        <p:nvSpPr>
          <p:cNvPr id="600" name="hsub"/>
          <p:cNvSpPr/>
          <p:nvPr/>
        </p:nvSpPr>
        <p:spPr>
          <a:xfrm>
            <a:off x="546100" y="190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rtlCol="0" anchor="t"/>
          <a:lstStyle/>
          <a:p>
            <a:pPr algn="l">
              <a:buNone/>
            </a:pPr>
            <a:r>
              <a:rPr lang="ko-KR" sz="1800" dirty="0">
                <a:solidFill>
                  <a:srgbClr val="C9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연구를 넘어 강의·동료심사·발표·행정까지 — Claude 하나의 작업 흐름으로</a:t>
            </a:r>
          </a:p>
        </p:txBody>
      </p:sp>
      <p:sp>
        <p:nvSpPr>
          <p:cNvPr id="601" name="hpanel"/>
          <p:cNvSpPr/>
          <p:nvPr/>
        </p:nvSpPr>
        <p:spPr>
          <a:xfrm>
            <a:off x="546100" y="2692400"/>
            <a:ext cx="11099800" cy="32512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E8A33D">
                <a:alpha val="50000"/>
              </a:srgbClr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602" name="hcell"/>
          <p:cNvSpPr/>
          <p:nvPr/>
        </p:nvSpPr>
        <p:spPr>
          <a:xfrm>
            <a:off x="889000" y="2895600"/>
            <a:ext cx="5080000" cy="1219200"/>
          </a:xfrm>
          <a:prstGeom prst="rect">
            <a:avLst/>
          </a:prstGeom>
          <a:noFill/>
          <a:ln>
            <a:noFill/>
          </a:ln>
        </p:spPr>
        <p:txBody>
          <a:bodyPr lIns="177800" rtlCol="0" anchor="ctr"/>
          <a:lstStyle/>
          <a:p>
            <a:pPr algn="l">
              <a:buNone/>
            </a:pPr>
            <a:r>
              <a:rPr lang="ko-KR" sz="19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 </a:t>
            </a:r>
            <a:r>
              <a:rPr lang="ko-KR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교육·강의 설계</a:t>
            </a:r>
          </a:p>
          <a:p>
            <a:pPr marL="203200" algn="l">
              <a:buNone/>
            </a:pPr>
            <a:r>
              <a:rPr lang="ko-KR" sz="1400" dirty="0">
                <a:solidFill>
                  <a:srgbClr val="C9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강의계획서·강의안·퀴즈·채점 루브릭</a:t>
            </a:r>
          </a:p>
        </p:txBody>
      </p:sp>
      <p:sp>
        <p:nvSpPr>
          <p:cNvPr id="603" name="hcell"/>
          <p:cNvSpPr/>
          <p:nvPr/>
        </p:nvSpPr>
        <p:spPr>
          <a:xfrm>
            <a:off x="6096000" y="2895600"/>
            <a:ext cx="5080000" cy="1219200"/>
          </a:xfrm>
          <a:prstGeom prst="rect">
            <a:avLst/>
          </a:prstGeom>
          <a:noFill/>
          <a:ln>
            <a:noFill/>
          </a:ln>
        </p:spPr>
        <p:txBody>
          <a:bodyPr lIns="177800" rtlCol="0" anchor="ctr"/>
          <a:lstStyle/>
          <a:p>
            <a:pPr algn="l">
              <a:buNone/>
            </a:pPr>
            <a:r>
              <a:rPr lang="ko-KR" sz="19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 </a:t>
            </a:r>
            <a:r>
              <a:rPr lang="ko-KR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동료심사·학술 발표</a:t>
            </a:r>
          </a:p>
          <a:p>
            <a:pPr marL="203200" algn="l">
              <a:buNone/>
            </a:pPr>
            <a:r>
              <a:rPr lang="ko-KR" sz="1400" dirty="0">
                <a:solidFill>
                  <a:srgbClr val="C9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리뷰·발표 스크립트·포스터</a:t>
            </a:r>
          </a:p>
        </p:txBody>
      </p:sp>
      <p:sp>
        <p:nvSpPr>
          <p:cNvPr id="604" name="hcell"/>
          <p:cNvSpPr/>
          <p:nvPr/>
        </p:nvSpPr>
        <p:spPr>
          <a:xfrm>
            <a:off x="889000" y="4368800"/>
            <a:ext cx="5080000" cy="1219200"/>
          </a:xfrm>
          <a:prstGeom prst="rect">
            <a:avLst/>
          </a:prstGeom>
          <a:noFill/>
          <a:ln>
            <a:noFill/>
          </a:ln>
        </p:spPr>
        <p:txBody>
          <a:bodyPr lIns="177800" rtlCol="0" anchor="ctr"/>
          <a:lstStyle/>
          <a:p>
            <a:pPr algn="l">
              <a:buNone/>
            </a:pPr>
            <a:r>
              <a:rPr lang="ko-KR" sz="19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 </a:t>
            </a:r>
            <a:r>
              <a:rPr lang="ko-KR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코드·통계 분석 심화</a:t>
            </a:r>
          </a:p>
          <a:p>
            <a:pPr marL="203200" algn="l">
              <a:buNone/>
            </a:pPr>
            <a:r>
              <a:rPr lang="ko-KR" sz="1400" dirty="0">
                <a:solidFill>
                  <a:srgbClr val="C9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R/Python·디버깅·분석 설계</a:t>
            </a:r>
          </a:p>
        </p:txBody>
      </p:sp>
      <p:sp>
        <p:nvSpPr>
          <p:cNvPr id="605" name="hcell"/>
          <p:cNvSpPr/>
          <p:nvPr/>
        </p:nvSpPr>
        <p:spPr>
          <a:xfrm>
            <a:off x="6096000" y="4368800"/>
            <a:ext cx="5080000" cy="1219200"/>
          </a:xfrm>
          <a:prstGeom prst="rect">
            <a:avLst/>
          </a:prstGeom>
          <a:noFill/>
          <a:ln>
            <a:noFill/>
          </a:ln>
        </p:spPr>
        <p:txBody>
          <a:bodyPr lIns="177800" rtlCol="0" anchor="ctr"/>
          <a:lstStyle/>
          <a:p>
            <a:pPr algn="l">
              <a:buNone/>
            </a:pPr>
            <a:r>
              <a:rPr lang="ko-KR" sz="19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 </a:t>
            </a:r>
            <a:r>
              <a:rPr lang="ko-KR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행정·소통·프롬프트 테크닉</a:t>
            </a:r>
          </a:p>
          <a:p>
            <a:pPr marL="203200" algn="l">
              <a:buNone/>
            </a:pPr>
            <a:r>
              <a:rPr lang="ko-KR" sz="1400" dirty="0">
                <a:solidFill>
                  <a:srgbClr val="C9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추천서·이메일·그랜트 + 기법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C885E99-FCAB-5F60-7268-54DA805A91A2}"/>
              </a:ext>
            </a:extLst>
          </p:cNvPr>
          <p:cNvGrpSpPr/>
          <p:nvPr/>
        </p:nvGrpSpPr>
        <p:grpSpPr>
          <a:xfrm>
            <a:off x="10566426" y="631351"/>
            <a:ext cx="1117600" cy="1117600"/>
            <a:chOff x="10115666" y="1808408"/>
            <a:chExt cx="1117600" cy="1117600"/>
          </a:xfrm>
        </p:grpSpPr>
        <p:sp>
          <p:nvSpPr>
            <p:cNvPr id="6" name="csq">
              <a:extLst>
                <a:ext uri="{FF2B5EF4-FFF2-40B4-BE49-F238E27FC236}">
                  <a16:creationId xmlns:a16="http://schemas.microsoft.com/office/drawing/2014/main" id="{39C64252-1868-5B86-A058-A1C3DEC247B1}"/>
                </a:ext>
              </a:extLst>
            </p:cNvPr>
            <p:cNvSpPr/>
            <p:nvPr/>
          </p:nvSpPr>
          <p:spPr>
            <a:xfrm>
              <a:off x="10115666" y="1808408"/>
              <a:ext cx="1117600" cy="1117600"/>
            </a:xfrm>
            <a:prstGeom prst="roundRect">
              <a:avLst>
                <a:gd name="adj" fmla="val 24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E3595B2-5A79-09FC-0347-B48D3D4BCE9F}"/>
                </a:ext>
              </a:extLst>
            </p:cNvPr>
            <p:cNvGrpSpPr/>
            <p:nvPr/>
          </p:nvGrpSpPr>
          <p:grpSpPr>
            <a:xfrm>
              <a:off x="10205720" y="1887220"/>
              <a:ext cx="921626" cy="921626"/>
              <a:chOff x="10439400" y="914400"/>
              <a:chExt cx="711200" cy="711200"/>
            </a:xfrm>
          </p:grpSpPr>
          <p:sp>
            <p:nvSpPr>
              <p:cNvPr id="8" name="cr0">
                <a:extLst>
                  <a:ext uri="{FF2B5EF4-FFF2-40B4-BE49-F238E27FC236}">
                    <a16:creationId xmlns:a16="http://schemas.microsoft.com/office/drawing/2014/main" id="{E5B8EA71-FA75-FE2B-DC36-F42FF716BBB3}"/>
                  </a:ext>
                </a:extLst>
              </p:cNvPr>
              <p:cNvSpPr/>
              <p:nvPr/>
            </p:nvSpPr>
            <p:spPr>
              <a:xfrm>
                <a:off x="10763250" y="914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" name="cr1">
                <a:extLst>
                  <a:ext uri="{FF2B5EF4-FFF2-40B4-BE49-F238E27FC236}">
                    <a16:creationId xmlns:a16="http://schemas.microsoft.com/office/drawing/2014/main" id="{BD613A5A-11CD-6683-ADA1-B3E2FF2A6A79}"/>
                  </a:ext>
                </a:extLst>
              </p:cNvPr>
              <p:cNvSpPr/>
              <p:nvPr/>
            </p:nvSpPr>
            <p:spPr>
              <a:xfrm rot="1800000">
                <a:off x="108585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0" name="cr2">
                <a:extLst>
                  <a:ext uri="{FF2B5EF4-FFF2-40B4-BE49-F238E27FC236}">
                    <a16:creationId xmlns:a16="http://schemas.microsoft.com/office/drawing/2014/main" id="{CCD67B54-63BD-56EB-65F9-E5EA0C3D914B}"/>
                  </a:ext>
                </a:extLst>
              </p:cNvPr>
              <p:cNvSpPr/>
              <p:nvPr/>
            </p:nvSpPr>
            <p:spPr>
              <a:xfrm rot="3600000">
                <a:off x="10928228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1" name="cr3">
                <a:extLst>
                  <a:ext uri="{FF2B5EF4-FFF2-40B4-BE49-F238E27FC236}">
                    <a16:creationId xmlns:a16="http://schemas.microsoft.com/office/drawing/2014/main" id="{BB99E346-CF7A-7C68-8AC9-5C2D4F890E40}"/>
                  </a:ext>
                </a:extLst>
              </p:cNvPr>
              <p:cNvSpPr/>
              <p:nvPr/>
            </p:nvSpPr>
            <p:spPr>
              <a:xfrm rot="5400000">
                <a:off x="10953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2" name="cr4">
                <a:extLst>
                  <a:ext uri="{FF2B5EF4-FFF2-40B4-BE49-F238E27FC236}">
                    <a16:creationId xmlns:a16="http://schemas.microsoft.com/office/drawing/2014/main" id="{14A80BAE-3629-BF21-2F69-04B318817E02}"/>
                  </a:ext>
                </a:extLst>
              </p:cNvPr>
              <p:cNvSpPr/>
              <p:nvPr/>
            </p:nvSpPr>
            <p:spPr>
              <a:xfrm rot="7200000">
                <a:off x="10928228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3" name="cr5">
                <a:extLst>
                  <a:ext uri="{FF2B5EF4-FFF2-40B4-BE49-F238E27FC236}">
                    <a16:creationId xmlns:a16="http://schemas.microsoft.com/office/drawing/2014/main" id="{B6F5AAED-9264-8793-67F5-4D18A0B18320}"/>
                  </a:ext>
                </a:extLst>
              </p:cNvPr>
              <p:cNvSpPr/>
              <p:nvPr/>
            </p:nvSpPr>
            <p:spPr>
              <a:xfrm rot="9000000">
                <a:off x="108585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4" name="cr6">
                <a:extLst>
                  <a:ext uri="{FF2B5EF4-FFF2-40B4-BE49-F238E27FC236}">
                    <a16:creationId xmlns:a16="http://schemas.microsoft.com/office/drawing/2014/main" id="{29A01CF3-C188-604C-6566-4A18A9DC8710}"/>
                  </a:ext>
                </a:extLst>
              </p:cNvPr>
              <p:cNvSpPr/>
              <p:nvPr/>
            </p:nvSpPr>
            <p:spPr>
              <a:xfrm rot="10800000">
                <a:off x="10763250" y="1295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5" name="cr7">
                <a:extLst>
                  <a:ext uri="{FF2B5EF4-FFF2-40B4-BE49-F238E27FC236}">
                    <a16:creationId xmlns:a16="http://schemas.microsoft.com/office/drawing/2014/main" id="{7865BB74-F07E-6285-F708-BA63F840C325}"/>
                  </a:ext>
                </a:extLst>
              </p:cNvPr>
              <p:cNvSpPr/>
              <p:nvPr/>
            </p:nvSpPr>
            <p:spPr>
              <a:xfrm rot="12600000">
                <a:off x="106680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6" name="cr8">
                <a:extLst>
                  <a:ext uri="{FF2B5EF4-FFF2-40B4-BE49-F238E27FC236}">
                    <a16:creationId xmlns:a16="http://schemas.microsoft.com/office/drawing/2014/main" id="{47F3CE21-FD94-2B8A-E57B-2E28B2A84314}"/>
                  </a:ext>
                </a:extLst>
              </p:cNvPr>
              <p:cNvSpPr/>
              <p:nvPr/>
            </p:nvSpPr>
            <p:spPr>
              <a:xfrm rot="14400000">
                <a:off x="10598272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7" name="cr9">
                <a:extLst>
                  <a:ext uri="{FF2B5EF4-FFF2-40B4-BE49-F238E27FC236}">
                    <a16:creationId xmlns:a16="http://schemas.microsoft.com/office/drawing/2014/main" id="{FA46A16E-9D1B-8AF7-2323-ED47A195FDCB}"/>
                  </a:ext>
                </a:extLst>
              </p:cNvPr>
              <p:cNvSpPr/>
              <p:nvPr/>
            </p:nvSpPr>
            <p:spPr>
              <a:xfrm rot="16200000">
                <a:off x="10572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8" name="cr10">
                <a:extLst>
                  <a:ext uri="{FF2B5EF4-FFF2-40B4-BE49-F238E27FC236}">
                    <a16:creationId xmlns:a16="http://schemas.microsoft.com/office/drawing/2014/main" id="{BE0CEDF9-C575-3EFA-9246-CD126B7BAB96}"/>
                  </a:ext>
                </a:extLst>
              </p:cNvPr>
              <p:cNvSpPr/>
              <p:nvPr/>
            </p:nvSpPr>
            <p:spPr>
              <a:xfrm rot="18000000">
                <a:off x="10598272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9" name="cr11">
                <a:extLst>
                  <a:ext uri="{FF2B5EF4-FFF2-40B4-BE49-F238E27FC236}">
                    <a16:creationId xmlns:a16="http://schemas.microsoft.com/office/drawing/2014/main" id="{1E585815-0A1B-5A38-2DD0-E6C67097E8D6}"/>
                  </a:ext>
                </a:extLst>
              </p:cNvPr>
              <p:cNvSpPr/>
              <p:nvPr/>
            </p:nvSpPr>
            <p:spPr>
              <a:xfrm rot="19800000">
                <a:off x="106680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639163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사례 실습 1 — 인문·사회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사례: 인터뷰 전사 질적 코딩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인터뷰 전사 → 주제 코딩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질적연구 코딩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첨부: 익명화된 인터뷰 전사본.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귀납적 코드 도출 → 범주화 → 대표 인용.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코드–범주–인용 표. 빈도 표기.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전사에 없는 해석 금지. 익명성 유지.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코드북 + 주제 범주표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코드 → 범주 → 대표 인용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인용–원문 일치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과잉 해석 여부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익명성 유지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전사 업로드 → 코드북 생성 → 재검토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재사용 코드북</a:t>
            </a:r>
          </a:p>
        </p:txBody>
      </p:sp>
    </p:spTree>
    <p:extLst>
      <p:ext uri="{BB962C8B-B14F-4D97-AF65-F5344CB8AC3E}">
        <p14:creationId xmlns:p14="http://schemas.microsoft.com/office/powerpoint/2010/main" val="9119435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사례 실습 2 — 이공·실험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사례: 실험 방법·오차 서술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실험 노트 → 논문 방법절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보고 작성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첨부: 실험 절차·측정값 메모.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방법(Methods) 서술 + 오차 요인 분석.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방법 문단 + 오차·한계 목록.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측정값은 메모 그대로. 추정 수치 금지.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방법절 초안 + 오차 분석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재현 가능한 절차 기술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측정값 정확 전사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단위·유효숫자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재현 가능성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메모 업로드 → 방법절 생성 → 검토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방법·오차 초안</a:t>
            </a:r>
          </a:p>
        </p:txBody>
      </p:sp>
    </p:spTree>
    <p:extLst>
      <p:ext uri="{BB962C8B-B14F-4D97-AF65-F5344CB8AC3E}">
        <p14:creationId xmlns:p14="http://schemas.microsoft.com/office/powerpoint/2010/main" val="378250203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사례 실습 3 — 의생명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사례: 체계적 고찰 PRISMA 보조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검색·선별 흐름 정리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체계적 문헌고찰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검색 건수·포함/제외 기준.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PRISMA 흐름(식별→선별→포함) + 제외 사유.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수치 표 + 사유 분류.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수치는 입력값만. 서지정보 생성 금지.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PRISMA 흐름표 + 제외 사유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식별 320 → 포함 18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단계별 합계 일치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제외 사유 명확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환각 서지 없음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수치 입력 → 흐름표 → DB와 대조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PRISMA 흐름표</a:t>
            </a:r>
          </a:p>
        </p:txBody>
      </p:sp>
    </p:spTree>
    <p:extLst>
      <p:ext uri="{BB962C8B-B14F-4D97-AF65-F5344CB8AC3E}">
        <p14:creationId xmlns:p14="http://schemas.microsoft.com/office/powerpoint/2010/main" val="4317135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사례 실습 4 — 교육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사례: 루브릭 기반 과제 피드백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학생 과제 → 루브릭 첨삭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교수의 채점·피드백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첨부: 과제 + 채점 루브릭(4단계).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평가 + 개선 피드백 + 점수 제안.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항목|수준|근거|개선 표 + 총평.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과제 인용. 최종 점수는 교수 확정.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루브릭 평가표 + 피드백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항목별 수준 + 개선점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근거–과제 일치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어조 건설적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최종 점수 교수 확정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과제 업로드 → 평가표 → 검토·확정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피드백 템플릿</a:t>
            </a:r>
          </a:p>
        </p:txBody>
      </p:sp>
    </p:spTree>
    <p:extLst>
      <p:ext uri="{BB962C8B-B14F-4D97-AF65-F5344CB8AC3E}">
        <p14:creationId xmlns:p14="http://schemas.microsoft.com/office/powerpoint/2010/main" val="36317537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사례 실습 5 — 연구 설계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사례: 아이디어 → 연구질문·가설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막연한 아이디어 구체화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설계 비평가로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관심 주제·예비 관찰.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연구질문 3안 + 가설 + 변수 + 약점 지적.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질문–가설–변수 표 + 한계.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검증가능성·범위 명시. 과장 금지.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연구질문·가설 후보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RQ → H → 변수 정렬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검증 가능성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변수 조작적 정의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범위 적정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후보 생성 → 지도·동료 검토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연구질문 노트</a:t>
            </a:r>
          </a:p>
        </p:txBody>
      </p:sp>
    </p:spTree>
    <p:extLst>
      <p:ext uri="{BB962C8B-B14F-4D97-AF65-F5344CB8AC3E}">
        <p14:creationId xmlns:p14="http://schemas.microsoft.com/office/powerpoint/2010/main" val="7259411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사례 실습 6 — 다국어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사례: 초록·발표 다국어 현지화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국문 초록 → 영문/타 언어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학술 번역·현지화 전문가로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국문 초록 + 대상 언어·학회.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학술 번역 + 용어 일관성 + 발표 자막 요약.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번역본 + 용어 대조표 + 60초 발표 요지.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보존. 표준 용어. 의역은 표기.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번역본 + 용어표 + 발표 요지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용어 일관성 점검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의미 보존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분야 표준 용어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수치·고유명 정확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번역 → 원문 대조 → 원어민 검수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이중언어 초록</a:t>
            </a:r>
          </a:p>
        </p:txBody>
      </p:sp>
    </p:spTree>
    <p:extLst>
      <p:ext uri="{BB962C8B-B14F-4D97-AF65-F5344CB8AC3E}">
        <p14:creationId xmlns:p14="http://schemas.microsoft.com/office/powerpoint/2010/main" val="168313890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단과대학별 사례 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단과대학별 Claude 활용 ① 인문·사회 계열</a:t>
            </a:r>
            <a:endParaRPr lang="en-US" sz="2800" dirty="0"/>
          </a:p>
        </p:txBody>
      </p:sp>
      <p:graphicFrame>
        <p:nvGraphicFramePr>
          <p:cNvPr id="700" name="dirtbl"/>
          <p:cNvGraphicFramePr>
            <a:graphicFrameLocks noGrp="1"/>
          </p:cNvGraphicFramePr>
          <p:nvPr/>
        </p:nvGraphicFramePr>
        <p:xfrm>
          <a:off x="546100" y="1930400"/>
          <a:ext cx="11099800" cy="3911600"/>
        </p:xfrm>
        <a:graphic>
          <a:graphicData uri="http://schemas.openxmlformats.org/drawingml/2006/table">
            <a:tbl>
              <a:tblPr firstRow="1"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단과대학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활용 과업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 프롬프트 초점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글로벌인문대학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사료·텍스트 비평 분석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역할=문헌학자 · 원문 인용 강제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법사회대학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판례·법령 요지·쟁점 정리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 한정 · 서지 환각 주의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경상대학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재무·시장 데이터 해석 리포트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수치 검산 · 상관 ≠ 인과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사범대학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교육과정·평가문항 설계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블룸 분류 · 채점 루브릭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글로벌학부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다국어 자료 번역·비교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의미 보존 · 표준 용어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3091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인문·사회 — 글로벌인문대학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글로벌인문대학: 사료·텍스트 비평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고전·1차 사료 분석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문헌학·텍스트 비평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첨부: 원문 발췌(원어/번역).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논지 요약 + 수사·맥락 분석 + 쟁점 도출.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논지–근거(원문 인용)–해석 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원문에 없는 사실 금지. 인용 정확.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비평 노트 + 쟁점표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논지 → 원문 인용 → 해석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인용 정확성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과잉 해석 여부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출처 표기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원문 업로드 → 분석 → 대조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비평 노트</a:t>
            </a:r>
          </a:p>
        </p:txBody>
      </p:sp>
    </p:spTree>
    <p:extLst>
      <p:ext uri="{BB962C8B-B14F-4D97-AF65-F5344CB8AC3E}">
        <p14:creationId xmlns:p14="http://schemas.microsoft.com/office/powerpoint/2010/main" val="305481337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인문·사회 — 법사회대학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법사회대학: 판례·법령 쟁점 정리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판례·법령 분석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 리서치 보조자로 행동한다(자문 아님).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판례/법령 텍스트.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사실관계·쟁점·판시 요약 + 학설 대비.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쟁점–판시–근거 표 + 한계.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텍스트만. 조문·판례 환각 금지.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쟁점 정리표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사실 → 쟁점 → 판시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조문·판례 환각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출처 한정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해석 한계 표기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원문과 직접 대조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판례 요지서</a:t>
            </a:r>
          </a:p>
        </p:txBody>
      </p:sp>
    </p:spTree>
    <p:extLst>
      <p:ext uri="{BB962C8B-B14F-4D97-AF65-F5344CB8AC3E}">
        <p14:creationId xmlns:p14="http://schemas.microsoft.com/office/powerpoint/2010/main" val="158137738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인문·사회 — 경상대학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경상대학: 재무·시장 데이터 해석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재무·시장 데이터 리포트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경영·경제 분석 리포트 작성자로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요약 재무/시장 지표.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추세·비교 해석 + 시사점 + 리스크.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요약–분석–시사점 구조.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수치는 검산. 상관 ≠ 인과.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분석 리포트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추세 → 해석 → 시사점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수치 별도 검산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가설적 표현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출처 확인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통계 도구 검산값과 대조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시장 분석 노트</a:t>
            </a:r>
          </a:p>
        </p:txBody>
      </p:sp>
    </p:spTree>
    <p:extLst>
      <p:ext uri="{BB962C8B-B14F-4D97-AF65-F5344CB8AC3E}">
        <p14:creationId xmlns:p14="http://schemas.microsoft.com/office/powerpoint/2010/main" val="38548915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인문·사회 — 사범대학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사범대학: 교육과정·평가문항 설계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단원 설계 + 평가 개발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교수설계·평가 전문가로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학년·교과·성취기준 제공.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 + 수업 흐름 + 평가문항 + 루브릭.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목표–활동–평가 정렬 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블룸 분류 동사. 난이도 표기.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수업 설계 키트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목표 → 활동 → 평가 정렬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목표–평가 정렬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문항 타당성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난이도 적정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표로 출력 → 검토·수정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수업 설계안</a:t>
            </a:r>
          </a:p>
        </p:txBody>
      </p:sp>
    </p:spTree>
    <p:extLst>
      <p:ext uri="{BB962C8B-B14F-4D97-AF65-F5344CB8AC3E}">
        <p14:creationId xmlns:p14="http://schemas.microsoft.com/office/powerpoint/2010/main" val="275077653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인문·사회 — 글로벌학부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글로벌학부: 다국어 자료 비교·번역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다국어 자료 비교·번역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학술 번역·비교 분석가로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2개 언어 자료/주제.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번역 + 핵심 비교 + 문화 맥락 주석.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원문–번역–주석 대조표.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보존. 표준 용어. 의역 표기.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이중언어 비교표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용어 일관성 점검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의미 보존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분야 표준 용어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고유명·수치 정확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원어민·원문 교차 검수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비교 번역 노트</a:t>
            </a:r>
          </a:p>
        </p:txBody>
      </p:sp>
    </p:spTree>
    <p:extLst>
      <p:ext uri="{BB962C8B-B14F-4D97-AF65-F5344CB8AC3E}">
        <p14:creationId xmlns:p14="http://schemas.microsoft.com/office/powerpoint/2010/main" val="29154711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단과대학별 사례 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단과대학별 Claude 활용 ② 자연·공학·IT 계열</a:t>
            </a:r>
            <a:endParaRPr lang="en-US" sz="2800" dirty="0"/>
          </a:p>
        </p:txBody>
      </p:sp>
      <p:graphicFrame>
        <p:nvGraphicFramePr>
          <p:cNvPr id="700" name="dirtbl"/>
          <p:cNvGraphicFramePr>
            <a:graphicFrameLocks noGrp="1"/>
          </p:cNvGraphicFramePr>
          <p:nvPr/>
        </p:nvGraphicFramePr>
        <p:xfrm>
          <a:off x="546100" y="1930400"/>
          <a:ext cx="11099800" cy="3225800"/>
        </p:xfrm>
        <a:graphic>
          <a:graphicData uri="http://schemas.openxmlformats.org/drawingml/2006/table">
            <a:tbl>
              <a:tblPr firstRow="1"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단과대학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활용 과업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 프롬프트 초점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자연과학·공공보건안전대학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실험 데이터·안전 프로토콜 정리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측정값 그대로 · 가정 점검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공과대학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설계·시뮬레이션 결과 서술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단위·유효숫자 · 재현성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IT융합대학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코드 리뷰·디버깅·문서화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실행 검증 · 보안 유의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미래사회융합대학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융합 주제 문헌 종합·동향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분야 교차 용어 정의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56590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자연·공학·IT — 자연과학·공공보건안전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자연과학·공공보건안전대학: 실험·안전 프로토콜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실험 데이터·안전 점검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실험·안전 보고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첨부: 실험 절차·측정 메모.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서술 + 안전 위험 점검표.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 표 + 위험·대응 목록.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측정값 그대로. 추정 수치 금지.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방법절 + 안전 점검표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절차 → 위험 → 대응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측정값 정확 전사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단위·유효숫자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안전 기준 반영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메모 업로드 → 점검표 생성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실험·안전 노트</a:t>
            </a:r>
          </a:p>
        </p:txBody>
      </p:sp>
    </p:spTree>
    <p:extLst>
      <p:ext uri="{BB962C8B-B14F-4D97-AF65-F5344CB8AC3E}">
        <p14:creationId xmlns:p14="http://schemas.microsoft.com/office/powerpoint/2010/main" val="216315486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자연·공학·IT — 공과대학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공과대학: 설계·시뮬레이션 결과 서술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설계·시뮬레이션 결과 보고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공학 보고 작성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설계 변수·결과 데이터.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해석 + 설계 검토 + 개선안.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결과–해석–개선 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단위·유효숫자 준수. 재현성 명시.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 해석 + 개선안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결과 → 해석 → 개선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단위·유효숫자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가정·조건 명시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재현 가능성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데이터 업로드 → 해석 → 검토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결과 보고 초안</a:t>
            </a:r>
          </a:p>
        </p:txBody>
      </p:sp>
    </p:spTree>
    <p:extLst>
      <p:ext uri="{BB962C8B-B14F-4D97-AF65-F5344CB8AC3E}">
        <p14:creationId xmlns:p14="http://schemas.microsoft.com/office/powerpoint/2010/main" val="29423198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자연·공학·IT — IT융합대학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IT융합대학: 코드 리뷰·디버깅·문서화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코드 리뷰·디버깅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리뷰어·문서화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코드/오류 로그.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+ 버그 수정안 + 문서화.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이슈–원인–수정 표 + 주석.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실행 검증. 보안·민감정보 주의.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리뷰 의견 + 수정안 + 문서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이슈 → 원인 → 수정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직접 실행 결과 일치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엣지 케이스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보안 점검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코드 붙여넣기 → 리뷰 → 로컬 검증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리뷰·수정 로그</a:t>
            </a:r>
          </a:p>
        </p:txBody>
      </p:sp>
    </p:spTree>
    <p:extLst>
      <p:ext uri="{BB962C8B-B14F-4D97-AF65-F5344CB8AC3E}">
        <p14:creationId xmlns:p14="http://schemas.microsoft.com/office/powerpoint/2010/main" val="82335514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자연·공학·IT — 미래사회융합대학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미래사회융합대학: 융합 주제 문헌 종합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학제간 주제 종합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학제간 연구 종합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복수 분야 자료.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 개념 정리 + 쟁점 종합 + 연결.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매핑 + 종합 노트.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분야별 용어 정의. 출처 명시.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개념 매핑 + 종합 노트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분야 A ↔ B 개념 연결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용어 정의 일관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출처 표기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비약 없는 연결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자료 업로드 → 종합 → 검토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융합 종합 노트</a:t>
            </a:r>
          </a:p>
        </p:txBody>
      </p:sp>
    </p:spTree>
    <p:extLst>
      <p:ext uri="{BB962C8B-B14F-4D97-AF65-F5344CB8AC3E}">
        <p14:creationId xmlns:p14="http://schemas.microsoft.com/office/powerpoint/2010/main" val="139648696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단과대학별 사례 ③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단과대학별 Claude 활용 ③ 의·치·약·보건 계열</a:t>
            </a:r>
            <a:endParaRPr lang="en-US" sz="2800" dirty="0"/>
          </a:p>
        </p:txBody>
      </p:sp>
      <p:graphicFrame>
        <p:nvGraphicFramePr>
          <p:cNvPr id="700" name="dirtbl"/>
          <p:cNvGraphicFramePr>
            <a:graphicFrameLocks noGrp="1"/>
          </p:cNvGraphicFramePr>
          <p:nvPr/>
        </p:nvGraphicFramePr>
        <p:xfrm>
          <a:off x="546100" y="1930400"/>
          <a:ext cx="11099800" cy="3225800"/>
        </p:xfrm>
        <a:graphic>
          <a:graphicData uri="http://schemas.openxmlformats.org/drawingml/2006/table">
            <a:tbl>
              <a:tblPr firstRow="1"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단과대학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활용 과업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 프롬프트 초점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의과대학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체계적 고찰·증례 요약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PRISMA · 환각 서지 주의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치과대학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임상 프로토콜·환자 설명문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기반 · 개인정보 보호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약학대학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약물 상호작용·문헌 정리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 검증 · 수치 정확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보건대학원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역학 데이터 해석·서술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 가정 · 효과크기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56956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의·치·약·보건 — 의과대학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의과대학: 체계적 고찰·증례 요약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문헌 고찰·증례 정리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의학 문헌 종합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첨부: 논문/증례 자료.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PRISMA 흐름 + 증례 핵심 요약.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흐름표 + 증례 요약 카드.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서지 주의. 개인정보 보호.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고찰 흐름표 + 증례 요약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식별 → 선별 → 포함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서지 환각 여부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수치 원문 일치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개인정보 비식별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자료 업로드 → 요약 → DB 대조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고찰·증례 노트</a:t>
            </a:r>
          </a:p>
        </p:txBody>
      </p:sp>
    </p:spTree>
    <p:extLst>
      <p:ext uri="{BB962C8B-B14F-4D97-AF65-F5344CB8AC3E}">
        <p14:creationId xmlns:p14="http://schemas.microsoft.com/office/powerpoint/2010/main" val="377692119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의·치·약·보건 — 치과대학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치과대학: 임상 프로토콜·환자 설명문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임상 절차·환자 안내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임상 문서 작성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시술·재료 정보.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프로토콜 정리 + 환자용 설명문.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표 + 쉬운 설명문.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기반. 개인정보·과장 금지.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프로토콜 + 환자 설명문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단계 → 주의 → 안내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근거 기반 여부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환자 이해 수준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개인정보 보호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초안 생성 → 임상 검토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임상 문서 세트</a:t>
            </a:r>
          </a:p>
        </p:txBody>
      </p:sp>
    </p:spTree>
    <p:extLst>
      <p:ext uri="{BB962C8B-B14F-4D97-AF65-F5344CB8AC3E}">
        <p14:creationId xmlns:p14="http://schemas.microsoft.com/office/powerpoint/2010/main" val="209175393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의·치·약·보건 — 약학대학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약학대학: 약물 상호작용·문헌 정리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약물·문헌 정리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약학 문헌 정리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약물 정보·문헌.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상호작용 요약 + 근거 정리.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약물–기전–근거 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검증. 수치·용량 정확.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상호작용 요약표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약물 → 기전 → 근거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출처·서지 검증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용량·수치 정확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환각 정보 점검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문헌 업로드 → 정리 → DB 대조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약물 정리 노트</a:t>
            </a:r>
          </a:p>
        </p:txBody>
      </p:sp>
    </p:spTree>
    <p:extLst>
      <p:ext uri="{BB962C8B-B14F-4D97-AF65-F5344CB8AC3E}">
        <p14:creationId xmlns:p14="http://schemas.microsoft.com/office/powerpoint/2010/main" val="218605386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의·치·약·보건 — 보건대학원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보건대학원: 역학 데이터 해석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역학 데이터 해석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역학 분석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요약 통계·지표.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패턴 해석 + 위험요인 정리.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요약–결과–시사점 구조.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가정·효과크기. 상관 ≠ 인과.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역학 해석 리포트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위험요인 → 효과크기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통계 가정 충족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효과크기·CI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상관 ≠ 인과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도구 검산값과 대조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역학 분석 노트</a:t>
            </a:r>
          </a:p>
        </p:txBody>
      </p:sp>
    </p:spTree>
    <p:extLst>
      <p:ext uri="{BB962C8B-B14F-4D97-AF65-F5344CB8AC3E}">
        <p14:creationId xmlns:p14="http://schemas.microsoft.com/office/powerpoint/2010/main" val="45701187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단과대학별 사례 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단과대학별 Claude 활용 ④ 예술·체육 계열</a:t>
            </a:r>
            <a:endParaRPr lang="en-US" sz="2800" dirty="0"/>
          </a:p>
        </p:txBody>
      </p:sp>
      <p:graphicFrame>
        <p:nvGraphicFramePr>
          <p:cNvPr id="700" name="dirtbl"/>
          <p:cNvGraphicFramePr>
            <a:graphicFrameLocks noGrp="1"/>
          </p:cNvGraphicFramePr>
          <p:nvPr/>
        </p:nvGraphicFramePr>
        <p:xfrm>
          <a:off x="546100" y="1930400"/>
          <a:ext cx="11099800" cy="2540000"/>
        </p:xfrm>
        <a:graphic>
          <a:graphicData uri="http://schemas.openxmlformats.org/drawingml/2006/table">
            <a:tbl>
              <a:tblPr firstRow="1"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단과대학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활용 과업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 프롬프트 초점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미술대학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작가노트·전시 기획서 작성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개념 구조화 · 표절 주의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체육대학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운동 프로그램·측정 데이터 분석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해석 · 안전 유의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디자인대학원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리서치·사용자 조사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인터뷰 코딩 · 시각 설명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271131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예술·체육 — 미술대학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미술대학: 작가노트·전시 기획서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작품 비평·전시 기획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미술 비평·기획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작품 설명·콘셉트.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작가노트 + 전시 서문 + 키워드.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콘셉트–의도–맥락 구조.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구조화. 표절·차용 주의.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작가노트 + 전시 서문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콘셉트 → 의도 → 맥락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독창성·표절 점검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개념 일관성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사실 인용 정확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콘셉트 입력 → 초안 → 다듬기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작가노트 세트</a:t>
            </a:r>
          </a:p>
        </p:txBody>
      </p:sp>
    </p:spTree>
    <p:extLst>
      <p:ext uri="{BB962C8B-B14F-4D97-AF65-F5344CB8AC3E}">
        <p14:creationId xmlns:p14="http://schemas.microsoft.com/office/powerpoint/2010/main" val="335122194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예술·체육 — 체육대학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체육대학: 운동 프로그램·측정 분석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프로그램 설계·측정 분석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운동과학 분석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측정 데이터·대상 정보.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설계 + 데이터 해석.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표 + 해석 문단.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근거. 안전·부상 유의.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운동 프로그램 + 해석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측정 → 해석 → 처방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데이터 근거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안전 기준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과잉 일반화 주의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데이터 업로드 → 해석 → 검토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운동 프로그램 노트</a:t>
            </a:r>
          </a:p>
        </p:txBody>
      </p:sp>
    </p:spTree>
    <p:extLst>
      <p:ext uri="{BB962C8B-B14F-4D97-AF65-F5344CB8AC3E}">
        <p14:creationId xmlns:p14="http://schemas.microsoft.com/office/powerpoint/2010/main" val="46187814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예술·체육 — 디자인대학원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디자인대학원: 디자인 리서치·사용자 조사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사용자 조사·인사이트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UX 리서치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첨부: 인터뷰·관찰 자료.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 + 인사이트 + 페르소나.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코드–인사이트 표 + 페르소나.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일치. 과잉 해석 주의.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인사이트 + 페르소나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코드 → 인사이트 → 기회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인용–원문 일치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과잉 해석 여부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편향 점검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자료 업로드 → 코딩 → 검토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리서치 노트</a:t>
            </a:r>
          </a:p>
        </p:txBody>
      </p:sp>
    </p:spTree>
    <p:extLst>
      <p:ext uri="{BB962C8B-B14F-4D97-AF65-F5344CB8AC3E}">
        <p14:creationId xmlns:p14="http://schemas.microsoft.com/office/powerpoint/2010/main" val="243072599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단과대학별 사례 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단과대학별 Claude 활용 ⑤ 융합·자율전공 계열</a:t>
            </a:r>
            <a:endParaRPr lang="en-US" sz="2800" dirty="0"/>
          </a:p>
        </p:txBody>
      </p:sp>
      <p:graphicFrame>
        <p:nvGraphicFramePr>
          <p:cNvPr id="700" name="dirtbl"/>
          <p:cNvGraphicFramePr>
            <a:graphicFrameLocks noGrp="1"/>
          </p:cNvGraphicFramePr>
          <p:nvPr/>
        </p:nvGraphicFramePr>
        <p:xfrm>
          <a:off x="546100" y="1930400"/>
          <a:ext cx="11099800" cy="3225800"/>
        </p:xfrm>
        <a:graphic>
          <a:graphicData uri="http://schemas.openxmlformats.org/drawingml/2006/table">
            <a:tbl>
              <a:tblPr firstRow="1"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단과대학·전공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활용 과업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 프롬프트 초점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자유전공학부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진로·전공 탐색 설계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연구질문 정교화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연계·융합전공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교과 매핑·커리큘럼 설계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목표–평가 정렬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마이크로전공·CSU나노인증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역량 기반 모듈 설계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성취기준 도출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학생자율설계전공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자기설계 계획서 작성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타당성·범위 점검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091067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융합·자율 — 자유전공학부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자유전공학부: 진로·전공 탐색 설계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진로·전공 탐색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진로·학습 설계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관심사·역량·목표.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전공 조합 + 학습 경로 + 근거.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목표–경로–근거 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가능한 목표. 범위 과장 금지.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전공 탐색 경로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관심 → 전공 → 경로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목표 구체성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경로 현실성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근거 타당성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초안 생성 → 지도교수 검토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진로 설계 노트</a:t>
            </a:r>
          </a:p>
        </p:txBody>
      </p:sp>
    </p:spTree>
    <p:extLst>
      <p:ext uri="{BB962C8B-B14F-4D97-AF65-F5344CB8AC3E}">
        <p14:creationId xmlns:p14="http://schemas.microsoft.com/office/powerpoint/2010/main" val="192224821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융합·자율 — 연계·융합전공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연계·융합전공: 교과 매핑·커리큘럼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융합 커리큘럼 설계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커리큘럼 설계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학과 교과·역량 목표.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 매핑 + 모듈 + 평가 설계.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목표–교과–평가 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목표–평가 정렬. 중복 점검.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교과 매핑 + 모듈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역량 → 교과 → 평가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목표–평가 정렬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교과 중복·공백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이수 체계 타당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표로 출력 → 위원회 검토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커리큘럼 맵</a:t>
            </a:r>
          </a:p>
        </p:txBody>
      </p:sp>
    </p:spTree>
    <p:extLst>
      <p:ext uri="{BB962C8B-B14F-4D97-AF65-F5344CB8AC3E}">
        <p14:creationId xmlns:p14="http://schemas.microsoft.com/office/powerpoint/2010/main" val="288517811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융합·자율 — 마이크로전공·CSU나노인증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마이크로전공·CSU나노인증: 역량 모듈 설계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역량 기반 모듈 설계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역량기반 교육 설계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인증 요건·역량 정의.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+ 성취기준 + 평가 설계.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역량–기준–평가 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성취기준 명확. 인증 요건 충족.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역량 모듈 + 성취기준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역량 → 기준 → 평가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성취기준 측정 가능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인증 요건 충족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평가 정렬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요건 입력 → 모듈 설계 → 검토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모듈 설계서</a:t>
            </a:r>
          </a:p>
        </p:txBody>
      </p:sp>
    </p:spTree>
    <p:extLst>
      <p:ext uri="{BB962C8B-B14F-4D97-AF65-F5344CB8AC3E}">
        <p14:creationId xmlns:p14="http://schemas.microsoft.com/office/powerpoint/2010/main" val="66899422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융합·자율 — 학생자율설계전공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학생자율설계전공: 자기설계 계획서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자기설계 전공 계획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자기설계 전공 코치로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학생 목표·관심 분야.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전공 구성 + 과목 + 근거 + 계획.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목표–과목–근거 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타당성·범위 점검. 졸업 요건 확인.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자기설계 계획서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목표 → 과목 → 근거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목표 타당성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졸업 요건 충족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과목 연계성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초안 → 지도교수·위원회 검토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전공 설계 계획서</a:t>
            </a:r>
          </a:p>
        </p:txBody>
      </p:sp>
    </p:spTree>
    <p:extLst>
      <p:ext uri="{BB962C8B-B14F-4D97-AF65-F5344CB8AC3E}">
        <p14:creationId xmlns:p14="http://schemas.microsoft.com/office/powerpoint/2010/main" val="421673440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단과대학별 사례 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단과대학별 Claude 활용 ⑥ 전문대학원 계열</a:t>
            </a:r>
            <a:endParaRPr lang="en-US" sz="2800" dirty="0"/>
          </a:p>
        </p:txBody>
      </p:sp>
      <p:graphicFrame>
        <p:nvGraphicFramePr>
          <p:cNvPr id="700" name="dirtbl"/>
          <p:cNvGraphicFramePr>
            <a:graphicFrameLocks noGrp="1"/>
          </p:cNvGraphicFramePr>
          <p:nvPr/>
        </p:nvGraphicFramePr>
        <p:xfrm>
          <a:off x="546100" y="1905000"/>
          <a:ext cx="11099800" cy="3657600"/>
        </p:xfrm>
        <a:graphic>
          <a:graphicData uri="http://schemas.openxmlformats.org/drawingml/2006/table">
            <a:tbl>
              <a:tblPr firstRow="1"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대학원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활용 과업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 프롬프트 초점</a:t>
                      </a:r>
                    </a:p>
                  </a:txBody>
                  <a:tcPr marL="88900" marR="88900" marT="38100" marB="38100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대학원·미래인재융합대학원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학위논문 구조·문헌 매트릭스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재현성 · 인용 정리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교육대학원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수업 설계·실행연구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루브릭 · 데이터 해석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경영대학원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사례연구·시장 분석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수치 검산 · 프레임워크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산업기술창업대학원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사업계획·특허 선행조사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요건 매핑 · 출처 검증</a:t>
                      </a:r>
                    </a:p>
                  </a:txBody>
                  <a:tcPr marL="88900" marR="88900" marT="38100" marB="38100" anchor="ctr"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ko-KR" sz="1400" b="1" dirty="0">
                          <a:solidFill>
                            <a:srgbClr val="1E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정책대학원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 분석·이해관계자 매핑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>
                          <a:solidFill>
                            <a:srgbClr val="1B19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기반 · 균형 관점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28918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전문대학원 — 대학원·미래인재융합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대학원: 학위논문 구조·문헌 매트릭스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학위논문 설계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학위논문 작성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주제·수집 문헌.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구조 설계 + 리뷰 매트릭스.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 구성안 + 문헌 비교표.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재현성. 인용·서지 정리 정확.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구조안 + 비교 매트릭스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장 구성 → 문헌 비교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인용 정확성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논리 구조 일관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서지 환각 점검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문헌 업로드 → 매트릭스 → 검토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논문 설계·매트릭스</a:t>
            </a:r>
          </a:p>
        </p:txBody>
      </p:sp>
    </p:spTree>
    <p:extLst>
      <p:ext uri="{BB962C8B-B14F-4D97-AF65-F5344CB8AC3E}">
        <p14:creationId xmlns:p14="http://schemas.microsoft.com/office/powerpoint/2010/main" val="165467617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전문대학원 — 교육대학원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교육대학원: 수업 설계·실행연구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실행연구 설계·분석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실행연구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수업 맥락·관찰 자료.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설계 + 자료 분석 + 성찰.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설계–실행–성찰 구조.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루브릭 기반. 데이터 해석 신중.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수업 설계 + 분석 노트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설계 → 실행 → 성찰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목표–평가 정렬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데이터 근거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연구 윤리·동의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자료 업로드 → 분석 → 검토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실행연구 노트</a:t>
            </a:r>
          </a:p>
        </p:txBody>
      </p:sp>
    </p:spTree>
    <p:extLst>
      <p:ext uri="{BB962C8B-B14F-4D97-AF65-F5344CB8AC3E}">
        <p14:creationId xmlns:p14="http://schemas.microsoft.com/office/powerpoint/2010/main" val="318959064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전문대학원 — 경영대학원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경영대학원: 사례연구·시장 분석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경영 사례·시장 분석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 사례 분석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기업·시장 자료.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 분석 + 전략 제언.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프레임워크(SWOT 등) 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 검산. 프레임워크 근거.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사례 분석 + 전략안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현황 → 분석 → 제언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수치 검산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프레임워크 적합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출처 확인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자료 업로드 → 분석 → 검토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사례 분석 노트</a:t>
            </a:r>
          </a:p>
        </p:txBody>
      </p:sp>
    </p:spTree>
    <p:extLst>
      <p:ext uri="{BB962C8B-B14F-4D97-AF65-F5344CB8AC3E}">
        <p14:creationId xmlns:p14="http://schemas.microsoft.com/office/powerpoint/2010/main" val="236003441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전문대학원 — 산업기술창업대학원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산업기술창업대학원: 사업계획·선행조사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사업계획·특허 선행조사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창업·기술이전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아이템·기술 설명.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사업계획 + 선행기술 정리.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요건–대응 표 + 요약.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요건 매핑. 출처·서지 검증.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사업계획 + 선행조사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요건 → 대응 → 차별성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요건 누락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선행기술 출처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과장 표현 점검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공고·DB와 대조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사업계획 초안</a:t>
            </a:r>
          </a:p>
        </p:txBody>
      </p:sp>
    </p:spTree>
    <p:extLst>
      <p:ext uri="{BB962C8B-B14F-4D97-AF65-F5344CB8AC3E}">
        <p14:creationId xmlns:p14="http://schemas.microsoft.com/office/powerpoint/2010/main" val="58058006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전문대학원 — 정책대학원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정책대학원: 정책 분석·이해관계자 매핑</a:t>
            </a:r>
            <a:endParaRPr lang="en-US" sz="28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정책 분석·이해관계자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분석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정책 이슈·자료.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+ 대안 + 이해관계자 매핑.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이슈–대안–영향 표.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기반. 균형·중립 관점.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정책 분석 + 매핑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이슈 → 대안 → 영향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근거·출처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관점 균형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이해관계자 누락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자료 업로드 → 분석 → 검토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정책 분석 노트</a:t>
            </a:r>
          </a:p>
        </p:txBody>
      </p:sp>
    </p:spTree>
    <p:extLst>
      <p:ext uri="{BB962C8B-B14F-4D97-AF65-F5344CB8AC3E}">
        <p14:creationId xmlns:p14="http://schemas.microsoft.com/office/powerpoint/2010/main" val="93625477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교육·강의 설계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 설계: 강의안·퀴즈·루브릭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학부 강의 1차시 설계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 과목 교수의 교수설계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대상: 학부 2학년 / 주제: "○○ 개론".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 3 + 50분 강의안 + 퀴즈 5문항 + 루브릭.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표(목표|활동|시간) · 퀴즈(정답·해설) · 4단계 루브릭.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Bloom 분류 동사 사용. 사실은 "검증 필요" 표기.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강의안 개요 · 퀴즈 · 채점 루브릭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목표 → 활동 → 형성평가 정렬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학습목표–평가 정렬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퀴즈 정답·해설 정확성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난이도·분량 적정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claude.ai → 표 출력 → 강의자료 반영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재사용 강의 설계 키트</a:t>
            </a:r>
          </a:p>
        </p:txBody>
      </p:sp>
    </p:spTree>
    <p:extLst>
      <p:ext uri="{BB962C8B-B14F-4D97-AF65-F5344CB8AC3E}">
        <p14:creationId xmlns:p14="http://schemas.microsoft.com/office/powerpoint/2010/main" val="182231738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동료심사·학술 발표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동료심사·발표: 리뷰·스크립트·포스터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논문 리뷰 + 학회 발표 준비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동료심사자 겸 발표 코치로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첨부: 초고 PDF 또는 발표 요지.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리뷰(강점·약점·제안) + 10분 발표 스크립트.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섹션별 심사평 · 시간배분 스크립트 · 포스터 블록.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비판은 건설적·구체적. 사실판단은 저자 책임.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심사 의견서 · 발표 스크립트 · 포스터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도입–방법–결과–함의 흐름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근거 기반 코멘트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발표 시간 배분 현실성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핵심 메시지 1개로 수렴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PDF 업로드 → 리뷰·스크립트 생성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심사 의견서 + 발표 키트</a:t>
            </a:r>
          </a:p>
        </p:txBody>
      </p:sp>
    </p:spTree>
    <p:extLst>
      <p:ext uri="{BB962C8B-B14F-4D97-AF65-F5344CB8AC3E}">
        <p14:creationId xmlns:p14="http://schemas.microsoft.com/office/powerpoint/2010/main" val="29447807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코드·통계 분석 심화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코드·통계: 분석 설계·스니펫·디버깅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설문 데이터 R 분석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재현가능 분석 보조 통계 코더로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데이터: CSV 변수 설명 첨부 / 도구: R(tidyverse).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계획 → 코드 스니펫 → 해석 → 디버깅.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코드 블록 + 주석 + 가정 점검.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 선택 근거 명시. 결과는 직접 실행·검증.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분석 계획 · R/Python 코드 · 해석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가정 점검 → 검정 → 효과크기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코드 직접 실행 결과 일치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검정 선택 근거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상관 ≠ 인과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코드 복사 → 로컬 실행 → 오류 회신·수정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재현가능 분석 스크립트</a:t>
            </a:r>
          </a:p>
        </p:txBody>
      </p:sp>
    </p:spTree>
    <p:extLst>
      <p:ext uri="{BB962C8B-B14F-4D97-AF65-F5344CB8AC3E}">
        <p14:creationId xmlns:p14="http://schemas.microsoft.com/office/powerpoint/2010/main" val="385662802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행정·소통 문서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행정·소통: 추천서·이메일·그랜트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— 복사해 사용</a:t>
            </a:r>
          </a:p>
          <a:p>
            <a:pPr algn="l">
              <a:lnSpc>
                <a:spcPct val="110000"/>
              </a:lnSpc>
              <a:spcBef>
                <a:spcPts val="240"/>
              </a:spcBef>
              <a:buNone/>
            </a:pPr>
            <a:r>
              <a:rPr lang="ko-KR" sz="1200" b="0" dirty="0">
                <a:solidFill>
                  <a:srgbClr val="C9B7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상황: 학생 추천서 + 공식 영문 이메일</a:t>
            </a:r>
          </a:p>
          <a:p>
            <a:pPr algn="l">
              <a:lnSpc>
                <a:spcPct val="116000"/>
              </a:lnSpc>
              <a:spcBef>
                <a:spcPts val="5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학술 행정 문서 작성 보조자로 행동한다.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입력: 학생 성취 메모 / 수신자·목적.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[과업]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추천서 초안 + 정중한 이메일 + 그랜트 요약.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격식 문체 · 분량 지정 · 핵심 강조.</a:t>
            </a:r>
          </a:p>
          <a:p>
            <a:pPr algn="l">
              <a:lnSpc>
                <a:spcPct val="116000"/>
              </a:lnSpc>
              <a:spcBef>
                <a:spcPts val="42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과장·허위 금지. 개인정보 최소화. 사실 확인.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생성 산출물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추천서 · 이메일 · 그랜트 초록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목적–근거–요청 3단 구성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검증 체크포인트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사실·수치 정확성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어조·격식 적정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개인정보 최소화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초안 생성 → 본인 검토·수정 → 발송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재사용 문서 템플릿</a:t>
            </a:r>
          </a:p>
        </p:txBody>
      </p:sp>
    </p:spTree>
    <p:extLst>
      <p:ext uri="{BB962C8B-B14F-4D97-AF65-F5344CB8AC3E}">
        <p14:creationId xmlns:p14="http://schemas.microsoft.com/office/powerpoint/2010/main" val="128102470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프롬프트 테크닉 심화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테크닉: 정확도를 높이는 6가지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  <p:sp>
        <p:nvSpPr>
          <p:cNvPr id="520" name="we521"/>
          <p:cNvSpPr/>
          <p:nvPr/>
        </p:nvSpPr>
        <p:spPr>
          <a:xfrm>
            <a:off x="546100" y="1955800"/>
            <a:ext cx="5740400" cy="320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핵심 기법 — 바로 적용</a:t>
            </a:r>
          </a:p>
          <a:p>
            <a:pPr algn="l">
              <a:lnSpc>
                <a:spcPct val="116000"/>
              </a:lnSpc>
              <a:spcBef>
                <a:spcPts val="36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[역할]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"당신은 …로 행동한다" — 페르소나 고정.</a:t>
            </a:r>
          </a:p>
          <a:p>
            <a:pPr algn="l">
              <a:lnSpc>
                <a:spcPct val="116000"/>
              </a:lnSpc>
              <a:spcBef>
                <a:spcPts val="36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[예시]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few-shot — 원하는 형식 1~2개 샘플 제시.</a:t>
            </a:r>
          </a:p>
          <a:p>
            <a:pPr algn="l">
              <a:lnSpc>
                <a:spcPct val="116000"/>
              </a:lnSpc>
              <a:spcBef>
                <a:spcPts val="36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"단계별로 추론한 뒤 결론" — 추론 유도.</a:t>
            </a:r>
          </a:p>
          <a:p>
            <a:pPr algn="l">
              <a:lnSpc>
                <a:spcPct val="116000"/>
              </a:lnSpc>
              <a:spcBef>
                <a:spcPts val="36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[형식]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표·JSON·불릿 등 출력 구조 명시.</a:t>
            </a:r>
          </a:p>
          <a:p>
            <a:pPr algn="l">
              <a:lnSpc>
                <a:spcPct val="116000"/>
              </a:lnSpc>
              <a:spcBef>
                <a:spcPts val="36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[개선]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"방금 답을 ○○ 기준으로 개선" — 반복.</a:t>
            </a:r>
          </a:p>
          <a:p>
            <a:pPr algn="l">
              <a:lnSpc>
                <a:spcPct val="116000"/>
              </a:lnSpc>
              <a:spcBef>
                <a:spcPts val="360"/>
              </a:spcBef>
              <a:buNone/>
            </a:pPr>
            <a:r>
              <a:rPr lang="ko-KR" sz="1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[맥락] </a:t>
            </a:r>
            <a:r>
              <a:rPr lang="ko-KR" sz="1400" b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자료는 분할·요약 후 투입.</a:t>
            </a:r>
          </a:p>
        </p:txBody>
      </p:sp>
      <p:sp>
        <p:nvSpPr>
          <p:cNvPr id="521" name="we522"/>
          <p:cNvSpPr/>
          <p:nvPr/>
        </p:nvSpPr>
        <p:spPr>
          <a:xfrm>
            <a:off x="6553200" y="1955800"/>
            <a:ext cx="4876800" cy="3200400"/>
          </a:xfrm>
          <a:prstGeom prst="roundRect">
            <a:avLst>
              <a:gd name="adj" fmla="val 5000"/>
            </a:avLst>
          </a:prstGeom>
          <a:solidFill>
            <a:srgbClr val="F6F2EA"/>
          </a:solidFill>
          <a:ln>
            <a:noFill/>
          </a:ln>
        </p:spPr>
        <p:txBody>
          <a:bodyPr lIns="203200" tIns="165100" rIns="203200" bIns="12700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효과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정확성·일관성·재현성 향상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300" b="0" i="1" dirty="0">
                <a:solidFill>
                  <a:srgbClr val="6B5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기법 유무로 출력 품질 비교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주의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과도한 지시 → 혼선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few-shot 예시 품질이 결과 좌우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긴 맥락은 핵심만</a:t>
            </a:r>
          </a:p>
          <a:p>
            <a:pPr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병행 · 산출물</a:t>
            </a:r>
          </a:p>
          <a:p>
            <a:pPr algn="l">
              <a:lnSpc>
                <a:spcPct val="110000"/>
              </a:lnSpc>
              <a:spcBef>
                <a:spcPts val="18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과업에 기법 전/후 비교</a:t>
            </a:r>
          </a:p>
          <a:p>
            <a:pPr algn="l">
              <a:lnSpc>
                <a:spcPct val="110000"/>
              </a:lnSpc>
              <a:spcBef>
                <a:spcPts val="110"/>
              </a:spcBef>
              <a:buNone/>
            </a:pPr>
            <a:r>
              <a:rPr lang="ko-KR" sz="1400" b="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산출물: 나의 프롬프트 기법 체크리스트</a:t>
            </a:r>
          </a:p>
        </p:txBody>
      </p:sp>
    </p:spTree>
    <p:extLst>
      <p:ext uri="{BB962C8B-B14F-4D97-AF65-F5344CB8AC3E}">
        <p14:creationId xmlns:p14="http://schemas.microsoft.com/office/powerpoint/2010/main" val="90456822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9BA60-8862-8B7C-F288-FFCFFA074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B99A4E-5F42-8D1C-6F2E-09E3EE27685C}"/>
              </a:ext>
            </a:extLst>
          </p:cNvPr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EFCAB4-18E5-14BA-02DD-3C6585A47470}"/>
              </a:ext>
            </a:extLst>
          </p:cNvPr>
          <p:cNvSpPr/>
          <p:nvPr/>
        </p:nvSpPr>
        <p:spPr>
          <a:xfrm>
            <a:off x="868680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25FB126-E97A-E878-3E2C-0540FF7C3C0C}"/>
              </a:ext>
            </a:extLst>
          </p:cNvPr>
          <p:cNvSpPr/>
          <p:nvPr/>
        </p:nvSpPr>
        <p:spPr>
          <a:xfrm>
            <a:off x="868680" y="2514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경청하여</a:t>
            </a:r>
            <a:r>
              <a:rPr lang="en-US" sz="5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54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주셔서</a:t>
            </a:r>
            <a:r>
              <a:rPr lang="en-US" sz="5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54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r>
              <a:rPr lang="en-US" altLang="ko-KR" sz="5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endParaRPr lang="en-US" sz="5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44B3CA7-5C68-7E34-06AB-6D33F32035E8}"/>
              </a:ext>
            </a:extLst>
          </p:cNvPr>
          <p:cNvSpPr/>
          <p:nvPr/>
        </p:nvSpPr>
        <p:spPr>
          <a:xfrm>
            <a:off x="868680" y="3520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기반 연구 업무 활용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C95364-8879-DE29-4408-6C2B9223B348}"/>
              </a:ext>
            </a:extLst>
          </p:cNvPr>
          <p:cNvSpPr/>
          <p:nvPr/>
        </p:nvSpPr>
        <p:spPr>
          <a:xfrm>
            <a:off x="918573" y="594229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ko-KR" alt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n-US" altLang="ko-KR" sz="1600" dirty="0" err="1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aebon@hs.ac.kr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 |  </a:t>
            </a:r>
            <a:r>
              <a:rPr lang="en-US" sz="1600" dirty="0" err="1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한신대학교</a:t>
            </a:r>
            <a:r>
              <a:rPr 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600" dirty="0" err="1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AI.SW대학</a:t>
            </a:r>
            <a:r>
              <a:rPr 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ko-KR" altLang="en-US" sz="1600" dirty="0" err="1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드림아이티비즈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(DreamIT Biz)</a:t>
            </a:r>
            <a:endParaRPr lang="en-US"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425AA7C-43E1-B1E3-9AEC-E470186C9BB4}"/>
              </a:ext>
            </a:extLst>
          </p:cNvPr>
          <p:cNvGrpSpPr/>
          <p:nvPr/>
        </p:nvGrpSpPr>
        <p:grpSpPr>
          <a:xfrm>
            <a:off x="10083800" y="609600"/>
            <a:ext cx="1422400" cy="1422400"/>
            <a:chOff x="10083800" y="609600"/>
            <a:chExt cx="1422400" cy="1422400"/>
          </a:xfrm>
        </p:grpSpPr>
        <p:sp>
          <p:nvSpPr>
            <p:cNvPr id="900" name="clogo0">
              <a:extLst>
                <a:ext uri="{FF2B5EF4-FFF2-40B4-BE49-F238E27FC236}">
                  <a16:creationId xmlns:a16="http://schemas.microsoft.com/office/drawing/2014/main" id="{F5DBC86A-D0C2-4BC3-0ECE-D05A2EA04934}"/>
                </a:ext>
              </a:extLst>
            </p:cNvPr>
            <p:cNvSpPr/>
            <p:nvPr/>
          </p:nvSpPr>
          <p:spPr>
            <a:xfrm>
              <a:off x="10737850" y="609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1" name="clogo1">
              <a:extLst>
                <a:ext uri="{FF2B5EF4-FFF2-40B4-BE49-F238E27FC236}">
                  <a16:creationId xmlns:a16="http://schemas.microsoft.com/office/drawing/2014/main" id="{426BDD2D-C79F-9AFC-117D-52AE7D5381A9}"/>
                </a:ext>
              </a:extLst>
            </p:cNvPr>
            <p:cNvSpPr/>
            <p:nvPr/>
          </p:nvSpPr>
          <p:spPr>
            <a:xfrm rot="1800000">
              <a:off x="10928350" y="660644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2" name="clogo2">
              <a:extLst>
                <a:ext uri="{FF2B5EF4-FFF2-40B4-BE49-F238E27FC236}">
                  <a16:creationId xmlns:a16="http://schemas.microsoft.com/office/drawing/2014/main" id="{45A038FF-F9A8-8E9F-F691-8474BDE3FA0A}"/>
                </a:ext>
              </a:extLst>
            </p:cNvPr>
            <p:cNvSpPr/>
            <p:nvPr/>
          </p:nvSpPr>
          <p:spPr>
            <a:xfrm rot="3600000">
              <a:off x="11067806" y="800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3" name="clogo3">
              <a:extLst>
                <a:ext uri="{FF2B5EF4-FFF2-40B4-BE49-F238E27FC236}">
                  <a16:creationId xmlns:a16="http://schemas.microsoft.com/office/drawing/2014/main" id="{66F929D6-4034-658E-CDB8-90136651BA52}"/>
                </a:ext>
              </a:extLst>
            </p:cNvPr>
            <p:cNvSpPr/>
            <p:nvPr/>
          </p:nvSpPr>
          <p:spPr>
            <a:xfrm rot="5400000">
              <a:off x="11118850" y="990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4" name="clogo4">
              <a:extLst>
                <a:ext uri="{FF2B5EF4-FFF2-40B4-BE49-F238E27FC236}">
                  <a16:creationId xmlns:a16="http://schemas.microsoft.com/office/drawing/2014/main" id="{1725FEBB-6721-4F65-7DDA-457479DBF3EF}"/>
                </a:ext>
              </a:extLst>
            </p:cNvPr>
            <p:cNvSpPr/>
            <p:nvPr/>
          </p:nvSpPr>
          <p:spPr>
            <a:xfrm rot="7200000">
              <a:off x="11067806" y="1181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5" name="clogo5">
              <a:extLst>
                <a:ext uri="{FF2B5EF4-FFF2-40B4-BE49-F238E27FC236}">
                  <a16:creationId xmlns:a16="http://schemas.microsoft.com/office/drawing/2014/main" id="{F2A4F9B9-2C6B-6870-E378-9D2EA7FE41F7}"/>
                </a:ext>
              </a:extLst>
            </p:cNvPr>
            <p:cNvSpPr/>
            <p:nvPr/>
          </p:nvSpPr>
          <p:spPr>
            <a:xfrm rot="9000000">
              <a:off x="10928350" y="1320556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6" name="clogo6">
              <a:extLst>
                <a:ext uri="{FF2B5EF4-FFF2-40B4-BE49-F238E27FC236}">
                  <a16:creationId xmlns:a16="http://schemas.microsoft.com/office/drawing/2014/main" id="{EB5C40DA-1752-002C-1E65-4F54AAE2E74C}"/>
                </a:ext>
              </a:extLst>
            </p:cNvPr>
            <p:cNvSpPr/>
            <p:nvPr/>
          </p:nvSpPr>
          <p:spPr>
            <a:xfrm rot="10800000">
              <a:off x="10737850" y="1371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7" name="clogo7">
              <a:extLst>
                <a:ext uri="{FF2B5EF4-FFF2-40B4-BE49-F238E27FC236}">
                  <a16:creationId xmlns:a16="http://schemas.microsoft.com/office/drawing/2014/main" id="{DAD56014-EA14-5C8E-E5C6-EDC6E5FCB0CE}"/>
                </a:ext>
              </a:extLst>
            </p:cNvPr>
            <p:cNvSpPr/>
            <p:nvPr/>
          </p:nvSpPr>
          <p:spPr>
            <a:xfrm rot="12600000">
              <a:off x="10547350" y="1320556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8" name="clogo8">
              <a:extLst>
                <a:ext uri="{FF2B5EF4-FFF2-40B4-BE49-F238E27FC236}">
                  <a16:creationId xmlns:a16="http://schemas.microsoft.com/office/drawing/2014/main" id="{95B34D4A-C2E3-3497-1131-B7DB0847202F}"/>
                </a:ext>
              </a:extLst>
            </p:cNvPr>
            <p:cNvSpPr/>
            <p:nvPr/>
          </p:nvSpPr>
          <p:spPr>
            <a:xfrm rot="14400000">
              <a:off x="10407894" y="1181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9" name="clogo9">
              <a:extLst>
                <a:ext uri="{FF2B5EF4-FFF2-40B4-BE49-F238E27FC236}">
                  <a16:creationId xmlns:a16="http://schemas.microsoft.com/office/drawing/2014/main" id="{AAF94EC9-BB3E-45EB-6EAF-D3E230BDE40D}"/>
                </a:ext>
              </a:extLst>
            </p:cNvPr>
            <p:cNvSpPr/>
            <p:nvPr/>
          </p:nvSpPr>
          <p:spPr>
            <a:xfrm rot="16200000">
              <a:off x="10356850" y="990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10" name="clogo10">
              <a:extLst>
                <a:ext uri="{FF2B5EF4-FFF2-40B4-BE49-F238E27FC236}">
                  <a16:creationId xmlns:a16="http://schemas.microsoft.com/office/drawing/2014/main" id="{CE4C0449-A9AF-3716-86B8-3B13C34C40C8}"/>
                </a:ext>
              </a:extLst>
            </p:cNvPr>
            <p:cNvSpPr/>
            <p:nvPr/>
          </p:nvSpPr>
          <p:spPr>
            <a:xfrm rot="18000000">
              <a:off x="10407894" y="800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11" name="clogo11">
              <a:extLst>
                <a:ext uri="{FF2B5EF4-FFF2-40B4-BE49-F238E27FC236}">
                  <a16:creationId xmlns:a16="http://schemas.microsoft.com/office/drawing/2014/main" id="{30ED2727-0FB2-3099-CFAD-43292F02D111}"/>
                </a:ext>
              </a:extLst>
            </p:cNvPr>
            <p:cNvSpPr/>
            <p:nvPr/>
          </p:nvSpPr>
          <p:spPr>
            <a:xfrm rot="19800000">
              <a:off x="10547350" y="660644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D599743-2D17-19CF-9E5A-FD62287C4CBE}"/>
              </a:ext>
            </a:extLst>
          </p:cNvPr>
          <p:cNvGrpSpPr/>
          <p:nvPr/>
        </p:nvGrpSpPr>
        <p:grpSpPr>
          <a:xfrm rot="741642">
            <a:off x="10858329" y="2102059"/>
            <a:ext cx="825082" cy="825082"/>
            <a:chOff x="10083800" y="609600"/>
            <a:chExt cx="1422400" cy="1422400"/>
          </a:xfrm>
        </p:grpSpPr>
        <p:sp>
          <p:nvSpPr>
            <p:cNvPr id="9" name="clogo0">
              <a:extLst>
                <a:ext uri="{FF2B5EF4-FFF2-40B4-BE49-F238E27FC236}">
                  <a16:creationId xmlns:a16="http://schemas.microsoft.com/office/drawing/2014/main" id="{F655EB57-FCAE-385D-42DD-D9544D4839B2}"/>
                </a:ext>
              </a:extLst>
            </p:cNvPr>
            <p:cNvSpPr/>
            <p:nvPr/>
          </p:nvSpPr>
          <p:spPr>
            <a:xfrm>
              <a:off x="10737850" y="609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" name="clogo1">
              <a:extLst>
                <a:ext uri="{FF2B5EF4-FFF2-40B4-BE49-F238E27FC236}">
                  <a16:creationId xmlns:a16="http://schemas.microsoft.com/office/drawing/2014/main" id="{4136562F-FB77-6941-1190-C465E085F3F9}"/>
                </a:ext>
              </a:extLst>
            </p:cNvPr>
            <p:cNvSpPr/>
            <p:nvPr/>
          </p:nvSpPr>
          <p:spPr>
            <a:xfrm rot="1800000">
              <a:off x="10928350" y="660644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" name="clogo2">
              <a:extLst>
                <a:ext uri="{FF2B5EF4-FFF2-40B4-BE49-F238E27FC236}">
                  <a16:creationId xmlns:a16="http://schemas.microsoft.com/office/drawing/2014/main" id="{363D2339-27FF-12B8-46CA-B95C3CFD07BD}"/>
                </a:ext>
              </a:extLst>
            </p:cNvPr>
            <p:cNvSpPr/>
            <p:nvPr/>
          </p:nvSpPr>
          <p:spPr>
            <a:xfrm rot="3600000">
              <a:off x="11067806" y="800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" name="clogo3">
              <a:extLst>
                <a:ext uri="{FF2B5EF4-FFF2-40B4-BE49-F238E27FC236}">
                  <a16:creationId xmlns:a16="http://schemas.microsoft.com/office/drawing/2014/main" id="{AF3337E3-6A57-96AA-84F0-252F57C8C8E8}"/>
                </a:ext>
              </a:extLst>
            </p:cNvPr>
            <p:cNvSpPr/>
            <p:nvPr/>
          </p:nvSpPr>
          <p:spPr>
            <a:xfrm rot="5400000">
              <a:off x="11118850" y="990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3" name="clogo4">
              <a:extLst>
                <a:ext uri="{FF2B5EF4-FFF2-40B4-BE49-F238E27FC236}">
                  <a16:creationId xmlns:a16="http://schemas.microsoft.com/office/drawing/2014/main" id="{A6B8964B-9DE7-1E06-36D1-D4797A10E55F}"/>
                </a:ext>
              </a:extLst>
            </p:cNvPr>
            <p:cNvSpPr/>
            <p:nvPr/>
          </p:nvSpPr>
          <p:spPr>
            <a:xfrm rot="7200000">
              <a:off x="11067806" y="1181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4" name="clogo5">
              <a:extLst>
                <a:ext uri="{FF2B5EF4-FFF2-40B4-BE49-F238E27FC236}">
                  <a16:creationId xmlns:a16="http://schemas.microsoft.com/office/drawing/2014/main" id="{36002B5C-98C7-CF89-66A2-88776BE4869A}"/>
                </a:ext>
              </a:extLst>
            </p:cNvPr>
            <p:cNvSpPr/>
            <p:nvPr/>
          </p:nvSpPr>
          <p:spPr>
            <a:xfrm rot="9000000">
              <a:off x="10928350" y="1320556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5" name="clogo6">
              <a:extLst>
                <a:ext uri="{FF2B5EF4-FFF2-40B4-BE49-F238E27FC236}">
                  <a16:creationId xmlns:a16="http://schemas.microsoft.com/office/drawing/2014/main" id="{17F44EE1-52E8-98C2-247A-B77A1607FD9D}"/>
                </a:ext>
              </a:extLst>
            </p:cNvPr>
            <p:cNvSpPr/>
            <p:nvPr/>
          </p:nvSpPr>
          <p:spPr>
            <a:xfrm rot="10800000">
              <a:off x="10737850" y="1371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6" name="clogo7">
              <a:extLst>
                <a:ext uri="{FF2B5EF4-FFF2-40B4-BE49-F238E27FC236}">
                  <a16:creationId xmlns:a16="http://schemas.microsoft.com/office/drawing/2014/main" id="{E00D5CA1-787A-DCB5-8AC8-48AF985FF759}"/>
                </a:ext>
              </a:extLst>
            </p:cNvPr>
            <p:cNvSpPr/>
            <p:nvPr/>
          </p:nvSpPr>
          <p:spPr>
            <a:xfrm rot="12600000">
              <a:off x="10547350" y="1320556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7" name="clogo8">
              <a:extLst>
                <a:ext uri="{FF2B5EF4-FFF2-40B4-BE49-F238E27FC236}">
                  <a16:creationId xmlns:a16="http://schemas.microsoft.com/office/drawing/2014/main" id="{97A5DBB3-BD1C-01C7-C5F7-F72CBF137AD0}"/>
                </a:ext>
              </a:extLst>
            </p:cNvPr>
            <p:cNvSpPr/>
            <p:nvPr/>
          </p:nvSpPr>
          <p:spPr>
            <a:xfrm rot="14400000">
              <a:off x="10407894" y="1181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8" name="clogo9">
              <a:extLst>
                <a:ext uri="{FF2B5EF4-FFF2-40B4-BE49-F238E27FC236}">
                  <a16:creationId xmlns:a16="http://schemas.microsoft.com/office/drawing/2014/main" id="{2DA98002-0622-0E01-1F3F-30192FA3BAF9}"/>
                </a:ext>
              </a:extLst>
            </p:cNvPr>
            <p:cNvSpPr/>
            <p:nvPr/>
          </p:nvSpPr>
          <p:spPr>
            <a:xfrm rot="16200000">
              <a:off x="10356850" y="990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9" name="clogo10">
              <a:extLst>
                <a:ext uri="{FF2B5EF4-FFF2-40B4-BE49-F238E27FC236}">
                  <a16:creationId xmlns:a16="http://schemas.microsoft.com/office/drawing/2014/main" id="{D930ACDF-D5FA-0FF7-36C7-3CBDA48E35E9}"/>
                </a:ext>
              </a:extLst>
            </p:cNvPr>
            <p:cNvSpPr/>
            <p:nvPr/>
          </p:nvSpPr>
          <p:spPr>
            <a:xfrm rot="18000000">
              <a:off x="10407894" y="800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" name="clogo11">
              <a:extLst>
                <a:ext uri="{FF2B5EF4-FFF2-40B4-BE49-F238E27FC236}">
                  <a16:creationId xmlns:a16="http://schemas.microsoft.com/office/drawing/2014/main" id="{0B14ED63-ECD9-88CC-3A0A-6AE266D7B70A}"/>
                </a:ext>
              </a:extLst>
            </p:cNvPr>
            <p:cNvSpPr/>
            <p:nvPr/>
          </p:nvSpPr>
          <p:spPr>
            <a:xfrm rot="19800000">
              <a:off x="10547350" y="660644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</p:spTree>
    <p:extLst>
      <p:ext uri="{BB962C8B-B14F-4D97-AF65-F5344CB8AC3E}">
        <p14:creationId xmlns:p14="http://schemas.microsoft.com/office/powerpoint/2010/main" val="2026601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16112D3-4227-8142-917C-F02443B2F01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6bdd065-4181-4124-aa7e-55980e6559f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11216</Words>
  <Application>Microsoft Macintosh PowerPoint</Application>
  <PresentationFormat>와이드스크린</PresentationFormat>
  <Paragraphs>1677</Paragraphs>
  <Slides>112</Slides>
  <Notes>112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112</vt:i4>
      </vt:variant>
    </vt:vector>
  </HeadingPairs>
  <TitlesOfParts>
    <vt:vector size="115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조선대학교 AI특강 Day 1 — Claude 기반 연구 업무 활용</dc:title>
  <dc:subject>PptxGenJS Presentation</dc:subject>
  <dc:creator>조선대학교 AI특강</dc:creator>
  <cp:lastModifiedBy>이애본</cp:lastModifiedBy>
  <cp:revision>4</cp:revision>
  <dcterms:created xsi:type="dcterms:W3CDTF">2026-06-19T21:54:21Z</dcterms:created>
  <dcterms:modified xsi:type="dcterms:W3CDTF">2026-06-20T15:01:45Z</dcterms:modified>
</cp:coreProperties>
</file>