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7교시 · 통합 KPI 분석과 문제 공정 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추세·파레토 분석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언제부터, 무엇이 늘었나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시간으로 쪼개고, 불량 유형으로 쪼갠다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월별·일자별 꺾은선으로 지표가 꺾이는 시점을 찾는다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파레토 차트의 상위 항목과 누적 비율을 읽는다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파레토 순위만으로 중점 공정을 정하면 안 되는 이유를 말한다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「언제부터·무엇이」까지가 현상 — 「왜」는 3일차에 별도 증거로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도구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꺾은선(추세)과 파레토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꺾은선 — 언제부터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가로축 시간, 설비별로 선을 나눈다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선만 뛰는 날을 찾는다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뛴 뒤 내려오는지, 머무는지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하루치 들쭉날쭉은 추세가 아니다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파레토 — 무엇이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큰 순서 막대 + 누적 % 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삽입 → 통계 차트 → 파레토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2016 이상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건수 순위 ≠ 중요도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 · 월별 비교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8월에 나빠진 공정은 어디인가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4282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4282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OEE 7월→8월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63940" y="2781300"/>
            <a:ext cx="4282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3940" y="2781300"/>
            <a:ext cx="4282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불량률 7월→8월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원료혼합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44805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8650" y="344805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88.3 → 87.9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63940" y="344805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59190" y="344805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0.65 → 0.65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984480" y="3448050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079730" y="3448050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변화 없음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433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433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414337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8650" y="414337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87.9 → 86.6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63940" y="414337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59190" y="414337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1.06 → 1.31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984480" y="4143375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079730" y="4143375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조금 나빠짐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3870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3870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483870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483870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83.3 → 76.1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63940" y="483870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59190" y="483870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2.17 → 3.69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984480" y="4838700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079730" y="4838700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크게 나빠짐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53402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53402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연삭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43400" y="553402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38650" y="553402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79.8 → 80.2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63940" y="553402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59190" y="553402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1.06 → 1.07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984480" y="5534025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079730" y="5534025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낮지만 변화 없음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2293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2293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검사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43400" y="622935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38650" y="622935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88.0 → 87.9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63940" y="622935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59190" y="622935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0.35 → 0.35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984480" y="6229350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079730" y="6229350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변화 없음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9246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9246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포장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43400" y="692467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38650" y="692467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88.0 → 88.4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663940" y="692467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759190" y="692467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0.25 → 0.25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2984480" y="6924675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3079730" y="6924675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변화 없음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연삭은 원래 낮고, 소결은 갑자기 나빠졌다 — 둘은 다른 문제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· 언제부터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무렵부터 SF-02 만 올라간 채 머문다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설비 · 기간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OEE(%)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가동률(%)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불량률(%)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· 7/1~8/9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90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83.4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7442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394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91.7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944600" y="34480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039850" y="34480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2.31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· 8/10~8/31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438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90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82.2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7442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394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90.7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944600" y="41719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039850" y="41719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2.49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· 7/1~8/9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90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82.8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91.0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944600" y="48958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039850" y="48958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· 8/10~8/31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438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390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64.9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7442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394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79.7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944600" y="56197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039850" y="56197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6.50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 설비만, 특정한 날부터 — 왜 그날부터인지는 3일차 설비 알람 기록에서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· 유형 파레토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유형 파레토 — 상위 6개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공정·불량유형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비율(%)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누적(%)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소결·밀도미달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34480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9050" y="34480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8,734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744200" y="34480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39450" y="34480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13.6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944600" y="3448050"/>
            <a:ext cx="3200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039850" y="3448050"/>
            <a:ext cx="3009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13.6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4337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4337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소결·균열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43800" y="41433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9050" y="41433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8,554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744200" y="41433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39450" y="41433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13.4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944600" y="4143375"/>
            <a:ext cx="3200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039850" y="4143375"/>
            <a:ext cx="3009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27.0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3870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3870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성형·밀도불균일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483870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9050" y="483870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7,122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483870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483870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11.1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944600" y="4838700"/>
            <a:ext cx="3200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039850" y="4838700"/>
            <a:ext cx="3009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38.1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53402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53402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소결·치수불량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43800" y="553402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39050" y="553402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5,818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744200" y="553402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39450" y="553402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9.1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944600" y="5534025"/>
            <a:ext cx="3200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039850" y="5534025"/>
            <a:ext cx="3009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47.2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22935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22935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성형·치핑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543800" y="62293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39050" y="62293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5,360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744200" y="62293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839450" y="62293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8.4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944600" y="6229350"/>
            <a:ext cx="3200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4039850" y="6229350"/>
            <a:ext cx="3009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55.6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92467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92467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연삭·치수불량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543800" y="69246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639050" y="69246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4,991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744200" y="69246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839450" y="69246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7.8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3944600" y="6924675"/>
            <a:ext cx="3200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4039850" y="6924675"/>
            <a:ext cx="3009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63.3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합계 64,063개 · 80% 를 넘으려면 9번째 항목까지(누적 83.8%) — 3위에 성형이 끼어 있다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· 묶고 나눠 다시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공정으로 묶으면, 기간으로 나누면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합계 파레토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소결이 전체 불량의 40.9% — 뚜렷한 1위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90650" y="4876800"/>
            <a:ext cx="838688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05538" y="4933474"/>
            <a:ext cx="5071574" cy="1619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10462" y="4876800"/>
            <a:ext cx="809625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40.9%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0650" y="5152072"/>
            <a:ext cx="838688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05538" y="5208746"/>
            <a:ext cx="2417988" cy="1619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56876" y="5152072"/>
            <a:ext cx="809625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0650" y="5427345"/>
            <a:ext cx="838688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연삭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05538" y="5484019"/>
            <a:ext cx="1909590" cy="1619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8478" y="5427345"/>
            <a:ext cx="809625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0650" y="5702617"/>
            <a:ext cx="838688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원료혼합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05538" y="5759291"/>
            <a:ext cx="1599592" cy="1619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38480" y="5702617"/>
            <a:ext cx="809625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12.9%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소결 불량 유형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 40일 → 뒤 22일, 균열은 거의 두 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20300" y="4838700"/>
            <a:ext cx="1337310" cy="501967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4838700"/>
            <a:ext cx="1337310" cy="5019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395710" y="4838700"/>
            <a:ext cx="2368868" cy="501967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395710" y="4838700"/>
            <a:ext cx="2368868" cy="5019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7/1~8/9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802678" y="4838700"/>
            <a:ext cx="3094673" cy="501967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802678" y="4838700"/>
            <a:ext cx="3094673" cy="5019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8/10~8/31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20300" y="5405438"/>
            <a:ext cx="1337310" cy="409813"/>
          </a:xfrm>
          <a:prstGeom prst="roundRect">
            <a:avLst>
              <a:gd name="adj" fmla="val 929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15550" y="5405438"/>
            <a:ext cx="1146810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균열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395710" y="5405438"/>
            <a:ext cx="2368868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90960" y="5405438"/>
            <a:ext cx="2178368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1,827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802678" y="5405438"/>
            <a:ext cx="3094673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897928" y="5405438"/>
            <a:ext cx="2904173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3,535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20300" y="5880021"/>
            <a:ext cx="1337310" cy="409813"/>
          </a:xfrm>
          <a:prstGeom prst="roundRect">
            <a:avLst>
              <a:gd name="adj" fmla="val 929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15550" y="5880021"/>
            <a:ext cx="1146810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밀도미달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395710" y="5880021"/>
            <a:ext cx="2368868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90960" y="5880021"/>
            <a:ext cx="2178368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2,043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802678" y="5880021"/>
            <a:ext cx="3094673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897928" y="5880021"/>
            <a:ext cx="2904173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2,917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020300" y="6354604"/>
            <a:ext cx="1337310" cy="409813"/>
          </a:xfrm>
          <a:prstGeom prst="roundRect">
            <a:avLst>
              <a:gd name="adj" fmla="val 929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15550" y="6354604"/>
            <a:ext cx="1146810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치수불량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395710" y="6354604"/>
            <a:ext cx="2368868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90960" y="6354604"/>
            <a:ext cx="2178368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1,505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3802678" y="6354604"/>
            <a:ext cx="3094673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897928" y="6354604"/>
            <a:ext cx="2904173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1,769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020300" y="6829187"/>
            <a:ext cx="1337310" cy="409813"/>
          </a:xfrm>
          <a:prstGeom prst="roundRect">
            <a:avLst>
              <a:gd name="adj" fmla="val 929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115550" y="6829187"/>
            <a:ext cx="1146810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변형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395710" y="6829187"/>
            <a:ext cx="2368868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490960" y="6829187"/>
            <a:ext cx="2178368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938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802678" y="6829187"/>
            <a:ext cx="3094673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897928" y="6829187"/>
            <a:ext cx="2904173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570</a:t>
            </a:r>
          </a:p>
        </p:txBody>
      </p:sp>
      <p:sp>
        <p:nvSpPr>
          <p:cNvPr id="56" name="Oval 5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여기서 자주 막힙니다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치수불량이 합쳐짐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소결·연삭 양쪽에 있다 — 공정&amp;유형 열부터 만든다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 차트로 파레토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된다 — 값만 붙여넣기 한 뒤 파레토 차트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합친 선 하나로 추세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꺾이는 날이 흐려진다 — 설비별로 선을 나눈다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원인을 지어냄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숫자에 없는 원인 문장은 지우고 필요한 기록만 남긴다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이것이 되면 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불량률 7월 2.17% → 8월 3.69%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만 8/10 무렵부터 올라간 채 머무는 것을 찾았다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유형 파레토 13개, 합계 64,063개, 1위 소결·밀도미달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합계 소결 40.9%, 성형·밀도불균일 3위를 메모했다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7교시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중점관리공정 최종 선정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OEE·Cpk·불량률·추세에 고객 영향과 개선 가능성을 더해 다기준 판단표로 한 곳을 고릅니다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후보 공정 셋으로 좁히기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기준·가중치 합의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점수와 민감도 점검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중점관리공정 선정서 한 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가져올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오늘 만든 비교표와 파레토 전부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