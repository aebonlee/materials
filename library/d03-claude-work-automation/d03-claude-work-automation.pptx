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4" r:id="rId50"/>
    <p:sldId id="365" r:id="rId115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6" r:id="rId116"/>
  </p:sldIdLst>
  <p:notesMasterIdLst>
    <p:notesMasterId r:id="rId1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10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notesMaster" Target="notesMasters/notesMaster1.xml"/><Relationship Id="rId111" Type="http://schemas.openxmlformats.org/officeDocument/2006/relationships/presProps" Target="presProps.xml"/><Relationship Id="rId112" Type="http://schemas.openxmlformats.org/officeDocument/2006/relationships/viewProps" Target="viewProps.xml"/><Relationship Id="rId113" Type="http://schemas.openxmlformats.org/officeDocument/2006/relationships/theme" Target="theme/theme1.xml"/><Relationship Id="rId114" Type="http://schemas.openxmlformats.org/officeDocument/2006/relationships/tableStyles" Target="tableStyles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46000">
                <a:srgbClr val="536BE0">
                  <a:alpha val="0"/>
                </a:srgbClr>
              </a:gs>
            </a:gsLst>
            <a:path path="circle">
              <a:fillToRect l="78000" t="18000" r="22000" b="82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gradFill rotWithShape="1">
            <a:gsLst>
              <a:gs pos="0">
                <a:srgbClr val="536BE0">
                  <a:alpha val="100000"/>
                </a:srgbClr>
              </a:gs>
              <a:gs pos="100000">
                <a:srgbClr val="7B8FF0">
                  <a:alpha val="10000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238250" y="197108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00150" y="197108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09750" y="2042517"/>
            <a:ext cx="50143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A0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WORK AUTOMATION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2771180"/>
            <a:ext cx="173926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45" kern="0" dirty="0">
                <a:solidFill>
                  <a:srgbClr val="AEB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성인 학습자 대상 · 1일 집중 7시간 과정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38250" y="3318867"/>
            <a:ext cx="16285845" cy="217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spc="-156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Claude와 함께하는 </a:t>
            </a:r>
            <a:pPr algn="l" indent="0" marL="0">
              <a:lnSpc>
                <a:spcPct val="108000"/>
              </a:lnSpc>
              <a:buNone/>
            </a:pPr>
            <a:r>
              <a:rPr lang="en-US" sz="7800" b="1" spc="-156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업무자동화 실무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238250" y="5744170"/>
            <a:ext cx="11525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30% · 실습 70% — 본인 업무 문서로 직접 만들어 보며 익히는 실전형 과정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38250" y="6706195"/>
            <a:ext cx="1291010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95425" y="6849070"/>
            <a:ext cx="8528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7교시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62610" y="6706195"/>
            <a:ext cx="1302395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19785" y="6849070"/>
            <a:ext cx="864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5종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098354" y="6706195"/>
            <a:ext cx="1635919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55529" y="6849070"/>
            <a:ext cx="11977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7종+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67623" y="6706195"/>
            <a:ext cx="1983656" cy="56197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15273" y="6839545"/>
            <a:ext cx="15645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지식 불필요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9239250"/>
            <a:ext cx="18288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38250" y="9629775"/>
            <a:ext cx="42153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Pro 활용 업무 생산성 향상 워크숍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0" y="9636919"/>
            <a:ext cx="5791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이애본 · 드림아이티비즈(DreamIT Biz)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9082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COURSE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90625"/>
            <a:ext cx="179374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9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 개요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90600" y="2200275"/>
            <a:ext cx="8048625" cy="2301850"/>
          </a:xfrm>
          <a:prstGeom prst="roundRect">
            <a:avLst>
              <a:gd name="adj" fmla="val 744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62075" y="2945457"/>
            <a:ext cx="80362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2075" y="3335982"/>
            <a:ext cx="8036243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Claude와 함께하는 업무자동화 실무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248775" y="2200275"/>
            <a:ext cx="8048625" cy="2301850"/>
          </a:xfrm>
          <a:prstGeom prst="roundRect">
            <a:avLst>
              <a:gd name="adj" fmla="val 744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20250" y="2770138"/>
            <a:ext cx="80362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대상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20250" y="3160663"/>
            <a:ext cx="75248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유료(Pro) 이용 성인 학습자·실무 종사자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지식 불필요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90600" y="4711675"/>
            <a:ext cx="8048625" cy="2301850"/>
          </a:xfrm>
          <a:prstGeom prst="roundRect">
            <a:avLst>
              <a:gd name="adj" fmla="val 744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5281538"/>
            <a:ext cx="80362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시간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5672063"/>
            <a:ext cx="75248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7시간 · 1일 집중 과정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점심·휴식 별도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248775" y="4711675"/>
            <a:ext cx="8048625" cy="2301850"/>
          </a:xfrm>
          <a:prstGeom prst="roundRect">
            <a:avLst>
              <a:gd name="adj" fmla="val 744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20250" y="5281538"/>
            <a:ext cx="80362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형태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20250" y="5672063"/>
            <a:ext cx="75248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30% + 실습 70%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업무 문서를 활용한 '실전형'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90600" y="7223075"/>
            <a:ext cx="8048625" cy="2301925"/>
          </a:xfrm>
          <a:prstGeom prst="roundRect">
            <a:avLst>
              <a:gd name="adj" fmla="val 744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62075" y="7998768"/>
            <a:ext cx="80362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준비물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62075" y="8389293"/>
            <a:ext cx="803624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노트북 · Claude Pro 계정 · 본인 업무 문서 1~2종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248775" y="7223075"/>
            <a:ext cx="8048625" cy="2301925"/>
          </a:xfrm>
          <a:prstGeom prst="roundRect">
            <a:avLst>
              <a:gd name="adj" fmla="val 7448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10725" y="7793013"/>
            <a:ext cx="80571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10725" y="8183538"/>
            <a:ext cx="75444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수료 즉시 적용 가능한 프롬프트 · 템플릿 · 루틴 확보</a:t>
            </a:r>
            <a:endParaRPr lang="en-US" sz="225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30389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90625"/>
            <a:ext cx="179374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9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오늘, 우리는 </a:t>
            </a:r>
            <a:pPr algn="l" indent="0" marL="0">
              <a:lnSpc>
                <a:spcPct val="110000"/>
              </a:lnSpc>
              <a:buNone/>
            </a:pPr>
            <a:r>
              <a:rPr lang="en-US" sz="4500" b="1" spc="-90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'나만의 업무자동화 키트'</a:t>
            </a:r>
            <a:pPr algn="l" indent="0" marL="0">
              <a:lnSpc>
                <a:spcPct val="110000"/>
              </a:lnSpc>
              <a:buNone/>
            </a:pPr>
            <a:r>
              <a:rPr lang="en-US" sz="4500" b="1" spc="-9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만듭니다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90600" y="1952625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교시에서 손에 잡히는 산출물을 하나씩 완성 → 수료 시 7종 이상이 내 손에 남습니다.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90600" y="2595563"/>
            <a:ext cx="3948112" cy="3224213"/>
          </a:xfrm>
          <a:prstGeom prst="roundRect">
            <a:avLst>
              <a:gd name="adj" fmla="val 472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66825" y="2871788"/>
            <a:ext cx="3735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6825" y="3243263"/>
            <a:ext cx="37352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바꿀 일 Top 5 워크시트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110163" y="2595563"/>
            <a:ext cx="3948112" cy="3224213"/>
          </a:xfrm>
          <a:prstGeom prst="roundRect">
            <a:avLst>
              <a:gd name="adj" fmla="val 472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86388" y="2871788"/>
            <a:ext cx="3735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86388" y="3243263"/>
            <a:ext cx="37352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맞춤 시작 프롬프트 1세트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29725" y="2595563"/>
            <a:ext cx="3948112" cy="3224213"/>
          </a:xfrm>
          <a:prstGeom prst="roundRect">
            <a:avLst>
              <a:gd name="adj" fmla="val 472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505950" y="2871788"/>
            <a:ext cx="3735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05950" y="3243263"/>
            <a:ext cx="37352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1장 요약본 + 실행항목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349288" y="2595563"/>
            <a:ext cx="3948112" cy="3224213"/>
          </a:xfrm>
          <a:prstGeom prst="roundRect">
            <a:avLst>
              <a:gd name="adj" fmla="val 472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625513" y="2871788"/>
            <a:ext cx="3735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625513" y="3243263"/>
            <a:ext cx="37352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초안 + 회의록 템플릿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90600" y="5991225"/>
            <a:ext cx="3948112" cy="3533775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66825" y="6267450"/>
            <a:ext cx="3735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6825" y="6638925"/>
            <a:ext cx="37352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메일/공지 템플릿 3종 + 개선 사례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5110163" y="5991225"/>
            <a:ext cx="3948112" cy="3533775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86388" y="6267450"/>
            <a:ext cx="3735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86388" y="6638925"/>
            <a:ext cx="37352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반복업무 템플릿 3종 + 루틴 설계도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229725" y="5991225"/>
            <a:ext cx="3948112" cy="3533775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505950" y="6267450"/>
            <a:ext cx="3735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05950" y="6638925"/>
            <a:ext cx="349753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액션플랜 + 프롬프트 라이브러리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3349288" y="5991225"/>
            <a:ext cx="3948112" cy="3533775"/>
          </a:xfrm>
          <a:prstGeom prst="roundRect">
            <a:avLst>
              <a:gd name="adj" fmla="val 4313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3615988" y="7345189"/>
            <a:ext cx="3756184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7종+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3615988" y="7873826"/>
            <a:ext cx="3756184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나만의 업무자동화 키트 완성</a:t>
            </a:r>
            <a:endParaRPr lang="en-US" sz="18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048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685800"/>
            <a:ext cx="41029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CURRICULUM AT A GLANCE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09537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시간대별 커리큘럼 한눈에 보기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76350" y="1929705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09850" y="1929705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05350" y="1929705"/>
            <a:ext cx="63463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5247" y="1929705"/>
            <a:ext cx="69810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" y="2367855"/>
            <a:ext cx="16306800" cy="638175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85875" y="2548830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19375" y="254883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09:30–10:20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14875" y="2548830"/>
            <a:ext cx="6336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시대, 일하는 방식의 전환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65693" y="2548830"/>
            <a:ext cx="6970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마인드 세팅 · AI 협업 관점 · 보안/저작권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0600" y="3091755"/>
            <a:ext cx="16306800" cy="638175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85875" y="3272730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19375" y="327273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10:30–11:20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14875" y="3272730"/>
            <a:ext cx="6336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제대로 알기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65693" y="3272730"/>
            <a:ext cx="6970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AI와 차이 · 핵심 기능 · 첫 대화 세팅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600" y="3815655"/>
            <a:ext cx="16306800" cy="638175"/>
          </a:xfrm>
          <a:prstGeom prst="roundRect">
            <a:avLst>
              <a:gd name="adj" fmla="val 19403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5875" y="3996630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19375" y="399663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11:30–12:20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14875" y="3996630"/>
            <a:ext cx="6336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[실습①] 긴 문서·PDF 요약/분석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65693" y="3996630"/>
            <a:ext cx="6970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업로드 · 핵심 추출 · 결과 검증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0600" y="4539555"/>
            <a:ext cx="16306800" cy="523875"/>
          </a:xfrm>
          <a:prstGeom prst="roundRect">
            <a:avLst>
              <a:gd name="adj" fmla="val 23636"/>
            </a:avLst>
          </a:prstGeom>
          <a:solidFill>
            <a:srgbClr val="EDEEF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76350" y="4663380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609850" y="4663380"/>
            <a:ext cx="158419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12:20–13:30 · 점심 60분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90600" y="5149155"/>
            <a:ext cx="16306800" cy="638175"/>
          </a:xfrm>
          <a:prstGeom prst="roundRect">
            <a:avLst>
              <a:gd name="adj" fmla="val 19403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85875" y="5330130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619375" y="533013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13:30–14:20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14875" y="5330130"/>
            <a:ext cx="6336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[실습②] 보고서·기획안·회의록 작성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665693" y="5330130"/>
            <a:ext cx="6970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초안→완성 · 회의록 자동정리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0600" y="5873055"/>
            <a:ext cx="16306800" cy="638175"/>
          </a:xfrm>
          <a:prstGeom prst="roundRect">
            <a:avLst>
              <a:gd name="adj" fmla="val 19403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285875" y="6054030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619375" y="605403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14:30–15:20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14875" y="6054030"/>
            <a:ext cx="6336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[실습③] 메일·데이터 + 프롬프트 고도화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665693" y="6054030"/>
            <a:ext cx="6970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작성 · 프롬프트 개선 4원칙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90600" y="6596955"/>
            <a:ext cx="16306800" cy="638175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85875" y="6777930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619375" y="677793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15:30–16:20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14875" y="6777930"/>
            <a:ext cx="6336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업무 루틴 설계와 자동화 템플릿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665693" y="6777930"/>
            <a:ext cx="6970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반복업무 자동화 · 재사용 템플릿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90600" y="7320855"/>
            <a:ext cx="16306800" cy="638175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85875" y="7501830"/>
            <a:ext cx="121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619375" y="750183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16:30–17:20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714875" y="7501830"/>
            <a:ext cx="6336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AI 비서 환경 + 액션플랜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665693" y="7501830"/>
            <a:ext cx="6970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구축 · 30일 로드맵 · 공유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90600" y="93249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시작·종료 시각과 휴식은 운영 여건에 따라 조정됩니다.</a:t>
            </a:r>
            <a:endParaRPr lang="en-US" sz="18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16000"/>
                </a:srgbClr>
              </a:gs>
              <a:gs pos="45000">
                <a:srgbClr val="536BE0">
                  <a:alpha val="0"/>
                </a:srgbClr>
              </a:gs>
            </a:gsLst>
            <a:path path="circle">
              <a:fillToRect l="85000" t="20000" r="15000" b="80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8FA1F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47800" y="762000"/>
            <a:ext cx="33085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OUTCOMES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과정을 마치면, 당신은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EB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다섯 가지를 스스로 할 수 있게 됩니다.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3541514"/>
            <a:ext cx="16306800" cy="862905"/>
          </a:xfrm>
          <a:prstGeom prst="roundRect">
            <a:avLst>
              <a:gd name="adj" fmla="val 15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04925" y="3779639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2047875" y="3779639"/>
            <a:ext cx="10789287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AI의 변화와 Claude의 차별점을 이해하고, 내 업무를 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'AI 협업 관점'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재해석한다.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90600" y="4575870"/>
            <a:ext cx="16306800" cy="862905"/>
          </a:xfrm>
          <a:prstGeom prst="roundRect">
            <a:avLst>
              <a:gd name="adj" fmla="val 15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04925" y="4813995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047875" y="4813995"/>
            <a:ext cx="1059766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Claude의 핵심 기능(문서 분석·요약·작성·데이터 정리)을 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실무 문서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직접 적용한다.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90600" y="5610225"/>
            <a:ext cx="16306800" cy="862905"/>
          </a:xfrm>
          <a:prstGeom prst="roundRect">
            <a:avLst>
              <a:gd name="adj" fmla="val 15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04925" y="5848350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047875" y="5848350"/>
            <a:ext cx="90664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효과적인 프롬프트를 설계하고, 결과를 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단계적으로 고도화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품질을 높인다.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90600" y="6644580"/>
            <a:ext cx="16306800" cy="862905"/>
          </a:xfrm>
          <a:prstGeom prst="roundRect">
            <a:avLst>
              <a:gd name="adj" fmla="val 15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04925" y="6882705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2047875" y="6882705"/>
            <a:ext cx="10022957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업무를 식별하여 재사용 가능한 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템플릿과 AI 업무 루틴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자동화한다.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990600" y="7678936"/>
            <a:ext cx="16306800" cy="862905"/>
          </a:xfrm>
          <a:prstGeom prst="roundRect">
            <a:avLst>
              <a:gd name="adj" fmla="val 15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04925" y="7917061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2047875" y="7917061"/>
            <a:ext cx="818481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AI 업무 비서 환경을 구축하고, 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적용 액션플랜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수립한다.</a:t>
            </a:r>
            <a:endParaRPr lang="en-US" sz="2175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35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WE LEARN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90625"/>
            <a:ext cx="179374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9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방식 — 듣지 말고, 만드세요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90600" y="1952625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개념은 짧게, 실습은 깊게. 모든 개념을 그 자리에서 '본인 업무 문서'에 바로 적용합니다.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90600" y="2595563"/>
            <a:ext cx="8048625" cy="3531394"/>
          </a:xfrm>
          <a:prstGeom prst="roundRect">
            <a:avLst>
              <a:gd name="adj" fmla="val 485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728788" y="2986088"/>
            <a:ext cx="152382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실전형 진행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81125" y="3500438"/>
            <a:ext cx="2180258" cy="495300"/>
          </a:xfrm>
          <a:prstGeom prst="roundRect">
            <a:avLst>
              <a:gd name="adj" fmla="val 15385"/>
            </a:avLst>
          </a:prstGeom>
          <a:solidFill>
            <a:srgbClr val="C9D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43025" y="3500438"/>
            <a:ext cx="225645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30%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75683" y="3500438"/>
            <a:ext cx="4973017" cy="495300"/>
          </a:xfrm>
          <a:prstGeom prst="roundRect">
            <a:avLst>
              <a:gd name="adj" fmla="val 15385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01087" y="3500438"/>
            <a:ext cx="512220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70%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81125" y="4167188"/>
            <a:ext cx="79943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강의는 핵심만. 대부분의 시간을 직접 손으로 만드는 데 씁니다.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48775" y="2595563"/>
            <a:ext cx="8048625" cy="3531394"/>
          </a:xfrm>
          <a:prstGeom prst="roundRect">
            <a:avLst>
              <a:gd name="adj" fmla="val 485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986963" y="2986088"/>
            <a:ext cx="15549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1산출물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39300" y="3500438"/>
            <a:ext cx="7485602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교시마다 손에 잡히는 결과물을 만들어, 수료 시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7종 이상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가져갑니다. 빈손으로 돌아가지 않습니다.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600" y="6336506"/>
            <a:ext cx="8048625" cy="3188494"/>
          </a:xfrm>
          <a:prstGeom prst="roundRect">
            <a:avLst>
              <a:gd name="adj" fmla="val 537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728788" y="6727031"/>
            <a:ext cx="281697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/ After 체험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81125" y="7241381"/>
            <a:ext cx="79943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'대충 쓴 프롬프트'와 '잘 쓴 프롬프트'의 결과 차이를 직접 비교하며 체득합니다.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48775" y="6336506"/>
            <a:ext cx="8048625" cy="3188494"/>
          </a:xfrm>
          <a:prstGeom prst="roundRect">
            <a:avLst>
              <a:gd name="adj" fmla="val 537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977438" y="6717506"/>
            <a:ext cx="22012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안전·윤리 내재화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29775" y="7231856"/>
            <a:ext cx="750522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개인정보·보안·저작권 원칙을 별도 강의가 아닌, 모든 실습에 자연스럽게 녹여 안내합니다.</a:t>
            </a:r>
            <a:endParaRPr lang="en-US" sz="18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1520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LEGEND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90625"/>
            <a:ext cx="179374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9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자료, 이렇게 보세요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90600" y="1952625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슬라이드에 반복해서 등장하는 네 가지 표시입니다.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90600" y="2576513"/>
            <a:ext cx="8048625" cy="3383756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23975" y="2871788"/>
            <a:ext cx="1895103" cy="452438"/>
          </a:xfrm>
          <a:prstGeom prst="roundRect">
            <a:avLst>
              <a:gd name="adj" fmla="val 16842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43075" y="2947988"/>
            <a:ext cx="1399803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프롬프트 카드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3975" y="3476625"/>
            <a:ext cx="812006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회색 코드블록 안의 글은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 복사해서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Claude에 붙여 넣으면 됩니다.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48775" y="2576513"/>
            <a:ext cx="8048625" cy="3383756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82150" y="2871788"/>
            <a:ext cx="1116285" cy="390525"/>
          </a:xfrm>
          <a:prstGeom prst="roundRect">
            <a:avLst>
              <a:gd name="adj" fmla="val 14634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705975" y="2928938"/>
            <a:ext cx="944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74635" y="2936081"/>
            <a:ext cx="304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079435" y="2871788"/>
            <a:ext cx="978322" cy="390525"/>
          </a:xfrm>
          <a:prstGeom prst="roundRect">
            <a:avLst>
              <a:gd name="adj" fmla="val 14634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203260" y="2928938"/>
            <a:ext cx="806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82150" y="3414713"/>
            <a:ext cx="81200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나쁜 프롬프트와 좋은 프롬프트, 그 결과 차이를 나란히 비교합니다.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6169819"/>
            <a:ext cx="8048625" cy="3355181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323975" y="6465094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85875" y="646509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743075" y="6465094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704975" y="646509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62175" y="6465094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124075" y="646509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3975" y="6941344"/>
            <a:ext cx="81200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따라하기 — 1→2→3 순서대로 하면 결과가 나옵니다.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48775" y="6169819"/>
            <a:ext cx="8048625" cy="3355181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582150" y="6465094"/>
            <a:ext cx="1470050" cy="428625"/>
          </a:xfrm>
          <a:prstGeom prst="roundRect">
            <a:avLst>
              <a:gd name="adj" fmla="val 1777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058400" y="6541294"/>
            <a:ext cx="917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미션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82150" y="7046119"/>
            <a:ext cx="81200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해 보는 시간 — 미션 + 체크리스트 + 시간 배분이 함께 제시됩니다.</a:t>
            </a:r>
            <a:endParaRPr lang="en-US" sz="18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50000">
                <a:srgbClr val="536BE0">
                  <a:alpha val="0"/>
                </a:srgbClr>
              </a:gs>
            </a:gsLst>
            <a:path path="circle">
              <a:fillToRect l="18000" t="78000" r="82000" b="22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2608957"/>
            <a:ext cx="93922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600" kern="0" dirty="0">
                <a:solidFill>
                  <a:srgbClr val="8FA1F2">
                    <a:alpha val="2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952500" y="4380607"/>
            <a:ext cx="883295" cy="4286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4456807"/>
            <a:ext cx="5784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50095" y="4456807"/>
            <a:ext cx="16035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09:30 – 10:20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5056882"/>
            <a:ext cx="8794571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700" b="1" spc="-114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시대, 일하는 방식의 전환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952500" y="6877943"/>
            <a:ext cx="74561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AI인가, 그리고 무엇을 'AI에게 시킬 일'로 볼 것인가 — 오늘 하루의 출발점.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43418" y="0"/>
            <a:ext cx="7844582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443418" y="0"/>
            <a:ext cx="9525" cy="10287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14943" y="3221385"/>
            <a:ext cx="6942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교시에서 다루는 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14943" y="36881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576893" y="3688110"/>
            <a:ext cx="32807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트렌드와 업무 환경 변화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214943" y="41072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576893" y="4107210"/>
            <a:ext cx="288221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'AI가 할 일'과 '내가 할 일' 구분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214943" y="45263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576893" y="4526310"/>
            <a:ext cx="255024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작동 원리 (쉽게)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214943" y="49454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576893" y="4945410"/>
            <a:ext cx="294491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개인정보·보안·저작권 유의사항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214943" y="53645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576893" y="5364510"/>
            <a:ext cx="245402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직무별 Claude 활용 사례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214943" y="5916960"/>
            <a:ext cx="6311057" cy="1148655"/>
          </a:xfrm>
          <a:prstGeom prst="roundRect">
            <a:avLst>
              <a:gd name="adj" fmla="val 11609"/>
            </a:avLst>
          </a:prstGeom>
          <a:solidFill>
            <a:srgbClr val="536BE0">
              <a:alpha val="16000"/>
            </a:srgbClr>
          </a:solidFill>
          <a:ln w="9525">
            <a:solidFill>
              <a:srgbClr val="8FA1F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91168" y="6155085"/>
            <a:ext cx="63344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 산출물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91168" y="6507510"/>
            <a:ext cx="633446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「내 업무 중 AI로 바꿀 수 있는 일 Top 5」 워크시트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4033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REALITY CHECK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2589" y="762000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혹시, 이런 적 없으세요?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79290"/>
            <a:ext cx="8048625" cy="2998961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914525" y="3492103"/>
            <a:ext cx="5348191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30페이지 보고서를 받았는데,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읽을 시간이 없다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248775" y="2179290"/>
            <a:ext cx="8048625" cy="2998961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87000" y="3492103"/>
            <a:ext cx="4975912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비슷한 메일을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다시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쓰고 있다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90600" y="5387801"/>
            <a:ext cx="8048625" cy="2998961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28825" y="6700614"/>
            <a:ext cx="528475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회의록·보고서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'백지에서 시작'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가장 막막하다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48775" y="5387801"/>
            <a:ext cx="8048625" cy="2998961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287000" y="6700614"/>
            <a:ext cx="5309391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엑셀·자료 정리 같은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작업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하루가 녹는다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8653463"/>
            <a:ext cx="16306800" cy="871538"/>
          </a:xfrm>
          <a:prstGeom prst="roundRect">
            <a:avLst>
              <a:gd name="adj" fmla="val 17486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776413" y="8920163"/>
            <a:ext cx="845542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네 가지는 </a:t>
            </a:r>
            <a:pPr algn="l" indent="0" marL="0">
              <a:buNone/>
            </a:pPr>
            <a:r>
              <a:rPr lang="en-US" sz="22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전부 Claude로 해결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그것도 내 문서로 직접.</a:t>
            </a:r>
            <a:endParaRPr lang="en-US" sz="225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5746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SHIFT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2589" y="762000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무엇이, 어떻게 바뀌고 있는가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AI는 '검색의 시대'를 '생성과 협업의 시대'로 바꾸고 있습니다.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90600" y="2593628"/>
            <a:ext cx="7532787" cy="6388447"/>
          </a:xfrm>
          <a:prstGeom prst="roundRect">
            <a:avLst>
              <a:gd name="adj" fmla="val 268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81125" y="4795391"/>
            <a:ext cx="74269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1125" y="5319266"/>
            <a:ext cx="742691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검색하고 → 내가 읽고 → 내가 정리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81125" y="5869781"/>
            <a:ext cx="742691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문서를 백지에서 작성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381125" y="6420296"/>
            <a:ext cx="742691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반복에 시간 소모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8866287" y="5423520"/>
            <a:ext cx="631627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9764613" y="2593628"/>
            <a:ext cx="7532787" cy="6388447"/>
          </a:xfrm>
          <a:prstGeom prst="roundRect">
            <a:avLst>
              <a:gd name="adj" fmla="val 2684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145613" y="4795391"/>
            <a:ext cx="7447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 방식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45613" y="5319266"/>
            <a:ext cx="74478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읽고·정리 → 내가 판단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0145613" y="5869781"/>
            <a:ext cx="74478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초안은 AI, 완성은 내 손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0145613" y="6420296"/>
            <a:ext cx="74478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반복은 템플릿으로 자동화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75260" y="92487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핵심은 '더 빨리'가 아니라 </a:t>
            </a:r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'내 시간을 더 가치 있는 일에 쓰는 것'</a:t>
            </a:r>
            <a:pPr algn="ctr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800" dirty="0"/>
          </a:p>
        </p:txBody>
      </p:sp>
      <p:sp>
        <p:nvSpPr>
          <p:cNvPr id="1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34141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REDESIGN YOUR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2589" y="762000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'AI에게 시킬 일' vs '내가 할 일'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'대체'가 아니라 '분담'입니다. 무엇을 맡기고 무엇을 쥘지 가르는 것이 핵심 역량.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90600" y="2574578"/>
            <a:ext cx="8039100" cy="6950422"/>
          </a:xfrm>
          <a:prstGeom prst="roundRect">
            <a:avLst>
              <a:gd name="adj" fmla="val 2467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00175" y="2946053"/>
            <a:ext cx="794194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맡길 일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00175" y="3512790"/>
            <a:ext cx="28515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23430" y="3531840"/>
            <a:ext cx="2741415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문서 읽고 요약·핵심 추출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00175" y="4030935"/>
            <a:ext cx="28515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23430" y="4049985"/>
            <a:ext cx="2866425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작성 (보고서·메일·기획)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00175" y="4549080"/>
            <a:ext cx="28515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23430" y="4568130"/>
            <a:ext cx="267910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데이터 분류·표 정리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00175" y="5067226"/>
            <a:ext cx="28515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23430" y="5086276"/>
            <a:ext cx="2526729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표현·톤 다듬기, 형식 변환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00175" y="5585371"/>
            <a:ext cx="28515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23430" y="5604421"/>
            <a:ext cx="234233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반복적·정형적인 글쓰기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58300" y="2574578"/>
            <a:ext cx="8039100" cy="6950422"/>
          </a:xfrm>
          <a:prstGeom prst="roundRect">
            <a:avLst>
              <a:gd name="adj" fmla="val 246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58350" y="2936528"/>
            <a:ext cx="79629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쥘 일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58350" y="3503265"/>
            <a:ext cx="31492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011370" y="3522315"/>
            <a:ext cx="250195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시킬지 '판단·지시'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58350" y="4021410"/>
            <a:ext cx="31492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011370" y="4040460"/>
            <a:ext cx="2283098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결과의 사실 여부 '검증'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658350" y="4539555"/>
            <a:ext cx="31492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011370" y="4558605"/>
            <a:ext cx="2506787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맥락·의도·우선순위 '결정'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658350" y="5057701"/>
            <a:ext cx="31492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011370" y="5076751"/>
            <a:ext cx="2222599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책임과 '의사결정'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658350" y="5575846"/>
            <a:ext cx="31492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011370" y="5594896"/>
            <a:ext cx="201342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사람과의 '관계·소통'</a:t>
            </a:r>
            <a:endParaRPr lang="en-US" sz="195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2951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2589" y="762000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'어떻게 묻느냐'가 결과를 좌우할까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AI는 </a:t>
            </a:r>
            <a:pPr algn="l" indent="0" marL="0">
              <a:buNone/>
            </a:pPr>
            <a:r>
              <a:rPr lang="en-US" sz="19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'다음에 올 말'을 확률적으로 이어 쓰는 </a:t>
            </a:r>
            <a:pPr algn="l" indent="0" marL="0">
              <a:buNone/>
            </a:pPr>
            <a:r>
              <a:rPr lang="en-US" sz="195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도구입니다. 그래서 입력(프롬프트)이 곧 출력의 방향을 정합니다.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90600" y="2555528"/>
            <a:ext cx="4959325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67436" y="3384203"/>
            <a:ext cx="48056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질문(프롬프트)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7436" y="3717578"/>
            <a:ext cx="48056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맥락·역할·형식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1375" y="2555528"/>
            <a:ext cx="457200" cy="1771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673825" y="2555528"/>
            <a:ext cx="495940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750658" y="3384203"/>
            <a:ext cx="4805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학습 + 추론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50658" y="3717578"/>
            <a:ext cx="4805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패턴으로 다음 말 예측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04675" y="2555528"/>
            <a:ext cx="457200" cy="1771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2357125" y="2555528"/>
            <a:ext cx="4940275" cy="1733550"/>
          </a:xfrm>
          <a:prstGeom prst="roundRect">
            <a:avLst>
              <a:gd name="adj" fmla="val 879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424436" y="3374678"/>
            <a:ext cx="48056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답변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24436" y="3708053"/>
            <a:ext cx="48056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품질에 비례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90600" y="4574828"/>
            <a:ext cx="8048625" cy="4445347"/>
          </a:xfrm>
          <a:prstGeom prst="roundRect">
            <a:avLst>
              <a:gd name="adj" fmla="val 3428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33500" y="4860578"/>
            <a:ext cx="80991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막연하게 물으면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3500" y="5232053"/>
            <a:ext cx="80991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7A2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"보고서 써줘" → 두루뭉술하고 내 상황과 동떨어진 답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248775" y="4574828"/>
            <a:ext cx="8048625" cy="4445347"/>
          </a:xfrm>
          <a:prstGeom prst="roundRect">
            <a:avLst>
              <a:gd name="adj" fmla="val 342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91675" y="4860578"/>
            <a:ext cx="80991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구체적으로 물으면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91675" y="5232053"/>
            <a:ext cx="80991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"역할·맥락·형식"을 주면 → 바로 쓸 수 있는 답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75260" y="92487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가끔 그럴듯하게 </a:t>
            </a:r>
            <a:pPr algn="ctr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틀린 답(환각)</a:t>
            </a:r>
            <a:pPr algn="ctr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만듭니다 → </a:t>
            </a:r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검증은 항상 사람의 몫.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0492F">
                  <a:alpha val="12000"/>
                </a:srgbClr>
              </a:gs>
              <a:gs pos="45000">
                <a:srgbClr val="C0492F">
                  <a:alpha val="0"/>
                </a:srgbClr>
              </a:gs>
            </a:gsLst>
            <a:path path="circle">
              <a:fillToRect l="85000" t="80000" r="15000" b="20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47800" y="762000"/>
            <a:ext cx="21283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E883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 FIRST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52589" y="762000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전, 꼭 지킬 3원칙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90600" y="1931640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EB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편리함보다 먼저인 것 — 개인정보·보안·저작권. 오늘 모든 실습에 이 원칙이 함께합니다.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600" y="2612678"/>
            <a:ext cx="5283175" cy="5883622"/>
          </a:xfrm>
          <a:prstGeom prst="roundRect">
            <a:avLst>
              <a:gd name="adj" fmla="val 32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655665"/>
            <a:ext cx="499424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83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민감정보 가명 처리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62075" y="4127153"/>
            <a:ext cx="467643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고객명·주민번호·계좌·내부 기밀은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가명·예시 데이터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바꿔 입력합니다. (예: 홍길동 → A고객)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02375" y="2612678"/>
            <a:ext cx="5283175" cy="5883622"/>
          </a:xfrm>
          <a:prstGeom prst="roundRect">
            <a:avLst>
              <a:gd name="adj" fmla="val 32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73850" y="3655665"/>
            <a:ext cx="499424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83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사내 규정 준수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873850" y="4127153"/>
            <a:ext cx="467643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회사의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AI·보안 가이드라인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우선합니다. 외부 반출 금지 자료는 업로드하지 않습니다.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14150" y="2612678"/>
            <a:ext cx="5283250" cy="5883622"/>
          </a:xfrm>
          <a:prstGeom prst="roundRect">
            <a:avLst>
              <a:gd name="adj" fmla="val 32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385625" y="3655665"/>
            <a:ext cx="499433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83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출처·검증 책임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85625" y="4127153"/>
            <a:ext cx="467650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결과는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사실 확인과 출처 표기, 최종 책임은 사람에게 있습니다.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8763000"/>
            <a:ext cx="16306800" cy="762000"/>
          </a:xfrm>
          <a:prstGeom prst="roundRect">
            <a:avLst>
              <a:gd name="adj" fmla="val 17500"/>
            </a:avLst>
          </a:prstGeom>
          <a:solidFill>
            <a:srgbClr val="E8836B">
              <a:alpha val="14000"/>
            </a:srgbClr>
          </a:solidFill>
          <a:ln w="9525">
            <a:solidFill>
              <a:srgbClr val="E8836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04925" y="9001125"/>
            <a:ext cx="161673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CD9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실습 규칙: 실제 고객정보·기밀은 </a:t>
            </a:r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가명/예시</a:t>
            </a:r>
            <a:pPr algn="l" indent="0" marL="0">
              <a:buNone/>
            </a:pPr>
            <a:r>
              <a:rPr lang="en-US" sz="1875" b="1" dirty="0">
                <a:solidFill>
                  <a:srgbClr val="FCD9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대체해 사용합니다.</a:t>
            </a:r>
            <a:endParaRPr lang="en-US" sz="1875" dirty="0"/>
          </a:p>
        </p:txBody>
      </p:sp>
      <p:sp>
        <p:nvSpPr>
          <p:cNvPr id="1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1961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BY YOUR ROLE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2589" y="762000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직무별 Claude 활용 사례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 직무든 '읽고·쓰고·정리하는' 일이 있다면 활용 지점이 있습니다.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90600" y="2555528"/>
            <a:ext cx="8077200" cy="2221557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95475" y="3385319"/>
            <a:ext cx="44209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895475" y="3671069"/>
            <a:ext cx="44209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자료 요약 · 기획안 초안 · 아이디어 발산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0200" y="2555528"/>
            <a:ext cx="8077200" cy="2221557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125075" y="3385319"/>
            <a:ext cx="42036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관리·운영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0125075" y="3671069"/>
            <a:ext cx="42036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정리 · 보고서 작성 · 데이터 표 정리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4929485"/>
            <a:ext cx="8077200" cy="2221557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895475" y="5759276"/>
            <a:ext cx="42036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895475" y="6045026"/>
            <a:ext cx="42036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초안 · 고객 메일 · 상황별 응대 문구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20200" y="4929485"/>
            <a:ext cx="8077200" cy="2221557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125075" y="5759276"/>
            <a:ext cx="38512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교육·HR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125075" y="6045026"/>
            <a:ext cx="38512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교안·공지 작성 · 설문 정리 · FAQ 구성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600" y="7303443"/>
            <a:ext cx="8077200" cy="2221557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895475" y="8133234"/>
            <a:ext cx="42175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행정·총무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895475" y="8418984"/>
            <a:ext cx="42175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공문 초안 · 규정 요약 · 양식·안내문 표준화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20200" y="7303443"/>
            <a:ext cx="8077200" cy="2221557"/>
          </a:xfrm>
          <a:prstGeom prst="roundRect">
            <a:avLst>
              <a:gd name="adj" fmla="val 6003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15550" y="8133234"/>
            <a:ext cx="43902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직무는?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115550" y="8418984"/>
            <a:ext cx="43902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잠시 후 '내 업무 Top 5'에서 직접 찾아봅니다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762000"/>
            <a:ext cx="1706761" cy="466725"/>
          </a:xfrm>
          <a:prstGeom prst="roundRect">
            <a:avLst>
              <a:gd name="adj" fmla="val 2040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504950" y="857250"/>
            <a:ext cx="10781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미션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2589" y="857250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3827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업무 중 'AI로 바꿀 수 있는 일' Top 5 찾기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2310705"/>
            <a:ext cx="9367838" cy="7214295"/>
          </a:xfrm>
          <a:prstGeom prst="roundRect">
            <a:avLst>
              <a:gd name="adj" fmla="val 237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0175" y="2682180"/>
            <a:ext cx="94035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하세요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0175" y="3167955"/>
            <a:ext cx="342900" cy="34290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16795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95475" y="3167955"/>
            <a:ext cx="603414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하는 업무를 떠오르는 대로 적어 봅니다 (10개 내외)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400175" y="3705151"/>
            <a:ext cx="342900" cy="34290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370515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95475" y="3705151"/>
            <a:ext cx="482439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업무를 '반복도'와 '문서작업 비중'으로 점검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400175" y="4242346"/>
            <a:ext cx="342900" cy="34290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62075" y="4242346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95475" y="4242346"/>
            <a:ext cx="474974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바꿨을 때 효과가 큰 순서로 Top 5 선정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400175" y="4779541"/>
            <a:ext cx="342900" cy="34290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62075" y="477954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95475" y="4779541"/>
            <a:ext cx="461632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어떤 교시에서 해결될지 연결해 봅니다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00175" y="8877300"/>
            <a:ext cx="88051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정답은 없습니다. '시간을 많이 쓰는데 반복적인 일'부터 찾으세요.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06088" y="2310705"/>
            <a:ext cx="6691313" cy="5752207"/>
          </a:xfrm>
          <a:prstGeom prst="roundRect">
            <a:avLst>
              <a:gd name="adj" fmla="val 298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29938" y="4415284"/>
            <a:ext cx="66479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체크리스트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29938" y="4862959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42030" y="4877246"/>
            <a:ext cx="184732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목록 작성 완료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29938" y="527253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2030" y="5286821"/>
            <a:ext cx="155272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5 선정 완료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29938" y="5682109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42030" y="5696396"/>
            <a:ext cx="204489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한 줄씩 기록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606088" y="8272463"/>
            <a:ext cx="6691313" cy="1252538"/>
          </a:xfrm>
          <a:prstGeom prst="roundRect">
            <a:avLst>
              <a:gd name="adj" fmla="val 1368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460956" y="8567738"/>
            <a:ext cx="250968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8분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1460956" y="8953500"/>
            <a:ext cx="25096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작성 6분 + 공유 2분</a:t>
            </a:r>
            <a:endParaRPr lang="en-US" sz="18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043708" cy="447675"/>
          </a:xfrm>
          <a:prstGeom prst="roundRect">
            <a:avLst>
              <a:gd name="adj" fmla="val 2127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15103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워크시트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2589" y="771525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「내 업무 AI 전환 Top 5」 워크시트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990600" y="1905000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아래 양식을 그대로 따라 채워 보세요. (노트·메모앱에 옮겨 적어도 좋습니다)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409825"/>
            <a:ext cx="16306800" cy="7191375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00125" y="2419350"/>
            <a:ext cx="16287750" cy="61912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14425" y="2590800"/>
            <a:ext cx="34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2125" y="2590800"/>
            <a:ext cx="50149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내용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18573" y="2590800"/>
            <a:ext cx="27304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65370" y="2590800"/>
            <a:ext cx="27304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문서비중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94469" y="2590800"/>
            <a:ext cx="4340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/ 해결 교시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0125" y="4341465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2025" y="3551858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62125" y="3551858"/>
            <a:ext cx="5381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C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주간 회의록 정리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63035" y="3551858"/>
            <a:ext cx="32414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4C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9832" y="3551858"/>
            <a:ext cx="32414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4C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94469" y="3551858"/>
            <a:ext cx="46612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C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절감 · 4교시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0125" y="5654055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2025" y="4864373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0125" y="6966570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2025" y="6176963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0125" y="8279160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62025" y="7489478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2025" y="8802067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435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2589" y="762000"/>
            <a:ext cx="14792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· AI 시대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1교시, 이것만 기억하세요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41190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2075" y="2441897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28825" y="2436465"/>
            <a:ext cx="8190622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'대체'가 아니라 '분담' — 무엇을 맡길지 정하는 게 핵심 역량이다.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600" y="3276079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75" y="3576786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28825" y="3571354"/>
            <a:ext cx="8005056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결과는 질문(프롬프트)의 품질에 비례한다. 검증은 언제나 사람의 몫.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600" y="4410968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62075" y="4711675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8825" y="4706243"/>
            <a:ext cx="6940853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민감정보는 가명·예시로 — 안전 3원칙은 모든 실습의 기본.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0600" y="8467725"/>
            <a:ext cx="8048625" cy="1057275"/>
          </a:xfrm>
          <a:prstGeom prst="roundRect">
            <a:avLst>
              <a:gd name="adj" fmla="val 14414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09750" y="8715375"/>
            <a:ext cx="32834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확보한 산출물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09750" y="8991600"/>
            <a:ext cx="32834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업무 AI 전환 Top 5 워크시트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48775" y="8467725"/>
            <a:ext cx="8048625" cy="1057275"/>
          </a:xfrm>
          <a:prstGeom prst="roundRect">
            <a:avLst>
              <a:gd name="adj" fmla="val 14414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46481" y="8715375"/>
            <a:ext cx="41415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교시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46481" y="8991600"/>
            <a:ext cx="41415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— Claude, 제대로 알고 세팅하기</a:t>
            </a:r>
            <a:endParaRPr lang="en-US" sz="1875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50000">
                <a:srgbClr val="536BE0">
                  <a:alpha val="0"/>
                </a:srgbClr>
              </a:gs>
            </a:gsLst>
            <a:path path="circle">
              <a:fillToRect l="18000" t="78000" r="82000" b="22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2608957"/>
            <a:ext cx="93922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600" kern="0" dirty="0">
                <a:solidFill>
                  <a:srgbClr val="8FA1F2">
                    <a:alpha val="2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952500" y="4380607"/>
            <a:ext cx="915665" cy="4286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4456807"/>
            <a:ext cx="610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82465" y="4456807"/>
            <a:ext cx="15146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10:30 – 11:20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5056882"/>
            <a:ext cx="8794571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700" b="1" spc="-114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제대로 알기 </a:t>
            </a:r>
            <a:pPr algn="l" indent="0" marL="0">
              <a:lnSpc>
                <a:spcPct val="110000"/>
              </a:lnSpc>
              <a:buNone/>
            </a:pPr>
            <a:r>
              <a:rPr lang="en-US" sz="5700" b="1" spc="-114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· 강점 · 환경 세팅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952500" y="6877943"/>
            <a:ext cx="74561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도구를 알아야 잘 쓴다. Claude의 강점과 핵심 기능을 익히고, 내 직무용 '첫 대화'를 세팅한다.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43418" y="0"/>
            <a:ext cx="7844582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443418" y="0"/>
            <a:ext cx="9525" cy="10287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14943" y="3221385"/>
            <a:ext cx="6942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교시에서 다루는 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14943" y="36881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576893" y="3688110"/>
            <a:ext cx="294659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생성형 AI와 Claude의 차이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214943" y="41072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576893" y="4107210"/>
            <a:ext cx="19296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Claude의 4대 강점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214943" y="45263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576893" y="4526310"/>
            <a:ext cx="23736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둘러보기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214943" y="49454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576893" y="4945410"/>
            <a:ext cx="26107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업무용 '첫 대화' 세팅 3요소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214943" y="53645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576893" y="5364510"/>
            <a:ext cx="16330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사용 습관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214943" y="5916960"/>
            <a:ext cx="6311057" cy="1148655"/>
          </a:xfrm>
          <a:prstGeom prst="roundRect">
            <a:avLst>
              <a:gd name="adj" fmla="val 11609"/>
            </a:avLst>
          </a:prstGeom>
          <a:solidFill>
            <a:srgbClr val="536BE0">
              <a:alpha val="16000"/>
            </a:srgbClr>
          </a:solidFill>
          <a:ln w="9525">
            <a:solidFill>
              <a:srgbClr val="8FA1F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91168" y="6155085"/>
            <a:ext cx="63344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 산출물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91168" y="6507510"/>
            <a:ext cx="633446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맞춤 「Claude 시작 프롬프트(역할·맥락·형식)」 1세트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0228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CLAUDE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762000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Claude, 업무에서 이렇게 씁니다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도구마다 강점이 다릅니다. 업무 문서 작업에서 Claude를 쓰는 네 지점입</a:t>
            </a:r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03140"/>
            <a:ext cx="16306800" cy="6593235"/>
          </a:xfrm>
          <a:prstGeom prst="roundRect">
            <a:avLst>
              <a:gd name="adj" fmla="val 2311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00125" y="2512665"/>
            <a:ext cx="16287750" cy="69532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85875" y="2722215"/>
            <a:ext cx="53814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항목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79642" y="2512665"/>
            <a:ext cx="5254079" cy="695325"/>
          </a:xfrm>
          <a:prstGeom prst="rect">
            <a:avLst/>
          </a:prstGeom>
          <a:solidFill>
            <a:srgbClr val="536BE0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65392" y="2722215"/>
            <a:ext cx="48402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19471" y="2722215"/>
            <a:ext cx="48402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활용 예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0125" y="4670524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85875" y="3801145"/>
            <a:ext cx="57859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문서 처리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65392" y="3801145"/>
            <a:ext cx="52079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번에 많은 분량을 안정적으로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19471" y="3801145"/>
            <a:ext cx="5208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수십 쪽 보고서를 넣고 질의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0125" y="4680049"/>
            <a:ext cx="16287750" cy="1472133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0125" y="6142658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85875" y="5273204"/>
            <a:ext cx="57859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품질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65392" y="5273204"/>
            <a:ext cx="52079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자연스러운 문장·존댓말 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19471" y="5273204"/>
            <a:ext cx="5208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보고체·존댓말 메일 초안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0125" y="7614717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85875" y="6745337"/>
            <a:ext cx="57859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추론·꼼꼼함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65392" y="6745337"/>
            <a:ext cx="52079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단계적으로 따져 설명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19471" y="6745337"/>
            <a:ext cx="5208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근거를 단계별로 따져 비교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00125" y="7624242"/>
            <a:ext cx="16287750" cy="1462608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85875" y="8217396"/>
            <a:ext cx="57859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첨부 분석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65392" y="8217396"/>
            <a:ext cx="52079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PDF·문서 업로드 후 질의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19471" y="8217396"/>
            <a:ext cx="5208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PDF·엑셀 첨부 후 요약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90600" y="92487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각 도구는 빠르게 발전 중입니다. ChatGPT·Gemini 등도 파일 분석을 지원하니 업무에 맞게 고르세요.</a:t>
            </a:r>
            <a:endParaRPr lang="en-US" sz="18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0932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STRENGTHS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762000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업무에 바로 쓰는 Claude 4대 강점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실습은 모두 이 네 가지 위에서 이뤄집니다.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60290"/>
            <a:ext cx="8048625" cy="337758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028825" y="3881884"/>
            <a:ext cx="563083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문서 분석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028825" y="4296221"/>
            <a:ext cx="563083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PDF·보고서·계약서를 읽고 원하는 정보만 추출 →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48775" y="2560290"/>
            <a:ext cx="8048625" cy="337758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20350" y="3881884"/>
            <a:ext cx="483315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요약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20350" y="4296221"/>
            <a:ext cx="483315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내용을 한 장·3줄·실행항목으로 압축 →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6147420"/>
            <a:ext cx="8048625" cy="337758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62175" y="7469014"/>
            <a:ext cx="536120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글쓰기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162175" y="7883351"/>
            <a:ext cx="536120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보고서·기획안·메일 초안을 톤에 맞춰 작성 →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4·5교시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48775" y="6147420"/>
            <a:ext cx="8048625" cy="3377580"/>
          </a:xfrm>
          <a:prstGeom prst="roundRect">
            <a:avLst>
              <a:gd name="adj" fmla="val 5076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10825" y="7469014"/>
            <a:ext cx="550502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추론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410825" y="7883351"/>
            <a:ext cx="55050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분류·비교·구조화하고 근거를 설명 →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5·6교시</a:t>
            </a:r>
            <a:endParaRPr lang="en-US" sz="1800" dirty="0"/>
          </a:p>
        </p:txBody>
      </p:sp>
      <p:sp>
        <p:nvSpPr>
          <p:cNvPr id="1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2374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 FEATURES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762000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핵심 기능, 이것만 알면 됩니다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활용할 핵심 기능 네 가지를 미리 익혀 둡니다.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41240"/>
            <a:ext cx="3948112" cy="6040785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66825" y="285556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66825" y="3655665"/>
            <a:ext cx="373522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업로드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6825" y="4050953"/>
            <a:ext cx="349753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PDF·워드·엑셀·이미지를 첨부해 분석·요약시킵니다.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10163" y="2541240"/>
            <a:ext cx="3948112" cy="6040785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386388" y="285556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86388" y="3655665"/>
            <a:ext cx="373522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386388" y="4050953"/>
            <a:ext cx="349753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업무별 작업공간. 자료·지침을 모아 맥락을 유지합니다.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29725" y="2541240"/>
            <a:ext cx="3948112" cy="6040785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505950" y="285556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05950" y="3655665"/>
            <a:ext cx="373522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05950" y="4050953"/>
            <a:ext cx="349753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문서·표·코드 결과물을 따로 보고 편집·복사합니다.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349288" y="2541240"/>
            <a:ext cx="3948112" cy="6040785"/>
          </a:xfrm>
          <a:prstGeom prst="roundRect">
            <a:avLst>
              <a:gd name="adj" fmla="val 3860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3615988" y="284604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8FA1F2">
              <a:alpha val="20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615988" y="3646140"/>
            <a:ext cx="375618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관리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615988" y="4041428"/>
            <a:ext cx="351715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대화를 저장·이어가기. 잘 된 대화는 템플릿이 됩니다.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90600" y="8810625"/>
            <a:ext cx="16306800" cy="714375"/>
          </a:xfrm>
          <a:prstGeom prst="roundRect">
            <a:avLst>
              <a:gd name="adj" fmla="val 18667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04925" y="9029700"/>
            <a:ext cx="161673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플랜도 파일 업로드·Artifacts·Projects(5개)를 쓸 수 있고, Pro(월 20달러)는 사용량이 많고 Claude Code가 포함됩니다(claude.com/pricing, 2026-10).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212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PROMPT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762000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업무용 '첫 대화' 세팅 3요소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세 가지만 넣으면 답의 품질이 달라집니다. 오늘 모든 프롬프트의 기본 골격입니다.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0600" y="9515475"/>
            <a:ext cx="52959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90600" y="2560290"/>
            <a:ext cx="529590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90600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76975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2979390"/>
            <a:ext cx="5008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역할 부여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3312765"/>
            <a:ext cx="50082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62075" y="3846165"/>
            <a:ext cx="50082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"너는 ~전문가야"처럼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관점을 지정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62075" y="8162925"/>
            <a:ext cx="4552950" cy="990600"/>
          </a:xfrm>
          <a:prstGeom prst="roundRect">
            <a:avLst>
              <a:gd name="adj" fmla="val 9615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533525" y="8315325"/>
            <a:ext cx="43466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너는 10년 차 기획 담당자야.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605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96050" y="9515475"/>
            <a:ext cx="52959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96050" y="2560290"/>
            <a:ext cx="529590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96050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782425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525" y="2979390"/>
            <a:ext cx="5008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맥락 제공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67525" y="3312765"/>
            <a:ext cx="50082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67525" y="3846165"/>
            <a:ext cx="50082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목적·대상·배경 등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 정보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줍니다.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67525" y="8162925"/>
            <a:ext cx="4552950" cy="990600"/>
          </a:xfrm>
          <a:prstGeom prst="roundRect">
            <a:avLst>
              <a:gd name="adj" fmla="val 9615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38975" y="8315325"/>
            <a:ext cx="43466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신규 교육과정을 임원에게 보고할 거야.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00150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2001500" y="2560290"/>
            <a:ext cx="5295900" cy="57150"/>
          </a:xfrm>
          <a:prstGeom prst="rect">
            <a:avLst/>
          </a:prstGeom>
          <a:solidFill>
            <a:srgbClr val="8FA1F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363450" y="2979390"/>
            <a:ext cx="502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출력 형식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63450" y="3312765"/>
            <a:ext cx="5029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Format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2363450" y="3846165"/>
            <a:ext cx="5029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결과의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형태·분량·톤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지정합니다.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363450" y="8172450"/>
            <a:ext cx="4572000" cy="990600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2534900" y="8324850"/>
            <a:ext cx="43662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표로, 5줄 이내, 정중한 보고체로.</a:t>
            </a:r>
            <a:endParaRPr lang="en-US" sz="18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255690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7254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카드 · 복사해서 사용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771525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3요소를 합친 '시작 프롬프트' 한 장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36415"/>
            <a:ext cx="10025063" cy="7564785"/>
          </a:xfrm>
          <a:prstGeom prst="roundRect">
            <a:avLst>
              <a:gd name="adj" fmla="val 2015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36415"/>
            <a:ext cx="10025063" cy="561975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38250" y="2255490"/>
            <a:ext cx="123825" cy="123825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57325" y="2255490"/>
            <a:ext cx="123825" cy="123825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76400" y="2255490"/>
            <a:ext cx="123825" cy="123825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28825" y="2188815"/>
            <a:ext cx="24144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start_prompt.txt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2550" y="2922240"/>
            <a:ext cx="9601914" cy="6393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역할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너는 10년 차 </a:t>
            </a:r>
            <a:pPr algn="l" indent="0" marL="0">
              <a:lnSpc>
                <a:spcPct val="17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교육기획 담당자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야.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맥락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나는 신규 직무교육 과정을 만들고 있고, 이 내용을 </a:t>
            </a:r>
            <a:pPr algn="l" indent="0" marL="0">
              <a:lnSpc>
                <a:spcPct val="17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임원 보고용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으로 정리하려 해. 대상은 비전공 임원이라 쉽게 써야 해.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출력 형식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핵심을 </a:t>
            </a:r>
            <a:pPr algn="l" indent="0" marL="0">
              <a:lnSpc>
                <a:spcPct val="17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표 + 3줄 요약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으로, 정중한 보고체, A4 1장 분량으로 정리해줘.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282363" y="2036415"/>
            <a:ext cx="6015038" cy="6225629"/>
          </a:xfrm>
          <a:prstGeom prst="roundRect">
            <a:avLst>
              <a:gd name="adj" fmla="val 253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596688" y="2331690"/>
            <a:ext cx="59250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96688" y="2760315"/>
            <a:ext cx="59250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답변의 전문성·관점이 잡힘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96688" y="3213646"/>
            <a:ext cx="59250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내 상황에 맞는 답이 나옴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596688" y="3666976"/>
            <a:ext cx="59250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바로 쓸 수 있는 형태로 출력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282363" y="8433495"/>
            <a:ext cx="6015038" cy="1167705"/>
          </a:xfrm>
          <a:prstGeom prst="roundRect">
            <a:avLst>
              <a:gd name="adj" fmla="val 13051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587163" y="8681145"/>
            <a:ext cx="59459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식으로 바꾸기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87163" y="9033570"/>
            <a:ext cx="594598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굵은 부분(역할·대상·형식)만 내 업무로 바꾸면 끝.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1954411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13638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화면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771525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프롬프트를 넣으면, 이런 답이 옵니다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16306800" cy="7136160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90420" y="2331690"/>
            <a:ext cx="9625905" cy="1043880"/>
          </a:xfrm>
          <a:prstGeom prst="roundRect">
            <a:avLst>
              <a:gd name="adj" fmla="val 14599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38070" y="2522190"/>
            <a:ext cx="94193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2A3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너는 10년 차 교육기획 담당자야. 신규 직무교육 과정을 임원 보고용으로, 표 + 3줄 요약, 정중한 보고체로 정리해줘.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68725" y="2331690"/>
            <a:ext cx="438150" cy="4381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430625" y="233169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81125" y="3585121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43025" y="3585121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71675" y="3585121"/>
            <a:ext cx="14935200" cy="4544318"/>
          </a:xfrm>
          <a:prstGeom prst="roundRect">
            <a:avLst>
              <a:gd name="adj" fmla="val 3354"/>
            </a:avLst>
          </a:prstGeom>
          <a:solidFill>
            <a:srgbClr val="F7F8FB"/>
          </a:solidFill>
          <a:ln w="9525">
            <a:solidFill>
              <a:srgbClr val="EAEC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66950" y="3842296"/>
            <a:ext cx="157791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직무교육 과정 보고 요약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266950" y="4251871"/>
            <a:ext cx="14344650" cy="2000250"/>
          </a:xfrm>
          <a:prstGeom prst="roundRect">
            <a:avLst>
              <a:gd name="adj" fmla="val 4762"/>
            </a:avLst>
          </a:prstGeom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76475" y="4261396"/>
            <a:ext cx="14325600" cy="50482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47925" y="4375696"/>
            <a:ext cx="4575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075" y="4375696"/>
            <a:ext cx="94940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276475" y="5251996"/>
            <a:ext cx="1432560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447925" y="4870996"/>
            <a:ext cx="4575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075" y="4870996"/>
            <a:ext cx="94940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역량 강화 및 업무 표준화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276475" y="5261521"/>
            <a:ext cx="14325600" cy="495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276475" y="5747296"/>
            <a:ext cx="1432560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447925" y="5366296"/>
            <a:ext cx="4575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대상·기간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075" y="5366296"/>
            <a:ext cx="94940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입사자 / 4주 과정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447925" y="5861596"/>
            <a:ext cx="4575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075" y="5861596"/>
            <a:ext cx="94940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전력화 · 이직률 감소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266950" y="6404521"/>
            <a:ext cx="14774989" cy="1505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3줄 요약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신규 입사자 4주 직무교육으로 조기 전력화를 도모합니다. ② 표준 커리큘럼으로 부서 간 역량 편차를 줄입니다. ③ 도입 시 6개월 내 업무 적응 기간 단축이 기대됩니다.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5260" y="93249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화면·표현은 예시입니다. 핵심은 </a:t>
            </a:r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'요청한 형식 그대로' </a:t>
            </a:r>
            <a:pPr algn="ctr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결과가 나온다는 점.</a:t>
            </a:r>
            <a:endParaRPr lang="en-US" sz="18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1009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 HABIT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762000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사용 습관 — 'C.H.E.C.K' 루틴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결과는 똑똑한 '초안'입니다. 내보내기 전 다섯 가지를 점검하세요.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3620914"/>
            <a:ext cx="16306800" cy="862013"/>
          </a:xfrm>
          <a:prstGeom prst="roundRect">
            <a:avLst>
              <a:gd name="adj" fmla="val 1547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3975" y="3859039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2066925" y="3899520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Correct (사실)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4600575" y="3909045"/>
            <a:ext cx="49125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숫자·이름·날짜가 맞는가? 지어낸 정보는 없는가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4616276"/>
            <a:ext cx="16306800" cy="862013"/>
          </a:xfrm>
          <a:prstGeom prst="roundRect">
            <a:avLst>
              <a:gd name="adj" fmla="val 1547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3975" y="4854401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066925" y="4894883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Hidden info (민감)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4600575" y="4904408"/>
            <a:ext cx="37013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고객·기밀 정보가 들어가지 않았는가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0600" y="5611639"/>
            <a:ext cx="16306800" cy="862013"/>
          </a:xfrm>
          <a:prstGeom prst="roundRect">
            <a:avLst>
              <a:gd name="adj" fmla="val 1547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23975" y="5849764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2066925" y="5890245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(출처)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4600575" y="5899770"/>
            <a:ext cx="42268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주장에 근거·출처가 필요한가, 확인했는가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90600" y="6607001"/>
            <a:ext cx="16306800" cy="862013"/>
          </a:xfrm>
          <a:prstGeom prst="roundRect">
            <a:avLst>
              <a:gd name="adj" fmla="val 1547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23975" y="6845126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2066925" y="6885608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 (맥락)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4600575" y="6895133"/>
            <a:ext cx="37741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상황·대상에 정말 맞는 내용인가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600" y="7602364"/>
            <a:ext cx="16306800" cy="842963"/>
          </a:xfrm>
          <a:prstGeom prst="roundRect">
            <a:avLst>
              <a:gd name="adj" fmla="val 15819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14450" y="7830964"/>
            <a:ext cx="5715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2057400" y="7871445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Keep tone (톤)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4591050" y="7880970"/>
            <a:ext cx="37013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대외용/내부용에 맞는 표현·격식인가</a:t>
            </a:r>
            <a:endParaRPr lang="en-US" sz="1875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762000"/>
            <a:ext cx="1738685" cy="466725"/>
          </a:xfrm>
          <a:prstGeom prst="roundRect">
            <a:avLst>
              <a:gd name="adj" fmla="val 2040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504950" y="857250"/>
            <a:ext cx="11100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미션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857250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3827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직무용 '시작 프롬프트' 1세트 만들기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2310705"/>
            <a:ext cx="9367838" cy="7214295"/>
          </a:xfrm>
          <a:prstGeom prst="roundRect">
            <a:avLst>
              <a:gd name="adj" fmla="val 237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0175" y="2682180"/>
            <a:ext cx="94035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하세요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0175" y="3167955"/>
            <a:ext cx="342900" cy="34290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16795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95475" y="3167955"/>
            <a:ext cx="53416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앞의 시작 프롬프트 카드를 Claude에 복사해 봅니다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400175" y="3682305"/>
            <a:ext cx="342900" cy="34290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368230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95475" y="3682305"/>
            <a:ext cx="46009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역할·맥락·형식을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직무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맞게 고쳐 씁니다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00175" y="4196655"/>
            <a:ext cx="342900" cy="34290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62075" y="419665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95475" y="4196655"/>
            <a:ext cx="518267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실제로 보내 보고, 결과를 보며 한 번 더 다듬습니다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400175" y="4711005"/>
            <a:ext cx="342900" cy="34290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62075" y="471100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95475" y="4711005"/>
            <a:ext cx="49915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마음에 드는 버전을 '시작 프롬프트'로 저장합니다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400175" y="8877300"/>
            <a:ext cx="88051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한 세트가 오늘 모든 실습의 '출발 버튼'이 됩니다.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06088" y="2310705"/>
            <a:ext cx="6691313" cy="5752207"/>
          </a:xfrm>
          <a:prstGeom prst="roundRect">
            <a:avLst>
              <a:gd name="adj" fmla="val 298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29938" y="4415284"/>
            <a:ext cx="66479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체크리스트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29938" y="4862959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42030" y="4877246"/>
            <a:ext cx="233116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역할·맥락·형식 모두 채움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29938" y="527253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2030" y="5286821"/>
            <a:ext cx="210837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전송 후 결과 확인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29938" y="5682109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42030" y="5696396"/>
            <a:ext cx="198134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프롬프트로 저장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606088" y="8272463"/>
            <a:ext cx="6691313" cy="1252538"/>
          </a:xfrm>
          <a:prstGeom prst="roundRect">
            <a:avLst>
              <a:gd name="adj" fmla="val 1368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460956" y="8567738"/>
            <a:ext cx="251803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1460956" y="8953500"/>
            <a:ext cx="25180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작성·실행 8분 + 공유 2분</a:t>
            </a:r>
            <a:endParaRPr lang="en-US" sz="18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435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86000" y="762000"/>
            <a:ext cx="210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Claude 알기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2교시, 이것만 기억하세요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41190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2075" y="2441897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28825" y="2436465"/>
            <a:ext cx="11524104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강점(분석·요약·글쓰기·추론) 위에서 일한다.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600" y="3276079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75" y="3576786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28825" y="3571354"/>
            <a:ext cx="7945710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첫 대화 = 역할 · 맥락 · 형식. 이 3요소가 답의 품질을 결정한다.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600" y="4410968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62075" y="4711675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8825" y="4706243"/>
            <a:ext cx="8771305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내보내기 전 C.H.E.C.K 루틴으로 사실·민감정보·출처·맥락·톤을 점검한다.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0600" y="8467725"/>
            <a:ext cx="8048625" cy="1057275"/>
          </a:xfrm>
          <a:prstGeom prst="roundRect">
            <a:avLst>
              <a:gd name="adj" fmla="val 14414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09750" y="8715375"/>
            <a:ext cx="30808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확보한 산출물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09750" y="8991600"/>
            <a:ext cx="30808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맞춤 시작 프롬프트 1세트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48775" y="8467725"/>
            <a:ext cx="8048625" cy="1057275"/>
          </a:xfrm>
          <a:prstGeom prst="roundRect">
            <a:avLst>
              <a:gd name="adj" fmla="val 14414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46481" y="8715375"/>
            <a:ext cx="3322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교시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46481" y="8991600"/>
            <a:ext cx="332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[실습①] 긴 문서·PDF 요약/분석</a:t>
            </a:r>
            <a:endParaRPr lang="en-US" sz="1875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50000">
                <a:srgbClr val="536BE0">
                  <a:alpha val="0"/>
                </a:srgbClr>
              </a:gs>
            </a:gsLst>
            <a:path path="circle">
              <a:fillToRect l="18000" t="78000" r="82000" b="22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965091" y="571500"/>
            <a:ext cx="1465659" cy="5048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231791" y="685800"/>
            <a:ext cx="10084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629867"/>
            <a:ext cx="93922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600" kern="0" dirty="0">
                <a:solidFill>
                  <a:srgbClr val="8FA1F2">
                    <a:alpha val="2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952500" y="4401517"/>
            <a:ext cx="922139" cy="4286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4477717"/>
            <a:ext cx="617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88939" y="4477717"/>
            <a:ext cx="15055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11:30 – 12:20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5077792"/>
            <a:ext cx="8794571" cy="1588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spc="-111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문서·PDF·자료 </a:t>
            </a:r>
            <a:pPr algn="l" indent="0" marL="0">
              <a:lnSpc>
                <a:spcPct val="110000"/>
              </a:lnSpc>
              <a:buNone/>
            </a:pPr>
            <a:r>
              <a:rPr lang="en-US" sz="5550" b="1" spc="-111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요약과 분석</a:t>
            </a:r>
            <a:endParaRPr lang="en-US" sz="5550" dirty="0"/>
          </a:p>
        </p:txBody>
      </p:sp>
      <p:sp>
        <p:nvSpPr>
          <p:cNvPr id="10" name="Text 8"/>
          <p:cNvSpPr/>
          <p:nvPr/>
        </p:nvSpPr>
        <p:spPr>
          <a:xfrm>
            <a:off x="952500" y="6857033"/>
            <a:ext cx="765238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읽을 시간이 없는 그 문서, Claude에게 맡깁니다. 업로드 → 요약 → 원하는 정보만 추출 → 검증.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43418" y="0"/>
            <a:ext cx="7844582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443418" y="0"/>
            <a:ext cx="9525" cy="10287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214943" y="3221385"/>
            <a:ext cx="6942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교시에서 다루는 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214943" y="36881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576893" y="3688110"/>
            <a:ext cx="295955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업로드 후 핵심 요약 (3종)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214943" y="41072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576893" y="4107210"/>
            <a:ext cx="28215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'원하는 정보만' 질의응답 분석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214943" y="45263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576893" y="4526310"/>
            <a:ext cx="21074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표·데이터 문서 구조화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214943" y="49454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576893" y="4945410"/>
            <a:ext cx="257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결과 검증과 출처 확인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214943" y="53645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576893" y="5364510"/>
            <a:ext cx="257725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문서로 직접 요약·분석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214943" y="5916960"/>
            <a:ext cx="6311057" cy="1148655"/>
          </a:xfrm>
          <a:prstGeom prst="roundRect">
            <a:avLst>
              <a:gd name="adj" fmla="val 11609"/>
            </a:avLst>
          </a:prstGeom>
          <a:solidFill>
            <a:srgbClr val="536BE0">
              <a:alpha val="16000"/>
            </a:srgbClr>
          </a:solidFill>
          <a:ln w="9525">
            <a:solidFill>
              <a:srgbClr val="8FA1F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491168" y="6155085"/>
            <a:ext cx="63344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 산출물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91168" y="6507510"/>
            <a:ext cx="633446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문서 1건의 「A4 1장 요약본 + 핵심 실행항목 리스트」</a:t>
            </a:r>
            <a:endParaRPr lang="en-US" sz="18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2410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62000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실습은 이 흐름으로 갑니다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749451"/>
            <a:ext cx="3567113" cy="6186339"/>
          </a:xfrm>
          <a:prstGeom prst="roundRect">
            <a:avLst>
              <a:gd name="adj" fmla="val 480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93156" y="4830142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368153" y="5801692"/>
            <a:ext cx="8120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02607" y="6154117"/>
            <a:ext cx="7430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978525" y="6535117"/>
            <a:ext cx="15911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문서를 첨부한다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91063" y="5599733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5243513" y="2749451"/>
            <a:ext cx="3567113" cy="6186339"/>
          </a:xfrm>
          <a:prstGeom prst="roundRect">
            <a:avLst>
              <a:gd name="adj" fmla="val 480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646069" y="4830142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05067" y="5801692"/>
            <a:ext cx="8439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694" y="6154117"/>
            <a:ext cx="520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6077795" y="6535117"/>
            <a:ext cx="189847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장·3줄·실행항목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43975" y="5599733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9496425" y="2749451"/>
            <a:ext cx="3567113" cy="6186339"/>
          </a:xfrm>
          <a:prstGeom prst="roundRect">
            <a:avLst>
              <a:gd name="adj" fmla="val 480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98981" y="4830142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854779" y="5801692"/>
            <a:ext cx="8504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97332" y="6154117"/>
            <a:ext cx="9652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파고들기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0449476" y="6535117"/>
            <a:ext cx="166101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정보 질의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196888" y="5599733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300" dirty="0"/>
          </a:p>
        </p:txBody>
      </p:sp>
      <p:sp>
        <p:nvSpPr>
          <p:cNvPr id="24" name="Shape 22"/>
          <p:cNvSpPr/>
          <p:nvPr/>
        </p:nvSpPr>
        <p:spPr>
          <a:xfrm>
            <a:off x="13749338" y="2749451"/>
            <a:ext cx="3548063" cy="6186339"/>
          </a:xfrm>
          <a:prstGeom prst="roundRect">
            <a:avLst>
              <a:gd name="adj" fmla="val 4832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5142369" y="4830142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8FA1F2">
              <a:alpha val="2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5095711" y="5801692"/>
            <a:ext cx="8553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262994" y="6154117"/>
            <a:ext cx="520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4794531" y="6535117"/>
            <a:ext cx="14576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AA0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사실·출처 확인</a:t>
            </a:r>
            <a:endParaRPr lang="en-US" sz="18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76200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7620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09700" y="76200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7620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76200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790700" y="7620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24100" y="785813"/>
            <a:ext cx="15775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따라하기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986745" y="785813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1238250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· 문서를 업로드하는 법</a:t>
            </a:r>
            <a:endParaRPr lang="en-US" sz="4050" dirty="0"/>
          </a:p>
        </p:txBody>
      </p:sp>
      <p:sp>
        <p:nvSpPr>
          <p:cNvPr id="11" name="Shape 9"/>
          <p:cNvSpPr/>
          <p:nvPr/>
        </p:nvSpPr>
        <p:spPr>
          <a:xfrm>
            <a:off x="990600" y="2089770"/>
            <a:ext cx="5295900" cy="653035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3975" y="2423145"/>
            <a:ext cx="50920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+ 버튼 누르기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23975" y="2856533"/>
            <a:ext cx="50920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입력창 왼쪽 아래 + 버튼에서 파일 추가를 고릅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니다.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3975" y="7600950"/>
            <a:ext cx="4629150" cy="685800"/>
          </a:xfrm>
          <a:prstGeom prst="roundRect">
            <a:avLst>
              <a:gd name="adj" fmla="val 16667"/>
            </a:avLst>
          </a:prstGeom>
          <a:solidFill>
            <a:srgbClr val="F1F2F6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52612" y="7805738"/>
            <a:ext cx="37876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메시지를 입력하세요…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10200" y="776287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72100" y="77628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↑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6050" y="2089770"/>
            <a:ext cx="5295900" cy="653035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29425" y="2423145"/>
            <a:ext cx="50920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파일 선택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29425" y="2856533"/>
            <a:ext cx="476802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PDF·워드·엑셀·이미지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등을 고릅니다. 여러 개도 가능.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29425" y="7124700"/>
            <a:ext cx="4629150" cy="523875"/>
          </a:xfrm>
          <a:prstGeom prst="roundRect">
            <a:avLst>
              <a:gd name="adj" fmla="val 18182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267575" y="7262813"/>
            <a:ext cx="144534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분기보고서.pdf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29425" y="7743825"/>
            <a:ext cx="4629150" cy="542925"/>
          </a:xfrm>
          <a:prstGeom prst="roundRect">
            <a:avLst>
              <a:gd name="adj" fmla="val 17544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34250" y="7877175"/>
            <a:ext cx="17958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매출데이터.xlsx 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01500" y="2089770"/>
            <a:ext cx="5295900" cy="6530355"/>
          </a:xfrm>
          <a:prstGeom prst="roundRect">
            <a:avLst>
              <a:gd name="adj" fmla="val 323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325350" y="2413620"/>
            <a:ext cx="51130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요청과 함께 전송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25350" y="2847008"/>
            <a:ext cx="51130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파일만 보내지 말고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'무엇을 해줘'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함께 적습니다.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325350" y="6962775"/>
            <a:ext cx="46482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496800" y="7115175"/>
            <a:ext cx="444474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분기보고서.pdf 이 보고서 핵심만 요약해줘 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0600" y="8848725"/>
            <a:ext cx="16306800" cy="676275"/>
          </a:xfrm>
          <a:prstGeom prst="roundRect">
            <a:avLst>
              <a:gd name="adj" fmla="val 19718"/>
            </a:avLst>
          </a:prstGeom>
          <a:solidFill>
            <a:srgbClr val="FBE9E5"/>
          </a:solidFill>
          <a:ln w="9525">
            <a:solidFill>
              <a:srgbClr val="F1C9B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304925" y="9048750"/>
            <a:ext cx="161673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3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 전 점검: 고객정보·기밀이 담긴 문서라면 </a:t>
            </a:r>
            <a:pPr algn="l" indent="0" marL="0">
              <a:buNone/>
            </a:pPr>
            <a:r>
              <a:rPr lang="en-US" sz="1800" b="1" dirty="0">
                <a:solidFill>
                  <a:srgbClr val="A3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가명·예시본</a:t>
            </a:r>
            <a:pPr algn="l" indent="0" marL="0">
              <a:buNone/>
            </a:pPr>
            <a:r>
              <a:rPr lang="en-US" sz="1800" b="1" dirty="0">
                <a:solidFill>
                  <a:srgbClr val="A3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바꾸거나 사내 규정을 먼저 확인하세요.</a:t>
            </a:r>
            <a:endParaRPr lang="en-US" sz="18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890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SUMMARY TYPES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62000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상황에 맞는 '요약 3종'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문서라도 목적에 따라 요약의 형태가 다릅니다. 골라서 요청하세요.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0600" y="9515475"/>
            <a:ext cx="52959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90600" y="2560290"/>
            <a:ext cx="529590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90600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76975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3650903"/>
            <a:ext cx="500824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장 요약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62075" y="4103340"/>
            <a:ext cx="468953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1장 분량으로 배경·핵심·결론까지.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보고·공유용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9605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96050" y="9515475"/>
            <a:ext cx="52959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96050" y="2560290"/>
            <a:ext cx="529590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96050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1782425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67525" y="3650903"/>
            <a:ext cx="500824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3줄 요약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867525" y="4103340"/>
            <a:ext cx="50082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중요한 3가지만.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파악·메신저 공유용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0150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2001500" y="2560290"/>
            <a:ext cx="5295900" cy="57150"/>
          </a:xfrm>
          <a:prstGeom prst="rect">
            <a:avLst/>
          </a:prstGeom>
          <a:solidFill>
            <a:srgbClr val="8FA1F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363450" y="3650903"/>
            <a:ext cx="50292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실행항목 추출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363450" y="4103340"/>
            <a:ext cx="5029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'누가·무엇을·언제'까지.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바로 일로 옮기는 용도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913236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3798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카드 · 한 장 요약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보고서를 'A4 1장'으로 압축하기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36415"/>
            <a:ext cx="10426005" cy="7564785"/>
          </a:xfrm>
          <a:prstGeom prst="roundRect">
            <a:avLst>
              <a:gd name="adj" fmla="val 2015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36415"/>
            <a:ext cx="10426005" cy="55721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38250" y="2253109"/>
            <a:ext cx="123825" cy="123825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57325" y="2253109"/>
            <a:ext cx="123825" cy="123825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76400" y="2253109"/>
            <a:ext cx="123825" cy="123825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28825" y="2179290"/>
            <a:ext cx="286559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분기보고서.pdf 첨부됨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2550" y="2898428"/>
            <a:ext cx="10014886" cy="643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첨부한 보고서를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A4 1장 분량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으로 요약해줘. 다음 구조로 정리해: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1) 배경/목적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(2~3줄)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2) 핵심 내용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(불릿 5개 이내)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3) 결론/시사점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(3줄)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4) 후속 조치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가 필요한 항목 전문 용어는 쉽게 풀고, 정중한 보고체로 작성해줘.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683305" y="2036415"/>
            <a:ext cx="5614020" cy="5943749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978580" y="2312640"/>
            <a:ext cx="55258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78580" y="2722215"/>
            <a:ext cx="552581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구조를 지정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하면 매번 같은 형식으로 나옴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78580" y="3166021"/>
            <a:ext cx="552581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제한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("1장", "5개 이내")이 핵심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978580" y="3609826"/>
            <a:ext cx="552581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 정하면 바로 보고 가능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683305" y="8151614"/>
            <a:ext cx="5614020" cy="1449586"/>
          </a:xfrm>
          <a:prstGeom prst="roundRect">
            <a:avLst>
              <a:gd name="adj" fmla="val 10513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969055" y="8380214"/>
            <a:ext cx="55467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쓰기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969055" y="8732639"/>
            <a:ext cx="519379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중 임원 보고용으로 더 간결하게" 처럼 바로 이어 요청 가능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1954411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13638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화면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30페이지가 → 이렇게 한 장으로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52500" y="199831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81150" y="1998315"/>
            <a:ext cx="15716250" cy="7155210"/>
          </a:xfrm>
          <a:prstGeom prst="roundRect">
            <a:avLst>
              <a:gd name="adj" fmla="val 213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009775" y="2765078"/>
            <a:ext cx="14859000" cy="19050"/>
          </a:xfrm>
          <a:prstGeom prst="rect">
            <a:avLst/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09775" y="2331690"/>
            <a:ext cx="153047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 4분기 사업보고서 — 1장 요약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09775" y="2993678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배경·목적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09775" y="3317528"/>
            <a:ext cx="16344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4분기 실적을 점검하고 차년도 사업계획 수립의 근거를 마련하기 위함.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09775" y="3831878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2) 핵심 내용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09775" y="4155728"/>
            <a:ext cx="15304770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매출 전년 동기 대비 12% 증가 • 신규 채널 비중 18% → 27%로 확대 • 영업이익률은 원가 상승으로 1.5%p 하락 • 핵심 고객 재구매율 64% 유지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09775" y="5790158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3) 결론·시사점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09775" y="6114008"/>
            <a:ext cx="16344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외형 성장은 견조하나 수익성 방어가 과제. 채널 다변화 효과가 확인됨.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009775" y="6628358"/>
            <a:ext cx="14859000" cy="971550"/>
          </a:xfrm>
          <a:prstGeom prst="roundRect">
            <a:avLst>
              <a:gd name="adj" fmla="val 9804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00275" y="6780758"/>
            <a:ext cx="1592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4) 후속 조치 필요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00275" y="7104608"/>
            <a:ext cx="15925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원가 구조 점검 TF · □ 신규 채널 수익성 분석 · □ 차년도 가격 정책 검토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5260" y="93249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수치·내용은 예시입니다. 실제 결과는 첨부 문서에 따라 달라집니다.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406155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8804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카드 · 3줄 + 실행항목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바로 일로 옮기는 '3줄 + 실행항목'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36415"/>
            <a:ext cx="8039100" cy="6678960"/>
          </a:xfrm>
          <a:prstGeom prst="roundRect">
            <a:avLst>
              <a:gd name="adj" fmla="val 2282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36415"/>
            <a:ext cx="8039100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19200" y="2248346"/>
            <a:ext cx="114300" cy="114300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19225" y="2248346"/>
            <a:ext cx="114300" cy="114300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19250" y="2248346"/>
            <a:ext cx="114300" cy="114300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33575" y="2169765"/>
            <a:ext cx="9437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3줄 요약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14450" y="2860328"/>
            <a:ext cx="7632573" cy="5607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내용을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가장 중요한 3가지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로 딱 3줄 요약해줘. 각 줄은 한 문장으로, 메신저에 그대로 공유할 수 있게 간결하게 써줘.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58300" y="2036415"/>
            <a:ext cx="8039100" cy="6678960"/>
          </a:xfrm>
          <a:prstGeom prst="roundRect">
            <a:avLst>
              <a:gd name="adj" fmla="val 2282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258300" y="2036415"/>
            <a:ext cx="8039100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486900" y="2248346"/>
            <a:ext cx="114300" cy="114300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86925" y="2248346"/>
            <a:ext cx="114300" cy="114300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886950" y="2248346"/>
            <a:ext cx="114300" cy="114300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201275" y="2169765"/>
            <a:ext cx="14560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실행항목 추출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82150" y="2860328"/>
            <a:ext cx="7632573" cy="5607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문서에서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실행해야 할 일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만 뽑아 표로 정리해줘. 열은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[할 일 · 담당 · 기한 · 우선순위]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로, 우선순위 높은 순으로 정렬해줘.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0600" y="8924925"/>
            <a:ext cx="16306800" cy="676275"/>
          </a:xfrm>
          <a:prstGeom prst="roundRect">
            <a:avLst>
              <a:gd name="adj" fmla="val 1971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04925" y="9124950"/>
            <a:ext cx="161673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문서로 요약 3종을 </a:t>
            </a:r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</a:t>
            </a:r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요청하세요 — 업로드는 한 번, 결과는 세 가지.</a:t>
            </a:r>
            <a:endParaRPr lang="en-US" sz="18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1954411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13638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화면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실행항목이 '표'로 정리됩니다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52500" y="199831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81150" y="1998315"/>
            <a:ext cx="15716250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33575" y="2293590"/>
            <a:ext cx="1651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보고서에서 추출한 실행항목입니다. 우선순위 높은 순으로 정리했어요.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33575" y="2760315"/>
            <a:ext cx="15011400" cy="2952750"/>
          </a:xfrm>
          <a:prstGeom prst="roundRect">
            <a:avLst>
              <a:gd name="adj" fmla="val 3871"/>
            </a:avLst>
          </a:prstGeom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943100" y="2769840"/>
            <a:ext cx="14992350" cy="58102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152650" y="2922240"/>
            <a:ext cx="6444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7808" y="2922240"/>
            <a:ext cx="25167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54123" y="2922240"/>
            <a:ext cx="25167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30511" y="2922240"/>
            <a:ext cx="25167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943100" y="3931890"/>
            <a:ext cx="149923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152650" y="3503265"/>
            <a:ext cx="6444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원가 구조 점검 TF 구성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7808" y="3503265"/>
            <a:ext cx="25167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경영지원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54123" y="3503265"/>
            <a:ext cx="25167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 2주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330511" y="3455640"/>
            <a:ext cx="661839" cy="371475"/>
          </a:xfrm>
          <a:prstGeom prst="roundRect">
            <a:avLst>
              <a:gd name="adj" fmla="val 15385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463861" y="3503265"/>
            <a:ext cx="471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943100" y="3941415"/>
            <a:ext cx="14992350" cy="59055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943100" y="4522440"/>
            <a:ext cx="149923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152650" y="4093815"/>
            <a:ext cx="6444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채널 수익성 분석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77808" y="4093815"/>
            <a:ext cx="25167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영업기획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554123" y="4093815"/>
            <a:ext cx="25167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 말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330511" y="4046190"/>
            <a:ext cx="661839" cy="371475"/>
          </a:xfrm>
          <a:prstGeom prst="roundRect">
            <a:avLst>
              <a:gd name="adj" fmla="val 15385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4463861" y="4093815"/>
            <a:ext cx="471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943100" y="5112990"/>
            <a:ext cx="149923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152650" y="4684365"/>
            <a:ext cx="6444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차년도 가격 정책 초안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777808" y="4684365"/>
            <a:ext cx="25167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전략팀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554123" y="4684365"/>
            <a:ext cx="25167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2월 2주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4330511" y="4636740"/>
            <a:ext cx="661839" cy="371475"/>
          </a:xfrm>
          <a:prstGeom prst="roundRect">
            <a:avLst>
              <a:gd name="adj" fmla="val 15385"/>
            </a:avLst>
          </a:prstGeom>
          <a:solidFill>
            <a:srgbClr val="FFF3D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4463861" y="4684365"/>
            <a:ext cx="471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979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943100" y="5122515"/>
            <a:ext cx="14992350" cy="581025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152650" y="5274915"/>
            <a:ext cx="6444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고객 인터뷰 진행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777808" y="5274915"/>
            <a:ext cx="25167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CS팀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554123" y="5274915"/>
            <a:ext cx="25167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2월 말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4330511" y="5227290"/>
            <a:ext cx="661839" cy="371475"/>
          </a:xfrm>
          <a:prstGeom prst="roundRect">
            <a:avLst>
              <a:gd name="adj" fmla="val 15385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4463861" y="5274915"/>
            <a:ext cx="471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933575" y="5884515"/>
            <a:ext cx="16512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표를 복사해 엑셀·노션·업무 도구에 붙여 바로 활용하세요.</a:t>
            </a:r>
            <a:endParaRPr lang="en-US" sz="18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1154385" cy="409575"/>
          </a:xfrm>
          <a:prstGeom prst="roundRect">
            <a:avLst>
              <a:gd name="adj" fmla="val 16279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33475" y="752475"/>
            <a:ext cx="944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40235" y="759619"/>
            <a:ext cx="304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4085" y="685800"/>
            <a:ext cx="1016422" cy="409575"/>
          </a:xfrm>
          <a:prstGeom prst="roundRect">
            <a:avLst>
              <a:gd name="adj" fmla="val 16279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06960" y="752475"/>
            <a:ext cx="806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986745" y="75247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1247775"/>
            <a:ext cx="1793748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"요약해줘" 한마디의 차이</a:t>
            </a:r>
            <a:endParaRPr lang="en-US" sz="3750" dirty="0"/>
          </a:p>
        </p:txBody>
      </p:sp>
      <p:sp>
        <p:nvSpPr>
          <p:cNvPr id="9" name="Shape 7"/>
          <p:cNvSpPr/>
          <p:nvPr/>
        </p:nvSpPr>
        <p:spPr>
          <a:xfrm>
            <a:off x="990600" y="2019300"/>
            <a:ext cx="8029575" cy="7096125"/>
          </a:xfrm>
          <a:prstGeom prst="roundRect">
            <a:avLst>
              <a:gd name="adj" fmla="val 2416"/>
            </a:avLst>
          </a:prstGeom>
          <a:solidFill>
            <a:srgbClr val="FFFFFF"/>
          </a:solidFill>
          <a:ln w="9525">
            <a:solidFill>
              <a:srgbClr val="F1C9B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62075" y="2352675"/>
            <a:ext cx="1135335" cy="390525"/>
          </a:xfrm>
          <a:prstGeom prst="roundRect">
            <a:avLst>
              <a:gd name="adj" fmla="val 17073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95425" y="2409825"/>
            <a:ext cx="944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11710" y="2409825"/>
            <a:ext cx="1579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막연한 프롬프트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62075" y="2933700"/>
            <a:ext cx="7286625" cy="614363"/>
          </a:xfrm>
          <a:prstGeom prst="roundRect">
            <a:avLst>
              <a:gd name="adj" fmla="val 15504"/>
            </a:avLst>
          </a:prstGeom>
          <a:solidFill>
            <a:srgbClr val="FBF1E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571625" y="3105150"/>
            <a:ext cx="70861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2E1E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문서 요약해줘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62075" y="3757613"/>
            <a:ext cx="80152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이런 결과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62075" y="4129088"/>
            <a:ext cx="750522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무엇이 중요한지 알 수 없는 평면적 나열 • 분량·형식 제각각, 매번 다르게 나옴 • 내 상황(보고? 공유?)과 무관한 일반 요약 • 그대로 쓰기 어려워 다시 손봐야 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67825" y="2019300"/>
            <a:ext cx="8029575" cy="7096125"/>
          </a:xfrm>
          <a:prstGeom prst="roundRect">
            <a:avLst>
              <a:gd name="adj" fmla="val 2416"/>
            </a:avLst>
          </a:prstGeom>
          <a:solidFill>
            <a:srgbClr val="FFFFFF"/>
          </a:solidFill>
          <a:ln w="9525">
            <a:solidFill>
              <a:srgbClr val="BCE3C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639300" y="2352675"/>
            <a:ext cx="997372" cy="390525"/>
          </a:xfrm>
          <a:prstGeom prst="roundRect">
            <a:avLst>
              <a:gd name="adj" fmla="val 17073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72650" y="2409825"/>
            <a:ext cx="806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50972" y="2409825"/>
            <a:ext cx="22891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구조를 지정한 프롬프트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39300" y="2933700"/>
            <a:ext cx="7286625" cy="1371600"/>
          </a:xfrm>
          <a:prstGeom prst="roundRect">
            <a:avLst>
              <a:gd name="adj" fmla="val 6944"/>
            </a:avLst>
          </a:prstGeom>
          <a:solidFill>
            <a:srgbClr val="EEF7F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848850" y="3105150"/>
            <a:ext cx="708612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보고용으로 A4 1장 요약. 배경·핵심5개·결론·후속조치 구조, 정중한 보고체로.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39300" y="4514850"/>
            <a:ext cx="80152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이런 결과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39300" y="4886325"/>
            <a:ext cx="750522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매번 동일한 형식 → 바로 보고 가능 • 핵심·결론·후속조치가 명확히 분리 • 분량·톤이 목적에 맞게 통제됨 • 거의 완성된 초안, 검토만 하면 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5260" y="93249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차이는 단 하나 — </a:t>
            </a:r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'어떤 형식으로, 무엇을 위해' 요약할지 알려주는 것.</a:t>
            </a:r>
            <a:endParaRPr lang="en-US" sz="18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255690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7254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카드 · 원하는 정보만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문서에 '질문'을 던지세요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90600" y="190306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요약 대신, 내가 궁금한 것만 콕 집어 물으면 분석 도구가 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407890"/>
            <a:ext cx="9223028" cy="7193310"/>
          </a:xfrm>
          <a:prstGeom prst="roundRect">
            <a:avLst>
              <a:gd name="adj" fmla="val 2119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0600" y="2407890"/>
            <a:ext cx="9223028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238250" y="2615059"/>
            <a:ext cx="123825" cy="123825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457325" y="2615059"/>
            <a:ext cx="123825" cy="123825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676400" y="2615059"/>
            <a:ext cx="123825" cy="123825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009775" y="2541240"/>
            <a:ext cx="205964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계약서.pdf 첨부됨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3500" y="3231803"/>
            <a:ext cx="8813919" cy="612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첨부한 계약서에서 다음만 찾아 정리해줘: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계약 기간과 자동 갱신 조건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해지·위약금 관련 조항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우리 측에 불리할 수 있는 부분 각 항목은 </a:t>
            </a:r>
            <a:pPr algn="l" indent="0" marL="0">
              <a:lnSpc>
                <a:spcPct val="17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원문 위치(조항 번호)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도 함께 표시해줘.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80328" y="2407890"/>
            <a:ext cx="6817072" cy="5949404"/>
          </a:xfrm>
          <a:prstGeom prst="roundRect">
            <a:avLst>
              <a:gd name="adj" fmla="val 256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775603" y="2684115"/>
            <a:ext cx="68491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이런 질문에 강해요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75603" y="3093690"/>
            <a:ext cx="684917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"~에 대한 내용만 찾아줘"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75603" y="3527971"/>
            <a:ext cx="684917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"A와 B를 비교해줘"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75603" y="3962251"/>
            <a:ext cx="684917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"빠진 것·모순되는 것 없어?"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75603" y="4396532"/>
            <a:ext cx="684917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표에서 가장 큰 값은?"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80328" y="8528745"/>
            <a:ext cx="6817072" cy="1072455"/>
          </a:xfrm>
          <a:prstGeom prst="roundRect">
            <a:avLst>
              <a:gd name="adj" fmla="val 14210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766078" y="8738295"/>
            <a:ext cx="68701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꼭 확인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66078" y="9071670"/>
            <a:ext cx="687012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A2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'원문 위치 표시'를 요청하면 검증이 쉬워집니다.</a:t>
            </a:r>
            <a:endParaRPr lang="en-US" sz="18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048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685800"/>
            <a:ext cx="26795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685800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14425"/>
            <a:ext cx="1793748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내용을 '표'로 구조화하기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990600" y="2330946"/>
            <a:ext cx="7610475" cy="6806133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23975" y="2626221"/>
            <a:ext cx="76380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(줄글 자료)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3975" y="3054846"/>
            <a:ext cx="7152037" cy="4743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"A안은 비용 1,200만원에 기간 2개월, B안은 800만원에 3개월이 걸리고, C안은 1,500만원이지만 1개월 만에 가능합니다. A안은 품질이 가장 안정적이고…"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3975" y="7912224"/>
            <a:ext cx="6943725" cy="929580"/>
          </a:xfrm>
          <a:prstGeom prst="roundRect">
            <a:avLst>
              <a:gd name="adj" fmla="val 1024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95425" y="8045574"/>
            <a:ext cx="680913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내용을 [안 · 비용 · 기간 · 특징] 표로 정리해줘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86825" y="5436394"/>
            <a:ext cx="59055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4050" dirty="0"/>
          </a:p>
        </p:txBody>
      </p:sp>
      <p:sp>
        <p:nvSpPr>
          <p:cNvPr id="12" name="Shape 10"/>
          <p:cNvSpPr/>
          <p:nvPr/>
        </p:nvSpPr>
        <p:spPr>
          <a:xfrm>
            <a:off x="9686925" y="2330946"/>
            <a:ext cx="7610475" cy="6806133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82200" y="4314751"/>
            <a:ext cx="77904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(구조화된 표)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25050" y="4743376"/>
            <a:ext cx="7134225" cy="2000250"/>
          </a:xfrm>
          <a:prstGeom prst="roundRect">
            <a:avLst>
              <a:gd name="adj" fmla="val 4762"/>
            </a:avLst>
          </a:prstGeom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934575" y="4752901"/>
            <a:ext cx="7115175" cy="50482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67925" y="4867201"/>
            <a:ext cx="9632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21715" y="4867201"/>
            <a:ext cx="17325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144723" y="4867201"/>
            <a:ext cx="15402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875446" y="4867201"/>
            <a:ext cx="21171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34575" y="5743501"/>
            <a:ext cx="7115175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67925" y="5362501"/>
            <a:ext cx="9632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21715" y="5362501"/>
            <a:ext cx="17325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1,200만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144723" y="5362501"/>
            <a:ext cx="15402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875446" y="5362501"/>
            <a:ext cx="21171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안정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34575" y="5753026"/>
            <a:ext cx="7115175" cy="4953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934575" y="6238801"/>
            <a:ext cx="7115175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067925" y="5857801"/>
            <a:ext cx="9632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21715" y="5857801"/>
            <a:ext cx="17325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800만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144723" y="5857801"/>
            <a:ext cx="15402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875446" y="5857801"/>
            <a:ext cx="21171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최저 비용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67925" y="6353101"/>
            <a:ext cx="9632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221715" y="6353101"/>
            <a:ext cx="17325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1,500만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144723" y="6353101"/>
            <a:ext cx="15402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875446" y="6353101"/>
            <a:ext cx="21171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최단 기간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982200" y="6876976"/>
            <a:ext cx="77904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"비용 낮은 순 정렬", "추천안은?"도 이어서 요청</a:t>
            </a:r>
            <a:endParaRPr lang="en-US" sz="18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8836B">
                  <a:alpha val="12000"/>
                </a:srgbClr>
              </a:gs>
              <a:gs pos="45000">
                <a:srgbClr val="E8836B">
                  <a:alpha val="0"/>
                </a:srgbClr>
              </a:gs>
            </a:gsLst>
            <a:path path="circle">
              <a:fillToRect l="85000" t="25000" r="15000" b="75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47800" y="762000"/>
            <a:ext cx="24988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E883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 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86745" y="762000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결과, 그대로 믿지 마세요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EB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가끔 그럴듯하게 </a:t>
            </a:r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 내용을 지어냅니다(환각)</a:t>
            </a:r>
            <a:pPr algn="l" indent="0" marL="0">
              <a:buNone/>
            </a:pPr>
            <a:r>
              <a:rPr lang="en-US" sz="1875" dirty="0">
                <a:solidFill>
                  <a:srgbClr val="AEB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세 가지를 꼭 점검하세요.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2539305"/>
            <a:ext cx="5283175" cy="5999857"/>
          </a:xfrm>
          <a:prstGeom prst="roundRect">
            <a:avLst>
              <a:gd name="adj" fmla="val 32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43025" y="3563243"/>
            <a:ext cx="503615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83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숫자·고유명사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43025" y="3996630"/>
            <a:ext cx="47156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금액·날짜·이름은 원문과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대조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가장 자주 틀리는 부분.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02375" y="2539305"/>
            <a:ext cx="5283175" cy="5999857"/>
          </a:xfrm>
          <a:prstGeom prst="roundRect">
            <a:avLst>
              <a:gd name="adj" fmla="val 32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4800" y="3563243"/>
            <a:ext cx="503615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83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위치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54800" y="3996630"/>
            <a:ext cx="47156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"어느 페이지·조항에 있어?"라고 되물어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근거를 확인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14150" y="2539305"/>
            <a:ext cx="5283250" cy="5999857"/>
          </a:xfrm>
          <a:prstGeom prst="roundRect">
            <a:avLst>
              <a:gd name="adj" fmla="val 32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366575" y="3563243"/>
            <a:ext cx="50362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83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덧붙인 해석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66575" y="3996630"/>
            <a:ext cx="50362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문서에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 내용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추측해 넣지 않았는지 점검.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8786813"/>
            <a:ext cx="16306800" cy="738188"/>
          </a:xfrm>
          <a:prstGeom prst="roundRect">
            <a:avLst>
              <a:gd name="adj" fmla="val 18065"/>
            </a:avLst>
          </a:prstGeom>
          <a:solidFill>
            <a:srgbClr val="E8836B">
              <a:alpha val="14000"/>
            </a:srgbClr>
          </a:solidFill>
          <a:ln w="9525">
            <a:solidFill>
              <a:srgbClr val="E8836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04925" y="9005888"/>
            <a:ext cx="16167354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CD9C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검증 프롬프트: "위 요약에서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원문에 없는 내용이 있으면 표시</a:t>
            </a:r>
            <a:pPr algn="l" indent="0" marL="0">
              <a:buNone/>
            </a:pPr>
            <a:r>
              <a:rPr lang="en-US" sz="1800" dirty="0">
                <a:solidFill>
                  <a:srgbClr val="FCD9C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하고, 각 핵심 항목의 출처 위치를 알려줘"</a:t>
            </a:r>
            <a:endParaRPr lang="en-US" sz="1800" dirty="0"/>
          </a:p>
        </p:txBody>
      </p:sp>
      <p:sp>
        <p:nvSpPr>
          <p:cNvPr id="1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111252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5207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· 계약서 핵심추출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계약서에서 '내게 중요한 것'만 뽑기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52500" y="199831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81150" y="1998315"/>
            <a:ext cx="15716250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52625" y="2293590"/>
            <a:ext cx="16470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요청하신 3가지 항목을 원문 조항과 함께 정리했습니다.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52625" y="2741265"/>
            <a:ext cx="14973300" cy="1007715"/>
          </a:xfrm>
          <a:prstGeom prst="roundRect">
            <a:avLst>
              <a:gd name="adj" fmla="val 9452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62175" y="2912715"/>
            <a:ext cx="16009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계약 기간·자동 갱신 </a:t>
            </a:r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(제3조)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62175" y="3246090"/>
            <a:ext cx="160096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 단위, 만료 30일 전 별도 통지 없으면 1년 자동 연장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52625" y="3882330"/>
            <a:ext cx="14973300" cy="1007715"/>
          </a:xfrm>
          <a:prstGeom prst="roundRect">
            <a:avLst>
              <a:gd name="adj" fmla="val 9452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62175" y="4053780"/>
            <a:ext cx="16009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해지·위약금 </a:t>
            </a:r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(제8조)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62175" y="4387155"/>
            <a:ext cx="160096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 해지 시 잔여기간 요금의 30% 위약금. 60일 전 서면 통지 필요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952625" y="5023396"/>
            <a:ext cx="14973300" cy="1007715"/>
          </a:xfrm>
          <a:prstGeom prst="roundRect">
            <a:avLst>
              <a:gd name="adj" fmla="val 9452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162175" y="5194846"/>
            <a:ext cx="16009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불리할 수 있는 부분 </a:t>
            </a:r>
            <a:pPr algn="l" indent="0" marL="0">
              <a:buNone/>
            </a:pPr>
            <a:r>
              <a:rPr lang="en-US" sz="1800" b="1" dirty="0">
                <a:solidFill>
                  <a:srgbClr val="CC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(제11조)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62175" y="5528221"/>
            <a:ext cx="160096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A2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손해배상 상한이 '월 요금의 1배'로 낮게 설정 → 협의 검토 권장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52625" y="6183511"/>
            <a:ext cx="16470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"11조 원문 그대로 보여줘"로 근거를 직접 확인하세요.</a:t>
            </a:r>
            <a:endParaRPr lang="en-US" sz="18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716113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1255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· 데이터 요약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표·수치 문서에서 '핵심 지표'만 뽑기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6825109" cy="7602885"/>
          </a:xfrm>
          <a:prstGeom prst="roundRect">
            <a:avLst>
              <a:gd name="adj" fmla="val 2233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1998315"/>
            <a:ext cx="6825109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31665"/>
            <a:ext cx="6572662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매출데이터.xlsx 첨부됨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2803178"/>
            <a:ext cx="6420262" cy="6569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엑셀에서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월별 매출 추이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와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전월 대비 증감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만 뽑아 표로 정리하고, 가장 눈에 띄는 변화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3가지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를 한 줄씩 설명해줘.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3359" y="1998315"/>
            <a:ext cx="9234041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77684" y="2255490"/>
            <a:ext cx="94659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77684" y="2665065"/>
            <a:ext cx="8605391" cy="1924050"/>
          </a:xfrm>
          <a:prstGeom prst="roundRect">
            <a:avLst>
              <a:gd name="adj" fmla="val 4950"/>
            </a:avLst>
          </a:prstGeom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87209" y="2674590"/>
            <a:ext cx="8586341" cy="48577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39609" y="277936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01723" y="277936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263836" y="277936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전월 대비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7209" y="3627090"/>
            <a:ext cx="8586341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39609" y="325561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01723" y="325561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263836" y="325561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7209" y="3636615"/>
            <a:ext cx="8586341" cy="47625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387209" y="4103340"/>
            <a:ext cx="8586341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39609" y="373186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01723" y="373186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0.9억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263836" y="373186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-25%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39609" y="420811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01723" y="420811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1.5억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263836" y="4208115"/>
            <a:ext cx="26431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+67%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77684" y="4741515"/>
            <a:ext cx="8863553" cy="146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눈에 띄는 변화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2월 매출 급감(-25%) — 설 연휴 영향 추정 ② 3월 강한 반등(+67%)으로 1분기 최고치 ③ 분기 전체로는 완만한 우상향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77684" y="6296769"/>
            <a:ext cx="94659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수치는 원본과 대조 필수</a:t>
            </a:r>
            <a:endParaRPr lang="en-US" sz="18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740447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14989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문서유형 ① · 규정·약관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길고 딱딱한 '규정 문서'를 쉽게 풀기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7647161" cy="7602885"/>
          </a:xfrm>
          <a:prstGeom prst="roundRect">
            <a:avLst>
              <a:gd name="adj" fmla="val 2005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1998315"/>
            <a:ext cx="7647161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31665"/>
            <a:ext cx="7419376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취업규칙.pdf 첨부됨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2822228"/>
            <a:ext cx="7228876" cy="653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취업규칙에서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연차·휴가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관련 내용만 뽑아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직원이 이해하기 쉽게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Q&amp;A 형식으로 정리해줘. · 어려운 법률 용어는 풀어서 · 자주 묻는 질문 5개 · 각 답변에 조항 번호 표시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85411" y="1998315"/>
            <a:ext cx="8411989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218786" y="2274540"/>
            <a:ext cx="8519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(Q&amp;A)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18786" y="2703165"/>
            <a:ext cx="7745239" cy="967680"/>
          </a:xfrm>
          <a:prstGeom prst="roundRect">
            <a:avLst>
              <a:gd name="adj" fmla="val 9843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409286" y="2855565"/>
            <a:ext cx="81006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연차는 며칠인가요?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09286" y="3187005"/>
            <a:ext cx="81006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 근무 시 15일, 3년차부터 2년마다 1일 가산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(제22조)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18786" y="3804196"/>
            <a:ext cx="7745239" cy="967680"/>
          </a:xfrm>
          <a:prstGeom prst="roundRect">
            <a:avLst>
              <a:gd name="adj" fmla="val 9843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09286" y="3956596"/>
            <a:ext cx="81006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미사용 연차는?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09286" y="4288036"/>
            <a:ext cx="81006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연말 정산해 수당 지급, 이월 불가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(제24조)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18786" y="4905226"/>
            <a:ext cx="7745239" cy="967680"/>
          </a:xfrm>
          <a:prstGeom prst="roundRect">
            <a:avLst>
              <a:gd name="adj" fmla="val 9843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09286" y="5057626"/>
            <a:ext cx="81006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반차도 가능한가요?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09286" y="5389066"/>
            <a:ext cx="81006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오전·오후 반일 단위 사용 가능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(제23조)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18786" y="9048750"/>
            <a:ext cx="79775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그대로 사내 FAQ·공지로 활용</a:t>
            </a:r>
            <a:endParaRPr lang="en-US" sz="18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384277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7990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문서유형 ② · 시장·조사 리포트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조사 리포트에서 '인사이트'만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7647161" cy="7602885"/>
          </a:xfrm>
          <a:prstGeom prst="roundRect">
            <a:avLst>
              <a:gd name="adj" fmla="val 2005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1998315"/>
            <a:ext cx="7647161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31665"/>
            <a:ext cx="7419376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시장조사_리포트.pdf (80p)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2822228"/>
            <a:ext cx="7228876" cy="653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리포트를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의사결정용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으로 요약해줘: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1)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시장 규모·성장률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2)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주요 트렌드 3가지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3)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우리에게 기회 / 위협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4)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'그래서 무엇을 해야 하나' 경영진 보고 톤으로.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85411" y="1998315"/>
            <a:ext cx="8411989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218786" y="2274540"/>
            <a:ext cx="8519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18786" y="2684115"/>
            <a:ext cx="7977596" cy="667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시장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[ ]조 규모, 향후 3년 CAGR [ ]%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트렌드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구독형 전환 가속 · 친환경 수요 증가 · 모바일 우선 소비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기회/위협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기회: 신규 세그먼트 / 위협: 대형사 진입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제언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 모델 파일럿을 우선 검토</a:t>
            </a:r>
            <a:endParaRPr lang="en-US" sz="1800" dirty="0"/>
          </a:p>
        </p:txBody>
      </p:sp>
      <p:sp>
        <p:nvSpPr>
          <p:cNvPr id="1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368650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7829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문서유형 ③ · 긴 이메일 스레드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20개 오간 메일 스레드, 결론만 파악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7226573" cy="7602885"/>
          </a:xfrm>
          <a:prstGeom prst="roundRect">
            <a:avLst>
              <a:gd name="adj" fmla="val 2109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1998315"/>
            <a:ext cx="7226573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31665"/>
            <a:ext cx="6986170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긴 메일 스레드 붙여넣기 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2822228"/>
            <a:ext cx="6795670" cy="653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메일 대화를 정리해줘: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최종 결론은?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아직 안 정해진 것은?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내가 해야 할 일은?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누구 답변을 기다리는 중?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64823" y="1998315"/>
            <a:ext cx="8832577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98198" y="2274540"/>
            <a:ext cx="89824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798198" y="2703165"/>
            <a:ext cx="8165827" cy="636240"/>
          </a:xfrm>
          <a:prstGeom prst="roundRect">
            <a:avLst>
              <a:gd name="adj" fmla="val 14971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88698" y="2855565"/>
            <a:ext cx="802980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납품일을 25일로 합의, 단가는 기존 유지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98198" y="3472755"/>
            <a:ext cx="8165827" cy="636240"/>
          </a:xfrm>
          <a:prstGeom prst="roundRect">
            <a:avLst>
              <a:gd name="adj" fmla="val 14971"/>
            </a:avLst>
          </a:prstGeom>
          <a:solidFill>
            <a:srgbClr val="FFF3D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988698" y="3625155"/>
            <a:ext cx="802980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A979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미정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물량 할인율 (재무 검토 중)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98198" y="4242346"/>
            <a:ext cx="8165827" cy="636240"/>
          </a:xfrm>
          <a:prstGeom prst="roundRect">
            <a:avLst>
              <a:gd name="adj" fmla="val 14971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88698" y="4394746"/>
            <a:ext cx="802980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할 일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계약서 초안 회신 (오늘까지)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98198" y="5011936"/>
            <a:ext cx="8165827" cy="636240"/>
          </a:xfrm>
          <a:prstGeom prst="roundRect">
            <a:avLst>
              <a:gd name="adj" fmla="val 14971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88698" y="5164336"/>
            <a:ext cx="802980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김부장님 최종 승인 회신</a:t>
            </a:r>
            <a:endParaRPr lang="en-US" sz="18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4681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PITFALLS &amp; TIPS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62000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흔한 실수 vs 잘 쓰는 습관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41190"/>
            <a:ext cx="8029575" cy="7383810"/>
          </a:xfrm>
          <a:prstGeom prst="roundRect">
            <a:avLst>
              <a:gd name="adj" fmla="val 2322"/>
            </a:avLst>
          </a:prstGeom>
          <a:solidFill>
            <a:srgbClr val="FFFFFF"/>
          </a:solidFill>
          <a:ln w="9525">
            <a:solidFill>
              <a:srgbClr val="F1C9B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81125" y="2493615"/>
            <a:ext cx="797337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이런 실수, 자주 합니다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81125" y="3022253"/>
            <a:ext cx="250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88753" y="3055590"/>
            <a:ext cx="3008911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파일만 던지고 "요약해줘" 한마디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1125" y="3532733"/>
            <a:ext cx="250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88753" y="3566071"/>
            <a:ext cx="358307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검증 없이 그대로 보고서에 복사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81125" y="4043214"/>
            <a:ext cx="250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88753" y="4076551"/>
            <a:ext cx="3982781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긴 문서를 한 번에 다 넣고 막연히 요청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81125" y="4553694"/>
            <a:ext cx="250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88753" y="4587032"/>
            <a:ext cx="217891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고객정보 그대로 업로드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81125" y="5064175"/>
            <a:ext cx="250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88753" y="5097512"/>
            <a:ext cx="312939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마음에 안 들면 포기 (되묻지 않음)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67825" y="2141190"/>
            <a:ext cx="8029575" cy="7383810"/>
          </a:xfrm>
          <a:prstGeom prst="roundRect">
            <a:avLst>
              <a:gd name="adj" fmla="val 2322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48825" y="2484090"/>
            <a:ext cx="799433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하세요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648825" y="3012728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74387" y="3046065"/>
            <a:ext cx="252873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형식·구조·분량을 함께 지정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48825" y="3523208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74387" y="3556546"/>
            <a:ext cx="265120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숫자·고유명사는 원문과 대조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48825" y="4033689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74387" y="4067026"/>
            <a:ext cx="313974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문서는 "장별로 나눠 요약" 요청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48825" y="4544169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74387" y="4577507"/>
            <a:ext cx="265120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민감정보는 가명·예시로 치환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48825" y="5054650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974387" y="5087987"/>
            <a:ext cx="340862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"더 짧게/표로/근거 추가" 이어서 요청</a:t>
            </a:r>
            <a:endParaRPr lang="en-US" sz="18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762000"/>
            <a:ext cx="1745159" cy="466725"/>
          </a:xfrm>
          <a:prstGeom prst="roundRect">
            <a:avLst>
              <a:gd name="adj" fmla="val 2040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504950" y="857250"/>
            <a:ext cx="11165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미션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857250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38275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업무 문서로 직접 요약·분석하기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90600" y="2270745"/>
            <a:ext cx="9367838" cy="7254255"/>
          </a:xfrm>
          <a:prstGeom prst="roundRect">
            <a:avLst>
              <a:gd name="adj" fmla="val 236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0175" y="2623170"/>
            <a:ext cx="94035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하세요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0175" y="308989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08989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6425" y="3089895"/>
            <a:ext cx="55851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준비한 업무 문서를 업로드합니다 (민감정보는 가명 처리)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00175" y="356614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356614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6425" y="3566145"/>
            <a:ext cx="47270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'한 장 요약' 프롬프트로 A4 1장 요약을 받습니다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00175" y="404239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62075" y="404239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6425" y="4042395"/>
            <a:ext cx="37052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'실행항목 추출'로 할 일 표를 뽑습니다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00175" y="451864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62075" y="451864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6425" y="4518645"/>
            <a:ext cx="42052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숫자·고유명사를 원문과 대조해 검증합니다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00175" y="499489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62075" y="499489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6425" y="4994895"/>
            <a:ext cx="39041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요약본을 워크시트에 정리합니다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00175" y="8896350"/>
            <a:ext cx="88051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문서가 없다면 공개된 보고서나 예시 문서로 연습하세요.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606088" y="2270745"/>
            <a:ext cx="6691313" cy="5849317"/>
          </a:xfrm>
          <a:prstGeom prst="roundRect">
            <a:avLst>
              <a:gd name="adj" fmla="val 293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910888" y="4233342"/>
            <a:ext cx="66898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체크리스트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10888" y="468101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222980" y="4695304"/>
            <a:ext cx="219715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업로드 (가명 처리)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10888" y="508106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222980" y="5095354"/>
            <a:ext cx="185893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1장 요약본 확보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10888" y="548111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222980" y="5495404"/>
            <a:ext cx="158621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실행항목 표 추출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10888" y="588116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222980" y="5895454"/>
            <a:ext cx="185990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숫자·이름 검증 완료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606088" y="8310562"/>
            <a:ext cx="6691313" cy="1214438"/>
          </a:xfrm>
          <a:prstGeom prst="roundRect">
            <a:avLst>
              <a:gd name="adj" fmla="val 1411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1460956" y="8586788"/>
            <a:ext cx="213053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1460956" y="8972550"/>
            <a:ext cx="21305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12분 + 공유 3분</a:t>
            </a:r>
            <a:endParaRPr lang="en-US" sz="18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043708" cy="447675"/>
          </a:xfrm>
          <a:prstGeom prst="roundRect">
            <a:avLst>
              <a:gd name="adj" fmla="val 2127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15103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워크시트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71525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「A4 1장 요약본 + 실행항목」 양식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90600" y="188401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결과를 아래 칸에 채워 넣으면 산출물 완성입니다.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369790"/>
            <a:ext cx="9098384" cy="7231410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43025" y="3074640"/>
            <a:ext cx="8393534" cy="19050"/>
          </a:xfrm>
          <a:prstGeom prst="rect">
            <a:avLst/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43025" y="2684115"/>
            <a:ext cx="86453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장 요약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3025" y="3265140"/>
            <a:ext cx="92328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문서명 / 작성일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43025" y="3960465"/>
            <a:ext cx="8393534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43025" y="4150965"/>
            <a:ext cx="92328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배경·목적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43025" y="4846290"/>
            <a:ext cx="8393534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43025" y="5036790"/>
            <a:ext cx="92328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 (5개 이내)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43025" y="5732115"/>
            <a:ext cx="8393534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343025" y="6227415"/>
            <a:ext cx="8393534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43025" y="6417915"/>
            <a:ext cx="92328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결론·시사점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3025" y="7113240"/>
            <a:ext cx="8393534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298534" y="2369790"/>
            <a:ext cx="6998866" cy="5869335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631909" y="2665065"/>
            <a:ext cx="69653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실행항목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31909" y="3098453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963052" y="3360390"/>
            <a:ext cx="6000973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631909" y="3536603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963052" y="3798540"/>
            <a:ext cx="6000973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631909" y="3974753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63052" y="4236690"/>
            <a:ext cx="6000973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631909" y="4412903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963052" y="4674840"/>
            <a:ext cx="6000973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298534" y="8448675"/>
            <a:ext cx="6998866" cy="1152525"/>
          </a:xfrm>
          <a:prstGeom prst="roundRect">
            <a:avLst>
              <a:gd name="adj" fmla="val 13223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584284" y="8677275"/>
            <a:ext cx="70701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확인란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84284" y="9029700"/>
            <a:ext cx="70701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2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 숫자·이름 원문 대조 ☐ 출처 확인 ☐ 민감정보 점검</a:t>
            </a:r>
            <a:endParaRPr lang="en-US" sz="18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435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6745" y="762000"/>
            <a:ext cx="144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실습①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3교시, 이것만 기억하세요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41190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2075" y="2441897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28825" y="2436465"/>
            <a:ext cx="8051468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 후 '구조·분량·톤'을 지정하면 매번 같은 품질의 요약이 나온다.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600" y="3276079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75" y="3576786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28825" y="3571354"/>
            <a:ext cx="7409721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요약보다 '원하는 정보만' 질문할 때 진짜 분석 도구가 된다.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600" y="4410968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62075" y="4711675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8825" y="4706243"/>
            <a:ext cx="7933678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숫자·고유명사·출처는 반드시 원문과 대조 — 환각 점검은 사람의 몫.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0600" y="8477250"/>
            <a:ext cx="8048625" cy="1047750"/>
          </a:xfrm>
          <a:prstGeom prst="roundRect">
            <a:avLst>
              <a:gd name="adj" fmla="val 14545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09750" y="8724900"/>
            <a:ext cx="33082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확보한 산출물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09750" y="9001125"/>
            <a:ext cx="33082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1장 요약본 + 실행항목 리스트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48775" y="8477250"/>
            <a:ext cx="8048625" cy="1047750"/>
          </a:xfrm>
          <a:prstGeom prst="roundRect">
            <a:avLst>
              <a:gd name="adj" fmla="val 14545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27444" y="8724900"/>
            <a:ext cx="34263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교시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27444" y="9001125"/>
            <a:ext cx="34263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[실습②] 보고서·기획안·회의록 작성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50000">
                <a:srgbClr val="536BE0">
                  <a:alpha val="0"/>
                </a:srgbClr>
              </a:gs>
            </a:gsLst>
            <a:path path="circle">
              <a:fillToRect l="18000" t="78000" r="82000" b="22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965091" y="571500"/>
            <a:ext cx="1465659" cy="5048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231791" y="685800"/>
            <a:ext cx="10084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829892"/>
            <a:ext cx="93922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600" kern="0" dirty="0">
                <a:solidFill>
                  <a:srgbClr val="8FA1F2">
                    <a:alpha val="2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952500" y="4601542"/>
            <a:ext cx="926381" cy="4286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4677742"/>
            <a:ext cx="6215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93181" y="4677742"/>
            <a:ext cx="15598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13:30 – 14:20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5277817"/>
            <a:ext cx="8794571" cy="1588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spc="-111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보고서·기획안· </a:t>
            </a:r>
            <a:pPr algn="l" indent="0" marL="0">
              <a:lnSpc>
                <a:spcPct val="110000"/>
              </a:lnSpc>
              <a:buNone/>
            </a:pPr>
            <a:r>
              <a:rPr lang="en-US" sz="5550" b="1" spc="-111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작성</a:t>
            </a:r>
            <a:endParaRPr lang="en-US" sz="5550" dirty="0"/>
          </a:p>
        </p:txBody>
      </p:sp>
      <p:sp>
        <p:nvSpPr>
          <p:cNvPr id="10" name="Text 8"/>
          <p:cNvSpPr/>
          <p:nvPr/>
        </p:nvSpPr>
        <p:spPr>
          <a:xfrm>
            <a:off x="952500" y="7057058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'백지에서 시작'이 가장 막막한 일. 초안은 Claude와, 완성은 내 손으로.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43418" y="0"/>
            <a:ext cx="7844582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443418" y="0"/>
            <a:ext cx="9525" cy="10287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214943" y="3221385"/>
            <a:ext cx="6942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교시에서 다루는 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214943" y="36881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576893" y="3688110"/>
            <a:ext cx="22514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초안 작성 3단계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214943" y="41072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576893" y="4107210"/>
            <a:ext cx="18389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구조 만들기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214943" y="45263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576893" y="4526310"/>
            <a:ext cx="29391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자동 정리 + 액션아이템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214943" y="49454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576893" y="4945410"/>
            <a:ext cx="258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톤·분량·독자에 맞춰 다듬기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214943" y="53645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576893" y="5364510"/>
            <a:ext cx="247352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업무로 1건 직접 작성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214943" y="5916960"/>
            <a:ext cx="6311057" cy="1148655"/>
          </a:xfrm>
          <a:prstGeom prst="roundRect">
            <a:avLst>
              <a:gd name="adj" fmla="val 11609"/>
            </a:avLst>
          </a:prstGeom>
          <a:solidFill>
            <a:srgbClr val="536BE0">
              <a:alpha val="16000"/>
            </a:srgbClr>
          </a:solidFill>
          <a:ln w="9525">
            <a:solidFill>
              <a:srgbClr val="8FA1F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491168" y="6155085"/>
            <a:ext cx="63344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 산출물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91168" y="6507510"/>
            <a:ext cx="633446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「보고서(또는 기획안) 초안 1건」 + 「회의록 정리 템플릿」</a:t>
            </a:r>
            <a:endParaRPr lang="en-US" sz="18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934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 IN 3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62000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보고서는 '한 번에' 말고 '3단계'로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전체를 통째로 시키면 두루뭉술해집니다. 끊어서 만들면 품질이 올라가고 통제됩니다.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908548"/>
            <a:ext cx="4933950" cy="6268194"/>
          </a:xfrm>
          <a:prstGeom prst="roundRect">
            <a:avLst>
              <a:gd name="adj" fmla="val 34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0600" y="9167217"/>
            <a:ext cx="493395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90600" y="2908548"/>
            <a:ext cx="493395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90600" y="2908548"/>
            <a:ext cx="9525" cy="6268194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15025" y="2908548"/>
            <a:ext cx="9525" cy="6268194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3975" y="3327648"/>
            <a:ext cx="46939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3975" y="3718173"/>
            <a:ext cx="46939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 잡기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23975" y="4275386"/>
            <a:ext cx="4395216" cy="3758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주제·목적을 주고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목차(뼈대)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먼저 만든다. 구조가 잡히면 본문이 쉬워진다.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23975" y="7995642"/>
            <a:ext cx="4267200" cy="809625"/>
          </a:xfrm>
          <a:prstGeom prst="roundRect">
            <a:avLst>
              <a:gd name="adj" fmla="val 11765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95425" y="8128992"/>
            <a:ext cx="405231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"~보고서 목차를 5개 항목으로 제안해줘"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6000" y="5799758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6686550" y="2908548"/>
            <a:ext cx="4933950" cy="6268194"/>
          </a:xfrm>
          <a:prstGeom prst="roundRect">
            <a:avLst>
              <a:gd name="adj" fmla="val 34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686550" y="9167217"/>
            <a:ext cx="493395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686550" y="2908548"/>
            <a:ext cx="493395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686550" y="2908548"/>
            <a:ext cx="9525" cy="6268194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610975" y="2908548"/>
            <a:ext cx="9525" cy="6268194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019925" y="3327648"/>
            <a:ext cx="46939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19925" y="3718173"/>
            <a:ext cx="46939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작성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7019925" y="4275386"/>
            <a:ext cx="4395216" cy="3758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확정한 목차의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항목을 채운다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한 번에 다 말고 항목별로.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19925" y="7995642"/>
            <a:ext cx="4267200" cy="809625"/>
          </a:xfrm>
          <a:prstGeom prst="roundRect">
            <a:avLst>
              <a:gd name="adj" fmla="val 11765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91375" y="8128992"/>
            <a:ext cx="405231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"2번 항목을 3문단 으로 작성해줘"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91950" y="5799758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300" dirty="0"/>
          </a:p>
        </p:txBody>
      </p:sp>
      <p:sp>
        <p:nvSpPr>
          <p:cNvPr id="29" name="Shape 27"/>
          <p:cNvSpPr/>
          <p:nvPr/>
        </p:nvSpPr>
        <p:spPr>
          <a:xfrm>
            <a:off x="12382500" y="2908548"/>
            <a:ext cx="4914900" cy="6268194"/>
          </a:xfrm>
          <a:prstGeom prst="roundRect">
            <a:avLst>
              <a:gd name="adj" fmla="val 3488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2382500" y="2908548"/>
            <a:ext cx="4914900" cy="57150"/>
          </a:xfrm>
          <a:prstGeom prst="rect">
            <a:avLst/>
          </a:prstGeom>
          <a:solidFill>
            <a:srgbClr val="8FA1F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706350" y="3327648"/>
            <a:ext cx="46939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706350" y="3718173"/>
            <a:ext cx="46939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다듬기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2706350" y="4275386"/>
            <a:ext cx="4395216" cy="3767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톤·분량·대상에 맞춰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윤문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한다. 보고용/대외용으로 변환.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706350" y="8005167"/>
            <a:ext cx="4267200" cy="809625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877800" y="8138517"/>
            <a:ext cx="405231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"임원 보고체로, 더 간결하게"</a:t>
            </a:r>
            <a:endParaRPr lang="en-US" sz="18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193182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6610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카드 · STEP 1 목차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71525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'뼈대'부터 함께 만듭니다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8029575" cy="7583835"/>
          </a:xfrm>
          <a:prstGeom prst="roundRect">
            <a:avLst>
              <a:gd name="adj" fmla="val 2010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17365"/>
            <a:ext cx="8029575" cy="523875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19200" y="2222153"/>
            <a:ext cx="114300" cy="114300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19225" y="2222153"/>
            <a:ext cx="114300" cy="114300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19250" y="2222153"/>
            <a:ext cx="114300" cy="114300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33575" y="2150715"/>
            <a:ext cx="8992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14450" y="2826990"/>
            <a:ext cx="7622762" cy="6526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너는 기획팀 보고서 작성 담당자야.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'사내 AI 교육 도입 결과 보고서'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를 쓰려고 해. 먼저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목차만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5~6개 항목으로 제안해줘. 각 항목에 무엇을 담을지 한 줄 설명도 붙여줘.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67825" y="2017365"/>
            <a:ext cx="8029575" cy="7583835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20250" y="2312640"/>
            <a:ext cx="80571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(목차 제안)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20250" y="2760315"/>
            <a:ext cx="244078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2428" y="2760315"/>
            <a:ext cx="3197929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배경·목적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왜 도입했는가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20250" y="3197498"/>
            <a:ext cx="284262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42612" y="3197498"/>
            <a:ext cx="2789880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개요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대상·기간·방식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20250" y="3634680"/>
            <a:ext cx="286196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44546" y="3634680"/>
            <a:ext cx="2993373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결과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만족도·활용 사례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20250" y="4071863"/>
            <a:ext cx="293861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2211" y="4071863"/>
            <a:ext cx="3062377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성과·효과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업무 시간 절감 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20250" y="4509046"/>
            <a:ext cx="283964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42314" y="4509046"/>
            <a:ext cx="2992472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개선점·한계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보완 필요 사항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20250" y="4946228"/>
            <a:ext cx="285973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44323" y="4946228"/>
            <a:ext cx="2776046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확산·후속 과제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20250" y="8763000"/>
            <a:ext cx="7324725" cy="542925"/>
          </a:xfrm>
          <a:prstGeom prst="roundRect">
            <a:avLst>
              <a:gd name="adj" fmla="val 17544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791700" y="8896350"/>
            <a:ext cx="72015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"3번을 더 자세히" / "4번 추가" 로 목차부터 조율</a:t>
            </a:r>
            <a:endParaRPr lang="en-US" sz="18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225552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6944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카드 · STEP 2 본문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71525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확정한 목차를 '항목별로' 채웁니다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7647161" cy="7583835"/>
          </a:xfrm>
          <a:prstGeom prst="roundRect">
            <a:avLst>
              <a:gd name="adj" fmla="val 2010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17365"/>
            <a:ext cx="7647161" cy="523875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19200" y="2222153"/>
            <a:ext cx="114300" cy="114300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19225" y="2222153"/>
            <a:ext cx="114300" cy="114300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19250" y="2222153"/>
            <a:ext cx="114300" cy="114300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33575" y="2150715"/>
            <a:ext cx="8992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14450" y="2826990"/>
            <a:ext cx="7228876" cy="6526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좋아, 이 목차로 갈게.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'3. 주요 결과'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항목을 작성해줘. 조건: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3문단, 각 4~5줄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만족도 4.5/5, 활용사례 2건 포함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정중한 보고체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수치는 [ ]로 비워둬 (내가 실제 값 입력)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885411" y="2017365"/>
            <a:ext cx="8411989" cy="7583835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37836" y="2312640"/>
            <a:ext cx="84778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(본문 일부)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37836" y="2741265"/>
            <a:ext cx="7938353" cy="5926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주요 결과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교육에 참여한 [ ]명을 대상으로 실시한 만족도 조사 결과, 전체 평균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[4.5]/5점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높은 만족도를 보였다. 특히 '실습 중심 진행'과 '본인 업무 적용' 항목에서 가장 높은 점수를… 활용 사례로는, 기획팀의 경우 주간 보고서 작성 시간이 기존 대비 약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[40]%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단축되었으며, 고객지원팀은 응대 메일 표준화를…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37836" y="8763000"/>
            <a:ext cx="7707139" cy="542925"/>
          </a:xfrm>
          <a:prstGeom prst="roundRect">
            <a:avLst>
              <a:gd name="adj" fmla="val 17544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09286" y="8896350"/>
            <a:ext cx="75954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수치를 [ ]로 비워두게 하면 거짓 숫자(환각)를 막을 수 있어요.</a:t>
            </a:r>
            <a:endParaRPr lang="en-US" sz="1800" dirty="0"/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048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685800"/>
            <a:ext cx="24477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 · POLISH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685800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14425"/>
            <a:ext cx="1793748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내용, 독자에 맞춰 '톤 변환'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990600" y="1771650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초안이 완성됐다면, 누가 읽느냐에 따라 한 번에 변환합니다.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333625"/>
            <a:ext cx="5295900" cy="636270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04925" y="2647950"/>
            <a:ext cx="51339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임원 보고용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04925" y="3057525"/>
            <a:ext cx="4667250" cy="929580"/>
          </a:xfrm>
          <a:prstGeom prst="roundRect">
            <a:avLst>
              <a:gd name="adj" fmla="val 1024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57325" y="3190875"/>
            <a:ext cx="450246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"임원 보고용으로, 결론부터, 1장으로"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04925" y="4139505"/>
            <a:ext cx="513397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두괄식·핵심만·격식 있는 보고체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6050" y="2333625"/>
            <a:ext cx="5295900" cy="636270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10375" y="2647950"/>
            <a:ext cx="51339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 발송용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10375" y="3057525"/>
            <a:ext cx="4667250" cy="929580"/>
          </a:xfrm>
          <a:prstGeom prst="roundRect">
            <a:avLst>
              <a:gd name="adj" fmla="val 1024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62775" y="3190875"/>
            <a:ext cx="450246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"고객사 발송용으로, 정중하고 신뢰감 있게"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0375" y="4139505"/>
            <a:ext cx="513397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예의·브랜드 톤·오해 없는 표현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001500" y="2333625"/>
            <a:ext cx="5295900" cy="6362700"/>
          </a:xfrm>
          <a:prstGeom prst="roundRect">
            <a:avLst>
              <a:gd name="adj" fmla="val 323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306300" y="2638425"/>
            <a:ext cx="51549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공유용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06300" y="3048000"/>
            <a:ext cx="4686300" cy="929580"/>
          </a:xfrm>
          <a:prstGeom prst="roundRect">
            <a:avLst>
              <a:gd name="adj" fmla="val 1024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458700" y="3181350"/>
            <a:ext cx="452208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"팀 공유용으로, 편하게 불릿으로"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06300" y="4129980"/>
            <a:ext cx="515493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간결·실무적·바로 행동 가능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90600" y="8924925"/>
            <a:ext cx="16306800" cy="676275"/>
          </a:xfrm>
          <a:prstGeom prst="roundRect">
            <a:avLst>
              <a:gd name="adj" fmla="val 1971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04925" y="9124950"/>
            <a:ext cx="161673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잘 쓴 초안은 → 톤만 바꿔 여러 버전으로 재활용. '쓰는 시간'이 '고르는 시간'으로 바뀝니다.</a:t>
            </a:r>
            <a:endParaRPr lang="en-US" sz="18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610296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0768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카드 · 기획안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71525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기획안: '배경·목적·방안·효과' 구조로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7647161" cy="7583835"/>
          </a:xfrm>
          <a:prstGeom prst="roundRect">
            <a:avLst>
              <a:gd name="adj" fmla="val 2010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17365"/>
            <a:ext cx="7647161" cy="523875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19200" y="2222153"/>
            <a:ext cx="114300" cy="114300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19225" y="2222153"/>
            <a:ext cx="114300" cy="114300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19250" y="2222153"/>
            <a:ext cx="114300" cy="114300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33575" y="2150715"/>
            <a:ext cx="8992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2807940"/>
            <a:ext cx="7266976" cy="6564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너는 기획 담당자야.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'사내 점심시간 독서모임 운영' 기획안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을 써줘. 아래 4단 구조로: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1) 배경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(왜 필요한가)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2) 목적·기대효과 3) 추진 방안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(일정·운영방식)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4) 필요 자원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(예산·공간) 각 항목 3~4줄, 실행 가능하게.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885411" y="2017365"/>
            <a:ext cx="8411989" cy="7583835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18786" y="2293590"/>
            <a:ext cx="8519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(기획안 초안)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18786" y="2722215"/>
            <a:ext cx="7745239" cy="929580"/>
          </a:xfrm>
          <a:prstGeom prst="roundRect">
            <a:avLst>
              <a:gd name="adj" fmla="val 10247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90236" y="2855565"/>
            <a:ext cx="76346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배경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구성원 간 교류 기회 부족, 자기계발 수요 증가에 따라…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18786" y="3785146"/>
            <a:ext cx="7745239" cy="929580"/>
          </a:xfrm>
          <a:prstGeom prst="roundRect">
            <a:avLst>
              <a:gd name="adj" fmla="val 10247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90236" y="3918496"/>
            <a:ext cx="76346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2) 목적·기대효과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소통 활성화, 학습 문화 조성, 만족도 제고…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18786" y="4848076"/>
            <a:ext cx="7745239" cy="929580"/>
          </a:xfrm>
          <a:prstGeom prst="roundRect">
            <a:avLst>
              <a:gd name="adj" fmla="val 10247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90236" y="4981426"/>
            <a:ext cx="76346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3) 추진 방안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격주 수요일 12:30~13:10, 회의실 A, 도서 1권/월…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18786" y="5911007"/>
            <a:ext cx="7745239" cy="929580"/>
          </a:xfrm>
          <a:prstGeom prst="roundRect">
            <a:avLst>
              <a:gd name="adj" fmla="val 1024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90236" y="6044357"/>
            <a:ext cx="76346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4) 필요 자원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도서구입비 [ ]만원, 회의실 정기 예약…</a:t>
            </a:r>
            <a:endParaRPr lang="en-US" sz="18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005435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4720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· 회의록 자동정리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71525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메모·녹취를 '정돈된 회의록'으로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7628037" cy="1495425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47775" y="2236440"/>
            <a:ext cx="7825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넣는 것 (거친 메모)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7775" y="2607915"/>
            <a:ext cx="73270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"오늘 신제품 출시 논의함. 마케팅 김대리가 SNS 먼저 하자고. 예산 얘기 나옴 대략 500. 다음주까지 시안. 영업팀은 사은품 의견…"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" y="3665190"/>
            <a:ext cx="7628037" cy="5936010"/>
          </a:xfrm>
          <a:prstGeom prst="roundRect">
            <a:avLst>
              <a:gd name="adj" fmla="val 224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38250" y="3874740"/>
            <a:ext cx="7846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8250" y="4265265"/>
            <a:ext cx="7346719" cy="186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메모를 정돈된 회의록으로 정리해줘. 구조는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[일시·참석·안건·논의·결정사항· 실행항목(담당/기한)]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실행항목은 표로.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66287" y="2017365"/>
            <a:ext cx="8431039" cy="7583835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80612" y="2274540"/>
            <a:ext cx="85826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(정돈된 회의록)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80612" y="2684115"/>
            <a:ext cx="8036461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안건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신제품 출시 마케팅 방향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논의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선 집행 제안(마케팅), 사은품 검토(영업)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결정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우선 진행 · 예산 약 500만원 검토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80612" y="3894609"/>
            <a:ext cx="7802389" cy="1428750"/>
          </a:xfrm>
          <a:prstGeom prst="roundRect">
            <a:avLst>
              <a:gd name="adj" fmla="val 6667"/>
            </a:avLst>
          </a:prstGeom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90137" y="3904134"/>
            <a:ext cx="7783339" cy="46672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23487" y="3999384"/>
            <a:ext cx="32962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실행항목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782699" y="3999384"/>
            <a:ext cx="19715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44725" y="3999384"/>
            <a:ext cx="19716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90137" y="4837584"/>
            <a:ext cx="7783339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3487" y="4466109"/>
            <a:ext cx="32962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시안 작성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782699" y="4466109"/>
            <a:ext cx="19715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김대리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44725" y="4466109"/>
            <a:ext cx="19716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다음주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90137" y="4847109"/>
            <a:ext cx="7783339" cy="466725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323487" y="4942359"/>
            <a:ext cx="32962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사은품 후보 조사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782699" y="4942359"/>
            <a:ext cx="19715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영업팀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44725" y="4942359"/>
            <a:ext cx="19716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차주 회의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80612" y="5456709"/>
            <a:ext cx="85826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회의 직후 5분, 메모만 붙여넣으면 끝.</a:t>
            </a:r>
            <a:endParaRPr lang="en-US" sz="18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2533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 TYPES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62000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유형별 '구조 한 줄' 모음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유형마다 구조만 알려주면 됩니다. 이 구조를 프롬프트에 그대로 넣으세요.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01205"/>
            <a:ext cx="8067675" cy="22208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38325" y="3304431"/>
            <a:ext cx="41192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주간/업무 보고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838325" y="3647331"/>
            <a:ext cx="411921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성과 · 이슈 · 다음 계획 · 도움요청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9725" y="2501205"/>
            <a:ext cx="8067675" cy="22208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117931" y="3304431"/>
            <a:ext cx="44210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출장/방문 보고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0117931" y="3647331"/>
            <a:ext cx="442101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목적 · 일정 · 주요내용 · 결과 · 후속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4893543"/>
            <a:ext cx="8067675" cy="2220962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797844" y="5696843"/>
            <a:ext cx="44210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이슈/장애 보고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797844" y="6039743"/>
            <a:ext cx="442101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현황 · 원인 · 영향 · 조치 · 재발방지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29725" y="4893543"/>
            <a:ext cx="8067675" cy="2220962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77450" y="5696843"/>
            <a:ext cx="42035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결과/성과 보고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077450" y="6039743"/>
            <a:ext cx="42035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목표 · 실적 · 분석 · 시사점 · 제언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600" y="7285955"/>
            <a:ext cx="8067675" cy="2239045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757363" y="8098259"/>
            <a:ext cx="44210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제안/기획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757363" y="8441159"/>
            <a:ext cx="442101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배경 · 목적 · 방안 · 기대효과 · 자원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29725" y="7285955"/>
            <a:ext cx="8067675" cy="2239045"/>
          </a:xfrm>
          <a:prstGeom prst="roundRect">
            <a:avLst>
              <a:gd name="adj" fmla="val 6806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67925" y="8079730"/>
            <a:ext cx="47269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팁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067925" y="8422630"/>
            <a:ext cx="472690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구조로 작성해" 한 줄이면 형식이 통일됩니다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213497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6231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· 한 번에 형식 변환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71525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회의록을 '공유 메일'로 한 번에 변환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7833717" cy="7602885"/>
          </a:xfrm>
          <a:prstGeom prst="roundRect">
            <a:avLst>
              <a:gd name="adj" fmla="val 2005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1998315"/>
            <a:ext cx="7833717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31665"/>
            <a:ext cx="7611529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방금 만든 회의록에 이어서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2822228"/>
            <a:ext cx="7421029" cy="653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회의록을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참석 못한 팀원에게 공유할 메일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로 바꿔줘. · 핵심 결정사항 먼저 · 각자 할 일을 이름과 함께 · 친근하지만 명확한 톤 · 제목 포함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71967" y="1998315"/>
            <a:ext cx="8225358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05342" y="2274540"/>
            <a:ext cx="83144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(공유 메일)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05342" y="2684115"/>
            <a:ext cx="7558608" cy="6231285"/>
          </a:xfrm>
          <a:prstGeom prst="roundRect">
            <a:avLst>
              <a:gd name="adj" fmla="val 1834"/>
            </a:avLst>
          </a:prstGeom>
          <a:solidFill>
            <a:srgbClr val="F7F8FB"/>
          </a:solidFill>
          <a:ln w="9525">
            <a:solidFill>
              <a:srgbClr val="EAECF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662517" y="3364185"/>
            <a:ext cx="7044258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62517" y="2903190"/>
            <a:ext cx="7255586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제목: [신제품 마케팅 회의 결과 공유]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62517" y="3559448"/>
            <a:ext cx="385194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안녕하세요, 오늘 회의 결과 공유드립니다.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62517" y="4281413"/>
            <a:ext cx="7930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결정: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42823" y="4295701"/>
            <a:ext cx="298890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우선 진행 (예산 약 500만)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62517" y="4651921"/>
            <a:ext cx="7811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할 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62517" y="5031953"/>
            <a:ext cx="287738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김대리: SNS 시안 (~다음 주)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62517" y="5397698"/>
            <a:ext cx="320719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영업팀: 사은품 후보 조사 (~차주)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62517" y="6129189"/>
            <a:ext cx="3379573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궁금한 점은 회신 주세요. 감사합니다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05342" y="9048750"/>
            <a:ext cx="83144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같은 내용 → 회의록·메일·공지로 자유 변환</a:t>
            </a:r>
            <a:endParaRPr lang="en-US" sz="18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664991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0744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워크드 케이스 · 제안서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71525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고객사 제안서, 설득 구조로 한 번에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7647161" cy="7602885"/>
          </a:xfrm>
          <a:prstGeom prst="roundRect">
            <a:avLst>
              <a:gd name="adj" fmla="val 2005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1998315"/>
            <a:ext cx="7647161" cy="523875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31665"/>
            <a:ext cx="74193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2788890"/>
            <a:ext cx="7266976" cy="658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너는 B2B 영업 담당자야.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[고객사]에 [솔루션] 도입 제안서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목차와 1페이지 요약(Executive Summary)을 써줘. 설득 구조: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고객 문제 → 해결책 → 차별점 → 기대효과(수치) → 도입 절차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85411" y="1998315"/>
            <a:ext cx="8411989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218786" y="2274540"/>
            <a:ext cx="8519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(요약 페이지)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18786" y="2684115"/>
            <a:ext cx="7977596" cy="604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요약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해결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솔루션으로 [ ]% 단축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차별점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시스템과 무중단 연동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기대효과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[ ]시간·[ ]원 절감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절차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→ 파일럿 → 확산 (8주)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18786" y="8820150"/>
            <a:ext cx="7745239" cy="504825"/>
          </a:xfrm>
          <a:prstGeom prst="roundRect">
            <a:avLst>
              <a:gd name="adj" fmla="val 1886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90236" y="8934450"/>
            <a:ext cx="7634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"각 목차 본문도 작성" 으로 이어서 완성</a:t>
            </a:r>
            <a:endParaRPr lang="en-US" sz="18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717801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314258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워크드 케이스 · 메모→완성 보고서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71525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거친 메모 한 줄 → 완성된 주간보고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6825109" cy="6040785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47775" y="2217390"/>
            <a:ext cx="6941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(메모)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7775" y="2588865"/>
            <a:ext cx="650008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"이번주 거래처 5곳 미팅, 2곳 계약 임박. 신제품 교육 완료. 다음주 전시회 준비. 인력 1명 부족 이슈"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" y="8191500"/>
            <a:ext cx="6825109" cy="1409700"/>
          </a:xfrm>
          <a:prstGeom prst="roundRect">
            <a:avLst>
              <a:gd name="adj" fmla="val 9459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38250" y="8382000"/>
            <a:ext cx="651970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메모로 영업팀 주간보고 작성. 성과·이슈·다음주· 도움요청 구조로.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63359" y="1998315"/>
            <a:ext cx="9234041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15784" y="2274540"/>
            <a:ext cx="93821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보고서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5784" y="2684115"/>
            <a:ext cx="8785067" cy="667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[영업팀] 주간 업무보고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주요 성과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거래처 5곳 미팅 진행, 2곳 계약 임박 · 신제품 사내 교육 이수 완료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진행 이슈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팀 인력 1명 부족으로 일정 부담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다음 주 계획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전시회 부스 준비 및 임박 거래처 클로징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도움 필요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전시회 기간 지원 인력 1명 협조 요청</a:t>
            </a:r>
            <a:endParaRPr lang="en-US" sz="1800" dirty="0"/>
          </a:p>
        </p:txBody>
      </p:sp>
      <p:sp>
        <p:nvSpPr>
          <p:cNvPr id="1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762000"/>
            <a:ext cx="1750070" cy="466725"/>
          </a:xfrm>
          <a:prstGeom prst="roundRect">
            <a:avLst>
              <a:gd name="adj" fmla="val 2040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504950" y="857250"/>
            <a:ext cx="11214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미션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857250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38275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업무 상황으로 보고서 또는 기획안 1건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90600" y="2270745"/>
            <a:ext cx="9367838" cy="7254255"/>
          </a:xfrm>
          <a:prstGeom prst="roundRect">
            <a:avLst>
              <a:gd name="adj" fmla="val 236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0175" y="2623170"/>
            <a:ext cx="94035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하세요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0175" y="308989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08989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6425" y="3089895"/>
            <a:ext cx="48356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써야 할 보고서/기획안 주제를 하나 정합니다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00175" y="356614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356614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6425" y="3566145"/>
            <a:ext cx="35007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STEP1 — 목차부터 함께 잡습니다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00175" y="404239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62075" y="404239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6425" y="4042395"/>
            <a:ext cx="4719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STEP2 — 핵심 항목 1~2개의 본문을 채웁니다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00175" y="451864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62075" y="451864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6425" y="4518645"/>
            <a:ext cx="45098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STEP3 — 대상 독자에 맞게 톤을 변환합니다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00175" y="499489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62075" y="499489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6425" y="4994895"/>
            <a:ext cx="44985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(여유 시) 회의 메모로 회의록도 정리해 봅니다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00175" y="8896350"/>
            <a:ext cx="88051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수치·고유명사는 [ ]로 비워두고 직접 채워 넣으세요.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606088" y="2270745"/>
            <a:ext cx="6691313" cy="5849317"/>
          </a:xfrm>
          <a:prstGeom prst="roundRect">
            <a:avLst>
              <a:gd name="adj" fmla="val 293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910888" y="4233342"/>
            <a:ext cx="66898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체크리스트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10888" y="468101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222980" y="4695304"/>
            <a:ext cx="93002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 확정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10888" y="508106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222980" y="5095354"/>
            <a:ext cx="223554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항목 1개 이상 작성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10888" y="548111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222980" y="5495404"/>
            <a:ext cx="112067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 변환 1회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10888" y="588116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222980" y="5895454"/>
            <a:ext cx="93002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저장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606088" y="8310562"/>
            <a:ext cx="6691313" cy="1214438"/>
          </a:xfrm>
          <a:prstGeom prst="roundRect">
            <a:avLst>
              <a:gd name="adj" fmla="val 1411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1460956" y="8586788"/>
            <a:ext cx="213053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1460956" y="8972550"/>
            <a:ext cx="21305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12분 + 공유 3분</a:t>
            </a:r>
            <a:endParaRPr lang="en-US" sz="18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054102" cy="447675"/>
          </a:xfrm>
          <a:prstGeom prst="roundRect">
            <a:avLst>
              <a:gd name="adj" fmla="val 2127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5207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· 회의록 정리 템플릿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71525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재사용하는 「회의록 정리 템플릿」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90600" y="188401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끝나면 메모를 붙이고 이 프롬프트만 실행 → 회의록 완성. 저장해서 매번 쓰세요.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369790"/>
            <a:ext cx="8039100" cy="7231410"/>
          </a:xfrm>
          <a:prstGeom prst="roundRect">
            <a:avLst>
              <a:gd name="adj" fmla="val 210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0600" y="2369790"/>
            <a:ext cx="8039100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19200" y="2503140"/>
            <a:ext cx="7823073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회의록_템플릿.txt (저장용)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3174653"/>
            <a:ext cx="7670673" cy="6197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아래 회의 메모를 정돈된 회의록으로 정리해줘. 형식: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■ 일시 / 참석자 ■ 안건 ■ 주요 논의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(불릿)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■ 결정사항 ■ 실행항목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(할일·담당·기한 표) [여기에 메모 붙여넣기]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300" y="2369790"/>
            <a:ext cx="8039100" cy="7231410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91675" y="2665065"/>
            <a:ext cx="81095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회의록 양식 (출력 예)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91675" y="3112740"/>
            <a:ext cx="15787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일시 / 참석자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91675" y="3674715"/>
            <a:ext cx="7372350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91675" y="3827115"/>
            <a:ext cx="7285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안건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91675" y="4389090"/>
            <a:ext cx="7372350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91675" y="4541490"/>
            <a:ext cx="11236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결정사항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91675" y="5103465"/>
            <a:ext cx="7372350" cy="19050"/>
          </a:xfrm>
          <a:prstGeom prst="rect">
            <a:avLst/>
          </a:prstGeom>
          <a:solidFill>
            <a:srgbClr val="D5D8E2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591675" y="5293965"/>
            <a:ext cx="7372350" cy="1190625"/>
          </a:xfrm>
          <a:prstGeom prst="roundRect">
            <a:avLst>
              <a:gd name="adj" fmla="val 8000"/>
            </a:avLst>
          </a:prstGeom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601200" y="5303490"/>
            <a:ext cx="7353300" cy="447675"/>
          </a:xfrm>
          <a:prstGeom prst="rect">
            <a:avLst/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734550" y="5389215"/>
            <a:ext cx="3099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실행항목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002667" y="5389215"/>
            <a:ext cx="18520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5258" y="5389215"/>
            <a:ext cx="18520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1200" y="6103590"/>
            <a:ext cx="735330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2859792" y="5751165"/>
            <a:ext cx="9525" cy="3524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4902383" y="5751165"/>
            <a:ext cx="9525" cy="3524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2859792" y="6113115"/>
            <a:ext cx="9525" cy="361950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4902383" y="6113115"/>
            <a:ext cx="9525" cy="361950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435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2504" y="762000"/>
            <a:ext cx="14463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· 실습②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4교시, 이것만 기억하세요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41190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2075" y="2441897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28825" y="2436465"/>
            <a:ext cx="8101891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보고서는 통째로 말고 목차 → 본문 → 다듬기 3단계로 끊어서 만든다.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600" y="3276079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75" y="3576786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28825" y="3571354"/>
            <a:ext cx="7093349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수치·고유명사는 [ ]로 비워 두고, 톤은 독자에 맞춰 변환한다.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600" y="4410968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62075" y="4711675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8825" y="4706243"/>
            <a:ext cx="7401944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회의록은 거친 메모 + 고정 템플릿이면 회의 직후 5분에 끝난다.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0600" y="8477250"/>
            <a:ext cx="8048625" cy="1047750"/>
          </a:xfrm>
          <a:prstGeom prst="roundRect">
            <a:avLst>
              <a:gd name="adj" fmla="val 14545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09750" y="8724900"/>
            <a:ext cx="3531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확보한 산출물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09750" y="9001125"/>
            <a:ext cx="3531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보고서/기획안 초안 + 회의록 템플릿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48775" y="8477250"/>
            <a:ext cx="8048625" cy="1047750"/>
          </a:xfrm>
          <a:prstGeom prst="roundRect">
            <a:avLst>
              <a:gd name="adj" fmla="val 14545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46481" y="8724900"/>
            <a:ext cx="39305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교시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46481" y="9001125"/>
            <a:ext cx="39305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[실습③] 메일·데이터 + 프롬프트 고도화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50000">
                <a:srgbClr val="536BE0">
                  <a:alpha val="0"/>
                </a:srgbClr>
              </a:gs>
            </a:gsLst>
            <a:path path="circle">
              <a:fillToRect l="18000" t="78000" r="82000" b="22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965091" y="571500"/>
            <a:ext cx="1465659" cy="5048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231791" y="685800"/>
            <a:ext cx="10084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671763"/>
            <a:ext cx="93922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600" kern="0" dirty="0">
                <a:solidFill>
                  <a:srgbClr val="8FA1F2">
                    <a:alpha val="2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952500" y="4443413"/>
            <a:ext cx="919460" cy="4286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4519613"/>
            <a:ext cx="6146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86260" y="4519613"/>
            <a:ext cx="15561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14:30 – 15:20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5119688"/>
            <a:ext cx="8794571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50" b="1" spc="-105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메일·데이터 정리 + </a:t>
            </a:r>
            <a:pPr algn="l" indent="0" marL="0">
              <a:lnSpc>
                <a:spcPct val="110000"/>
              </a:lnSpc>
              <a:buNone/>
            </a:pPr>
            <a:r>
              <a:rPr lang="en-US" sz="5250" b="1" spc="-105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고도화</a:t>
            </a:r>
            <a:endParaRPr lang="en-US" sz="5250" dirty="0"/>
          </a:p>
        </p:txBody>
      </p:sp>
      <p:sp>
        <p:nvSpPr>
          <p:cNvPr id="10" name="Text 8"/>
          <p:cNvSpPr/>
          <p:nvPr/>
        </p:nvSpPr>
        <p:spPr>
          <a:xfrm>
            <a:off x="952500" y="6815138"/>
            <a:ext cx="765238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쓰는 메일·공지·데이터를 빠르게. 그리고 결과를 끌어올리는 '프롬프트 기술'을 익힌다.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43418" y="0"/>
            <a:ext cx="7844582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443418" y="0"/>
            <a:ext cx="9525" cy="10287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214943" y="3221385"/>
            <a:ext cx="6942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교시에서 다루는 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214943" y="36881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576893" y="3688110"/>
            <a:ext cx="27880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메일·공지 빠르게 쓰기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214943" y="41072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576893" y="4107210"/>
            <a:ext cx="258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데이터 정리·분류·표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214943" y="45263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576893" y="4526310"/>
            <a:ext cx="2195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고도화 4원칙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214943" y="49454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576893" y="4945410"/>
            <a:ext cx="25849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나쁜 → 좋은 프롬프트 개선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214943" y="53645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576893" y="5364510"/>
            <a:ext cx="257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불만족 시 되묻고 수정 지시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214943" y="5916960"/>
            <a:ext cx="6311057" cy="1148655"/>
          </a:xfrm>
          <a:prstGeom prst="roundRect">
            <a:avLst>
              <a:gd name="adj" fmla="val 11609"/>
            </a:avLst>
          </a:prstGeom>
          <a:solidFill>
            <a:srgbClr val="536BE0">
              <a:alpha val="16000"/>
            </a:srgbClr>
          </a:solidFill>
          <a:ln w="9525">
            <a:solidFill>
              <a:srgbClr val="8FA1F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491168" y="6155085"/>
            <a:ext cx="63344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 산출물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91168" y="6507510"/>
            <a:ext cx="633446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「메일/공지 템플릿 3종」 + 「프롬프트 Before/After 개선 사례」</a:t>
            </a:r>
            <a:endParaRPr lang="en-US" sz="18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0276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EMAIL TONES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62000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메일은 '상황과 톤'을 정해 시킵니다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용건이라도 톤에 따라 인상이 달라집니다. 톤을 명시하면 한 번에 맞게 나옵니다.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0600" y="9515475"/>
            <a:ext cx="52959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90600" y="2560290"/>
            <a:ext cx="529590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90600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76975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43025" y="3612803"/>
            <a:ext cx="50501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정중한 톤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43025" y="4065240"/>
            <a:ext cx="505015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사과·양해·요청·상급자·고객사 대상.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43025" y="8672513"/>
            <a:ext cx="4591050" cy="500063"/>
          </a:xfrm>
          <a:prstGeom prst="roundRect">
            <a:avLst>
              <a:gd name="adj" fmla="val 19048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95425" y="8786813"/>
            <a:ext cx="442398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"정중하고 예의 있게"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605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96050" y="9515475"/>
            <a:ext cx="52959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96050" y="2560290"/>
            <a:ext cx="529590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96050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782425" y="2560290"/>
            <a:ext cx="9525" cy="696471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48475" y="3612803"/>
            <a:ext cx="50501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간결한 톤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848475" y="4065240"/>
            <a:ext cx="505015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공지·안내·내부 전달·일정 조율용.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48475" y="8672513"/>
            <a:ext cx="4591050" cy="500063"/>
          </a:xfrm>
          <a:prstGeom prst="roundRect">
            <a:avLst>
              <a:gd name="adj" fmla="val 19048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000875" y="8786813"/>
            <a:ext cx="442398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"핵심만 간결하게"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01500" y="2560290"/>
            <a:ext cx="5295900" cy="6964710"/>
          </a:xfrm>
          <a:prstGeom prst="roundRect">
            <a:avLst>
              <a:gd name="adj" fmla="val 323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2001500" y="2560290"/>
            <a:ext cx="5295900" cy="57150"/>
          </a:xfrm>
          <a:prstGeom prst="rect">
            <a:avLst/>
          </a:prstGeom>
          <a:solidFill>
            <a:srgbClr val="8FA1F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344400" y="3612803"/>
            <a:ext cx="50711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설득하는 톤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2344400" y="4065240"/>
            <a:ext cx="507111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제안·영업·협조 요청·동의 유도용.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344400" y="8682038"/>
            <a:ext cx="4610100" cy="500063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2496800" y="8796338"/>
            <a:ext cx="444360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"이점을 강조해 설득력 있게"</a:t>
            </a:r>
            <a:endParaRPr lang="en-US" sz="18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405039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8793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카드 · 사과+양해 메일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71525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"납기 지연 사과 메일"을 정중하게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7833717" cy="7583835"/>
          </a:xfrm>
          <a:prstGeom prst="roundRect">
            <a:avLst>
              <a:gd name="adj" fmla="val 2010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17365"/>
            <a:ext cx="7833717" cy="523875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19200" y="2222153"/>
            <a:ext cx="114300" cy="114300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19225" y="2222153"/>
            <a:ext cx="114300" cy="114300"/>
          </a:xfrm>
          <a:prstGeom prst="ellipse">
            <a:avLst/>
          </a:prstGeom>
          <a:solidFill>
            <a:srgbClr val="E8C46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19250" y="2222153"/>
            <a:ext cx="114300" cy="114300"/>
          </a:xfrm>
          <a:prstGeom prst="ellipse">
            <a:avLst/>
          </a:prstGeom>
          <a:solidFill>
            <a:srgbClr val="7FC99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33575" y="2150715"/>
            <a:ext cx="8992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2807940"/>
            <a:ext cx="7459129" cy="6564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고객사에 보낼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납기 지연 사과 메일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을 써줘. 상황: 부품 수급 문제로 3일 지연 대상: 거래처 구매 담당자 톤: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정중하고 신뢰감 있게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구성: 사과 → 사유(간략) → 새 일정 → 재발방지 → 마무리 분량: 200자 내외, 제목도 함께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71967" y="2017365"/>
            <a:ext cx="8225358" cy="7583835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405342" y="2293590"/>
            <a:ext cx="83144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(메일 초안)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05342" y="2703165"/>
            <a:ext cx="7558608" cy="6212235"/>
          </a:xfrm>
          <a:prstGeom prst="roundRect">
            <a:avLst>
              <a:gd name="adj" fmla="val 1840"/>
            </a:avLst>
          </a:prstGeom>
          <a:solidFill>
            <a:srgbClr val="F7F8FB"/>
          </a:solidFill>
          <a:ln w="9525">
            <a:solidFill>
              <a:srgbClr val="EAEC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62517" y="3383235"/>
            <a:ext cx="7044258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62517" y="2922240"/>
            <a:ext cx="7255586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제목: [납품 일정 변경 안내 및 양해 요청]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62517" y="3578498"/>
            <a:ext cx="306049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안녕하세요, ○○사 △△△입니다.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62517" y="4309988"/>
            <a:ext cx="7231519" cy="66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납품 일정에 차질을 드려 진심으로 사과드립니다. 부품 수급 지연으로 당초 일정보다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6344" y="4666208"/>
            <a:ext cx="4197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23389" y="4680496"/>
            <a:ext cx="2696423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늦은 [ ]일 납품이 예상됩니다.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62517" y="5411986"/>
            <a:ext cx="7166063" cy="656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재발 방지를 위해 공급처를 이원화하겠습니다. 너른 양해 부탁드립니다. 감사합니다.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05342" y="9048750"/>
            <a:ext cx="83144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"더 짧게" / "사유는 빼고" 로 즉시 조정</a:t>
            </a:r>
            <a:endParaRPr lang="en-US" sz="18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872383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33898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· 데이터 분류·표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71525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응답을 '분류·집계'합니다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7226573" cy="7583835"/>
          </a:xfrm>
          <a:prstGeom prst="roundRect">
            <a:avLst>
              <a:gd name="adj" fmla="val 2109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17365"/>
            <a:ext cx="7226573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50715"/>
            <a:ext cx="6986170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설문 자유응답 50건 붙여넣기 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2822228"/>
            <a:ext cx="6833770" cy="6550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자유응답 50건을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주제별로 분류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하고, 각 주제의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건수와 대표 의견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을 표로 정리해줘. · 주제는 5개 내외로 · 건수 많은 순 정렬 · 부정/긍정도 표시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64823" y="2017365"/>
            <a:ext cx="8832577" cy="7583835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79148" y="2274540"/>
            <a:ext cx="90243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(분류 표)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779148" y="2684115"/>
            <a:ext cx="8203927" cy="2476500"/>
          </a:xfrm>
          <a:prstGeom prst="roundRect">
            <a:avLst>
              <a:gd name="adj" fmla="val 4615"/>
            </a:avLst>
          </a:prstGeom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788673" y="2693640"/>
            <a:ext cx="8184877" cy="48577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22023" y="2798415"/>
            <a:ext cx="23428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55375" y="2798415"/>
            <a:ext cx="978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24643" y="2798415"/>
            <a:ext cx="29449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의견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2741" y="2798415"/>
            <a:ext cx="11736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88673" y="3665190"/>
            <a:ext cx="8184877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22023" y="3284190"/>
            <a:ext cx="23428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시간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55375" y="3284190"/>
            <a:ext cx="978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24643" y="3284190"/>
            <a:ext cx="29449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"실습 시간 더 필요"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42741" y="3284190"/>
            <a:ext cx="11736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부정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788673" y="3674715"/>
            <a:ext cx="8184877" cy="4953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788673" y="4160490"/>
            <a:ext cx="8184877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922023" y="3779490"/>
            <a:ext cx="23428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진행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55375" y="3779490"/>
            <a:ext cx="978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624643" y="3779490"/>
            <a:ext cx="29449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"설명이 쉽고 친절"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742741" y="3779490"/>
            <a:ext cx="11736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788673" y="4655790"/>
            <a:ext cx="8184877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922023" y="4274790"/>
            <a:ext cx="23428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교재·자료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55375" y="4274790"/>
            <a:ext cx="978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624643" y="4274790"/>
            <a:ext cx="29449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"예시가 풍부"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42741" y="4274790"/>
            <a:ext cx="11736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788673" y="4665315"/>
            <a:ext cx="8184877" cy="485775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22023" y="4770090"/>
            <a:ext cx="23428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장소·환경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455375" y="4770090"/>
            <a:ext cx="978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624643" y="4770090"/>
            <a:ext cx="29449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"와이파이 불안정"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742741" y="4770090"/>
            <a:ext cx="11736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부정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779148" y="5313015"/>
            <a:ext cx="90243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"표를 차트로 설명" / "개선안 3가지 제안"도 이어서</a:t>
            </a:r>
            <a:endParaRPr lang="en-US" sz="18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18000"/>
                </a:srgbClr>
              </a:gs>
              <a:gs pos="45000">
                <a:srgbClr val="536BE0">
                  <a:alpha val="0"/>
                </a:srgbClr>
              </a:gs>
            </a:gsLst>
            <a:path path="circle">
              <a:fillToRect l="82000" t="22000" r="18000" b="78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8FA1F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47800" y="762000"/>
            <a:ext cx="20554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PRINCIPLES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89424" y="762000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고도화 4원칙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EB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결과가 아쉬울 때, 이 네 가지를 더하면 품질이 확 올라갑니다.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2579340"/>
            <a:ext cx="8048625" cy="3368055"/>
          </a:xfrm>
          <a:prstGeom prst="roundRect">
            <a:avLst>
              <a:gd name="adj" fmla="val 452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4001393"/>
            <a:ext cx="47156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986037" y="3905696"/>
            <a:ext cx="650791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명확성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86037" y="4300984"/>
            <a:ext cx="6507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모호한 단어 대신 구체적으로. "좋게" → "300자, 정중한 보고체로"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48775" y="2579340"/>
            <a:ext cx="8048625" cy="3368055"/>
          </a:xfrm>
          <a:prstGeom prst="roundRect">
            <a:avLst>
              <a:gd name="adj" fmla="val 452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20250" y="4001393"/>
            <a:ext cx="47156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0244212" y="3905696"/>
            <a:ext cx="583359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244212" y="4300984"/>
            <a:ext cx="58335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목적·대상·배경을 함께. "누구에게, 왜 필요한지"를 알려준다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600" y="6156945"/>
            <a:ext cx="8048625" cy="3368055"/>
          </a:xfrm>
          <a:prstGeom prst="roundRect">
            <a:avLst>
              <a:gd name="adj" fmla="val 452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62075" y="7578998"/>
            <a:ext cx="47156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986037" y="7483301"/>
            <a:ext cx="587566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986037" y="7878589"/>
            <a:ext cx="587566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형태의 샘플 제시. "이런 식으로:" 하고 예를 보여준다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48775" y="6156945"/>
            <a:ext cx="8048625" cy="3368055"/>
          </a:xfrm>
          <a:prstGeom prst="roundRect">
            <a:avLst>
              <a:gd name="adj" fmla="val 4525"/>
            </a:avLst>
          </a:prstGeom>
          <a:solidFill>
            <a:srgbClr val="536BE0">
              <a:alpha val="18000"/>
            </a:srgbClr>
          </a:solidFill>
          <a:ln w="9525">
            <a:solidFill>
              <a:srgbClr val="8FA1F2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20250" y="7578998"/>
            <a:ext cx="47156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0244212" y="7483301"/>
            <a:ext cx="551091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단계화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244212" y="7878589"/>
            <a:ext cx="5510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번에 다 말고 끊어서. "먼저 목차, 그다음 본문" 순서로</a:t>
            </a:r>
            <a:endParaRPr lang="en-US" sz="18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1154385" cy="409575"/>
          </a:xfrm>
          <a:prstGeom prst="roundRect">
            <a:avLst>
              <a:gd name="adj" fmla="val 16279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33475" y="752475"/>
            <a:ext cx="944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40235" y="759619"/>
            <a:ext cx="304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4085" y="685800"/>
            <a:ext cx="1016422" cy="409575"/>
          </a:xfrm>
          <a:prstGeom prst="roundRect">
            <a:avLst>
              <a:gd name="adj" fmla="val 16279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06960" y="752475"/>
            <a:ext cx="806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989424" y="752475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12477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일, 4원칙을 적용하면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90600" y="1979265"/>
            <a:ext cx="7137350" cy="7621935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9525">
            <a:solidFill>
              <a:srgbClr val="F1C9B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23975" y="2274540"/>
            <a:ext cx="1135335" cy="390525"/>
          </a:xfrm>
          <a:prstGeom prst="roundRect">
            <a:avLst>
              <a:gd name="adj" fmla="val 17073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57325" y="2331690"/>
            <a:ext cx="944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3610" y="2331690"/>
            <a:ext cx="1579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막연한 프롬프트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23975" y="2836515"/>
            <a:ext cx="6470600" cy="923925"/>
          </a:xfrm>
          <a:prstGeom prst="roundRect">
            <a:avLst>
              <a:gd name="adj" fmla="val 10309"/>
            </a:avLst>
          </a:prstGeom>
          <a:solidFill>
            <a:srgbClr val="FBF1E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552575" y="3027015"/>
            <a:ext cx="620751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2E1E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신입사원 환영 공지 하나 써줘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3975" y="3950940"/>
            <a:ext cx="71176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3975" y="4322415"/>
            <a:ext cx="66647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일반적이고, 우리 회사 상황·일정·채널이 빠진 '교과서 공지'. 결국 다 고쳐 써야 함.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75600" y="1979265"/>
            <a:ext cx="8921725" cy="7621935"/>
          </a:xfrm>
          <a:prstGeom prst="roundRect">
            <a:avLst>
              <a:gd name="adj" fmla="val 2249"/>
            </a:avLst>
          </a:prstGeom>
          <a:solidFill>
            <a:srgbClr val="FFFFFF"/>
          </a:solidFill>
          <a:ln w="9525">
            <a:solidFill>
              <a:srgbClr val="BCE3C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708975" y="2274540"/>
            <a:ext cx="997372" cy="390525"/>
          </a:xfrm>
          <a:prstGeom prst="roundRect">
            <a:avLst>
              <a:gd name="adj" fmla="val 17073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42325" y="2331690"/>
            <a:ext cx="806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20647" y="2331690"/>
            <a:ext cx="10694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4원칙 적용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708975" y="2836515"/>
            <a:ext cx="8254975" cy="1836241"/>
          </a:xfrm>
          <a:prstGeom prst="roundRect">
            <a:avLst>
              <a:gd name="adj" fmla="val 5187"/>
            </a:avLst>
          </a:prstGeom>
          <a:solidFill>
            <a:srgbClr val="EEF7F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18525" y="3007965"/>
            <a:ext cx="8083524" cy="15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F8A5B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[맥락]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사내 게시판용 신입 3명 환영 공지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F8A5B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[명확]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8줄 이내, 따뜻하고 가벼운 톤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F8A5B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[예시]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이름·부서·한마디 인사 포함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F8A5B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[단계]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먼저 3개 버전 제목부터 제안해줘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08975" y="4844207"/>
            <a:ext cx="90804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08975" y="5196632"/>
            <a:ext cx="908047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3안 → 고른 톤으로 본문 완성. 우리 상황에 맞아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거의 손볼 게 없음.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3138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EMAIL SITUATIONS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62000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막히는 메일 5종, 이렇게 시작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 + 톤 + 핵심 한 줄만 넣으면 초안이 나옵니다.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482155"/>
            <a:ext cx="16306800" cy="676275"/>
          </a:xfrm>
          <a:prstGeom prst="roundRect">
            <a:avLst>
              <a:gd name="adj" fmla="val 183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5875" y="2682180"/>
            <a:ext cx="1362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협조 요청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52725" y="2684562"/>
            <a:ext cx="55751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"타 부서에 자료 협조 요청, 정중하게, 기한 명시"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3282255"/>
            <a:ext cx="16306800" cy="676275"/>
          </a:xfrm>
          <a:prstGeom prst="roundRect">
            <a:avLst>
              <a:gd name="adj" fmla="val 183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85875" y="3482280"/>
            <a:ext cx="14505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정중한 독촉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3167" y="3484662"/>
            <a:ext cx="483831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"미회신 건 리마인드, 부담 안 주는 톤으로"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4082355"/>
            <a:ext cx="16306800" cy="676275"/>
          </a:xfrm>
          <a:prstGeom prst="roundRect">
            <a:avLst>
              <a:gd name="adj" fmla="val 183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85875" y="4282380"/>
            <a:ext cx="14505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완곡한 거절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33167" y="4284762"/>
            <a:ext cx="483831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"제안 거절하되 관계 유지, 대안 제시 포함"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600" y="4882455"/>
            <a:ext cx="16306800" cy="676275"/>
          </a:xfrm>
          <a:prstGeom prst="roundRect">
            <a:avLst>
              <a:gd name="adj" fmla="val 183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85875" y="5082480"/>
            <a:ext cx="1362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안내·공지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52725" y="5084862"/>
            <a:ext cx="440333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"일정 변경 안내, 간결하게, 핵심 먼저"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600" y="5682555"/>
            <a:ext cx="16306800" cy="657225"/>
          </a:xfrm>
          <a:prstGeom prst="roundRect">
            <a:avLst>
              <a:gd name="adj" fmla="val 1884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76350" y="5873055"/>
            <a:ext cx="1362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인사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743200" y="5875437"/>
            <a:ext cx="425239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C8E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"협업 감사 메일, 진심 담아 간결하게"</a:t>
            </a:r>
            <a:endParaRPr lang="en-US" sz="18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260154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73007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+ 결과 · 사내 공지문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71525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공지문도 1분이면 충분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7833717" cy="7583835"/>
          </a:xfrm>
          <a:prstGeom prst="roundRect">
            <a:avLst>
              <a:gd name="adj" fmla="val 2010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17365"/>
            <a:ext cx="7833717" cy="523875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50715"/>
            <a:ext cx="76115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2826990"/>
            <a:ext cx="7421029" cy="6526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사내 정기 보안교육 공지문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을 게시판용으로 써줘. · 일시: [ ] / 장소: [ ] · 대상: 전 직원 (필수) · 핵심: 미이수 시 재교육 · 톤: 간결·명확, 핵심 먼저 · 제목 + 본문 + 문의처 형식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71967" y="2017365"/>
            <a:ext cx="8225358" cy="7583835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05342" y="2293590"/>
            <a:ext cx="83144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(공지문)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05342" y="2703165"/>
            <a:ext cx="7558608" cy="6621810"/>
          </a:xfrm>
          <a:prstGeom prst="roundRect">
            <a:avLst>
              <a:gd name="adj" fmla="val 1726"/>
            </a:avLst>
          </a:prstGeom>
          <a:solidFill>
            <a:srgbClr val="F7F8FB"/>
          </a:solidFill>
          <a:ln w="9525">
            <a:solidFill>
              <a:srgbClr val="EAEC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62517" y="2922240"/>
            <a:ext cx="7748684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[필수] 상반기 정보보안 교육 안내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62517" y="3454673"/>
            <a:ext cx="5000263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직원 대상 정보보안 교육을 아래와 같이 실시합니다.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62517" y="4190926"/>
            <a:ext cx="15232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02192" y="4176638"/>
            <a:ext cx="471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60806" y="4190926"/>
            <a:ext cx="26677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62517" y="4561433"/>
            <a:ext cx="15232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02192" y="4547146"/>
            <a:ext cx="471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60806" y="4561433"/>
            <a:ext cx="26677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62517" y="4931941"/>
            <a:ext cx="15232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02192" y="4917653"/>
            <a:ext cx="471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60806" y="4931941"/>
            <a:ext cx="1802011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직원 (필수 이수)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62517" y="5663431"/>
            <a:ext cx="561458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미이수 시 별도 재교육이 진행되오니 반드시 참석 바랍니다.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62517" y="6394921"/>
            <a:ext cx="261249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문의: 경영지원팀 (내선 [ ])</a:t>
            </a:r>
            <a:endParaRPr lang="en-US" sz="18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731740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14119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심화 · 비교·해석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71525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'의미'로 바꿔 설명하게 하기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1998315"/>
            <a:ext cx="7226573" cy="7602885"/>
          </a:xfrm>
          <a:prstGeom prst="roundRect">
            <a:avLst>
              <a:gd name="adj" fmla="val 2109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1998315"/>
            <a:ext cx="7226573" cy="53816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9200" y="2131665"/>
            <a:ext cx="6986170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분기별 실적표 붙여넣기 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2822228"/>
            <a:ext cx="6795670" cy="653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데이터를 분석해서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보고에 쓸 해석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을 써줘: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가장 큰 변화와 그 의미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주의할 신호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데이터로 뒷받침되는 결론 1가지 추측은 '추정'으로 표시해줘.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64823" y="1998315"/>
            <a:ext cx="8832577" cy="76028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98198" y="2274540"/>
            <a:ext cx="89824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결과 (해석)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98198" y="2684115"/>
            <a:ext cx="8410802" cy="6288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핵심 변화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3분기 매출이 전분기 대비 +22%로 가장 큰 폭 성장. 신규 채널 기여로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주의 신호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반품률이 동반 상승(+3%p) → 품질 점검 필요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결론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성장은 견조하나, 반품 관리가 다음 분기 핵심 과제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98198" y="9048750"/>
            <a:ext cx="89824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'추정' 표시 요청 → 사실과 해석을 구분</a:t>
            </a:r>
            <a:endParaRPr lang="en-US" sz="1800" dirty="0"/>
          </a:p>
        </p:txBody>
      </p:sp>
      <p:sp>
        <p:nvSpPr>
          <p:cNvPr id="1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1154385" cy="409575"/>
          </a:xfrm>
          <a:prstGeom prst="roundRect">
            <a:avLst>
              <a:gd name="adj" fmla="val 16279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33475" y="752475"/>
            <a:ext cx="944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40235" y="759619"/>
            <a:ext cx="304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4085" y="685800"/>
            <a:ext cx="1016422" cy="409575"/>
          </a:xfrm>
          <a:prstGeom prst="roundRect">
            <a:avLst>
              <a:gd name="adj" fmla="val 16279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06960" y="752475"/>
            <a:ext cx="806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989424" y="752475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12477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요청 — 막연 vs 구체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90600" y="1979265"/>
            <a:ext cx="7137350" cy="7621935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9525">
            <a:solidFill>
              <a:srgbClr val="F1C9B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23975" y="2274540"/>
            <a:ext cx="1135335" cy="390525"/>
          </a:xfrm>
          <a:prstGeom prst="roundRect">
            <a:avLst>
              <a:gd name="adj" fmla="val 17073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57325" y="2331690"/>
            <a:ext cx="944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23975" y="2836515"/>
            <a:ext cx="6470600" cy="614363"/>
          </a:xfrm>
          <a:prstGeom prst="roundRect">
            <a:avLst>
              <a:gd name="adj" fmla="val 15504"/>
            </a:avLst>
          </a:prstGeom>
          <a:solidFill>
            <a:srgbClr val="FBF1E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533525" y="3007965"/>
            <a:ext cx="624561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2E1E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데이터 분석해줘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3975" y="3641378"/>
            <a:ext cx="66647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보고 싶은지 몰라 두루뭉술한 통계 나열. '그래서 어쩌라고'가 빠짐.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75600" y="1979265"/>
            <a:ext cx="8921725" cy="7621935"/>
          </a:xfrm>
          <a:prstGeom prst="roundRect">
            <a:avLst>
              <a:gd name="adj" fmla="val 2249"/>
            </a:avLst>
          </a:prstGeom>
          <a:solidFill>
            <a:srgbClr val="FFFFFF"/>
          </a:solidFill>
          <a:ln w="9525">
            <a:solidFill>
              <a:srgbClr val="BCE3C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708975" y="2274540"/>
            <a:ext cx="997372" cy="390525"/>
          </a:xfrm>
          <a:prstGeom prst="roundRect">
            <a:avLst>
              <a:gd name="adj" fmla="val 17073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42325" y="2331690"/>
            <a:ext cx="806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08975" y="2836515"/>
            <a:ext cx="8254975" cy="1051471"/>
          </a:xfrm>
          <a:prstGeom prst="roundRect">
            <a:avLst>
              <a:gd name="adj" fmla="val 9059"/>
            </a:avLst>
          </a:prstGeom>
          <a:solidFill>
            <a:srgbClr val="EEF7F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18525" y="3007965"/>
            <a:ext cx="8083524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"월별 추이를 표로, 가장 큰 변화 3가지를 한 줄씩, 다음 분기 시사점 1개. 추측은 '추정' 표시"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08975" y="4078486"/>
            <a:ext cx="90804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목적·형식·검증 기준이 명확해 → 바로 보고에 붙일 분석이 나옴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2126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ITERATE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62000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결과가 아쉬울 때, 포기 대신 '한 마디 더'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완벽할 필요 없습니다. 대화를 이어가며 다듬는 게 핵심 기술입니다.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20255"/>
            <a:ext cx="8067675" cy="2935635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9275" y="3695179"/>
            <a:ext cx="33158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조절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19275" y="4009504"/>
            <a:ext cx="331580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"절반 길이로" / "더 자세히"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9725" y="2520255"/>
            <a:ext cx="8067675" cy="2935635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0" y="3695179"/>
            <a:ext cx="3382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 변경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0" y="4009504"/>
            <a:ext cx="33823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"더 정중하게" / "캐주얼하게"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5627340"/>
            <a:ext cx="8067675" cy="2935635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819275" y="6802264"/>
            <a:ext cx="40702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변환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19275" y="7116589"/>
            <a:ext cx="40702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"표로" / "불릿으로" / "3안 제시"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29725" y="5627340"/>
            <a:ext cx="8067675" cy="2935635"/>
          </a:xfrm>
          <a:prstGeom prst="roundRect">
            <a:avLst>
              <a:gd name="adj" fmla="val 4542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48875" y="6802264"/>
            <a:ext cx="39859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 수정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48875" y="7116589"/>
            <a:ext cx="398595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C8E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"2번 문단만 다시" / "제목만 5개"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600" y="8810625"/>
            <a:ext cx="16306800" cy="714375"/>
          </a:xfrm>
          <a:prstGeom prst="roundRect">
            <a:avLst>
              <a:gd name="adj" fmla="val 18667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04925" y="9029700"/>
            <a:ext cx="161673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 안 나오면 이유를 알려주세요 — "너무 딱딱해", "핵심이 빠졌어"처럼. AI는 '무엇이 아쉬운지'를 들으면 더 잘 고칩니다.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762000"/>
            <a:ext cx="1743149" cy="466725"/>
          </a:xfrm>
          <a:prstGeom prst="roundRect">
            <a:avLst>
              <a:gd name="adj" fmla="val 2040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504950" y="857250"/>
            <a:ext cx="11144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미션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857250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38275"/>
            <a:ext cx="1793748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00" b="1" spc="-78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템플릿 3종 + 프롬프트 Before/After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90600" y="2249760"/>
            <a:ext cx="9367838" cy="7275240"/>
          </a:xfrm>
          <a:prstGeom prst="roundRect">
            <a:avLst>
              <a:gd name="adj" fmla="val 235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0175" y="2602185"/>
            <a:ext cx="94035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하세요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0175" y="306891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06891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6425" y="3068910"/>
            <a:ext cx="58149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쓰는 메일 상황 3가지를 고릅니다 (예: 요청·공지·사과)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00175" y="354516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35451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6425" y="3545160"/>
            <a:ext cx="52702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각각 톤을 지정해 메일 초안을 만들고 템플릿으로 저장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00175" y="402141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62075" y="402141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6425" y="4021410"/>
            <a:ext cx="54362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'막연한' 프롬프트를 하나 써보고, 4원칙으로 개선합니다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00175" y="449766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62075" y="44976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6425" y="4497660"/>
            <a:ext cx="48811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Before/After 결과 차이를 워크시트에 기록합니다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00175" y="8896350"/>
            <a:ext cx="88051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있다면 분류·표 정리도 한 번 시도해 보세요.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06088" y="2249760"/>
            <a:ext cx="6691313" cy="5870302"/>
          </a:xfrm>
          <a:prstGeom prst="roundRect">
            <a:avLst>
              <a:gd name="adj" fmla="val 292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10888" y="4222849"/>
            <a:ext cx="66898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체크리스트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10888" y="467052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22980" y="4684812"/>
            <a:ext cx="197442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템플릿 3종 저장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10888" y="507057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22980" y="5084862"/>
            <a:ext cx="2062163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프롬프트 작성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10888" y="547062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22980" y="5484912"/>
            <a:ext cx="160340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4원칙 적용 After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10888" y="587067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22980" y="5884962"/>
            <a:ext cx="93002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 기록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606088" y="8310562"/>
            <a:ext cx="6691313" cy="1214438"/>
          </a:xfrm>
          <a:prstGeom prst="roundRect">
            <a:avLst>
              <a:gd name="adj" fmla="val 1411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460956" y="8586788"/>
            <a:ext cx="213053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1460956" y="8972550"/>
            <a:ext cx="21305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12분 + 공유 3분</a:t>
            </a:r>
            <a:endParaRPr lang="en-US" sz="18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054102" cy="447675"/>
          </a:xfrm>
          <a:prstGeom prst="roundRect">
            <a:avLst>
              <a:gd name="adj" fmla="val 2127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5207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· 프롬프트 개선 사례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71525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「프롬프트 Before/After」 기록 양식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8039100" cy="6755160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9525">
            <a:solidFill>
              <a:srgbClr val="F1C9B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23975" y="2312640"/>
            <a:ext cx="1135335" cy="390525"/>
          </a:xfrm>
          <a:prstGeom prst="roundRect">
            <a:avLst>
              <a:gd name="adj" fmla="val 17073"/>
            </a:avLst>
          </a:prstGeom>
          <a:solidFill>
            <a:srgbClr val="FBE9E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57325" y="2369790"/>
            <a:ext cx="944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49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54560" y="2369790"/>
            <a:ext cx="17965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막연했던 프롬프트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975" y="2874615"/>
            <a:ext cx="7372350" cy="4773960"/>
          </a:xfrm>
          <a:prstGeom prst="roundRect">
            <a:avLst>
              <a:gd name="adj" fmla="val 1995"/>
            </a:avLst>
          </a:prstGeom>
          <a:solidFill>
            <a:srgbClr val="FBF1E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23975" y="7800975"/>
            <a:ext cx="81095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아쉬웠던 점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23975" y="8458200"/>
            <a:ext cx="7372350" cy="19050"/>
          </a:xfrm>
          <a:prstGeom prst="rect">
            <a:avLst/>
          </a:prstGeom>
          <a:solidFill>
            <a:srgbClr val="E0B9AF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58300" y="2017365"/>
            <a:ext cx="8039100" cy="6755160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9525">
            <a:solidFill>
              <a:srgbClr val="BCE3C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591675" y="2312640"/>
            <a:ext cx="997372" cy="390525"/>
          </a:xfrm>
          <a:prstGeom prst="roundRect">
            <a:avLst>
              <a:gd name="adj" fmla="val 17073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725025" y="2369790"/>
            <a:ext cx="806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84297" y="2369790"/>
            <a:ext cx="20197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4원칙 적용 프롬프트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91675" y="2874615"/>
            <a:ext cx="7372350" cy="4773960"/>
          </a:xfrm>
          <a:prstGeom prst="roundRect">
            <a:avLst>
              <a:gd name="adj" fmla="val 1995"/>
            </a:avLst>
          </a:prstGeom>
          <a:solidFill>
            <a:srgbClr val="EEF7F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91675" y="7800975"/>
            <a:ext cx="81095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적용한 원칙 (명확·맥락·예시·단계)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91675" y="8458200"/>
            <a:ext cx="7372350" cy="19050"/>
          </a:xfrm>
          <a:prstGeom prst="rect">
            <a:avLst/>
          </a:prstGeom>
          <a:solidFill>
            <a:srgbClr val="A8D6B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90600" y="8963025"/>
            <a:ext cx="16306800" cy="638175"/>
          </a:xfrm>
          <a:prstGeom prst="roundRect">
            <a:avLst>
              <a:gd name="adj" fmla="val 20896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85875" y="9144000"/>
            <a:ext cx="162054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 된 After 프롬프트는 그대로 '내 프롬프트 라이브러리'에 저장 (7교시에서 모읍니다)</a:t>
            </a:r>
            <a:endParaRPr lang="en-US" sz="18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435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89424" y="762000"/>
            <a:ext cx="14387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 · 실습③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5교시, 이것만 기억하세요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41190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2075" y="2441897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28825" y="2436465"/>
            <a:ext cx="6560388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메일·공지는 '상황과 톤'을 지정하면 한 번에 맞게 나온다.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600" y="3276079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75" y="3576786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28825" y="3571354"/>
            <a:ext cx="6238778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고도화 4원칙: 명확성 · 맥락 · 예시 · 단계화.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600" y="4410968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62075" y="4711675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8825" y="4706243"/>
            <a:ext cx="7253541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아쉬우면 포기 말고 '무엇이 아쉬운지' 말하며 이어서 다듬는다.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0600" y="8477250"/>
            <a:ext cx="8048625" cy="1047750"/>
          </a:xfrm>
          <a:prstGeom prst="roundRect">
            <a:avLst>
              <a:gd name="adj" fmla="val 14545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09750" y="8724900"/>
            <a:ext cx="37151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확보한 산출물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09750" y="9001125"/>
            <a:ext cx="37151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템플릿 3종 + 프롬프트 개선 사례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48775" y="8477250"/>
            <a:ext cx="8048625" cy="1047750"/>
          </a:xfrm>
          <a:prstGeom prst="roundRect">
            <a:avLst>
              <a:gd name="adj" fmla="val 14545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46481" y="8724900"/>
            <a:ext cx="33622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교시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46481" y="9001125"/>
            <a:ext cx="33622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업무 루틴 설계와 자동화 템플릿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50000">
                <a:srgbClr val="536BE0">
                  <a:alpha val="0"/>
                </a:srgbClr>
              </a:gs>
            </a:gsLst>
            <a:path path="circle">
              <a:fillToRect l="18000" t="78000" r="82000" b="22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2650852"/>
            <a:ext cx="93922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600" kern="0" dirty="0">
                <a:solidFill>
                  <a:srgbClr val="8FA1F2">
                    <a:alpha val="2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952500" y="4422502"/>
            <a:ext cx="923032" cy="4286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4498702"/>
            <a:ext cx="6182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89832" y="4498702"/>
            <a:ext cx="15529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15:30 – 16:20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5098777"/>
            <a:ext cx="8794571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spc="-108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업무 루틴 설계와 </a:t>
            </a:r>
            <a:pPr algn="l" indent="0" marL="0">
              <a:lnSpc>
                <a:spcPct val="110000"/>
              </a:lnSpc>
              <a:buNone/>
            </a:pPr>
            <a:r>
              <a:rPr lang="en-US" sz="5400" b="1" spc="-108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템플릿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52500" y="6836048"/>
            <a:ext cx="765238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잘 만든 프롬프트를 '매번 다시'가 아니라 '템플릿으로'. 반복을 루틴으로 바꾼다.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43418" y="0"/>
            <a:ext cx="7844582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443418" y="0"/>
            <a:ext cx="9525" cy="10287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14943" y="3221385"/>
            <a:ext cx="6942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교시에서 다루는 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14943" y="36881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576893" y="3688110"/>
            <a:ext cx="231331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반복·정형 업무 찾아내기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214943" y="41072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576893" y="4107210"/>
            <a:ext cx="27234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 프롬프트 템플릿 설계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214943" y="45263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576893" y="4526310"/>
            <a:ext cx="251913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일일·주간 루틴에 끼워넣기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214943" y="49454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576893" y="4945410"/>
            <a:ext cx="25175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Projects로 작업공간 구성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214943" y="536451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576893" y="5364510"/>
            <a:ext cx="268891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탐색→정리→보고 흐름 연결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214943" y="5916960"/>
            <a:ext cx="6311057" cy="1148655"/>
          </a:xfrm>
          <a:prstGeom prst="roundRect">
            <a:avLst>
              <a:gd name="adj" fmla="val 11609"/>
            </a:avLst>
          </a:prstGeom>
          <a:solidFill>
            <a:srgbClr val="536BE0">
              <a:alpha val="16000"/>
            </a:srgbClr>
          </a:solidFill>
          <a:ln w="9525">
            <a:solidFill>
              <a:srgbClr val="8FA1F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91168" y="6155085"/>
            <a:ext cx="63344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 산출물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91168" y="6507510"/>
            <a:ext cx="633446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「프롬프트 템플릿 3종」 + 「일일 AI 업무 루틴 1장 설계도」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5849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 REPETITION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762000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'템플릿으로 만들 일'은 이런 일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비슷하게 반복되는 일 = 템플릿화 1순위. 내 업무에서 찾아봅니다.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41240"/>
            <a:ext cx="8039100" cy="6983760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81125" y="2893665"/>
            <a:ext cx="79838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템플릿화하기 좋은 일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381125" y="3388965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87637" y="3422303"/>
            <a:ext cx="204489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주간/월간 정기 보고서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1125" y="3861346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87637" y="3894683"/>
            <a:ext cx="112759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정리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1125" y="4333726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87637" y="4367064"/>
            <a:ext cx="225504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안내·공지 메일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1125" y="4806107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87637" y="4839444"/>
            <a:ext cx="185990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요약·핵심 추출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81125" y="5278487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87637" y="5311825"/>
            <a:ext cx="1598861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분류·집계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58300" y="2541240"/>
            <a:ext cx="8039100" cy="6983760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48825" y="2893665"/>
            <a:ext cx="79838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 기준 3가지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648825" y="338896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201275" y="3432274"/>
            <a:ext cx="3356156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반복성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주기적으로 다시 하는가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48825" y="396046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201275" y="4003774"/>
            <a:ext cx="3152745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정형성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형식·구조가 일정한가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48825" y="453196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201275" y="4575274"/>
            <a:ext cx="2921504" cy="35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시간소모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손이 많이 가는가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48825" y="5160615"/>
            <a:ext cx="7258050" cy="662880"/>
          </a:xfrm>
          <a:prstGeom prst="roundRect">
            <a:avLst>
              <a:gd name="adj" fmla="val 17243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858375" y="5332065"/>
            <a:ext cx="70566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셋 다 ✓라면 →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바로 템플릿화</a:t>
            </a:r>
            <a:endParaRPr lang="en-US" sz="18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32192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REUSABLE TEMPLATE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762000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'변하는 부분'만 [ ]로 비우면 템플릿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 된 프롬프트에서 매번 바뀌는 값만 빈칸([ ])으로 만들면 → 재사용 템플릿 완성.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940546"/>
            <a:ext cx="7610475" cy="6164163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3975" y="3235821"/>
            <a:ext cx="76380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일회용 프롬프트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3975" y="3664446"/>
            <a:ext cx="6943725" cy="4735413"/>
          </a:xfrm>
          <a:prstGeom prst="roundRect">
            <a:avLst>
              <a:gd name="adj" fmla="val 2011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552575" y="3854946"/>
            <a:ext cx="6694837" cy="439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3월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영업팀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주간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보고서를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매출·신규고객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중심으로 요약해줘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3975" y="8533209"/>
            <a:ext cx="76380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매번 새로 타이핑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86825" y="5724971"/>
            <a:ext cx="59055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4050" dirty="0"/>
          </a:p>
        </p:txBody>
      </p:sp>
      <p:sp>
        <p:nvSpPr>
          <p:cNvPr id="13" name="Shape 11"/>
          <p:cNvSpPr/>
          <p:nvPr/>
        </p:nvSpPr>
        <p:spPr>
          <a:xfrm>
            <a:off x="9686925" y="2940546"/>
            <a:ext cx="7610475" cy="6164163"/>
          </a:xfrm>
          <a:prstGeom prst="roundRect">
            <a:avLst>
              <a:gd name="adj" fmla="val 2472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10775" y="3226296"/>
            <a:ext cx="76590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 템플릿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10775" y="3654921"/>
            <a:ext cx="6962775" cy="4754463"/>
          </a:xfrm>
          <a:prstGeom prst="roundRect">
            <a:avLst>
              <a:gd name="adj" fmla="val 200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239375" y="3845421"/>
            <a:ext cx="6714458" cy="441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[기간]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영업팀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[주기]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보고서를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[핵심지표]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중심으로 요약해줘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10775" y="8542734"/>
            <a:ext cx="76590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[ ]만 채우면 끝, 매번 동일 품질</a:t>
            </a:r>
            <a:endParaRPr lang="en-US" sz="1800" dirty="0"/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058120" cy="447675"/>
          </a:xfrm>
          <a:prstGeom prst="roundRect">
            <a:avLst>
              <a:gd name="adj" fmla="val 2127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5247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A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 템플릿 · 주간 보고서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771525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쓰는 보고서, 이 한 장으로 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10025063" cy="7583835"/>
          </a:xfrm>
          <a:prstGeom prst="roundRect">
            <a:avLst>
              <a:gd name="adj" fmla="val 2010"/>
            </a:avLst>
          </a:prstGeom>
          <a:solidFill>
            <a:srgbClr val="1E2233"/>
          </a:solidFill>
          <a:ln/>
          <a:effectLst>
            <a:outerShdw sx="100000" sy="100000" kx="0" ky="0" algn="bl" rotWithShape="0" blurRad="285750" dist="95250" dir="5400000">
              <a:srgbClr val="13182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017365"/>
            <a:ext cx="10025063" cy="55721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38250" y="2160240"/>
            <a:ext cx="983051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주간보고_템플릿.txt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2860328"/>
            <a:ext cx="9640014" cy="649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너는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[부서명]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팀의 보고서 담당자야. 아래 메모로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[기간] 주간 업무보고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를 작성해줘. 형식: · 이번 주 주요 성과 (불릿 3~5) · 진행 중 이슈 / 리스크 · 다음 주 계획 · 도움 필요 사항 톤: 간결한 보고체 / 분량: 1장 [여기에 이번 주 메모 붙여넣기]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282363" y="2017365"/>
            <a:ext cx="6015038" cy="6282779"/>
          </a:xfrm>
          <a:prstGeom prst="roundRect">
            <a:avLst>
              <a:gd name="adj" fmla="val 253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577638" y="2293590"/>
            <a:ext cx="59669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템플릿의 조건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77638" y="2703165"/>
            <a:ext cx="596693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변수는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]로 명확히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77638" y="3146971"/>
            <a:ext cx="596693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형식·톤·분량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77638" y="3590776"/>
            <a:ext cx="596693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'메모 붙여넣는 칸' 마련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282363" y="8471595"/>
            <a:ext cx="6015038" cy="1129605"/>
          </a:xfrm>
          <a:prstGeom prst="roundRect">
            <a:avLst>
              <a:gd name="adj" fmla="val 13491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568113" y="8700195"/>
            <a:ext cx="59878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568113" y="9052620"/>
            <a:ext cx="598789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같은 형식을 다시 쓰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시간을 회수합니다.</a:t>
            </a:r>
            <a:endParaRPr lang="en-US" sz="1800" dirty="0"/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2993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ROUTINE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762000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일과에 Claude 끼워넣기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90600" y="193164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정해진 시점마다 같은 프롬프트를 돌리면, AI가 '업무 비서'가 됩니다.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41240"/>
            <a:ext cx="5295900" cy="69837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3975" y="3469928"/>
            <a:ext cx="50920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 (출근 직후)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323975" y="3831878"/>
            <a:ext cx="50920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할 일 정리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975" y="4260503"/>
            <a:ext cx="4629150" cy="4931122"/>
          </a:xfrm>
          <a:prstGeom prst="roundRect">
            <a:avLst>
              <a:gd name="adj" fmla="val 2058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95425" y="4393853"/>
            <a:ext cx="4425125" cy="4702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"메모·메일 받은 것들 정리해서 오늘 우선순위 5개로"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6050" y="2541240"/>
            <a:ext cx="5295900" cy="69837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29425" y="3469928"/>
            <a:ext cx="50920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중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829425" y="3831878"/>
            <a:ext cx="50920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그때그때 처리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29425" y="4260503"/>
            <a:ext cx="4629150" cy="4931122"/>
          </a:xfrm>
          <a:prstGeom prst="roundRect">
            <a:avLst>
              <a:gd name="adj" fmla="val 2058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00875" y="4393853"/>
            <a:ext cx="4425125" cy="4702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회의 직후 회의록, 자료 오면 요약, 메일은 템플릿으로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001500" y="2541240"/>
            <a:ext cx="5295900" cy="6983760"/>
          </a:xfrm>
          <a:prstGeom prst="roundRect">
            <a:avLst>
              <a:gd name="adj" fmla="val 323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325350" y="3460403"/>
            <a:ext cx="51130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 (퇴근 전)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2325350" y="3822353"/>
            <a:ext cx="51130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마무리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25350" y="4250978"/>
            <a:ext cx="4648200" cy="4950172"/>
          </a:xfrm>
          <a:prstGeom prst="roundRect">
            <a:avLst>
              <a:gd name="adj" fmla="val 2049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496800" y="4384328"/>
            <a:ext cx="4444746" cy="4721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"오늘 한 일 정리하고, 내일 이어서 할 것 3개 뽑아줘"</a:t>
            </a:r>
            <a:endParaRPr lang="en-US" sz="18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0621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WORKSPACES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762000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Projects로 '업무별 작업공간' 만들기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업무별로 방을 나눠 자료·지침·템플릿을 모아두면, 매번 맥락을 설명할 필요가 없습니다.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20255"/>
            <a:ext cx="8749085" cy="7004745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5875" y="2815530"/>
            <a:ext cx="89743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이렇게 나눠요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85875" y="3263205"/>
            <a:ext cx="8158535" cy="895350"/>
          </a:xfrm>
          <a:prstGeom prst="roundRect">
            <a:avLst>
              <a:gd name="adj" fmla="val 12766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933575" y="3434655"/>
            <a:ext cx="25995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보고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33575" y="3710880"/>
            <a:ext cx="25995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템플릿 + 지난 보고서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85875" y="4291905"/>
            <a:ext cx="8158535" cy="895350"/>
          </a:xfrm>
          <a:prstGeom prst="roundRect">
            <a:avLst>
              <a:gd name="adj" fmla="val 12766"/>
            </a:avLst>
          </a:prstGeom>
          <a:solidFill>
            <a:srgbClr val="F7F8F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933575" y="4463355"/>
            <a:ext cx="25995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응대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33575" y="4739580"/>
            <a:ext cx="25995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템플릿 + 응대 가이드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85875" y="5320605"/>
            <a:ext cx="8158535" cy="914400"/>
          </a:xfrm>
          <a:prstGeom prst="roundRect">
            <a:avLst>
              <a:gd name="adj" fmla="val 12500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943100" y="5501580"/>
            <a:ext cx="29637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프로젝트 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43100" y="5777805"/>
            <a:ext cx="29637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배경자료 + 회의록 + 진행상황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06385" y="2520255"/>
            <a:ext cx="7291015" cy="7004745"/>
          </a:xfrm>
          <a:prstGeom prst="roundRect">
            <a:avLst>
              <a:gd name="adj" fmla="val 2448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387385" y="4882604"/>
            <a:ext cx="71819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좋은가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387385" y="5368379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12946" y="5401717"/>
            <a:ext cx="270362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맥락을 매번 설명할 필요 없음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387385" y="5859810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12946" y="5893147"/>
            <a:ext cx="178377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자료가 한곳에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87385" y="6351240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12946" y="6384578"/>
            <a:ext cx="224246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템플릿을 바로 꺼내 사용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387385" y="6842671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12946" y="6876008"/>
            <a:ext cx="217891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대화를 저장해 이어가기</a:t>
            </a:r>
            <a:endParaRPr lang="en-US" sz="18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18000"/>
                </a:srgbClr>
              </a:gs>
              <a:gs pos="45000">
                <a:srgbClr val="536BE0">
                  <a:alpha val="0"/>
                </a:srgbClr>
              </a:gs>
            </a:gsLst>
            <a:path path="circle">
              <a:fillToRect l="80000" t="25000" r="20000" b="75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8FA1F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47800" y="762000"/>
            <a:ext cx="30952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 THE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92773" y="762000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'탐색 → 정리 → 보고'를 하나의 흐름으로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EB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따로 놀던 작업을 한 대화 안에서 이어가면, 업무 하나가 끝까지 굴러갑니다.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3306440"/>
            <a:ext cx="3562350" cy="5527551"/>
          </a:xfrm>
          <a:prstGeom prst="roundRect">
            <a:avLst>
              <a:gd name="adj" fmla="val 481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37285" y="5912123"/>
            <a:ext cx="32689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탐색·수집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41298" y="6307410"/>
            <a:ext cx="306095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업로드 핵심 질문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5350" y="5851178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238750" y="3306440"/>
            <a:ext cx="3562350" cy="5527551"/>
          </a:xfrm>
          <a:prstGeom prst="roundRect">
            <a:avLst>
              <a:gd name="adj" fmla="val 481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85435" y="5912123"/>
            <a:ext cx="32689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정리·구조화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89448" y="6307410"/>
            <a:ext cx="306095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요약·분류 표로 정리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53500" y="5851178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486900" y="3306440"/>
            <a:ext cx="3562350" cy="5527551"/>
          </a:xfrm>
          <a:prstGeom prst="roundRect">
            <a:avLst>
              <a:gd name="adj" fmla="val 481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33585" y="5912123"/>
            <a:ext cx="32689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작성·보고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37598" y="6307410"/>
            <a:ext cx="306095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보고서·메일 초안 작성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01650" y="5851178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3735050" y="3306440"/>
            <a:ext cx="3562350" cy="5527551"/>
          </a:xfrm>
          <a:prstGeom prst="roundRect">
            <a:avLst>
              <a:gd name="adj" fmla="val 4813"/>
            </a:avLst>
          </a:prstGeom>
          <a:solidFill>
            <a:srgbClr val="536BE0">
              <a:alpha val="20000"/>
            </a:srgbClr>
          </a:solidFill>
          <a:ln w="9525">
            <a:solidFill>
              <a:srgbClr val="8FA1F2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881735" y="5912123"/>
            <a:ext cx="32689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저장·재사용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985748" y="6307410"/>
            <a:ext cx="306095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템플릿화 Projects에 보관</a:t>
            </a:r>
            <a:endParaRPr lang="en-US" sz="18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2952973" cy="447675"/>
          </a:xfrm>
          <a:prstGeom prst="roundRect">
            <a:avLst>
              <a:gd name="adj" fmla="val 21277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85900" y="771525"/>
            <a:ext cx="23624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실전 · [ ]만 채우면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771525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587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템플릿을 실제로 돌려보면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356098"/>
            <a:ext cx="7329711" cy="6439644"/>
          </a:xfrm>
          <a:prstGeom prst="roundRect">
            <a:avLst>
              <a:gd name="adj" fmla="val 2367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0600" y="2356098"/>
            <a:ext cx="7329711" cy="519113"/>
          </a:xfrm>
          <a:prstGeom prst="rect">
            <a:avLst/>
          </a:prstGeom>
          <a:solidFill>
            <a:srgbClr val="272C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00150" y="2479923"/>
            <a:ext cx="713050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C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 ] 채워서 전송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6350" y="3122861"/>
            <a:ext cx="6978102" cy="5463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[부서명]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=영업1팀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[기간]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=3월 3주차 메모: 신규 3곳 계약, A사 지연, 다음주 B사 PT 예정, 샘플 부족 이슈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48911" y="5313983"/>
            <a:ext cx="5334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234711" y="2356098"/>
            <a:ext cx="8062689" cy="6439644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49036" y="3410620"/>
            <a:ext cx="81774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완성된 주간보고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49036" y="3820195"/>
            <a:ext cx="7657060" cy="3959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[영업1팀] 3월 3주차 업무보고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주요 성과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신규 거래처 3곳 계약 체결 · B사 대상 제안 PT 일정 확정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이슈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A사 납품 지연 / 샘플 재고 부족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다음 주 계획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B사 PT 진행, 샘플 추가 확보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도움 필요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샘플 생산 우선순위 조정 협조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5260" y="93249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[ ]와 메모만 갈아끼우면 → 같은 형식의 보고가 바로 나옵니다.</a:t>
            </a:r>
            <a:endParaRPr lang="en-US" sz="18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048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685800"/>
            <a:ext cx="29498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TEMPLATE LIBRARY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685800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14425"/>
            <a:ext cx="1793748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00" b="1" spc="-78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직무별 '자주 쓰는 템플릿' 모음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90600" y="1792560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직무 칸에서 골라 [ ]만 바꿔 바로 저장하세요.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335485"/>
            <a:ext cx="8067675" cy="3547095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04925" y="2592660"/>
            <a:ext cx="8182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기획·전략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4925" y="3002235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[자료] 핵심 인사이트 3개 추출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04925" y="3407941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[주제] 기획안 4단 구조 작성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04925" y="3813646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[데이터] 경쟁사 비교표 정리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29725" y="2335485"/>
            <a:ext cx="8067675" cy="3547095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544050" y="2592660"/>
            <a:ext cx="8182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영업·CS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44050" y="3002235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[상황] 고객 응대 메일 3종 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44050" y="3407941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[제품] 제안서 요약 페이지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44050" y="3813646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[문의] FAQ 답변 표준화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6054030"/>
            <a:ext cx="8067675" cy="3547170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04925" y="6311205"/>
            <a:ext cx="8182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HR·교육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04925" y="6720780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[규정] 직원용 Q&amp;A 변환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04925" y="7126486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[설문] 자유응답 분류·집계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04925" y="7532191"/>
            <a:ext cx="81829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[공지] 사내 안내문 작성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29725" y="6054030"/>
            <a:ext cx="8067675" cy="3547170"/>
          </a:xfrm>
          <a:prstGeom prst="roundRect">
            <a:avLst>
              <a:gd name="adj" fmla="val 4296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534525" y="6301680"/>
            <a:ext cx="82038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행정·총무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34525" y="6711255"/>
            <a:ext cx="820388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[건명] 공문 초안 작성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34525" y="7116961"/>
            <a:ext cx="820388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[규정] 핵심 요약·변경점 비교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34525" y="7522666"/>
            <a:ext cx="820388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· [회의] 회의록 표준 정리</a:t>
            </a:r>
            <a:endParaRPr lang="en-US" sz="18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762000"/>
            <a:ext cx="1746721" cy="466725"/>
          </a:xfrm>
          <a:prstGeom prst="roundRect">
            <a:avLst>
              <a:gd name="adj" fmla="val 2040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504950" y="857250"/>
            <a:ext cx="111807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미션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857250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38275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반복업무 템플릿 3종 + 루틴 설계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90600" y="2270745"/>
            <a:ext cx="9367838" cy="7254255"/>
          </a:xfrm>
          <a:prstGeom prst="roundRect">
            <a:avLst>
              <a:gd name="adj" fmla="val 236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0175" y="2623170"/>
            <a:ext cx="94035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하세요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0175" y="308989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08989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6425" y="3089895"/>
            <a:ext cx="59105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Top5에서 '반복+정형+시간소모' 업무 3개를 고릅니다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00175" y="356614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356614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6425" y="3566145"/>
            <a:ext cx="51926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각각을 [ ] 변수가 들어간 재사용 템플릿으로 만듭니다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00175" y="404239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62075" y="404239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6425" y="4042395"/>
            <a:ext cx="43310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값을 넣어 한 번씩 돌려보고 다듬습니다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00175" y="4518645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62075" y="451864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6425" y="4518645"/>
            <a:ext cx="57049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아침/업무중/마감에 무엇을 돌릴지 루틴 설계도를 그립니다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00175" y="8896350"/>
            <a:ext cx="88051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완벽한 템플릿보다 '오늘부터 쓸 수 있는' 템플릿을 목표로.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06088" y="2270745"/>
            <a:ext cx="6691313" cy="5849317"/>
          </a:xfrm>
          <a:prstGeom prst="roundRect">
            <a:avLst>
              <a:gd name="adj" fmla="val 293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10888" y="4233342"/>
            <a:ext cx="66898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체크리스트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10888" y="468101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22980" y="4695304"/>
            <a:ext cx="171338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반복업무 3개 선정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10888" y="508106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22980" y="5095354"/>
            <a:ext cx="151581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3종 작성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10888" y="548111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22980" y="5495404"/>
            <a:ext cx="178377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값으로 테스트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10888" y="5881167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22980" y="5895454"/>
            <a:ext cx="158621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루틴 설계도 완성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606088" y="8310562"/>
            <a:ext cx="6691313" cy="1214438"/>
          </a:xfrm>
          <a:prstGeom prst="roundRect">
            <a:avLst>
              <a:gd name="adj" fmla="val 1411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460956" y="8586788"/>
            <a:ext cx="213053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1460956" y="8972550"/>
            <a:ext cx="21305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12분 + 공유 3분</a:t>
            </a:r>
            <a:endParaRPr lang="en-US" sz="18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586088" cy="447675"/>
          </a:xfrm>
          <a:prstGeom prst="roundRect">
            <a:avLst>
              <a:gd name="adj" fmla="val 2127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306578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· 일일 AI 업무 루틴 설계도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771525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「나의 하루 AI 루틴」 1장 설계도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8250" y="2017365"/>
            <a:ext cx="230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86150" y="2017365"/>
            <a:ext cx="84298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맡길 일 / 쓸 템플릿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302082" y="2017365"/>
            <a:ext cx="63224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효과·절감 시간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" y="2445990"/>
            <a:ext cx="16306800" cy="6383685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00125" y="2455515"/>
            <a:ext cx="2095500" cy="2118345"/>
          </a:xfrm>
          <a:prstGeom prst="rect">
            <a:avLst/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086100" y="2455515"/>
            <a:ext cx="9525" cy="21183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590675" y="3376538"/>
            <a:ext cx="47133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95625" y="4564335"/>
            <a:ext cx="8109793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195893" y="2455515"/>
            <a:ext cx="9525" cy="21183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05418" y="4564335"/>
            <a:ext cx="6082382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00125" y="4573860"/>
            <a:ext cx="2095500" cy="2127870"/>
          </a:xfrm>
          <a:prstGeom prst="rect">
            <a:avLst/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00125" y="4573860"/>
            <a:ext cx="20955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086100" y="4573860"/>
            <a:ext cx="9525" cy="212787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90675" y="5504408"/>
            <a:ext cx="7200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095625" y="6692205"/>
            <a:ext cx="8109793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095625" y="4573860"/>
            <a:ext cx="8109793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195893" y="4573860"/>
            <a:ext cx="9525" cy="212787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205418" y="6692205"/>
            <a:ext cx="6082382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1205418" y="4573860"/>
            <a:ext cx="6082382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00125" y="6701730"/>
            <a:ext cx="2095500" cy="2118420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086100" y="6701730"/>
            <a:ext cx="9525" cy="211842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533525" y="7622828"/>
            <a:ext cx="47133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195893" y="6701730"/>
            <a:ext cx="9525" cy="2118420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90600" y="8982075"/>
            <a:ext cx="16306800" cy="619125"/>
          </a:xfrm>
          <a:prstGeom prst="roundRect">
            <a:avLst>
              <a:gd name="adj" fmla="val 2153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276350" y="9153525"/>
            <a:ext cx="162245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팁: '시점 → 트리거(언제) → 템플릿(무엇을)'이 연결되면 루틴이 됩니다.</a:t>
            </a:r>
            <a:endParaRPr lang="en-US" sz="18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435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92773" y="762000"/>
            <a:ext cx="1435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 ·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6교시, 이것만 기억하세요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41190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2075" y="2441897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28825" y="2436465"/>
            <a:ext cx="5560196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반복+정형+시간소모 업무가 템플릿화 1순위다.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600" y="3276079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75" y="3576786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28825" y="3571354"/>
            <a:ext cx="7608220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 된 프롬프트의 변하는 값만 [ ]로 비우면 재사용 템플릿이 된다.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600" y="4410968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62075" y="4711675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8825" y="4706243"/>
            <a:ext cx="7779953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시점(아침·업무중·마감)에 템플릿을 연결하면 AI 업무 루틴이 된다.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0600" y="8477250"/>
            <a:ext cx="8048625" cy="1047750"/>
          </a:xfrm>
          <a:prstGeom prst="roundRect">
            <a:avLst>
              <a:gd name="adj" fmla="val 14545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09750" y="8724900"/>
            <a:ext cx="34398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확보한 산출물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09750" y="9001125"/>
            <a:ext cx="34398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템플릿 3종 + 루틴 설계도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48775" y="8477250"/>
            <a:ext cx="8048625" cy="1047750"/>
          </a:xfrm>
          <a:prstGeom prst="roundRect">
            <a:avLst>
              <a:gd name="adj" fmla="val 14545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46481" y="8724900"/>
            <a:ext cx="30919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교시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46481" y="9001125"/>
            <a:ext cx="30919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AI 비서 환경 + 액션플랜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50000">
                <a:srgbClr val="536BE0">
                  <a:alpha val="0"/>
                </a:srgbClr>
              </a:gs>
            </a:gsLst>
            <a:path path="circle">
              <a:fillToRect l="18000" t="78000" r="82000" b="22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2671763"/>
            <a:ext cx="93922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600" kern="0" dirty="0">
                <a:solidFill>
                  <a:srgbClr val="8FA1F2">
                    <a:alpha val="2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952500" y="4443413"/>
            <a:ext cx="907628" cy="428625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4519613"/>
            <a:ext cx="6028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74428" y="4519613"/>
            <a:ext cx="15320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6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16:30 – 17:20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5119688"/>
            <a:ext cx="8794571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50" b="1" spc="-105" kern="0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AI 비서 환경 + </a:t>
            </a:r>
            <a:pPr algn="l" indent="0" marL="0">
              <a:lnSpc>
                <a:spcPct val="110000"/>
              </a:lnSpc>
              <a:buNone/>
            </a:pPr>
            <a:r>
              <a:rPr lang="en-US" sz="5250" b="1" spc="-105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적용 액션플랜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952500" y="6815138"/>
            <a:ext cx="765238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7가지를 하나로 묶어 '내 업무 비서'로. 그리고 30일 실행 계획을 세운다.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43418" y="0"/>
            <a:ext cx="7844582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443418" y="0"/>
            <a:ext cx="9525" cy="10287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14943" y="3061395"/>
            <a:ext cx="69421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교시에서 다루는 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14943" y="352812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576893" y="3528120"/>
            <a:ext cx="28567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AI 비서 환경 구성 전략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214943" y="394722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576893" y="3947220"/>
            <a:ext cx="219261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현업 적용 로드맵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214943" y="436632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576893" y="4366320"/>
            <a:ext cx="237142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팀·조직 확산 시 고려사항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214943" y="478542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576893" y="4785420"/>
            <a:ext cx="24788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성장법 (피드백 루프)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214943" y="5204520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576893" y="5204520"/>
            <a:ext cx="2173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액션플랜 공유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214943" y="5756970"/>
            <a:ext cx="6311057" cy="1468636"/>
          </a:xfrm>
          <a:prstGeom prst="roundRect">
            <a:avLst>
              <a:gd name="adj" fmla="val 9080"/>
            </a:avLst>
          </a:prstGeom>
          <a:solidFill>
            <a:srgbClr val="536BE0">
              <a:alpha val="16000"/>
            </a:srgbClr>
          </a:solidFill>
          <a:ln w="9525">
            <a:solidFill>
              <a:srgbClr val="8FA1F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91168" y="5995095"/>
            <a:ext cx="63344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교시 산출물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91168" y="6347520"/>
            <a:ext cx="59313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「나의 30일 AI 업무 적용 액션플랜」 + 「개인 프롬프트 라이브러리(시작본)」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30294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AI ASSISTANT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8176" y="762000"/>
            <a:ext cx="1418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 ·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7가지가 곧 '내 비서'입니다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산출물을 역할별로 묶으면, 언제든 꺼내 쓰는 나만의 업무 비서가 됩니다.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01205"/>
            <a:ext cx="5308550" cy="608082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3975" y="3344168"/>
            <a:ext cx="5105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 비서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323975" y="3725168"/>
            <a:ext cx="51059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요약·분석·핵심추출 프롬프트 모음 (3교시)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89650" y="2501205"/>
            <a:ext cx="5308625" cy="608082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23025" y="3344168"/>
            <a:ext cx="51060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쓰기 비서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823025" y="3725168"/>
            <a:ext cx="510606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보고서·기획·메일·회의록 템플릿 (4·5교시)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88775" y="2501205"/>
            <a:ext cx="5308550" cy="6080820"/>
          </a:xfrm>
          <a:prstGeom prst="roundRect">
            <a:avLst>
              <a:gd name="adj" fmla="val 287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312625" y="3334643"/>
            <a:ext cx="51269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루틴 비서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2312625" y="3715643"/>
            <a:ext cx="512693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반복업무 자동화 템플릿 + 일일 루틴 (6교시)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600" y="8810625"/>
            <a:ext cx="16306800" cy="714375"/>
          </a:xfrm>
          <a:prstGeom prst="roundRect">
            <a:avLst>
              <a:gd name="adj" fmla="val 18667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04925" y="9029700"/>
            <a:ext cx="161673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묶음을 Projects 하나에 모아두면 → '내 AI 업무 비서' 작업공간 완성.</a:t>
            </a:r>
            <a:endParaRPr lang="en-US" sz="1800" dirty="0"/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7482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30-DAY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8176" y="762000"/>
            <a:ext cx="1418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 ·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'언젠가' 말고 '30일' 안에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91065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작게 시작해서 습관으로. 무엇부터 할지 시점별로 정해 둡니다.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520255"/>
            <a:ext cx="5295900" cy="700474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0600" y="9515475"/>
            <a:ext cx="52959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90600" y="2520255"/>
            <a:ext cx="529590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90600" y="2520255"/>
            <a:ext cx="9525" cy="70047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76975" y="2520255"/>
            <a:ext cx="9525" cy="70047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2901255"/>
            <a:ext cx="5008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3234630"/>
            <a:ext cx="500824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하나만 시작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62075" y="3744218"/>
            <a:ext cx="27533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56457" y="3768030"/>
            <a:ext cx="425181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자주 쓰는 템플릿 1개를 실제 업무에 적용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62075" y="4186163"/>
            <a:ext cx="27533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56457" y="4209976"/>
            <a:ext cx="3045241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프롬프트를 즐겨찾기에 저장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6050" y="2520255"/>
            <a:ext cx="5295900" cy="700474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96050" y="9515475"/>
            <a:ext cx="5295900" cy="952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96050" y="2520255"/>
            <a:ext cx="5295900" cy="57150"/>
          </a:xfrm>
          <a:prstGeom prst="rect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96050" y="2520255"/>
            <a:ext cx="9525" cy="70047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782425" y="2520255"/>
            <a:ext cx="9525" cy="70047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67525" y="2901255"/>
            <a:ext cx="5008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2~3주차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67525" y="3234630"/>
            <a:ext cx="500824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루틴으로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867525" y="3744218"/>
            <a:ext cx="27533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61907" y="3768030"/>
            <a:ext cx="272263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아침/마감 루틴에 AI 끼워넣기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67525" y="4186163"/>
            <a:ext cx="27533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61907" y="4209976"/>
            <a:ext cx="334355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3종으로 확장, Projects 구성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001500" y="2520255"/>
            <a:ext cx="5295900" cy="7004745"/>
          </a:xfrm>
          <a:prstGeom prst="roundRect">
            <a:avLst>
              <a:gd name="adj" fmla="val 323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2001500" y="2520255"/>
            <a:ext cx="5295900" cy="57150"/>
          </a:xfrm>
          <a:prstGeom prst="rect">
            <a:avLst/>
          </a:prstGeom>
          <a:solidFill>
            <a:srgbClr val="8FA1F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363450" y="2901255"/>
            <a:ext cx="5029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4주차~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363450" y="3234630"/>
            <a:ext cx="50292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나누고 키우기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2363450" y="3744218"/>
            <a:ext cx="27533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657832" y="3768030"/>
            <a:ext cx="250351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동료와 잘 된 프롬프트 공유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63450" y="4186163"/>
            <a:ext cx="27533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657832" y="4209976"/>
            <a:ext cx="256706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점검 후 적용 범위 확대</a:t>
            </a:r>
            <a:endParaRPr lang="en-US" sz="18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22816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 &amp; GROW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8176" y="762000"/>
            <a:ext cx="1418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 ·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84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팀으로 넓히고, 꾸준히 키우기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2120205"/>
            <a:ext cx="8029575" cy="7404795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0175" y="2491680"/>
            <a:ext cx="7931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팀·조직으로 확산할 때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00175" y="3006030"/>
            <a:ext cx="1523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9651" y="3039368"/>
            <a:ext cx="47133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38139" y="3006030"/>
            <a:ext cx="157923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가이드라인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07160" y="3039368"/>
            <a:ext cx="212660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마련 (할 것/하지 말 것)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00175" y="3497461"/>
            <a:ext cx="1523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9651" y="3497461"/>
            <a:ext cx="91916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원칙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85963" y="3530798"/>
            <a:ext cx="260486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명문화 (민감정보·반출 기준)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0175" y="3988891"/>
            <a:ext cx="1523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9651" y="4022229"/>
            <a:ext cx="158621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 된 프롬프트를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53011" y="3988891"/>
            <a:ext cx="136191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라이브러리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24462" y="4022229"/>
            <a:ext cx="73245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공유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00175" y="4480322"/>
            <a:ext cx="1523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9651" y="4513659"/>
            <a:ext cx="224246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성공 사례부터 전파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67825" y="2120205"/>
            <a:ext cx="8029575" cy="7404795"/>
          </a:xfrm>
          <a:prstGeom prst="roundRect">
            <a:avLst>
              <a:gd name="adj" fmla="val 2315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67875" y="2482155"/>
            <a:ext cx="7952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꾸준히 성장하는 법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9667875" y="2996505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93437" y="3029843"/>
            <a:ext cx="152273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프롬프트는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573321" y="2996505"/>
            <a:ext cx="91916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바로 저장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549634" y="3029843"/>
            <a:ext cx="93002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습관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67875" y="3487936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93437" y="3521273"/>
            <a:ext cx="132516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결과가 좋으면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375752" y="3487936"/>
            <a:ext cx="120692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'왜 좋았는지'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639824" y="3521273"/>
            <a:ext cx="47133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67875" y="3979366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93437" y="4012704"/>
            <a:ext cx="276908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달에 한 번 라이브러리 정리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67875" y="4470797"/>
            <a:ext cx="2684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FC9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93437" y="4504134"/>
            <a:ext cx="384320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4E6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루프: 쓰고 → 고치고 → 다시 저장</a:t>
            </a:r>
            <a:endParaRPr lang="en-US" sz="18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762000"/>
            <a:ext cx="2560439" cy="466725"/>
          </a:xfrm>
          <a:prstGeom prst="roundRect">
            <a:avLst>
              <a:gd name="adj" fmla="val 20408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504950" y="857250"/>
            <a:ext cx="19317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미션 7 (마지막)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8176" y="857250"/>
            <a:ext cx="1418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 ·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38275"/>
            <a:ext cx="1793748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00" b="1" spc="-78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액션플랜 + 프롬프트 라이브러리 시작본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90600" y="2249760"/>
            <a:ext cx="9367838" cy="7275240"/>
          </a:xfrm>
          <a:prstGeom prst="roundRect">
            <a:avLst>
              <a:gd name="adj" fmla="val 235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0175" y="2602185"/>
            <a:ext cx="94035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하세요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0175" y="306891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06891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6425" y="3068910"/>
            <a:ext cx="39663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산출물 7종을 한곳에 모읍니다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00175" y="354516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62075" y="35451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6425" y="3545160"/>
            <a:ext cx="61580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효과 컸던 프롬프트 5개로 '라이브러리 시작본'을 만듭니다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00175" y="402141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62075" y="402141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6425" y="4021410"/>
            <a:ext cx="51075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/ 이번 달 할 일을 30일 액션플랜에 적습니다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00175" y="4497660"/>
            <a:ext cx="323850" cy="323850"/>
          </a:xfrm>
          <a:prstGeom prst="ellipse">
            <a:avLst/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62075" y="44976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6425" y="4497660"/>
            <a:ext cx="4784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 사람과 '이번 주 첫 한 가지'를 서로 공유합니다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00175" y="8896350"/>
            <a:ext cx="88051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1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거창한 계획보다 '이번 주에 진짜 할 한 가지'가 더 강력합니다.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06088" y="2249760"/>
            <a:ext cx="6691313" cy="5870302"/>
          </a:xfrm>
          <a:prstGeom prst="roundRect">
            <a:avLst>
              <a:gd name="adj" fmla="val 2921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10888" y="4222849"/>
            <a:ext cx="66898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체크리스트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10888" y="467052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22980" y="4684812"/>
            <a:ext cx="151581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7종 취합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10888" y="507057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22980" y="5084862"/>
            <a:ext cx="230609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라이브러리 5개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10888" y="547062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22980" y="5484912"/>
            <a:ext cx="1840483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액션플랜 작성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10888" y="5870674"/>
            <a:ext cx="2739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22980" y="5884962"/>
            <a:ext cx="145219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한 가지 공유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606088" y="8310562"/>
            <a:ext cx="6691313" cy="1214438"/>
          </a:xfrm>
          <a:prstGeom prst="roundRect">
            <a:avLst>
              <a:gd name="adj" fmla="val 14118"/>
            </a:avLst>
          </a:prstGeom>
          <a:solidFill>
            <a:srgbClr val="EEF1FD"/>
          </a:solidFill>
          <a:ln w="9525">
            <a:solidFill>
              <a:srgbClr val="C9D3F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460956" y="8586788"/>
            <a:ext cx="213593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1460956" y="8972550"/>
            <a:ext cx="21359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10분 + 공유 5분</a:t>
            </a:r>
            <a:endParaRPr lang="en-US" sz="18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3160142" cy="447675"/>
          </a:xfrm>
          <a:prstGeom prst="roundRect">
            <a:avLst>
              <a:gd name="adj" fmla="val 2127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2627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· 나의 30일 액션플랜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8176" y="771525"/>
            <a:ext cx="1418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 ·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「나의 30일 AI 업무 적용 액션플랜」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8250" y="2017365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5650" y="2017365"/>
            <a:ext cx="64724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32119" y="2017365"/>
            <a:ext cx="46231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사용할 템플릿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687425" y="2017365"/>
            <a:ext cx="36985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2426940"/>
            <a:ext cx="16306800" cy="6421785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00125" y="2436465"/>
            <a:ext cx="1905000" cy="2134195"/>
          </a:xfrm>
          <a:prstGeom prst="rect">
            <a:avLst/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95600" y="2436465"/>
            <a:ext cx="9525" cy="213419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47775" y="2436465"/>
            <a:ext cx="1476375" cy="2172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05125" y="4561136"/>
            <a:ext cx="6292453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88053" y="2436465"/>
            <a:ext cx="9525" cy="213419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97578" y="4561136"/>
            <a:ext cx="4494609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3682663" y="2436465"/>
            <a:ext cx="9525" cy="213419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3692188" y="4561136"/>
            <a:ext cx="3595688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638252" y="2436465"/>
            <a:ext cx="3703558" cy="2162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0125" y="4570661"/>
            <a:ext cx="1905000" cy="2143795"/>
          </a:xfrm>
          <a:prstGeom prst="rect">
            <a:avLst/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00125" y="4570661"/>
            <a:ext cx="190500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895600" y="4570661"/>
            <a:ext cx="9525" cy="214379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47775" y="4580186"/>
            <a:ext cx="1476375" cy="2172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2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2~3주차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905125" y="6704930"/>
            <a:ext cx="6292453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905125" y="4570661"/>
            <a:ext cx="6292453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88053" y="4570661"/>
            <a:ext cx="9525" cy="214379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197578" y="6704930"/>
            <a:ext cx="4494609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197578" y="4570661"/>
            <a:ext cx="4494609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3682663" y="4570661"/>
            <a:ext cx="9525" cy="214379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3692188" y="6704930"/>
            <a:ext cx="3595688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3692188" y="4570661"/>
            <a:ext cx="3595688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3638252" y="4580186"/>
            <a:ext cx="3703558" cy="2162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00125" y="6714455"/>
            <a:ext cx="1905000" cy="212474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895600" y="6714455"/>
            <a:ext cx="9525" cy="21247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47775" y="6714455"/>
            <a:ext cx="1476375" cy="2162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4주차~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188053" y="6714455"/>
            <a:ext cx="9525" cy="21247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3682663" y="6714455"/>
            <a:ext cx="9525" cy="2124745"/>
          </a:xfrm>
          <a:prstGeom prst="rect">
            <a:avLst/>
          </a:prstGeom>
          <a:solidFill>
            <a:srgbClr val="E4E6E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3638252" y="6714455"/>
            <a:ext cx="3703558" cy="2162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90600" y="8982075"/>
            <a:ext cx="16306800" cy="619125"/>
          </a:xfrm>
          <a:prstGeom prst="roundRect">
            <a:avLst>
              <a:gd name="adj" fmla="val 2153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276350" y="9153525"/>
            <a:ext cx="162245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첫 한 가지: ________________________________ (가장 먼저, 작게 시작!)</a:t>
            </a:r>
            <a:endParaRPr lang="en-US" sz="18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685800"/>
            <a:ext cx="4425255" cy="447675"/>
          </a:xfrm>
          <a:prstGeom prst="roundRect">
            <a:avLst>
              <a:gd name="adj" fmla="val 2127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28750" y="771525"/>
            <a:ext cx="3930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· 개인 프롬프트 라이브러리(시작본)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8176" y="771525"/>
            <a:ext cx="1418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 ·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04925"/>
            <a:ext cx="1793748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오늘부터 모으는 「내 프롬프트 라이브러리」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2017365"/>
            <a:ext cx="16306800" cy="7136160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00125" y="2026890"/>
            <a:ext cx="16287750" cy="581025"/>
          </a:xfrm>
          <a:prstGeom prst="rect">
            <a:avLst/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4425" y="2179290"/>
            <a:ext cx="34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1175" y="2179290"/>
            <a:ext cx="40774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 / 상황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46750" y="2179290"/>
            <a:ext cx="67754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(핵심)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131775" y="2179290"/>
            <a:ext cx="40775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교시 / 메모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0125" y="3907482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2025" y="3119586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1175" y="3119586"/>
            <a:ext cx="43830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보고서 요약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46750" y="3119586"/>
            <a:ext cx="72644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"A4 1장, 배경·핵심·결론 구조로…"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131775" y="3119586"/>
            <a:ext cx="43831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0125" y="5216649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2025" y="4428679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0125" y="6525741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2025" y="5737845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0125" y="7834908"/>
            <a:ext cx="16287750" cy="9525"/>
          </a:xfrm>
          <a:prstGeom prst="rect">
            <a:avLst/>
          </a:prstGeom>
          <a:solidFill>
            <a:srgbClr val="EAECF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2025" y="7046937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2025" y="8356104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0600" y="93249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메모앱·문서에 옮겨 저장하면 끝. 좋은 프롬프트가 쌓일수록 비서가 똑똑해집니다.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810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762000"/>
            <a:ext cx="1435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8176" y="762000"/>
            <a:ext cx="1418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 ·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190625"/>
            <a:ext cx="179374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7교시, 이것만 기억하세요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90600" y="2141190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2075" y="2441897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28825" y="2436465"/>
            <a:ext cx="7286856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산출물을 읽기·쓰기·루틴 비서로 묶으면 곧 '내 AI 업무 비서'다.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600" y="3276079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75" y="3576786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28825" y="3571354"/>
            <a:ext cx="7758916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'언젠가'가 아니라 이번 주 첫 한 가지부터 — 작게 시작해 습관으로.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600" y="4410968"/>
            <a:ext cx="16306800" cy="963439"/>
          </a:xfrm>
          <a:prstGeom prst="roundRect">
            <a:avLst>
              <a:gd name="adj" fmla="val 15818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62075" y="4711675"/>
            <a:ext cx="514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8825" y="4706243"/>
            <a:ext cx="6593949" cy="41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프롬프트는 모으고·공유하고·다듬으며 계속 키운다.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0600" y="8358188"/>
            <a:ext cx="16306800" cy="1166813"/>
          </a:xfrm>
          <a:prstGeom prst="roundRect">
            <a:avLst>
              <a:gd name="adj" fmla="val 13061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943100" y="8643938"/>
            <a:ext cx="50260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산출물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43100" y="8920163"/>
            <a:ext cx="502600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5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7종 산출물 = '나만의 업무자동화 키트' 완성!</a:t>
            </a:r>
            <a:endParaRPr lang="en-US" sz="2100" dirty="0"/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18000"/>
                </a:srgbClr>
              </a:gs>
              <a:gs pos="50000">
                <a:srgbClr val="536BE0">
                  <a:alpha val="0"/>
                </a:srgbClr>
              </a:gs>
            </a:gsLst>
            <a:path path="circle">
              <a:fillToRect l="30000" t="70000" r="70000" b="30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905250" y="3452813"/>
            <a:ext cx="10477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0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APPLY TO YOUR ROLE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905250" y="3938588"/>
            <a:ext cx="104775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직무별 적용 트랙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238625" y="5024438"/>
            <a:ext cx="98107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도구, 다른 일. 내 직무에 가까운 트랙을 골라 '하루 시나리오'를 그대로 따라 해 보세요.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5829226" y="6272213"/>
            <a:ext cx="1230437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67351" y="6415088"/>
            <a:ext cx="7541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93012" y="6272213"/>
            <a:ext cx="1655266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31137" y="6415088"/>
            <a:ext cx="11790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영업·CS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81629" y="6272213"/>
            <a:ext cx="1655936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219754" y="6415088"/>
            <a:ext cx="11796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HR·교육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70915" y="6272213"/>
            <a:ext cx="1687860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009040" y="6415088"/>
            <a:ext cx="12116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행정·총무</a:t>
            </a:r>
            <a:endParaRPr lang="en-US" sz="1800" dirty="0"/>
          </a:p>
        </p:txBody>
      </p:sp>
      <p:sp>
        <p:nvSpPr>
          <p:cNvPr id="1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650" y="690563"/>
            <a:ext cx="27523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기획·전략 담당자의 하루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6197263" y="711994"/>
            <a:ext cx="1176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트랙 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66813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 자료 검토부터 기획안 작성까지, AI와 함께하는 흐름.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287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87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시장자료 요약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287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"리포트 핵심 인사이트 3개 + 기회/위협"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54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435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점심 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35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목차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435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768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"4단 구조 목차 제안 → 본문 항목별 작성"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202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583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583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표 정리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583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916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"경쟁사 비교를 표로, 시사점 한 줄씩"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350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563600" y="1919288"/>
            <a:ext cx="3855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63600" y="2271713"/>
            <a:ext cx="385572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임원 보고체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563600" y="2702198"/>
            <a:ext cx="3505200" cy="6651352"/>
          </a:xfrm>
          <a:prstGeom prst="roundRect">
            <a:avLst>
              <a:gd name="adj" fmla="val 217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696950" y="2816498"/>
            <a:ext cx="3343656" cy="6460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"기획안을 1장 요약, 임원 보고체로 변환"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2088" y="690563"/>
            <a:ext cx="325948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영업·고객지원 담당자의 하루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6197263" y="711994"/>
            <a:ext cx="1176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트랙 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66813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응대와 제안, 반복되는 커뮤니케이션을 빠르고 일관되게.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287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87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 메일 분류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287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"받은 문의 유형별 분류, 우선순위 표"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54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435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점심 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35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응대 메일 작성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435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768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"불만 고객 응대, 정중+해결책 제시 톤"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202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583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583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요약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583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916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"제안서 1페이지 요약, 설득 구조로"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350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563600" y="1919288"/>
            <a:ext cx="3855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63600" y="2271713"/>
            <a:ext cx="385572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기록 정리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563600" y="2702198"/>
            <a:ext cx="3505200" cy="6651352"/>
          </a:xfrm>
          <a:prstGeom prst="roundRect">
            <a:avLst>
              <a:gd name="adj" fmla="val 217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696950" y="2816498"/>
            <a:ext cx="3343656" cy="6460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"오늘 상담 메모를 후속조치 표로"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2088" y="690563"/>
            <a:ext cx="264524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HR·교육 담당자의 하루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6197263" y="711994"/>
            <a:ext cx="1176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트랙 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66813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규정·공지·설문 등 '많은 사람을 향한 글'을 빠르고 명확하게.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287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87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규정 Q&amp;A화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287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"규정을 직원용 쉬운 Q&amp;A로 변환"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54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435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점심 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35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공지문 작성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435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768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"교육 안내 공지, 핵심 먼저 간결하게"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202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583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583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분석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583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916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"자유응답 주제별 분류, 개선안 3가지"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350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563600" y="1919288"/>
            <a:ext cx="3855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63600" y="2271713"/>
            <a:ext cx="385572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교안 초안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563600" y="2702198"/>
            <a:ext cx="3505200" cy="6651352"/>
          </a:xfrm>
          <a:prstGeom prst="roundRect">
            <a:avLst>
              <a:gd name="adj" fmla="val 217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696950" y="2816498"/>
            <a:ext cx="3343656" cy="6460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"신입 교육 교안 목차 + 차시별 내용"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650" y="690563"/>
            <a:ext cx="27523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행정·총무 담당자의 하루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6197263" y="711994"/>
            <a:ext cx="1176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트랙 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66813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공문·규정·회의록 등 정형 문서를 표준 형식으로 빠르게.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287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87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공문 초안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287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"[건명] 협조 공문, 공문 형식으로"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54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435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점심 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35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규정 변경점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435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768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"개정 전후 비교, 바뀐 점만 표로"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202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58325" y="1928813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58325" y="2281238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정리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58325" y="2711723"/>
            <a:ext cx="3486150" cy="6632302"/>
          </a:xfrm>
          <a:prstGeom prst="roundRect">
            <a:avLst>
              <a:gd name="adj" fmla="val 2186"/>
            </a:avLst>
          </a:prstGeom>
          <a:solidFill>
            <a:srgbClr val="F1F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91675" y="2826023"/>
            <a:ext cx="3324035" cy="6441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F5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"메모를 표준 회의록 + 실행항목 표로"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35000" y="1671638"/>
            <a:ext cx="3962400" cy="7929563"/>
          </a:xfrm>
          <a:prstGeom prst="roundRect">
            <a:avLst>
              <a:gd name="adj" fmla="val 3846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563600" y="1919288"/>
            <a:ext cx="3855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63600" y="2271713"/>
            <a:ext cx="385572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안내문 표준화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563600" y="2702198"/>
            <a:ext cx="3505200" cy="6651352"/>
          </a:xfrm>
          <a:prstGeom prst="roundRect">
            <a:avLst>
              <a:gd name="adj" fmla="val 217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696950" y="2816498"/>
            <a:ext cx="3343656" cy="6460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0F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"사내 안내문, 표준 양식으로 통일"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18000"/>
                </a:srgbClr>
              </a:gs>
              <a:gs pos="55000">
                <a:srgbClr val="536BE0">
                  <a:alpha val="0"/>
                </a:srgbClr>
              </a:gs>
            </a:gsLst>
            <a:path path="circle">
              <a:fillToRect l="50000" t="30000" r="50000" b="70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gradFill rotWithShape="1">
            <a:gsLst>
              <a:gs pos="0">
                <a:srgbClr val="536BE0">
                  <a:alpha val="100000"/>
                </a:srgbClr>
              </a:gs>
              <a:gs pos="100000">
                <a:srgbClr val="7B8FF0">
                  <a:alpha val="10000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010025" y="3435697"/>
            <a:ext cx="10267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0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 &amp; NEXT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36733" y="3902422"/>
            <a:ext cx="961453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60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여정을 정리합니다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336733" y="5994053"/>
            <a:ext cx="96145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7시간 동안 7개의 산출물을 직접 만들었습니다. 이제 내일부터 어떻게 쓸지 정리할 차례입니다.</a:t>
            </a:r>
            <a:endParaRPr lang="en-US" sz="2250" dirty="0"/>
          </a:p>
        </p:txBody>
      </p:sp>
      <p:sp>
        <p:nvSpPr>
          <p:cNvPr id="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048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685800"/>
            <a:ext cx="50880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WHOLE COURSE IN ONE PAGE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14425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7시간, 한 장으로 다시 보기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90600" y="1946895"/>
            <a:ext cx="8086725" cy="1818308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66825" y="2717899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66925" y="2707481"/>
            <a:ext cx="4067562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'분담'. 무엇을 맡길지 정하는 게 역량.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10675" y="1946895"/>
            <a:ext cx="8086725" cy="1818308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486900" y="2717899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87000" y="2707481"/>
            <a:ext cx="495372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첫 대화 = 역할·맥락·형식. 결과는 C.H.E.C.K.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90600" y="3898553"/>
            <a:ext cx="8086725" cy="1818308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66825" y="4669557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6925" y="4659139"/>
            <a:ext cx="502846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구조·분량 지정해 요약. 원하는 정보만 질문, 꼭 검증.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10675" y="3898553"/>
            <a:ext cx="8086725" cy="1818308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486900" y="4669557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87000" y="4659139"/>
            <a:ext cx="528131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보고서는 목차→본문→다듬기. 회의록은 메모+템플릿.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5850210"/>
            <a:ext cx="8086725" cy="1818308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66825" y="6621214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66925" y="6610796"/>
            <a:ext cx="549864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메일은 상황·톤 지정. 고도화 4원칙: 명확·맥락·예시·단계.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10675" y="5850210"/>
            <a:ext cx="8086725" cy="1818308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486900" y="6621214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87000" y="6610796"/>
            <a:ext cx="536971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변하는 값만 [ ]로 = 재사용 템플릿. 시점에 연결 = 루틴.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90600" y="7801868"/>
            <a:ext cx="16306800" cy="1799332"/>
          </a:xfrm>
          <a:prstGeom prst="roundRect">
            <a:avLst>
              <a:gd name="adj" fmla="val 6882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57300" y="85634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57400" y="8552929"/>
            <a:ext cx="662489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산출물을 묶어 '내 AI 비서'로. 이번 주 첫 한 가지부터, 꾸준히 키운다.</a:t>
            </a:r>
            <a:endParaRPr lang="en-US" sz="18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048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685800"/>
            <a:ext cx="2914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TAKE-AWAYS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14425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수료와 함께 가져가는 7종 산출물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90600" y="177544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직접 만든 결과물입니다. 모으면 '나만의 업무자동화 키트'가 됩니다.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2299320"/>
            <a:ext cx="3962400" cy="3574703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28725" y="2537445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8725" y="2908920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전환 Top 5 워크시트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05400" y="2299320"/>
            <a:ext cx="3962400" cy="3574703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43525" y="2537445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3525" y="2908920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맞춤 시작 프롬프트 1세트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20200" y="2299320"/>
            <a:ext cx="3962400" cy="3574703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458325" y="2537445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58325" y="2908920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1장 요약본 + 실행항목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35000" y="2299320"/>
            <a:ext cx="3962400" cy="3574703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573125" y="2537445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573125" y="2908920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초안 + 회의록 템플릿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90600" y="6026423"/>
            <a:ext cx="3962400" cy="3574777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28725" y="6264548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5교시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28725" y="6636023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템플릿 3종 + 개선 사례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05400" y="6026423"/>
            <a:ext cx="3962400" cy="3574777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43525" y="6264548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6교시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3525" y="6636023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반복업무 템플릿 3종 + 루틴 설계도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20200" y="6026423"/>
            <a:ext cx="3962400" cy="3574777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458325" y="6264548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7교시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58325" y="6636023"/>
            <a:ext cx="383476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액션플랜 + 프롬프트 라이브러리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335000" y="6026423"/>
            <a:ext cx="3962400" cy="3574777"/>
          </a:xfrm>
          <a:prstGeom prst="roundRect">
            <a:avLst>
              <a:gd name="adj" fmla="val 373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3563600" y="7443788"/>
            <a:ext cx="38557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키트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3563600" y="7886700"/>
            <a:ext cx="385572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7종 = 나만의 업무자동화 키트</a:t>
            </a:r>
            <a:endParaRPr lang="en-US" sz="18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8048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47800" y="685800"/>
            <a:ext cx="6094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114425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묻는 질문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90600" y="1946895"/>
            <a:ext cx="8067675" cy="2547565"/>
          </a:xfrm>
          <a:prstGeom prst="roundRect">
            <a:avLst>
              <a:gd name="adj" fmla="val 523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04925" y="2204070"/>
            <a:ext cx="8182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회사 자료를 올려도 되나요?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04925" y="2575545"/>
            <a:ext cx="76621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규정을 먼저 확인하고, 민감정보는 가명·예시로 바꿔 쓰세요. 반출 금지 자료는 올리지 않습니다.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29725" y="1946895"/>
            <a:ext cx="8067675" cy="2547565"/>
          </a:xfrm>
          <a:prstGeom prst="roundRect">
            <a:avLst>
              <a:gd name="adj" fmla="val 523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544050" y="2204070"/>
            <a:ext cx="8182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답이 틀리면 어떡하죠?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44050" y="2575545"/>
            <a:ext cx="76621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답은 '초안'입니다. 숫자·고유명사·출처는 사람이 검증(C.H.E.C.K)하는 것이 원칙입니다.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90600" y="4665911"/>
            <a:ext cx="8067675" cy="2547640"/>
          </a:xfrm>
          <a:prstGeom prst="roundRect">
            <a:avLst>
              <a:gd name="adj" fmla="val 523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04925" y="4923086"/>
            <a:ext cx="8182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프롬프트를 외워야 하나요?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04925" y="5294561"/>
            <a:ext cx="76621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아니요. '역할·맥락·형식'만 기억하고, 나머지는 라이브러리에 저장해 꺼내 쓰면 됩니다.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29725" y="4665911"/>
            <a:ext cx="8067675" cy="2547640"/>
          </a:xfrm>
          <a:prstGeom prst="roundRect">
            <a:avLst>
              <a:gd name="adj" fmla="val 5234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44050" y="4923086"/>
            <a:ext cx="8182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한국어로 써도 되나요?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44050" y="5294561"/>
            <a:ext cx="81829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네. Claude는 한국어 질문에 한국어로 답합니다. 평소 말하듯 구체적으로 요청하면 됩니다.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7385000"/>
            <a:ext cx="8067675" cy="2216200"/>
          </a:xfrm>
          <a:prstGeom prst="roundRect">
            <a:avLst>
              <a:gd name="adj" fmla="val 6017"/>
            </a:avLst>
          </a:prstGeom>
          <a:solidFill>
            <a:srgbClr val="FFFFFF"/>
          </a:solidFill>
          <a:ln w="9525">
            <a:solidFill>
              <a:srgbClr val="E4E6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04925" y="7642175"/>
            <a:ext cx="8182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무엇부터 시작할까요?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04925" y="8013650"/>
            <a:ext cx="81829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15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자주·반복하는 일 하나에 템플릿 1개. 이번 주 '첫 한 가지'면 충분합니다.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29725" y="7385000"/>
            <a:ext cx="8067675" cy="2216200"/>
          </a:xfrm>
          <a:prstGeom prst="roundRect">
            <a:avLst>
              <a:gd name="adj" fmla="val 6017"/>
            </a:avLst>
          </a:prstGeom>
          <a:solidFill>
            <a:srgbClr val="13182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534525" y="7632650"/>
            <a:ext cx="82038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더 궁금한 점이 있다면?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34525" y="8004125"/>
            <a:ext cx="820388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Claude에게 직접 물어보세요. “이 기능을 내 업무에 어떻게 쓸 수 있어?”처럼 요청하면 됩니다.</a:t>
            </a:r>
            <a:endParaRPr lang="en-US" sz="18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28663"/>
            <a:ext cx="323850" cy="38100"/>
          </a:xfrm>
          <a:prstGeom prst="roundRect">
            <a:avLst>
              <a:gd name="adj" fmla="val 50000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14450" y="609600"/>
            <a:ext cx="36271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3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COPY &amp; 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35611" y="609600"/>
            <a:ext cx="4713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7250" y="1019175"/>
            <a:ext cx="1823085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spc="-69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내일 바로 쓰는 프롬프트 12선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857250" y="1710630"/>
            <a:ext cx="5441900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7750" y="1863030"/>
            <a:ext cx="5224157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요약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문서 A4 1장으로, 배경·핵심5·결론 구조로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22975" y="1710630"/>
            <a:ext cx="5441975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13475" y="1863030"/>
            <a:ext cx="5224234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3줄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가장 중요한 3가지만 한 문장씩으로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988775" y="1710630"/>
            <a:ext cx="5441900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179275" y="1863030"/>
            <a:ext cx="5224157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실행항목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할 일·담당·기한 표로, 우선순위 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7250" y="3626123"/>
            <a:ext cx="5441900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3778523"/>
            <a:ext cx="5224157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질의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자료에서 ~에 대한 내용만 찾아 정리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22975" y="3626123"/>
            <a:ext cx="5441975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13475" y="3778523"/>
            <a:ext cx="5224234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표정리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내용을 [열A·열B·열C] 표로 구조화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88775" y="3626123"/>
            <a:ext cx="5441900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179275" y="3778523"/>
            <a:ext cx="5224157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목차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~보고서 목차를 5~6개 항목으로 제안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7250" y="5541615"/>
            <a:ext cx="5441900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47750" y="5694015"/>
            <a:ext cx="5224157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본문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목차 N번을 3문단으로, 수치는 [ ]로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22975" y="5541615"/>
            <a:ext cx="5441975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13475" y="5694015"/>
            <a:ext cx="5224234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톤변환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이걸 임원 보고체로, 1장으로 줄여서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988775" y="5541615"/>
            <a:ext cx="5441900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179275" y="5694015"/>
            <a:ext cx="5224157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회의록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메모를 [안건·결정·실행항목] 회의록으로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7250" y="7457108"/>
            <a:ext cx="5441900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47750" y="7609508"/>
            <a:ext cx="5224157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메일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~상황 메일을 정중한 톤, 200자, 제목 포함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22975" y="7457108"/>
            <a:ext cx="5441975" cy="1791667"/>
          </a:xfrm>
          <a:prstGeom prst="roundRect">
            <a:avLst>
              <a:gd name="adj" fmla="val 5316"/>
            </a:avLst>
          </a:prstGeom>
          <a:solidFill>
            <a:srgbClr val="1E223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13475" y="7609508"/>
            <a:ext cx="5224234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FA1F2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분류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7EAF5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 응답들을 주제별 분류, 건수·대표의견 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88775" y="7457108"/>
            <a:ext cx="5441900" cy="1791667"/>
          </a:xfrm>
          <a:prstGeom prst="roundRect">
            <a:avLst>
              <a:gd name="adj" fmla="val 5316"/>
            </a:avLst>
          </a:prstGeom>
          <a:solidFill>
            <a:srgbClr val="536BE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179275" y="7609508"/>
            <a:ext cx="5224157" cy="1524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검증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위 결과 중 원문에 없는 내용 표시하고 출처 위치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7250" y="9401175"/>
            <a:ext cx="182308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 부분만 내 상황으로 바꿔 쓰세요. 잘 맞는 것은 라이브러리에 저장.</a:t>
            </a:r>
            <a:endParaRPr lang="en-US" sz="18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36BE0">
                  <a:alpha val="20000"/>
                </a:srgbClr>
              </a:gs>
              <a:gs pos="60000">
                <a:srgbClr val="536B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gradFill rotWithShape="1">
            <a:gsLst>
              <a:gs pos="0">
                <a:srgbClr val="536BE0">
                  <a:alpha val="100000"/>
                </a:srgbClr>
              </a:gs>
              <a:gs pos="100000">
                <a:srgbClr val="7B8FF0">
                  <a:alpha val="10000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043" y="3228082"/>
            <a:ext cx="73159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0" kern="0" dirty="0">
                <a:solidFill>
                  <a:srgbClr val="8FA1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043" y="3732907"/>
            <a:ext cx="7315914" cy="1025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200" b="1" dirty="0">
                <a:solidFill>
                  <a:srgbClr val="F4F5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718822" y="4987156"/>
            <a:ext cx="685035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C4C8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배운 것을 '아는 것'에서 '쓰는 것'으로. 내일, 가장 자주 하는 일 하나부터 시작해 보세요.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334000" y="6320656"/>
            <a:ext cx="7620000" cy="738188"/>
          </a:xfrm>
          <a:prstGeom prst="roundRect">
            <a:avLst>
              <a:gd name="adj" fmla="val 180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61000" y="6539731"/>
            <a:ext cx="736600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이애본 · 드림아이티비즈(DreamIT Biz) · aebon@dreamitbiz.com</a:t>
            </a:r>
            <a:endParaRPr lang="en-US" sz="1950" dirty="0"/>
          </a:p>
        </p:txBody>
      </p:sp>
      <p:sp>
        <p:nvSpPr>
          <p:cNvPr id="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108</Slides>
  <Notes>108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2026-06-17T17:21:28Z</dcterms:created>
  <dcterms:modified xsi:type="dcterms:W3CDTF">2026-06-17T17:21:28Z</dcterms:modified>
</cp:coreProperties>
</file>