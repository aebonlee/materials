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8288000" cy="10287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4192250" y="-2381250"/>
            <a:ext cx="7429500" cy="7429500"/>
          </a:xfrm>
          <a:prstGeom prst="ellipse">
            <a:avLst/>
          </a:prstGeom>
          <a:solidFill>
            <a:srgbClr val="F1F5FB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15430500" y="-1143000"/>
            <a:ext cx="4953000" cy="49530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deckgen:decor"/>
          <p:cNvSpPr/>
          <p:nvPr/>
        </p:nvSpPr>
        <p:spPr>
          <a:xfrm>
            <a:off x="15906750" y="5905500"/>
            <a:ext cx="4953000" cy="4953000"/>
          </a:xfrm>
          <a:prstGeom prst="ellipse">
            <a:avLst/>
          </a:prstGeom>
          <a:solidFill>
            <a:srgbClr val="F5F6F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deckgen:decor"/>
          <p:cNvSpPr/>
          <p:nvPr/>
        </p:nvSpPr>
        <p:spPr>
          <a:xfrm>
            <a:off x="-1714500" y="2857500"/>
            <a:ext cx="2857500" cy="28575"/>
          </a:xfrm>
          <a:prstGeom prst="rect">
            <a:avLst/>
          </a:prstGeom>
          <a:solidFill>
            <a:srgbClr val="E6E9E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6" name="deckgen:decor"/>
          <p:cNvSpPr/>
          <p:nvPr/>
        </p:nvSpPr>
        <p:spPr>
          <a:xfrm>
            <a:off x="-2857500" y="6953250"/>
            <a:ext cx="6953250" cy="6953250"/>
          </a:xfrm>
          <a:prstGeom prst="ellipse">
            <a:avLst/>
          </a:prstGeom>
          <a:solidFill>
            <a:srgbClr val="EEF2F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7" name="deckgen:decor"/>
          <p:cNvSpPr/>
          <p:nvPr/>
        </p:nvSpPr>
        <p:spPr>
          <a:xfrm>
            <a:off x="-1581150" y="8229600"/>
            <a:ext cx="4400550" cy="440055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deckgen:decor"/>
          <p:cNvSpPr/>
          <p:nvPr/>
        </p:nvSpPr>
        <p:spPr>
          <a:xfrm>
            <a:off x="3390900" y="8953500"/>
            <a:ext cx="742950" cy="742950"/>
          </a:xfrm>
          <a:prstGeom prst="ellipse">
            <a:avLst/>
          </a:prstGeom>
          <a:solidFill>
            <a:srgbClr val="EBEEF2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deckgen:decor"/>
          <p:cNvSpPr/>
          <p:nvPr/>
        </p:nvSpPr>
        <p:spPr>
          <a:xfrm>
            <a:off x="4457700" y="9563100"/>
            <a:ext cx="342900" cy="342900"/>
          </a:xfrm>
          <a:prstGeom prst="ellipse">
            <a:avLst/>
          </a:prstGeom>
          <a:solidFill>
            <a:srgbClr val="E1E9F7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0" name="deckgen:decor"/>
          <p:cNvSpPr/>
          <p:nvPr/>
        </p:nvSpPr>
        <p:spPr>
          <a:xfrm>
            <a:off x="1143000" y="9639300"/>
            <a:ext cx="1619250" cy="28575"/>
          </a:xfrm>
          <a:prstGeom prst="rect">
            <a:avLst/>
          </a:prstGeom>
          <a:solidFill>
            <a:srgbClr val="E6E9E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1143000" y="2857500"/>
            <a:ext cx="16002000" cy="28575"/>
          </a:xfrm>
          <a:prstGeom prst="rect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43000" y="3486150"/>
            <a:ext cx="8572500" cy="4191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00" b="1" spc="120">
                <a:solidFill>
                  <a:srgbClr val="1E5BC6"/>
                </a:solidFill>
                <a:latin typeface="Pretendard"/>
                <a:ea typeface="Pretendard"/>
                <a:cs typeface="Pretendard"/>
              </a:rPr>
              <a:t>4-1 · MinIO 오브젝트 스토리지 구축 · 정리·회고 0.5H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43000" y="3905250"/>
            <a:ext cx="16002000" cy="14660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9300" b="1" spc="-347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정리·회고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43000" y="5580888"/>
            <a:ext cx="16002000" cy="571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3300" b="1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mc 명령을 한 장으로, 4-2 를 위한 상태 점검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572500" y="7677150"/>
            <a:ext cx="8572500" cy="8572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50000"/>
              </a:lnSpc>
            </a:pPr>
            <a:r>
              <a:rPr sz="1950" b="1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수도권ICT 이노베이션스퀘어</a:t>
            </a:r>
          </a:p>
          <a:p>
            <a:pPr algn="r">
              <a:lnSpc>
                <a:spcPct val="150000"/>
              </a:lnSpc>
            </a:pPr>
            <a:r>
              <a:rPr sz="1950" b="1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데이터 엔지니어링 &amp; RAG 파이프라인 160H · 3기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3F6FC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deckgen:decor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7F8F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8382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1E5BC6"/>
                </a:solidFill>
                <a:latin typeface="Pretendard"/>
                <a:ea typeface="Pretendard"/>
                <a:cs typeface="Pretendard"/>
              </a:rPr>
              <a:t>이 시간의 목표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162050"/>
            <a:ext cx="16002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30분 뒤에는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143000" y="2895600"/>
            <a:ext cx="16002000" cy="819150"/>
          </a:xfrm>
          <a:prstGeom prst="roundRect">
            <a:avLst>
              <a:gd name="adj" fmla="val 581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390650" y="3038475"/>
            <a:ext cx="533400" cy="533400"/>
          </a:xfrm>
          <a:prstGeom prst="ellipse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390650" y="3162300"/>
            <a:ext cx="5334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1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①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190750" y="2895600"/>
            <a:ext cx="14573250" cy="8191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32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mc 명령을 「하려는 일」로 찾을 수 있다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143000" y="3886200"/>
            <a:ext cx="16002000" cy="819150"/>
          </a:xfrm>
          <a:prstGeom prst="roundRect">
            <a:avLst>
              <a:gd name="adj" fmla="val 581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1390650" y="4029075"/>
            <a:ext cx="533400" cy="533400"/>
          </a:xfrm>
          <a:prstGeom prst="ellipse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390650" y="4152900"/>
            <a:ext cx="5334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1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②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190750" y="3886200"/>
            <a:ext cx="14573250" cy="8191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32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4-2 준비 상태(컨테이너 2·버킷 2·첫 파일)를 명령으로 확인한다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143000" y="4876800"/>
            <a:ext cx="16002000" cy="819150"/>
          </a:xfrm>
          <a:prstGeom prst="roundRect">
            <a:avLst>
              <a:gd name="adj" fmla="val 581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1390650" y="5019675"/>
            <a:ext cx="533400" cy="533400"/>
          </a:xfrm>
          <a:prstGeom prst="ellipse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390650" y="5143500"/>
            <a:ext cx="5334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1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③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190750" y="4876800"/>
            <a:ext cx="14573250" cy="8191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32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자주 겪는 오류 네 가지의 원인과 해결을 안다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1143000" y="5867400"/>
            <a:ext cx="16002000" cy="819150"/>
          </a:xfrm>
          <a:prstGeom prst="roundRect">
            <a:avLst>
              <a:gd name="adj" fmla="val 581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1390650" y="6010275"/>
            <a:ext cx="533400" cy="533400"/>
          </a:xfrm>
          <a:prstGeom prst="ellipse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390650" y="6134100"/>
            <a:ext cx="5334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1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④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190750" y="5867400"/>
            <a:ext cx="14573250" cy="8191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32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4-2 Iceberg 에서 무엇을 만드는지 미리 안다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1143000" y="6953250"/>
            <a:ext cx="16002000" cy="876300"/>
          </a:xfrm>
          <a:prstGeom prst="roundRect">
            <a:avLst>
              <a:gd name="adj" fmla="val 5434"/>
            </a:avLst>
          </a:prstGeom>
          <a:solidFill>
            <a:srgbClr val="EDF3FD"/>
          </a:solidFill>
          <a:ln w="9525">
            <a:solidFill>
              <a:srgbClr val="BFD3F5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143000" y="7200900"/>
            <a:ext cx="16002000" cy="4381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47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컨테이너는 켜 둔 채로 두거나 docker compose stop 만 — down -v 는 볼륨까지 지웁니다</a:t>
            </a:r>
          </a:p>
        </p:txBody>
      </p:sp>
      <p:sp>
        <p:nvSpPr>
          <p:cNvPr id="26" name="Rectangle 25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데이터 엔지니어링 &amp; RAG 파이프라인 160H · 4-1 · 정리·회고 0.5H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02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3F6FC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deckgen:decor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7F8F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8382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1E5BC6"/>
                </a:solidFill>
                <a:latin typeface="Pretendard"/>
                <a:ea typeface="Pretendard"/>
                <a:cs typeface="Pretendard"/>
              </a:rPr>
              <a:t>오늘의 요약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162050"/>
            <a:ext cx="16002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mc 명령 요약 — 하려는 일로 찾기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1143000" y="2781300"/>
            <a:ext cx="5402580" cy="590550"/>
          </a:xfrm>
          <a:prstGeom prst="rect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143000" y="2781300"/>
            <a:ext cx="5402580" cy="5905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02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하려는 일</a:t>
            </a:r>
          </a:p>
        </p:txBody>
      </p:sp>
      <p:sp>
        <p:nvSpPr>
          <p:cNvPr id="10" name="Rectangle 9"/>
          <p:cNvSpPr/>
          <p:nvPr/>
        </p:nvSpPr>
        <p:spPr>
          <a:xfrm>
            <a:off x="6583680" y="2781300"/>
            <a:ext cx="10561320" cy="590550"/>
          </a:xfrm>
          <a:prstGeom prst="rect">
            <a:avLst/>
          </a:prstGeom>
          <a:solidFill>
            <a:srgbClr val="1E5BC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583680" y="2781300"/>
            <a:ext cx="10561320" cy="5905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02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명령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143000" y="3448050"/>
            <a:ext cx="5402580" cy="445294"/>
          </a:xfrm>
          <a:prstGeom prst="roundRect">
            <a:avLst>
              <a:gd name="adj" fmla="val 8556"/>
            </a:avLst>
          </a:prstGeom>
          <a:solidFill>
            <a:srgbClr val="EDF3FD"/>
          </a:solidFill>
          <a:ln w="9525">
            <a:solidFill>
              <a:srgbClr val="BFD3F5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238250" y="3448050"/>
            <a:ext cx="5212080" cy="44529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7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서버 등록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583680" y="3448050"/>
            <a:ext cx="10561320" cy="445294"/>
          </a:xfrm>
          <a:prstGeom prst="roundRect">
            <a:avLst>
              <a:gd name="adj" fmla="val 8556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678930" y="3448050"/>
            <a:ext cx="10370820" cy="44529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mc alias set 이름 URL 키 비밀키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143000" y="3969544"/>
            <a:ext cx="5402580" cy="445294"/>
          </a:xfrm>
          <a:prstGeom prst="roundRect">
            <a:avLst>
              <a:gd name="adj" fmla="val 8556"/>
            </a:avLst>
          </a:prstGeom>
          <a:solidFill>
            <a:srgbClr val="EDF3FD"/>
          </a:solidFill>
          <a:ln w="9525">
            <a:solidFill>
              <a:srgbClr val="BFD3F5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238250" y="3969544"/>
            <a:ext cx="5212080" cy="44529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7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버킷 만들기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583680" y="3969544"/>
            <a:ext cx="10561320" cy="445294"/>
          </a:xfrm>
          <a:prstGeom prst="roundRect">
            <a:avLst>
              <a:gd name="adj" fmla="val 8556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678930" y="3969544"/>
            <a:ext cx="10370820" cy="44529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mc mb local/버킷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1143000" y="4491038"/>
            <a:ext cx="5402580" cy="445294"/>
          </a:xfrm>
          <a:prstGeom prst="roundRect">
            <a:avLst>
              <a:gd name="adj" fmla="val 8556"/>
            </a:avLst>
          </a:prstGeom>
          <a:solidFill>
            <a:srgbClr val="EDF3FD"/>
          </a:solidFill>
          <a:ln w="9525">
            <a:solidFill>
              <a:srgbClr val="BFD3F5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238250" y="4491038"/>
            <a:ext cx="5212080" cy="44529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7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목록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583680" y="4491038"/>
            <a:ext cx="10561320" cy="445294"/>
          </a:xfrm>
          <a:prstGeom prst="roundRect">
            <a:avLst>
              <a:gd name="adj" fmla="val 8556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678930" y="4491038"/>
            <a:ext cx="10370820" cy="44529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mc ls [--recursive] local/버킷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1143000" y="5012531"/>
            <a:ext cx="5402580" cy="445294"/>
          </a:xfrm>
          <a:prstGeom prst="roundRect">
            <a:avLst>
              <a:gd name="adj" fmla="val 8556"/>
            </a:avLst>
          </a:prstGeom>
          <a:solidFill>
            <a:srgbClr val="EDF3FD"/>
          </a:solidFill>
          <a:ln w="9525">
            <a:solidFill>
              <a:srgbClr val="BFD3F5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238250" y="5012531"/>
            <a:ext cx="5212080" cy="44529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7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올리기 · 내려받기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583680" y="5012531"/>
            <a:ext cx="10561320" cy="445294"/>
          </a:xfrm>
          <a:prstGeom prst="roundRect">
            <a:avLst>
              <a:gd name="adj" fmla="val 8556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678930" y="5012531"/>
            <a:ext cx="10370820" cy="44529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mc cp 원본 대상 (방향으로 결정)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1143000" y="5534025"/>
            <a:ext cx="5402580" cy="445294"/>
          </a:xfrm>
          <a:prstGeom prst="roundRect">
            <a:avLst>
              <a:gd name="adj" fmla="val 8556"/>
            </a:avLst>
          </a:prstGeom>
          <a:solidFill>
            <a:srgbClr val="EDF3FD"/>
          </a:solidFill>
          <a:ln w="9525">
            <a:solidFill>
              <a:srgbClr val="BFD3F5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1238250" y="5534025"/>
            <a:ext cx="5212080" cy="44529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7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내용 보기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6583680" y="5534025"/>
            <a:ext cx="10561320" cy="445294"/>
          </a:xfrm>
          <a:prstGeom prst="roundRect">
            <a:avLst>
              <a:gd name="adj" fmla="val 8556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678930" y="5534025"/>
            <a:ext cx="10370820" cy="44529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mc cat local/버킷/키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1143000" y="6055519"/>
            <a:ext cx="5402580" cy="445294"/>
          </a:xfrm>
          <a:prstGeom prst="roundRect">
            <a:avLst>
              <a:gd name="adj" fmla="val 8556"/>
            </a:avLst>
          </a:prstGeom>
          <a:solidFill>
            <a:srgbClr val="EDF3FD"/>
          </a:solidFill>
          <a:ln w="9525">
            <a:solidFill>
              <a:srgbClr val="BFD3F5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1238250" y="6055519"/>
            <a:ext cx="5212080" cy="44529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7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지우기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6583680" y="6055519"/>
            <a:ext cx="10561320" cy="445294"/>
          </a:xfrm>
          <a:prstGeom prst="roundRect">
            <a:avLst>
              <a:gd name="adj" fmla="val 8556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678930" y="6055519"/>
            <a:ext cx="10370820" cy="44529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mc rm local/버킷/키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1143000" y="6577012"/>
            <a:ext cx="5402580" cy="445294"/>
          </a:xfrm>
          <a:prstGeom prst="roundRect">
            <a:avLst>
              <a:gd name="adj" fmla="val 8556"/>
            </a:avLst>
          </a:prstGeom>
          <a:solidFill>
            <a:srgbClr val="EDF3FD"/>
          </a:solidFill>
          <a:ln w="9525">
            <a:solidFill>
              <a:srgbClr val="BFD3F5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1238250" y="6577012"/>
            <a:ext cx="5212080" cy="44529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7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폴더 통째 동기화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6583680" y="6577012"/>
            <a:ext cx="10561320" cy="445294"/>
          </a:xfrm>
          <a:prstGeom prst="roundRect">
            <a:avLst>
              <a:gd name="adj" fmla="val 8556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6678930" y="6577012"/>
            <a:ext cx="10370820" cy="44529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mc mirror 로컬폴더 local/버킷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1143000" y="7098506"/>
            <a:ext cx="5402580" cy="445294"/>
          </a:xfrm>
          <a:prstGeom prst="roundRect">
            <a:avLst>
              <a:gd name="adj" fmla="val 8556"/>
            </a:avLst>
          </a:prstGeom>
          <a:solidFill>
            <a:srgbClr val="EDF3FD"/>
          </a:solidFill>
          <a:ln w="9525">
            <a:solidFill>
              <a:srgbClr val="BFD3F5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1238250" y="7098506"/>
            <a:ext cx="5212080" cy="44529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7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버저닝 · 용량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6583680" y="7098506"/>
            <a:ext cx="10561320" cy="445294"/>
          </a:xfrm>
          <a:prstGeom prst="roundRect">
            <a:avLst>
              <a:gd name="adj" fmla="val 8556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6678930" y="7098506"/>
            <a:ext cx="10370820" cy="44529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mc version enable · mc du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143000" y="76200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875" b="1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모든 명령 앞에 docker compose exec mc — 별칭 local 은 compose 의 MC_HOST_local 이 정한 것</a:t>
            </a:r>
          </a:p>
        </p:txBody>
      </p:sp>
      <p:sp>
        <p:nvSpPr>
          <p:cNvPr id="45" name="Rectangle 44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데이터 엔지니어링 &amp; RAG 파이프라인 160H · 4-1 · 정리·회고 0.5H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03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3F6FC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deckgen:decor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7F8F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8382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1E5BC6"/>
                </a:solidFill>
                <a:latin typeface="Pretendard"/>
                <a:ea typeface="Pretendard"/>
                <a:cs typeface="Pretendard"/>
              </a:rPr>
              <a:t>다음 차시 준비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162050"/>
            <a:ext cx="16002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4-2 준비 상태 — down → up 뒤에도 그대로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1143000" y="2781300"/>
            <a:ext cx="1133142" cy="571500"/>
          </a:xfrm>
          <a:prstGeom prst="rect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143000" y="2781300"/>
            <a:ext cx="1133142" cy="5715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8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상태</a:t>
            </a:r>
          </a:p>
        </p:txBody>
      </p:sp>
      <p:sp>
        <p:nvSpPr>
          <p:cNvPr id="10" name="Rectangle 9"/>
          <p:cNvSpPr/>
          <p:nvPr/>
        </p:nvSpPr>
        <p:spPr>
          <a:xfrm>
            <a:off x="2276142" y="2781300"/>
            <a:ext cx="14868858" cy="571500"/>
          </a:xfrm>
          <a:prstGeom prst="rect">
            <a:avLst/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428542" y="2781300"/>
            <a:ext cx="14564058" cy="5715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docker compose ps → 컨테이너 2개 Up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143000" y="3429000"/>
            <a:ext cx="1133142" cy="571500"/>
          </a:xfrm>
          <a:prstGeom prst="rect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143000" y="3429000"/>
            <a:ext cx="1133142" cy="5715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8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버킷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276142" y="3429000"/>
            <a:ext cx="14868858" cy="571500"/>
          </a:xfrm>
          <a:prstGeom prst="rect">
            <a:avLst/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2428542" y="3429000"/>
            <a:ext cx="14564058" cy="5715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docker compose exec mc mc ls local → raw · warehouse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143000" y="4076700"/>
            <a:ext cx="1133142" cy="571500"/>
          </a:xfrm>
          <a:prstGeom prst="rect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143000" y="4076700"/>
            <a:ext cx="1133142" cy="5715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8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오브젝트</a:t>
            </a:r>
          </a:p>
        </p:txBody>
      </p:sp>
      <p:sp>
        <p:nvSpPr>
          <p:cNvPr id="18" name="Rectangle 17"/>
          <p:cNvSpPr/>
          <p:nvPr/>
        </p:nvSpPr>
        <p:spPr>
          <a:xfrm>
            <a:off x="2276142" y="4076700"/>
            <a:ext cx="14868858" cy="571500"/>
          </a:xfrm>
          <a:prstGeom prst="rect">
            <a:avLst/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2428542" y="4076700"/>
            <a:ext cx="14564058" cy="5715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mc ls --recursive local/raw → 다섯 개</a:t>
            </a:r>
          </a:p>
        </p:txBody>
      </p:sp>
      <p:sp>
        <p:nvSpPr>
          <p:cNvPr id="20" name="Rectangle 19"/>
          <p:cNvSpPr/>
          <p:nvPr/>
        </p:nvSpPr>
        <p:spPr>
          <a:xfrm>
            <a:off x="1143000" y="4724400"/>
            <a:ext cx="1133142" cy="571500"/>
          </a:xfrm>
          <a:prstGeom prst="rect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143000" y="4724400"/>
            <a:ext cx="1133142" cy="5715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8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볼륨</a:t>
            </a:r>
          </a:p>
        </p:txBody>
      </p:sp>
      <p:sp>
        <p:nvSpPr>
          <p:cNvPr id="22" name="Rectangle 21"/>
          <p:cNvSpPr/>
          <p:nvPr/>
        </p:nvSpPr>
        <p:spPr>
          <a:xfrm>
            <a:off x="2276142" y="4724400"/>
            <a:ext cx="14868858" cy="571500"/>
          </a:xfrm>
          <a:prstGeom prst="rect">
            <a:avLst/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2428542" y="4724400"/>
            <a:ext cx="14564058" cy="5715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docker compose down → up -d 뒤에도 같은 다섯 개</a:t>
            </a:r>
          </a:p>
        </p:txBody>
      </p:sp>
      <p:sp>
        <p:nvSpPr>
          <p:cNvPr id="24" name="Rectangle 23"/>
          <p:cNvSpPr/>
          <p:nvPr/>
        </p:nvSpPr>
        <p:spPr>
          <a:xfrm>
            <a:off x="1143000" y="5372100"/>
            <a:ext cx="1133142" cy="571500"/>
          </a:xfrm>
          <a:prstGeom prst="rect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143000" y="5372100"/>
            <a:ext cx="1133142" cy="5715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8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멈출 때</a:t>
            </a:r>
          </a:p>
        </p:txBody>
      </p:sp>
      <p:sp>
        <p:nvSpPr>
          <p:cNvPr id="26" name="Rectangle 25"/>
          <p:cNvSpPr/>
          <p:nvPr/>
        </p:nvSpPr>
        <p:spPr>
          <a:xfrm>
            <a:off x="2276142" y="5372100"/>
            <a:ext cx="14868858" cy="571500"/>
          </a:xfrm>
          <a:prstGeom prst="rect">
            <a:avLst/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2428542" y="5372100"/>
            <a:ext cx="14564058" cy="5715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docker compose stop — down -v 는 볼륨까지 지운다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143000" y="76200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875" b="1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다섯 = hello.txt · demo/ 둘 · from-python.txt · orders/orders_2026-08-01.csv — cd ~/lakehouse 에서</a:t>
            </a:r>
          </a:p>
        </p:txBody>
      </p:sp>
      <p:sp>
        <p:nvSpPr>
          <p:cNvPr id="29" name="Rectangle 28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데이터 엔지니어링 &amp; RAG 파이프라인 160H · 4-1 · 정리·회고 0.5H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04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3F6FC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deckgen:decor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7F8F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8382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1E5BC6"/>
                </a:solidFill>
                <a:latin typeface="Pretendard"/>
                <a:ea typeface="Pretendard"/>
                <a:cs typeface="Pretendard"/>
              </a:rPr>
              <a:t>오늘의 체크리스트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162050"/>
            <a:ext cx="16002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여덟 개를 스스로 확인해 보세요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143000" y="2886075"/>
            <a:ext cx="16002000" cy="523875"/>
          </a:xfrm>
          <a:prstGeom prst="roundRect">
            <a:avLst>
              <a:gd name="adj" fmla="val 9090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390650" y="2881312"/>
            <a:ext cx="533400" cy="533400"/>
          </a:xfrm>
          <a:prstGeom prst="ellipse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390650" y="3005138"/>
            <a:ext cx="5334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1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190750" y="2886075"/>
            <a:ext cx="14573250" cy="52387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100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블록·파일·오브젝트 차이를 한 문장씩 말할 수 있다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143000" y="3524250"/>
            <a:ext cx="16002000" cy="523875"/>
          </a:xfrm>
          <a:prstGeom prst="roundRect">
            <a:avLst>
              <a:gd name="adj" fmla="val 9090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1390650" y="3519488"/>
            <a:ext cx="533400" cy="533400"/>
          </a:xfrm>
          <a:prstGeom prst="ellipse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390650" y="3643312"/>
            <a:ext cx="5334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1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190750" y="3524250"/>
            <a:ext cx="14573250" cy="52387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100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키의 슬래시가 이름의 일부임을 raw/demo/dt=… 로 확인했다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143000" y="4162425"/>
            <a:ext cx="16002000" cy="523875"/>
          </a:xfrm>
          <a:prstGeom prst="roundRect">
            <a:avLst>
              <a:gd name="adj" fmla="val 9090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1390650" y="4157662"/>
            <a:ext cx="533400" cy="533400"/>
          </a:xfrm>
          <a:prstGeom prst="ellipse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390650" y="4281488"/>
            <a:ext cx="5334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1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190750" y="4162425"/>
            <a:ext cx="14573250" cy="52387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100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docker compose ps 에서 minio·mc 가 Up 이다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1143000" y="4800600"/>
            <a:ext cx="16002000" cy="523875"/>
          </a:xfrm>
          <a:prstGeom prst="roundRect">
            <a:avLst>
              <a:gd name="adj" fmla="val 9090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1390650" y="4795838"/>
            <a:ext cx="533400" cy="533400"/>
          </a:xfrm>
          <a:prstGeom prst="ellipse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390650" y="4919662"/>
            <a:ext cx="5334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1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190750" y="4800600"/>
            <a:ext cx="14573250" cy="52387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100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컨테이너 안에서 minio:9000 은 되고 localhost:9000 은 안 된다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1143000" y="5438775"/>
            <a:ext cx="16002000" cy="523875"/>
          </a:xfrm>
          <a:prstGeom prst="roundRect">
            <a:avLst>
              <a:gd name="adj" fmla="val 9090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1390650" y="5434012"/>
            <a:ext cx="533400" cy="533400"/>
          </a:xfrm>
          <a:prstGeom prst="ellipse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390650" y="5557838"/>
            <a:ext cx="5334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1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190750" y="5438775"/>
            <a:ext cx="14573250" cy="52387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100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alias(local) 확인 → mb → ls 로 raw·warehouse 버킷을 만들었다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1143000" y="6076950"/>
            <a:ext cx="16002000" cy="523875"/>
          </a:xfrm>
          <a:prstGeom prst="roundRect">
            <a:avLst>
              <a:gd name="adj" fmla="val 9090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1390650" y="6072188"/>
            <a:ext cx="533400" cy="533400"/>
          </a:xfrm>
          <a:prstGeom prst="ellipse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390650" y="6196012"/>
            <a:ext cx="5334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1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6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2190750" y="6076950"/>
            <a:ext cx="14573250" cy="52387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100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down → up 뒤에도 버킷·파일이 남는 것(볼륨)을 확인했다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1143000" y="6715125"/>
            <a:ext cx="16002000" cy="523875"/>
          </a:xfrm>
          <a:prstGeom prst="roundRect">
            <a:avLst>
              <a:gd name="adj" fmla="val 9090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1390650" y="6710362"/>
            <a:ext cx="533400" cy="533400"/>
          </a:xfrm>
          <a:prstGeom prst="ellipse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1390650" y="6834188"/>
            <a:ext cx="5334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1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7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2190750" y="6715125"/>
            <a:ext cx="14573250" cy="52387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100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boto3 로 다루고 endpoint_url 만 바꾸면 AWS 에서도 도는 것을 안다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1143000" y="7353300"/>
            <a:ext cx="16002000" cy="523875"/>
          </a:xfrm>
          <a:prstGeom prst="roundRect">
            <a:avLst>
              <a:gd name="adj" fmla="val 9090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7" name="Oval 36"/>
          <p:cNvSpPr/>
          <p:nvPr/>
        </p:nvSpPr>
        <p:spPr>
          <a:xfrm>
            <a:off x="1390650" y="7348538"/>
            <a:ext cx="533400" cy="533400"/>
          </a:xfrm>
          <a:prstGeom prst="ellipse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1390650" y="7472362"/>
            <a:ext cx="5334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1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8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2190750" y="7353300"/>
            <a:ext cx="14573250" cy="52387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100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랜딩 존 raw/orders/ 엔 첫 배치만 — 연습 키는 raw/demo/</a:t>
            </a:r>
          </a:p>
        </p:txBody>
      </p:sp>
      <p:sp>
        <p:nvSpPr>
          <p:cNvPr id="40" name="Rectangle 39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데이터 엔지니어링 &amp; RAG 파이프라인 160H · 4-1 · 정리·회고 0.5H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05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3F6FC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deckgen:decor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7F8F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8382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1E5BC6"/>
                </a:solidFill>
                <a:latin typeface="Pretendard"/>
                <a:ea typeface="Pretendard"/>
                <a:cs typeface="Pretendard"/>
              </a:rPr>
              <a:t>자주 겪는 오류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162050"/>
            <a:ext cx="16002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증상으로 찾는 원인과 해결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1143000" y="2781300"/>
            <a:ext cx="4762500" cy="590550"/>
          </a:xfrm>
          <a:prstGeom prst="rect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143000" y="2781300"/>
            <a:ext cx="4762500" cy="5905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02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증상</a:t>
            </a:r>
          </a:p>
        </p:txBody>
      </p:sp>
      <p:sp>
        <p:nvSpPr>
          <p:cNvPr id="10" name="Rectangle 9"/>
          <p:cNvSpPr/>
          <p:nvPr/>
        </p:nvSpPr>
        <p:spPr>
          <a:xfrm>
            <a:off x="5943600" y="2781300"/>
            <a:ext cx="5242560" cy="590550"/>
          </a:xfrm>
          <a:prstGeom prst="rect">
            <a:avLst/>
          </a:prstGeom>
          <a:solidFill>
            <a:srgbClr val="1E5BC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943600" y="2781300"/>
            <a:ext cx="5242560" cy="5905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02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원인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1224260" y="2781300"/>
            <a:ext cx="5920740" cy="590550"/>
          </a:xfrm>
          <a:prstGeom prst="rect">
            <a:avLst/>
          </a:prstGeom>
          <a:solidFill>
            <a:srgbClr val="1E5BC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1224260" y="2781300"/>
            <a:ext cx="5920740" cy="5905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02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해결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1143000" y="3448050"/>
            <a:ext cx="4762500" cy="647700"/>
          </a:xfrm>
          <a:prstGeom prst="roundRect">
            <a:avLst>
              <a:gd name="adj" fmla="val 5882"/>
            </a:avLst>
          </a:prstGeom>
          <a:solidFill>
            <a:srgbClr val="EDF3FD"/>
          </a:solidFill>
          <a:ln w="9525">
            <a:solidFill>
              <a:srgbClr val="BFD3F5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238250" y="3448050"/>
            <a:ext cx="457200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7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port is already</a:t>
            </a:r>
          </a:p>
          <a:p>
            <a:pPr algn="l">
              <a:lnSpc>
                <a:spcPct val="115000"/>
              </a:lnSpc>
            </a:pPr>
            <a:r>
              <a:rPr sz="187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allocated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943600" y="3448050"/>
            <a:ext cx="5242560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038850" y="3448050"/>
            <a:ext cx="505206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9000·9001 을 다른</a:t>
            </a:r>
          </a:p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프로세스가 사용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11224260" y="3448050"/>
            <a:ext cx="5920740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1319510" y="3448050"/>
            <a:ext cx="573024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docker ps 로 찾아 중지</a:t>
            </a:r>
          </a:p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또는 19000:9000 매핑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1143000" y="4171950"/>
            <a:ext cx="4762500" cy="647700"/>
          </a:xfrm>
          <a:prstGeom prst="roundRect">
            <a:avLst>
              <a:gd name="adj" fmla="val 5882"/>
            </a:avLst>
          </a:prstGeom>
          <a:solidFill>
            <a:srgbClr val="EDF3FD"/>
          </a:solidFill>
          <a:ln w="9525">
            <a:solidFill>
              <a:srgbClr val="BFD3F5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238250" y="4171950"/>
            <a:ext cx="457200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7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웹 콘솔 로그인</a:t>
            </a:r>
          </a:p>
          <a:p>
            <a:pPr algn="l">
              <a:lnSpc>
                <a:spcPct val="115000"/>
              </a:lnSpc>
            </a:pPr>
            <a:r>
              <a:rPr sz="187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거부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943600" y="4171950"/>
            <a:ext cx="5242560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038850" y="4171950"/>
            <a:ext cx="505206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환경변수 바꾼 뒤</a:t>
            </a:r>
          </a:p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재생성 안 함 · 옛 볼륨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11224260" y="4171950"/>
            <a:ext cx="5920740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1319510" y="4171950"/>
            <a:ext cx="573024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down → up -d ·</a:t>
            </a:r>
          </a:p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안 되면 down -v (주의)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1143000" y="4895850"/>
            <a:ext cx="4762500" cy="647700"/>
          </a:xfrm>
          <a:prstGeom prst="roundRect">
            <a:avLst>
              <a:gd name="adj" fmla="val 5882"/>
            </a:avLst>
          </a:prstGeom>
          <a:solidFill>
            <a:srgbClr val="EDF3FD"/>
          </a:solidFill>
          <a:ln w="9525">
            <a:solidFill>
              <a:srgbClr val="BFD3F5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238250" y="4895850"/>
            <a:ext cx="457200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7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mc alias set</a:t>
            </a:r>
          </a:p>
          <a:p>
            <a:pPr algn="l">
              <a:lnSpc>
                <a:spcPct val="115000"/>
              </a:lnSpc>
            </a:pPr>
            <a:r>
              <a:rPr sz="187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connection refused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5943600" y="4895850"/>
            <a:ext cx="5242560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038850" y="4895850"/>
            <a:ext cx="505206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mc 안에서</a:t>
            </a:r>
          </a:p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localhost:9000 사용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11224260" y="4895850"/>
            <a:ext cx="5920740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11319510" y="4895850"/>
            <a:ext cx="573024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서비스 이름</a:t>
            </a:r>
          </a:p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http://minio:9000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1143000" y="5619750"/>
            <a:ext cx="4762500" cy="647700"/>
          </a:xfrm>
          <a:prstGeom prst="roundRect">
            <a:avLst>
              <a:gd name="adj" fmla="val 5882"/>
            </a:avLst>
          </a:prstGeom>
          <a:solidFill>
            <a:srgbClr val="EDF3FD"/>
          </a:solidFill>
          <a:ln w="9525">
            <a:solidFill>
              <a:srgbClr val="BFD3F5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1238250" y="5619750"/>
            <a:ext cx="457200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7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boto3</a:t>
            </a:r>
          </a:p>
          <a:p>
            <a:pPr algn="l">
              <a:lnSpc>
                <a:spcPct val="115000"/>
              </a:lnSpc>
            </a:pPr>
            <a:r>
              <a:rPr sz="187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SSL 오류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5943600" y="5619750"/>
            <a:ext cx="5242560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038850" y="5619750"/>
            <a:ext cx="505206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endpoint_url 을</a:t>
            </a:r>
          </a:p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https:// 로 적음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11224260" y="5619750"/>
            <a:ext cx="5920740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11319510" y="5619750"/>
            <a:ext cx="573024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http://localhost:9000</a:t>
            </a:r>
          </a:p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운영은 반대로 https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143000" y="76200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875" b="1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안 될 때 순서는 언제나 같다 — docker compose ps → logs 서비스명 → 포트 충돌 확인</a:t>
            </a:r>
          </a:p>
        </p:txBody>
      </p:sp>
      <p:sp>
        <p:nvSpPr>
          <p:cNvPr id="39" name="Rectangle 38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데이터 엔지니어링 &amp; RAG 파이프라인 160H · 4-1 · 정리·회고 0.5H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06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3F6FC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deckgen:decor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7F8F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8382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1E5BC6"/>
                </a:solidFill>
                <a:latin typeface="Pretendard"/>
                <a:ea typeface="Pretendard"/>
                <a:cs typeface="Pretendard"/>
              </a:rPr>
              <a:t>예상 질문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162050"/>
            <a:ext cx="16002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자주 나오는 질문 네 가지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143000" y="3352800"/>
            <a:ext cx="16002000" cy="914400"/>
          </a:xfrm>
          <a:prstGeom prst="roundRect">
            <a:avLst>
              <a:gd name="adj" fmla="val 5208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143000" y="3352800"/>
            <a:ext cx="47625" cy="914400"/>
          </a:xfrm>
          <a:prstGeom prst="rect">
            <a:avLst/>
          </a:prstGeom>
          <a:solidFill>
            <a:srgbClr val="1E5BC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1428750" y="3600450"/>
            <a:ext cx="419100" cy="419100"/>
          </a:xfrm>
          <a:prstGeom prst="ellipse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428750" y="3667125"/>
            <a:ext cx="419100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87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057400" y="3448050"/>
            <a:ext cx="14763750" cy="7239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20000"/>
              </a:lnSpc>
            </a:pPr>
            <a:r>
              <a:rPr sz="217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파일 가운데 한 줄만 고치려면?</a:t>
            </a:r>
          </a:p>
          <a:p>
            <a:pPr>
              <a:lnSpc>
                <a:spcPct val="130000"/>
              </a:lnSpc>
              <a:spcBef>
                <a:spcPts val="300"/>
              </a:spcBef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안 된다 — 통째로 다시 올린다. 이 제약을 우회하는 것이 4-2 Iceberg 의 핵심 설계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1143000" y="4400550"/>
            <a:ext cx="16002000" cy="914400"/>
          </a:xfrm>
          <a:prstGeom prst="roundRect">
            <a:avLst>
              <a:gd name="adj" fmla="val 5208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1143000" y="4400550"/>
            <a:ext cx="47625" cy="914400"/>
          </a:xfrm>
          <a:prstGeom prst="rect">
            <a:avLst/>
          </a:prstGeom>
          <a:solidFill>
            <a:srgbClr val="1E5BC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1428750" y="4648200"/>
            <a:ext cx="419100" cy="419100"/>
          </a:xfrm>
          <a:prstGeom prst="ellipse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428750" y="4714875"/>
            <a:ext cx="419100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87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057400" y="4495800"/>
            <a:ext cx="14763750" cy="7239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20000"/>
              </a:lnSpc>
            </a:pPr>
            <a:r>
              <a:rPr sz="217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MinIO 를 실제 운영에 써도 되나요?</a:t>
            </a:r>
          </a:p>
          <a:p>
            <a:pPr>
              <a:lnSpc>
                <a:spcPct val="130000"/>
              </a:lnSpc>
              <a:spcBef>
                <a:spcPts val="300"/>
              </a:spcBef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쓴다 — 여러 대로 묶어 이중화하고 인증을 제대로. 오늘은 한 대 구성이라 학습용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1143000" y="5448300"/>
            <a:ext cx="16002000" cy="914400"/>
          </a:xfrm>
          <a:prstGeom prst="roundRect">
            <a:avLst>
              <a:gd name="adj" fmla="val 5208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1143000" y="5448300"/>
            <a:ext cx="47625" cy="914400"/>
          </a:xfrm>
          <a:prstGeom prst="rect">
            <a:avLst/>
          </a:prstGeom>
          <a:solidFill>
            <a:srgbClr val="1E5BC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1428750" y="5695950"/>
            <a:ext cx="419100" cy="419100"/>
          </a:xfrm>
          <a:prstGeom prst="ellipse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428750" y="5762625"/>
            <a:ext cx="419100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87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057400" y="5543550"/>
            <a:ext cx="14763750" cy="7239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20000"/>
              </a:lnSpc>
            </a:pPr>
            <a:r>
              <a:rPr sz="217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AWS S3 와 완전히 같은가요?</a:t>
            </a:r>
          </a:p>
          <a:p>
            <a:pPr>
              <a:lnSpc>
                <a:spcPct val="130000"/>
              </a:lnSpc>
              <a:spcBef>
                <a:spcPts val="300"/>
              </a:spcBef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API 는 거의 같고 일부 고급 기능(수명 주기 세부 옵션)은 다르다 — 기본 조작은 그대로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1143000" y="6496050"/>
            <a:ext cx="16002000" cy="914400"/>
          </a:xfrm>
          <a:prstGeom prst="roundRect">
            <a:avLst>
              <a:gd name="adj" fmla="val 5208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1143000" y="6496050"/>
            <a:ext cx="47625" cy="914400"/>
          </a:xfrm>
          <a:prstGeom prst="rect">
            <a:avLst/>
          </a:prstGeom>
          <a:solidFill>
            <a:srgbClr val="1E5BC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1428750" y="6743700"/>
            <a:ext cx="419100" cy="419100"/>
          </a:xfrm>
          <a:prstGeom prst="ellipse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428750" y="6810375"/>
            <a:ext cx="419100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87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4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057400" y="6591300"/>
            <a:ext cx="14763750" cy="7239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20000"/>
              </a:lnSpc>
            </a:pPr>
            <a:r>
              <a:rPr sz="217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버킷을 왜 raw 와 warehouse 로 나눴나요?</a:t>
            </a:r>
          </a:p>
          <a:p>
            <a:pPr>
              <a:lnSpc>
                <a:spcPct val="130000"/>
              </a:lnSpc>
              <a:spcBef>
                <a:spcPts val="300"/>
              </a:spcBef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원본과 가공 결과를 섞지 않기 위해 — 원본은 절대 바꾸지 않는다는 3-5 의 원칙</a:t>
            </a:r>
          </a:p>
        </p:txBody>
      </p:sp>
      <p:sp>
        <p:nvSpPr>
          <p:cNvPr id="28" name="Rectangle 27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데이터 엔지니어링 &amp; RAG 파이프라인 160H · 4-1 · 정리·회고 0.5H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07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3F6FC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deckgen:decor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7F8F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8382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1E5BC6"/>
                </a:solidFill>
                <a:latin typeface="Pretendard"/>
                <a:ea typeface="Pretendard"/>
                <a:cs typeface="Pretendard"/>
              </a:rPr>
              <a:t>다음 회차 예고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162050"/>
            <a:ext cx="16002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4-2 · Apache Iceberg 레이크하우스 구축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143000" y="3429000"/>
            <a:ext cx="3714750" cy="2476500"/>
          </a:xfrm>
          <a:prstGeom prst="roundRect">
            <a:avLst>
              <a:gd name="adj" fmla="val 192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143000" y="3429000"/>
            <a:ext cx="3714750" cy="47625"/>
          </a:xfrm>
          <a:prstGeom prst="rect">
            <a:avLst/>
          </a:prstGeom>
          <a:solidFill>
            <a:srgbClr val="1E5BC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0" name="deckgen:ornament"/>
          <p:cNvSpPr txBox="1"/>
          <p:nvPr/>
        </p:nvSpPr>
        <p:spPr>
          <a:xfrm>
            <a:off x="4000500" y="3638550"/>
            <a:ext cx="590550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2550" b="1">
                <a:solidFill>
                  <a:srgbClr val="E4EBF4"/>
                </a:solidFill>
                <a:latin typeface="Pretendard"/>
                <a:ea typeface="Pretendard"/>
                <a:cs typeface="Pretendard"/>
              </a:rPr>
              <a:t>01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466850" y="3752850"/>
            <a:ext cx="3067050" cy="1828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15000"/>
              </a:lnSpc>
            </a:pPr>
            <a:r>
              <a:rPr sz="2700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이론 1H</a:t>
            </a:r>
          </a:p>
          <a:p>
            <a:pPr>
              <a:lnSpc>
                <a:spcPct val="146000"/>
              </a:lnSpc>
              <a:spcBef>
                <a:spcPts val="1050"/>
              </a:spcBef>
            </a:pPr>
            <a:r>
              <a:rPr sz="202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레이크하우스와</a:t>
            </a:r>
          </a:p>
          <a:p>
            <a:pPr>
              <a:lnSpc>
                <a:spcPct val="146000"/>
              </a:lnSpc>
            </a:pPr>
            <a:r>
              <a:rPr sz="202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테이블 포맷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238750" y="3429000"/>
            <a:ext cx="3714750" cy="2476500"/>
          </a:xfrm>
          <a:prstGeom prst="roundRect">
            <a:avLst>
              <a:gd name="adj" fmla="val 192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5238750" y="3429000"/>
            <a:ext cx="3714750" cy="47625"/>
          </a:xfrm>
          <a:prstGeom prst="rect">
            <a:avLst/>
          </a:prstGeom>
          <a:solidFill>
            <a:srgbClr val="1E5BC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4" name="deckgen:ornament"/>
          <p:cNvSpPr txBox="1"/>
          <p:nvPr/>
        </p:nvSpPr>
        <p:spPr>
          <a:xfrm>
            <a:off x="8096250" y="3638550"/>
            <a:ext cx="590550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2550" b="1">
                <a:solidFill>
                  <a:srgbClr val="E4EBF4"/>
                </a:solidFill>
                <a:latin typeface="Pretendard"/>
                <a:ea typeface="Pretendard"/>
                <a:cs typeface="Pretendard"/>
              </a:rPr>
              <a:t>02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562600" y="3752850"/>
            <a:ext cx="3067050" cy="1828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15000"/>
              </a:lnSpc>
            </a:pPr>
            <a:r>
              <a:rPr sz="2700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실습 1H</a:t>
            </a:r>
          </a:p>
          <a:p>
            <a:pPr>
              <a:lnSpc>
                <a:spcPct val="146000"/>
              </a:lnSpc>
              <a:spcBef>
                <a:spcPts val="1050"/>
              </a:spcBef>
            </a:pPr>
            <a:r>
              <a:rPr sz="202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Spark + Iceberg</a:t>
            </a:r>
          </a:p>
          <a:p>
            <a:pPr>
              <a:lnSpc>
                <a:spcPct val="146000"/>
              </a:lnSpc>
            </a:pPr>
            <a:r>
              <a:rPr sz="202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환경 구성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9334500" y="3429000"/>
            <a:ext cx="3714750" cy="2476500"/>
          </a:xfrm>
          <a:prstGeom prst="roundRect">
            <a:avLst>
              <a:gd name="adj" fmla="val 1923"/>
            </a:avLst>
          </a:prstGeom>
          <a:solidFill>
            <a:srgbClr val="0D2B5E"/>
          </a:solidFill>
          <a:ln w="9525">
            <a:solidFill>
              <a:srgbClr val="0D2B5E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9334500" y="3429000"/>
            <a:ext cx="3714750" cy="47625"/>
          </a:xfrm>
          <a:prstGeom prst="rect">
            <a:avLst/>
          </a:prstGeom>
          <a:solidFill>
            <a:srgbClr val="1E5BC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8" name="deckgen:ornament"/>
          <p:cNvSpPr txBox="1"/>
          <p:nvPr/>
        </p:nvSpPr>
        <p:spPr>
          <a:xfrm>
            <a:off x="12192000" y="3638550"/>
            <a:ext cx="590550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2550" b="1">
                <a:solidFill>
                  <a:srgbClr val="3B4B7C"/>
                </a:solidFill>
                <a:latin typeface="Pretendard"/>
                <a:ea typeface="Pretendard"/>
                <a:cs typeface="Pretendard"/>
              </a:rPr>
              <a:t>03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658350" y="3752850"/>
            <a:ext cx="3067050" cy="1828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15000"/>
              </a:lnSpc>
            </a:pPr>
            <a:r>
              <a:rPr sz="27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실습 1.5H</a:t>
            </a:r>
          </a:p>
          <a:p>
            <a:pPr>
              <a:lnSpc>
                <a:spcPct val="146000"/>
              </a:lnSpc>
              <a:spcBef>
                <a:spcPts val="1050"/>
              </a:spcBef>
            </a:pPr>
            <a:r>
              <a:rPr sz="2025" b="0">
                <a:solidFill>
                  <a:srgbClr val="D9E2F0"/>
                </a:solidFill>
                <a:latin typeface="Pretendard"/>
                <a:ea typeface="Pretendard"/>
                <a:cs typeface="Pretendard"/>
              </a:rPr>
              <a:t>테이블 생성과</a:t>
            </a:r>
          </a:p>
          <a:p>
            <a:pPr>
              <a:lnSpc>
                <a:spcPct val="146000"/>
              </a:lnSpc>
            </a:pPr>
            <a:r>
              <a:rPr sz="2025" b="0">
                <a:solidFill>
                  <a:srgbClr val="D9E2F0"/>
                </a:solidFill>
                <a:latin typeface="Pretendard"/>
                <a:ea typeface="Pretendard"/>
                <a:cs typeface="Pretendard"/>
              </a:rPr>
              <a:t>타임 트래블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13430250" y="3429000"/>
            <a:ext cx="3714750" cy="2476500"/>
          </a:xfrm>
          <a:prstGeom prst="roundRect">
            <a:avLst>
              <a:gd name="adj" fmla="val 192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13430250" y="3429000"/>
            <a:ext cx="3714750" cy="47625"/>
          </a:xfrm>
          <a:prstGeom prst="rect">
            <a:avLst/>
          </a:prstGeom>
          <a:solidFill>
            <a:srgbClr val="1E5BC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2" name="deckgen:ornament"/>
          <p:cNvSpPr txBox="1"/>
          <p:nvPr/>
        </p:nvSpPr>
        <p:spPr>
          <a:xfrm>
            <a:off x="16287750" y="3638550"/>
            <a:ext cx="590550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2550" b="1">
                <a:solidFill>
                  <a:srgbClr val="E4EBF4"/>
                </a:solidFill>
                <a:latin typeface="Pretendard"/>
                <a:ea typeface="Pretendard"/>
                <a:cs typeface="Pretendard"/>
              </a:rPr>
              <a:t>04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3754100" y="3752850"/>
            <a:ext cx="3067050" cy="1828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15000"/>
              </a:lnSpc>
            </a:pPr>
            <a:r>
              <a:rPr sz="2700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정리 0.5H</a:t>
            </a:r>
          </a:p>
          <a:p>
            <a:pPr>
              <a:lnSpc>
                <a:spcPct val="146000"/>
              </a:lnSpc>
              <a:spcBef>
                <a:spcPts val="1050"/>
              </a:spcBef>
            </a:pPr>
            <a:r>
              <a:rPr sz="202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정리·회고</a:t>
            </a:r>
          </a:p>
        </p:txBody>
      </p:sp>
      <p:sp>
        <p:nvSpPr>
          <p:cNvPr id="24" name="Rectangle 23"/>
          <p:cNvSpPr/>
          <p:nvPr/>
        </p:nvSpPr>
        <p:spPr>
          <a:xfrm>
            <a:off x="1143000" y="6496050"/>
            <a:ext cx="47625" cy="723900"/>
          </a:xfrm>
          <a:prstGeom prst="rect">
            <a:avLst/>
          </a:prstGeom>
          <a:solidFill>
            <a:srgbClr val="1E5BC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390650" y="6553200"/>
            <a:ext cx="1575435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2025" b="1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주말 과제: 이미지 둘 미리 받기 — spark-iceberg 6.46GB · iceberg-rest 746MB(실측 24분) · ~/lakehouse 그대로</a:t>
            </a:r>
          </a:p>
        </p:txBody>
      </p:sp>
      <p:sp>
        <p:nvSpPr>
          <p:cNvPr id="26" name="Rectangle 25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데이터 엔지니어링 &amp; RAG 파이프라인 160H · 4-1 · 정리·회고 0.5H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08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4859000" y="6667500"/>
            <a:ext cx="5905500" cy="5905500"/>
          </a:xfrm>
          <a:prstGeom prst="ellipse">
            <a:avLst/>
          </a:prstGeom>
          <a:solidFill>
            <a:srgbClr val="F3F6FC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-2095500" y="-2095500"/>
            <a:ext cx="4381500" cy="4381500"/>
          </a:xfrm>
          <a:prstGeom prst="ellipse">
            <a:avLst/>
          </a:prstGeom>
          <a:solidFill>
            <a:srgbClr val="F5F6F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143000" y="2857500"/>
            <a:ext cx="16002000" cy="28575"/>
          </a:xfrm>
          <a:prstGeom prst="rect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3352800"/>
            <a:ext cx="8572500" cy="4191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00" b="1">
                <a:solidFill>
                  <a:srgbClr val="1E5BC6"/>
                </a:solidFill>
                <a:latin typeface="Pretendard"/>
                <a:ea typeface="Pretendard"/>
                <a:cs typeface="Pretendard"/>
              </a:rPr>
              <a:t>4-1 · 정리·회고 0.5H 마무리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3771900"/>
            <a:ext cx="16002000" cy="8001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다음 회차는 4-2 Apache Iceberg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43000" y="4724400"/>
            <a:ext cx="16002000" cy="4381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4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MinIO 위에 테이블 포맷을 얹어 demo.lakehouse.orders 테이블을 만들고 과거 시점을 조회합니다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143000" y="5257800"/>
            <a:ext cx="7772400" cy="819150"/>
          </a:xfrm>
          <a:prstGeom prst="roundRect">
            <a:avLst>
              <a:gd name="adj" fmla="val 6976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428750" y="5486400"/>
            <a:ext cx="41910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75" b="1">
                <a:solidFill>
                  <a:srgbClr val="1E5BC6"/>
                </a:solidFill>
                <a:latin typeface="Pretendard"/>
                <a:ea typeface="Pretendard"/>
                <a:cs typeface="Pretendard"/>
              </a:rPr>
              <a:t>✓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905000" y="5486400"/>
            <a:ext cx="672465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7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데이터레이크 한계와 테이블 포맷의 해법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9372600" y="5257800"/>
            <a:ext cx="7772400" cy="819150"/>
          </a:xfrm>
          <a:prstGeom prst="roundRect">
            <a:avLst>
              <a:gd name="adj" fmla="val 6976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658350" y="5486400"/>
            <a:ext cx="41910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75" b="1">
                <a:solidFill>
                  <a:srgbClr val="1E5BC6"/>
                </a:solidFill>
                <a:latin typeface="Pretendard"/>
                <a:ea typeface="Pretendard"/>
                <a:cs typeface="Pretendard"/>
              </a:rPr>
              <a:t>✓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134600" y="5486400"/>
            <a:ext cx="672465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7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REST 카탈로그 + Spark + MinIO Compose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1143000" y="6286500"/>
            <a:ext cx="7772400" cy="819150"/>
          </a:xfrm>
          <a:prstGeom prst="roundRect">
            <a:avLst>
              <a:gd name="adj" fmla="val 6976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428750" y="6515100"/>
            <a:ext cx="41910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75" b="1">
                <a:solidFill>
                  <a:srgbClr val="1E5BC6"/>
                </a:solidFill>
                <a:latin typeface="Pretendard"/>
                <a:ea typeface="Pretendard"/>
                <a:cs typeface="Pretendard"/>
              </a:rPr>
              <a:t>✓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905000" y="6515100"/>
            <a:ext cx="672465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7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VERSION AS OF 로 과거 시점 조회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9372600" y="6286500"/>
            <a:ext cx="7772400" cy="819150"/>
          </a:xfrm>
          <a:prstGeom prst="roundRect">
            <a:avLst>
              <a:gd name="adj" fmla="val 6976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658350" y="6515100"/>
            <a:ext cx="41910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75" b="1">
                <a:solidFill>
                  <a:srgbClr val="1E5BC6"/>
                </a:solidFill>
                <a:latin typeface="Pretendard"/>
                <a:ea typeface="Pretendard"/>
                <a:cs typeface="Pretendard"/>
              </a:rPr>
              <a:t>✓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134600" y="6515100"/>
            <a:ext cx="672465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7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ALTER TABLE 로 스키마 안전하게 변경</a:t>
            </a:r>
          </a:p>
        </p:txBody>
      </p:sp>
      <p:sp>
        <p:nvSpPr>
          <p:cNvPr id="20" name="Rectangle 19"/>
          <p:cNvSpPr/>
          <p:nvPr/>
        </p:nvSpPr>
        <p:spPr>
          <a:xfrm>
            <a:off x="1143000" y="7715250"/>
            <a:ext cx="47625" cy="819150"/>
          </a:xfrm>
          <a:prstGeom prst="rect">
            <a:avLst/>
          </a:prstGeom>
          <a:solidFill>
            <a:srgbClr val="1E5BC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409700" y="7734300"/>
            <a:ext cx="8572500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 spc="140">
                <a:solidFill>
                  <a:srgbClr val="1E5BC6"/>
                </a:solidFill>
                <a:latin typeface="Pretendard"/>
                <a:ea typeface="Pretendard"/>
                <a:cs typeface="Pretendard"/>
              </a:rPr>
              <a:t>준비할 것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409700" y="8077200"/>
            <a:ext cx="8572500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00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주말에 이미지 둘(7GB) 받아 두기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